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8.xml" ContentType="application/vnd.openxmlformats-officedocument.presentationml.tags+xml"/>
  <Override PartName="/ppt/notesSlides/notesSlide49.xml" ContentType="application/vnd.openxmlformats-officedocument.presentationml.notesSlide+xml"/>
  <Override PartName="/ppt/tags/tag9.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10.xml" ContentType="application/vnd.openxmlformats-officedocument.presentationml.tags+xml"/>
  <Override PartName="/ppt/notesSlides/notesSlide61.xml" ContentType="application/vnd.openxmlformats-officedocument.presentationml.notesSlide+xml"/>
  <Override PartName="/ppt/tags/tag11.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2.xml" ContentType="application/vnd.openxmlformats-officedocument.presentationml.tags+xml"/>
  <Override PartName="/ppt/notesSlides/notesSlide65.xml" ContentType="application/vnd.openxmlformats-officedocument.presentationml.notesSlide+xml"/>
  <Override PartName="/ppt/tags/tag13.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14.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9"/>
  </p:sldMasterIdLst>
  <p:notesMasterIdLst>
    <p:notesMasterId r:id="rId139"/>
  </p:notesMasterIdLst>
  <p:sldIdLst>
    <p:sldId id="256" r:id="rId50"/>
    <p:sldId id="257" r:id="rId51"/>
    <p:sldId id="280" r:id="rId52"/>
    <p:sldId id="258" r:id="rId53"/>
    <p:sldId id="259" r:id="rId54"/>
    <p:sldId id="2147469902" r:id="rId55"/>
    <p:sldId id="278" r:id="rId56"/>
    <p:sldId id="2147469921" r:id="rId57"/>
    <p:sldId id="2147483628" r:id="rId58"/>
    <p:sldId id="262" r:id="rId59"/>
    <p:sldId id="2147469925" r:id="rId60"/>
    <p:sldId id="2147469926" r:id="rId61"/>
    <p:sldId id="2147483625" r:id="rId62"/>
    <p:sldId id="2147483626" r:id="rId63"/>
    <p:sldId id="267" r:id="rId64"/>
    <p:sldId id="2147483152" r:id="rId65"/>
    <p:sldId id="2147482689" r:id="rId66"/>
    <p:sldId id="2147483627" r:id="rId67"/>
    <p:sldId id="2147482685" r:id="rId68"/>
    <p:sldId id="2147483148" r:id="rId69"/>
    <p:sldId id="2147483151" r:id="rId70"/>
    <p:sldId id="2147483139" r:id="rId71"/>
    <p:sldId id="2147483157" r:id="rId72"/>
    <p:sldId id="2147483154" r:id="rId73"/>
    <p:sldId id="260" r:id="rId74"/>
    <p:sldId id="268" r:id="rId75"/>
    <p:sldId id="2147482684" r:id="rId76"/>
    <p:sldId id="2147483156" r:id="rId77"/>
    <p:sldId id="2147483620" r:id="rId78"/>
    <p:sldId id="2147483622" r:id="rId79"/>
    <p:sldId id="2147483623" r:id="rId80"/>
    <p:sldId id="2147483624" r:id="rId81"/>
    <p:sldId id="281" r:id="rId82"/>
    <p:sldId id="264" r:id="rId83"/>
    <p:sldId id="269" r:id="rId84"/>
    <p:sldId id="270" r:id="rId85"/>
    <p:sldId id="271" r:id="rId86"/>
    <p:sldId id="273" r:id="rId87"/>
    <p:sldId id="274" r:id="rId88"/>
    <p:sldId id="275" r:id="rId89"/>
    <p:sldId id="282" r:id="rId90"/>
    <p:sldId id="2147483641" r:id="rId91"/>
    <p:sldId id="2147483642" r:id="rId92"/>
    <p:sldId id="2147483643" r:id="rId93"/>
    <p:sldId id="2147483644" r:id="rId94"/>
    <p:sldId id="2147483645" r:id="rId95"/>
    <p:sldId id="2147483646" r:id="rId96"/>
    <p:sldId id="2147483647" r:id="rId97"/>
    <p:sldId id="2147469914" r:id="rId98"/>
    <p:sldId id="2147469917" r:id="rId99"/>
    <p:sldId id="2147483634" r:id="rId100"/>
    <p:sldId id="2147483632" r:id="rId101"/>
    <p:sldId id="2147483631" r:id="rId102"/>
    <p:sldId id="261" r:id="rId103"/>
    <p:sldId id="2147483635" r:id="rId104"/>
    <p:sldId id="2147483636" r:id="rId105"/>
    <p:sldId id="2147483637" r:id="rId106"/>
    <p:sldId id="2147483638" r:id="rId107"/>
    <p:sldId id="2147483639" r:id="rId108"/>
    <p:sldId id="2147483640" r:id="rId109"/>
    <p:sldId id="2147469915" r:id="rId110"/>
    <p:sldId id="2147469919" r:id="rId111"/>
    <p:sldId id="283" r:id="rId112"/>
    <p:sldId id="284" r:id="rId113"/>
    <p:sldId id="2147469916" r:id="rId114"/>
    <p:sldId id="2147469918" r:id="rId115"/>
    <p:sldId id="263" r:id="rId116"/>
    <p:sldId id="266" r:id="rId117"/>
    <p:sldId id="272" r:id="rId118"/>
    <p:sldId id="276" r:id="rId119"/>
    <p:sldId id="277" r:id="rId120"/>
    <p:sldId id="279" r:id="rId121"/>
    <p:sldId id="285" r:id="rId122"/>
    <p:sldId id="265" r:id="rId123"/>
    <p:sldId id="286" r:id="rId124"/>
    <p:sldId id="287" r:id="rId125"/>
    <p:sldId id="288" r:id="rId126"/>
    <p:sldId id="289" r:id="rId127"/>
    <p:sldId id="290" r:id="rId128"/>
    <p:sldId id="291" r:id="rId129"/>
    <p:sldId id="292" r:id="rId130"/>
    <p:sldId id="293" r:id="rId131"/>
    <p:sldId id="294" r:id="rId132"/>
    <p:sldId id="295" r:id="rId133"/>
    <p:sldId id="296" r:id="rId134"/>
    <p:sldId id="297" r:id="rId135"/>
    <p:sldId id="298" r:id="rId136"/>
    <p:sldId id="299" r:id="rId137"/>
    <p:sldId id="300" r:id="rId138"/>
  </p:sldIdLst>
  <p:sldSz cx="12192000" cy="6858000"/>
  <p:notesSz cx="6858000" cy="9144000"/>
  <p:custDataLst>
    <p:tags r:id="rId1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70" autoAdjust="0"/>
    <p:restoredTop sz="75752" autoAdjust="0"/>
  </p:normalViewPr>
  <p:slideViewPr>
    <p:cSldViewPr snapToGrid="0">
      <p:cViewPr varScale="1">
        <p:scale>
          <a:sx n="36" d="100"/>
          <a:sy n="36" d="100"/>
        </p:scale>
        <p:origin x="68" y="9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68.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slide" Target="slides/slide14.xml"/><Relationship Id="rId84" Type="http://schemas.openxmlformats.org/officeDocument/2006/relationships/slide" Target="slides/slide35.xml"/><Relationship Id="rId138" Type="http://schemas.openxmlformats.org/officeDocument/2006/relationships/slide" Target="slides/slide89.xml"/><Relationship Id="rId107" Type="http://schemas.openxmlformats.org/officeDocument/2006/relationships/slide" Target="slides/slide58.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slide" Target="slides/slide4.xml"/><Relationship Id="rId74" Type="http://schemas.openxmlformats.org/officeDocument/2006/relationships/slide" Target="slides/slide25.xml"/><Relationship Id="rId128" Type="http://schemas.openxmlformats.org/officeDocument/2006/relationships/slide" Target="slides/slide79.xml"/><Relationship Id="rId5" Type="http://schemas.openxmlformats.org/officeDocument/2006/relationships/customXml" Target="../customXml/item5.xml"/><Relationship Id="rId90" Type="http://schemas.openxmlformats.org/officeDocument/2006/relationships/slide" Target="slides/slide41.xml"/><Relationship Id="rId95" Type="http://schemas.openxmlformats.org/officeDocument/2006/relationships/slide" Target="slides/slide46.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slide" Target="slides/slide15.xml"/><Relationship Id="rId69" Type="http://schemas.openxmlformats.org/officeDocument/2006/relationships/slide" Target="slides/slide20.xml"/><Relationship Id="rId113" Type="http://schemas.openxmlformats.org/officeDocument/2006/relationships/slide" Target="slides/slide64.xml"/><Relationship Id="rId118" Type="http://schemas.openxmlformats.org/officeDocument/2006/relationships/slide" Target="slides/slide69.xml"/><Relationship Id="rId134" Type="http://schemas.openxmlformats.org/officeDocument/2006/relationships/slide" Target="slides/slide85.xml"/><Relationship Id="rId139" Type="http://schemas.openxmlformats.org/officeDocument/2006/relationships/notesMaster" Target="notesMasters/notesMaster1.xml"/><Relationship Id="rId80" Type="http://schemas.openxmlformats.org/officeDocument/2006/relationships/slide" Target="slides/slide31.xml"/><Relationship Id="rId85" Type="http://schemas.openxmlformats.org/officeDocument/2006/relationships/slide" Target="slides/slide36.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slide" Target="slides/slide10.xml"/><Relationship Id="rId103" Type="http://schemas.openxmlformats.org/officeDocument/2006/relationships/slide" Target="slides/slide54.xml"/><Relationship Id="rId108" Type="http://schemas.openxmlformats.org/officeDocument/2006/relationships/slide" Target="slides/slide59.xml"/><Relationship Id="rId124" Type="http://schemas.openxmlformats.org/officeDocument/2006/relationships/slide" Target="slides/slide75.xml"/><Relationship Id="rId129" Type="http://schemas.openxmlformats.org/officeDocument/2006/relationships/slide" Target="slides/slide80.xml"/><Relationship Id="rId54" Type="http://schemas.openxmlformats.org/officeDocument/2006/relationships/slide" Target="slides/slide5.xml"/><Relationship Id="rId70" Type="http://schemas.openxmlformats.org/officeDocument/2006/relationships/slide" Target="slides/slide21.xml"/><Relationship Id="rId75" Type="http://schemas.openxmlformats.org/officeDocument/2006/relationships/slide" Target="slides/slide26.xml"/><Relationship Id="rId91" Type="http://schemas.openxmlformats.org/officeDocument/2006/relationships/slide" Target="slides/slide42.xml"/><Relationship Id="rId96" Type="http://schemas.openxmlformats.org/officeDocument/2006/relationships/slide" Target="slides/slide47.xml"/><Relationship Id="rId140" Type="http://schemas.openxmlformats.org/officeDocument/2006/relationships/tags" Target="tags/tag1.xml"/><Relationship Id="rId14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slideMaster" Target="slideMasters/slideMaster1.xml"/><Relationship Id="rId114" Type="http://schemas.openxmlformats.org/officeDocument/2006/relationships/slide" Target="slides/slide65.xml"/><Relationship Id="rId119" Type="http://schemas.openxmlformats.org/officeDocument/2006/relationships/slide" Target="slides/slide70.xml"/><Relationship Id="rId44" Type="http://schemas.openxmlformats.org/officeDocument/2006/relationships/customXml" Target="../customXml/item44.xml"/><Relationship Id="rId60" Type="http://schemas.openxmlformats.org/officeDocument/2006/relationships/slide" Target="slides/slide11.xml"/><Relationship Id="rId65" Type="http://schemas.openxmlformats.org/officeDocument/2006/relationships/slide" Target="slides/slide16.xml"/><Relationship Id="rId81" Type="http://schemas.openxmlformats.org/officeDocument/2006/relationships/slide" Target="slides/slide32.xml"/><Relationship Id="rId86" Type="http://schemas.openxmlformats.org/officeDocument/2006/relationships/slide" Target="slides/slide37.xml"/><Relationship Id="rId130" Type="http://schemas.openxmlformats.org/officeDocument/2006/relationships/slide" Target="slides/slide81.xml"/><Relationship Id="rId135" Type="http://schemas.openxmlformats.org/officeDocument/2006/relationships/slide" Target="slides/slide86.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60.xml"/><Relationship Id="rId34" Type="http://schemas.openxmlformats.org/officeDocument/2006/relationships/customXml" Target="../customXml/item34.xml"/><Relationship Id="rId50" Type="http://schemas.openxmlformats.org/officeDocument/2006/relationships/slide" Target="slides/slide1.xml"/><Relationship Id="rId55" Type="http://schemas.openxmlformats.org/officeDocument/2006/relationships/slide" Target="slides/slide6.xml"/><Relationship Id="rId76" Type="http://schemas.openxmlformats.org/officeDocument/2006/relationships/slide" Target="slides/slide27.xml"/><Relationship Id="rId97" Type="http://schemas.openxmlformats.org/officeDocument/2006/relationships/slide" Target="slides/slide48.xml"/><Relationship Id="rId104" Type="http://schemas.openxmlformats.org/officeDocument/2006/relationships/slide" Target="slides/slide55.xml"/><Relationship Id="rId120" Type="http://schemas.openxmlformats.org/officeDocument/2006/relationships/slide" Target="slides/slide71.xml"/><Relationship Id="rId125" Type="http://schemas.openxmlformats.org/officeDocument/2006/relationships/slide" Target="slides/slide76.xml"/><Relationship Id="rId141" Type="http://schemas.openxmlformats.org/officeDocument/2006/relationships/commentAuthors" Target="commentAuthors.xml"/><Relationship Id="rId146" Type="http://schemas.microsoft.com/office/2016/11/relationships/changesInfo" Target="changesInfos/changesInfo1.xml"/><Relationship Id="rId7" Type="http://schemas.openxmlformats.org/officeDocument/2006/relationships/customXml" Target="../customXml/item7.xml"/><Relationship Id="rId71" Type="http://schemas.openxmlformats.org/officeDocument/2006/relationships/slide" Target="slides/slide22.xml"/><Relationship Id="rId92" Type="http://schemas.openxmlformats.org/officeDocument/2006/relationships/slide" Target="slides/slide43.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slide" Target="slides/slide17.xml"/><Relationship Id="rId87" Type="http://schemas.openxmlformats.org/officeDocument/2006/relationships/slide" Target="slides/slide38.xml"/><Relationship Id="rId110" Type="http://schemas.openxmlformats.org/officeDocument/2006/relationships/slide" Target="slides/slide61.xml"/><Relationship Id="rId115" Type="http://schemas.openxmlformats.org/officeDocument/2006/relationships/slide" Target="slides/slide66.xml"/><Relationship Id="rId131" Type="http://schemas.openxmlformats.org/officeDocument/2006/relationships/slide" Target="slides/slide82.xml"/><Relationship Id="rId136" Type="http://schemas.openxmlformats.org/officeDocument/2006/relationships/slide" Target="slides/slide87.xml"/><Relationship Id="rId61" Type="http://schemas.openxmlformats.org/officeDocument/2006/relationships/slide" Target="slides/slide12.xml"/><Relationship Id="rId82" Type="http://schemas.openxmlformats.org/officeDocument/2006/relationships/slide" Target="slides/slide33.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7.xml"/><Relationship Id="rId77" Type="http://schemas.openxmlformats.org/officeDocument/2006/relationships/slide" Target="slides/slide28.xml"/><Relationship Id="rId100" Type="http://schemas.openxmlformats.org/officeDocument/2006/relationships/slide" Target="slides/slide51.xml"/><Relationship Id="rId105" Type="http://schemas.openxmlformats.org/officeDocument/2006/relationships/slide" Target="slides/slide56.xml"/><Relationship Id="rId126" Type="http://schemas.openxmlformats.org/officeDocument/2006/relationships/slide" Target="slides/slide77.xml"/><Relationship Id="rId147" Type="http://schemas.microsoft.com/office/2018/10/relationships/authors" Target="authors.xml"/><Relationship Id="rId8" Type="http://schemas.openxmlformats.org/officeDocument/2006/relationships/customXml" Target="../customXml/item8.xml"/><Relationship Id="rId51" Type="http://schemas.openxmlformats.org/officeDocument/2006/relationships/slide" Target="slides/slide2.xml"/><Relationship Id="rId72" Type="http://schemas.openxmlformats.org/officeDocument/2006/relationships/slide" Target="slides/slide23.xml"/><Relationship Id="rId93" Type="http://schemas.openxmlformats.org/officeDocument/2006/relationships/slide" Target="slides/slide44.xml"/><Relationship Id="rId98" Type="http://schemas.openxmlformats.org/officeDocument/2006/relationships/slide" Target="slides/slide49.xml"/><Relationship Id="rId121" Type="http://schemas.openxmlformats.org/officeDocument/2006/relationships/slide" Target="slides/slide72.xml"/><Relationship Id="rId142"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slide" Target="slides/slide18.xml"/><Relationship Id="rId116" Type="http://schemas.openxmlformats.org/officeDocument/2006/relationships/slide" Target="slides/slide67.xml"/><Relationship Id="rId137" Type="http://schemas.openxmlformats.org/officeDocument/2006/relationships/slide" Target="slides/slide88.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slide" Target="slides/slide13.xml"/><Relationship Id="rId83" Type="http://schemas.openxmlformats.org/officeDocument/2006/relationships/slide" Target="slides/slide34.xml"/><Relationship Id="rId88" Type="http://schemas.openxmlformats.org/officeDocument/2006/relationships/slide" Target="slides/slide39.xml"/><Relationship Id="rId111" Type="http://schemas.openxmlformats.org/officeDocument/2006/relationships/slide" Target="slides/slide62.xml"/><Relationship Id="rId132" Type="http://schemas.openxmlformats.org/officeDocument/2006/relationships/slide" Target="slides/slide83.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slide" Target="slides/slide8.xml"/><Relationship Id="rId106" Type="http://schemas.openxmlformats.org/officeDocument/2006/relationships/slide" Target="slides/slide57.xml"/><Relationship Id="rId127" Type="http://schemas.openxmlformats.org/officeDocument/2006/relationships/slide" Target="slides/slide78.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slide" Target="slides/slide3.xml"/><Relationship Id="rId73" Type="http://schemas.openxmlformats.org/officeDocument/2006/relationships/slide" Target="slides/slide24.xml"/><Relationship Id="rId78" Type="http://schemas.openxmlformats.org/officeDocument/2006/relationships/slide" Target="slides/slide29.xml"/><Relationship Id="rId94" Type="http://schemas.openxmlformats.org/officeDocument/2006/relationships/slide" Target="slides/slide45.xml"/><Relationship Id="rId99" Type="http://schemas.openxmlformats.org/officeDocument/2006/relationships/slide" Target="slides/slide50.xml"/><Relationship Id="rId101" Type="http://schemas.openxmlformats.org/officeDocument/2006/relationships/slide" Target="slides/slide52.xml"/><Relationship Id="rId122" Type="http://schemas.openxmlformats.org/officeDocument/2006/relationships/slide" Target="slides/slide73.xml"/><Relationship Id="rId143"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slide" Target="slides/slide19.xml"/><Relationship Id="rId89" Type="http://schemas.openxmlformats.org/officeDocument/2006/relationships/slide" Target="slides/slide40.xml"/><Relationship Id="rId112" Type="http://schemas.openxmlformats.org/officeDocument/2006/relationships/slide" Target="slides/slide63.xml"/><Relationship Id="rId133" Type="http://schemas.openxmlformats.org/officeDocument/2006/relationships/slide" Target="slides/slide84.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slide" Target="slides/slide9.xml"/><Relationship Id="rId79" Type="http://schemas.openxmlformats.org/officeDocument/2006/relationships/slide" Target="slides/slide30.xml"/><Relationship Id="rId102" Type="http://schemas.openxmlformats.org/officeDocument/2006/relationships/slide" Target="slides/slide53.xml"/><Relationship Id="rId123" Type="http://schemas.openxmlformats.org/officeDocument/2006/relationships/slide" Target="slides/slide74.xml"/><Relationship Id="rId14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pal Komatreddy" userId="01acd1e8-947b-4bbf-b193-9375e2c2d4c1" providerId="ADAL" clId="{9D85F400-F55F-45C9-B5FB-CE5186A6C3BA}"/>
    <pc:docChg chg="undo custSel addSld delSld modSld sldOrd">
      <pc:chgData name="Mahipal Komatreddy" userId="01acd1e8-947b-4bbf-b193-9375e2c2d4c1" providerId="ADAL" clId="{9D85F400-F55F-45C9-B5FB-CE5186A6C3BA}" dt="2026-04-23T15:47:30.616" v="756" actId="47"/>
      <pc:docMkLst>
        <pc:docMk/>
      </pc:docMkLst>
      <pc:sldChg chg="modSp mod">
        <pc:chgData name="Mahipal Komatreddy" userId="01acd1e8-947b-4bbf-b193-9375e2c2d4c1" providerId="ADAL" clId="{9D85F400-F55F-45C9-B5FB-CE5186A6C3BA}" dt="2026-04-21T16:18:15.944" v="624" actId="20577"/>
        <pc:sldMkLst>
          <pc:docMk/>
          <pc:sldMk cId="2181956486" sldId="256"/>
        </pc:sldMkLst>
        <pc:spChg chg="mod">
          <ac:chgData name="Mahipal Komatreddy" userId="01acd1e8-947b-4bbf-b193-9375e2c2d4c1" providerId="ADAL" clId="{9D85F400-F55F-45C9-B5FB-CE5186A6C3BA}" dt="2026-04-21T16:17:28.472" v="617" actId="6549"/>
          <ac:spMkLst>
            <pc:docMk/>
            <pc:sldMk cId="2181956486" sldId="256"/>
            <ac:spMk id="4" creationId="{00000000-0000-0000-0000-000000000000}"/>
          </ac:spMkLst>
        </pc:spChg>
        <pc:spChg chg="mod">
          <ac:chgData name="Mahipal Komatreddy" userId="01acd1e8-947b-4bbf-b193-9375e2c2d4c1" providerId="ADAL" clId="{9D85F400-F55F-45C9-B5FB-CE5186A6C3BA}" dt="2026-04-21T16:18:15.944" v="624" actId="20577"/>
          <ac:spMkLst>
            <pc:docMk/>
            <pc:sldMk cId="2181956486" sldId="256"/>
            <ac:spMk id="6" creationId="{12808BD5-6BEE-4164-9264-E55A823F2E3D}"/>
          </ac:spMkLst>
        </pc:spChg>
      </pc:sldChg>
      <pc:sldChg chg="delSp modSp add mod">
        <pc:chgData name="Mahipal Komatreddy" userId="01acd1e8-947b-4bbf-b193-9375e2c2d4c1" providerId="ADAL" clId="{9D85F400-F55F-45C9-B5FB-CE5186A6C3BA}" dt="2026-04-21T01:14:29.638" v="499" actId="478"/>
        <pc:sldMkLst>
          <pc:docMk/>
          <pc:sldMk cId="141721531" sldId="258"/>
        </pc:sldMkLst>
        <pc:graphicFrameChg chg="mod modGraphic">
          <ac:chgData name="Mahipal Komatreddy" userId="01acd1e8-947b-4bbf-b193-9375e2c2d4c1" providerId="ADAL" clId="{9D85F400-F55F-45C9-B5FB-CE5186A6C3BA}" dt="2026-04-21T01:14:19.907" v="496" actId="2165"/>
          <ac:graphicFrameMkLst>
            <pc:docMk/>
            <pc:sldMk cId="141721531" sldId="258"/>
            <ac:graphicFrameMk id="60" creationId="{8804C3E9-FF87-4FC8-B151-3F854A0C06E0}"/>
          </ac:graphicFrameMkLst>
        </pc:graphicFrameChg>
      </pc:sldChg>
      <pc:sldChg chg="modSp mod">
        <pc:chgData name="Mahipal Komatreddy" userId="01acd1e8-947b-4bbf-b193-9375e2c2d4c1" providerId="ADAL" clId="{9D85F400-F55F-45C9-B5FB-CE5186A6C3BA}" dt="2026-04-21T00:15:17.684" v="99" actId="14100"/>
        <pc:sldMkLst>
          <pc:docMk/>
          <pc:sldMk cId="1635881331" sldId="259"/>
        </pc:sldMkLst>
        <pc:spChg chg="mod">
          <ac:chgData name="Mahipal Komatreddy" userId="01acd1e8-947b-4bbf-b193-9375e2c2d4c1" providerId="ADAL" clId="{9D85F400-F55F-45C9-B5FB-CE5186A6C3BA}" dt="2026-04-21T00:15:17.684" v="99" actId="14100"/>
          <ac:spMkLst>
            <pc:docMk/>
            <pc:sldMk cId="1635881331" sldId="259"/>
            <ac:spMk id="5" creationId="{27132E6D-A6EE-402B-895A-D0B053AB702A}"/>
          </ac:spMkLst>
        </pc:spChg>
      </pc:sldChg>
      <pc:sldChg chg="add">
        <pc:chgData name="Mahipal Komatreddy" userId="01acd1e8-947b-4bbf-b193-9375e2c2d4c1" providerId="ADAL" clId="{9D85F400-F55F-45C9-B5FB-CE5186A6C3BA}" dt="2026-04-21T17:35:41.083" v="637"/>
        <pc:sldMkLst>
          <pc:docMk/>
          <pc:sldMk cId="3467363765" sldId="260"/>
        </pc:sldMkLst>
      </pc:sldChg>
      <pc:sldChg chg="add ord setBg">
        <pc:chgData name="Mahipal Komatreddy" userId="01acd1e8-947b-4bbf-b193-9375e2c2d4c1" providerId="ADAL" clId="{9D85F400-F55F-45C9-B5FB-CE5186A6C3BA}" dt="2026-04-21T20:38:20.005" v="739"/>
        <pc:sldMkLst>
          <pc:docMk/>
          <pc:sldMk cId="0" sldId="261"/>
        </pc:sldMkLst>
      </pc:sldChg>
      <pc:sldChg chg="add modTransition">
        <pc:chgData name="Mahipal Komatreddy" userId="01acd1e8-947b-4bbf-b193-9375e2c2d4c1" providerId="ADAL" clId="{9D85F400-F55F-45C9-B5FB-CE5186A6C3BA}" dt="2026-04-21T17:30:06.165" v="629"/>
        <pc:sldMkLst>
          <pc:docMk/>
          <pc:sldMk cId="3398912617" sldId="262"/>
        </pc:sldMkLst>
      </pc:sldChg>
      <pc:sldChg chg="add del setBg">
        <pc:chgData name="Mahipal Komatreddy" userId="01acd1e8-947b-4bbf-b193-9375e2c2d4c1" providerId="ADAL" clId="{9D85F400-F55F-45C9-B5FB-CE5186A6C3BA}" dt="2026-04-21T23:00:46.906" v="749"/>
        <pc:sldMkLst>
          <pc:docMk/>
          <pc:sldMk cId="0" sldId="264"/>
        </pc:sldMkLst>
      </pc:sldChg>
      <pc:sldChg chg="add">
        <pc:chgData name="Mahipal Komatreddy" userId="01acd1e8-947b-4bbf-b193-9375e2c2d4c1" providerId="ADAL" clId="{9D85F400-F55F-45C9-B5FB-CE5186A6C3BA}" dt="2026-04-21T17:34:04.044" v="634"/>
        <pc:sldMkLst>
          <pc:docMk/>
          <pc:sldMk cId="1040195086" sldId="267"/>
        </pc:sldMkLst>
      </pc:sldChg>
      <pc:sldChg chg="add modTransition setBg">
        <pc:chgData name="Mahipal Komatreddy" userId="01acd1e8-947b-4bbf-b193-9375e2c2d4c1" providerId="ADAL" clId="{9D85F400-F55F-45C9-B5FB-CE5186A6C3BA}" dt="2026-04-21T18:07:21.877" v="638"/>
        <pc:sldMkLst>
          <pc:docMk/>
          <pc:sldMk cId="3310520790" sldId="268"/>
        </pc:sldMkLst>
      </pc:sldChg>
      <pc:sldChg chg="add setBg">
        <pc:chgData name="Mahipal Komatreddy" userId="01acd1e8-947b-4bbf-b193-9375e2c2d4c1" providerId="ADAL" clId="{9D85F400-F55F-45C9-B5FB-CE5186A6C3BA}" dt="2026-04-21T23:00:54.674" v="750"/>
        <pc:sldMkLst>
          <pc:docMk/>
          <pc:sldMk cId="0" sldId="269"/>
        </pc:sldMkLst>
      </pc:sldChg>
      <pc:sldChg chg="add setBg">
        <pc:chgData name="Mahipal Komatreddy" userId="01acd1e8-947b-4bbf-b193-9375e2c2d4c1" providerId="ADAL" clId="{9D85F400-F55F-45C9-B5FB-CE5186A6C3BA}" dt="2026-04-21T23:01:01.811" v="751"/>
        <pc:sldMkLst>
          <pc:docMk/>
          <pc:sldMk cId="0" sldId="270"/>
        </pc:sldMkLst>
      </pc:sldChg>
      <pc:sldChg chg="add setBg">
        <pc:chgData name="Mahipal Komatreddy" userId="01acd1e8-947b-4bbf-b193-9375e2c2d4c1" providerId="ADAL" clId="{9D85F400-F55F-45C9-B5FB-CE5186A6C3BA}" dt="2026-04-21T23:01:11.303" v="752"/>
        <pc:sldMkLst>
          <pc:docMk/>
          <pc:sldMk cId="0" sldId="271"/>
        </pc:sldMkLst>
      </pc:sldChg>
      <pc:sldChg chg="add setBg">
        <pc:chgData name="Mahipal Komatreddy" userId="01acd1e8-947b-4bbf-b193-9375e2c2d4c1" providerId="ADAL" clId="{9D85F400-F55F-45C9-B5FB-CE5186A6C3BA}" dt="2026-04-21T23:01:17.317" v="753"/>
        <pc:sldMkLst>
          <pc:docMk/>
          <pc:sldMk cId="0" sldId="273"/>
        </pc:sldMkLst>
      </pc:sldChg>
      <pc:sldChg chg="add setBg">
        <pc:chgData name="Mahipal Komatreddy" userId="01acd1e8-947b-4bbf-b193-9375e2c2d4c1" providerId="ADAL" clId="{9D85F400-F55F-45C9-B5FB-CE5186A6C3BA}" dt="2026-04-21T23:01:22.230" v="754"/>
        <pc:sldMkLst>
          <pc:docMk/>
          <pc:sldMk cId="0" sldId="274"/>
        </pc:sldMkLst>
      </pc:sldChg>
      <pc:sldChg chg="add setBg">
        <pc:chgData name="Mahipal Komatreddy" userId="01acd1e8-947b-4bbf-b193-9375e2c2d4c1" providerId="ADAL" clId="{9D85F400-F55F-45C9-B5FB-CE5186A6C3BA}" dt="2026-04-21T23:01:36.785" v="755"/>
        <pc:sldMkLst>
          <pc:docMk/>
          <pc:sldMk cId="0" sldId="275"/>
        </pc:sldMkLst>
      </pc:sldChg>
      <pc:sldChg chg="modSp mod ord">
        <pc:chgData name="Mahipal Komatreddy" userId="01acd1e8-947b-4bbf-b193-9375e2c2d4c1" providerId="ADAL" clId="{9D85F400-F55F-45C9-B5FB-CE5186A6C3BA}" dt="2026-04-21T01:19:15.366" v="532" actId="6549"/>
        <pc:sldMkLst>
          <pc:docMk/>
          <pc:sldMk cId="1116137402" sldId="278"/>
        </pc:sldMkLst>
        <pc:spChg chg="mod">
          <ac:chgData name="Mahipal Komatreddy" userId="01acd1e8-947b-4bbf-b193-9375e2c2d4c1" providerId="ADAL" clId="{9D85F400-F55F-45C9-B5FB-CE5186A6C3BA}" dt="2026-04-21T01:19:15.366" v="532" actId="6549"/>
          <ac:spMkLst>
            <pc:docMk/>
            <pc:sldMk cId="1116137402" sldId="278"/>
            <ac:spMk id="10" creationId="{B41BD3B0-D1AD-4D6D-B558-0439FF1E1913}"/>
          </ac:spMkLst>
        </pc:spChg>
        <pc:spChg chg="mod">
          <ac:chgData name="Mahipal Komatreddy" userId="01acd1e8-947b-4bbf-b193-9375e2c2d4c1" providerId="ADAL" clId="{9D85F400-F55F-45C9-B5FB-CE5186A6C3BA}" dt="2026-04-21T01:17:43.238" v="527"/>
          <ac:spMkLst>
            <pc:docMk/>
            <pc:sldMk cId="1116137402" sldId="278"/>
            <ac:spMk id="166" creationId="{F2538396-F1C5-49F3-A6F1-4519132EC83A}"/>
          </ac:spMkLst>
        </pc:spChg>
        <pc:spChg chg="mod">
          <ac:chgData name="Mahipal Komatreddy" userId="01acd1e8-947b-4bbf-b193-9375e2c2d4c1" providerId="ADAL" clId="{9D85F400-F55F-45C9-B5FB-CE5186A6C3BA}" dt="2026-04-21T01:18:21.385" v="529" actId="20577"/>
          <ac:spMkLst>
            <pc:docMk/>
            <pc:sldMk cId="1116137402" sldId="278"/>
            <ac:spMk id="234" creationId="{A83345B0-E004-41AA-96B0-CA59DEB356E4}"/>
          </ac:spMkLst>
        </pc:spChg>
        <pc:spChg chg="mod">
          <ac:chgData name="Mahipal Komatreddy" userId="01acd1e8-947b-4bbf-b193-9375e2c2d4c1" providerId="ADAL" clId="{9D85F400-F55F-45C9-B5FB-CE5186A6C3BA}" dt="2026-04-21T01:18:35.611" v="530"/>
          <ac:spMkLst>
            <pc:docMk/>
            <pc:sldMk cId="1116137402" sldId="278"/>
            <ac:spMk id="278" creationId="{7D19C399-1DEB-4C82-9B26-521D5B80406E}"/>
          </ac:spMkLst>
        </pc:spChg>
        <pc:spChg chg="mod">
          <ac:chgData name="Mahipal Komatreddy" userId="01acd1e8-947b-4bbf-b193-9375e2c2d4c1" providerId="ADAL" clId="{9D85F400-F55F-45C9-B5FB-CE5186A6C3BA}" dt="2026-04-21T01:18:48.667" v="531"/>
          <ac:spMkLst>
            <pc:docMk/>
            <pc:sldMk cId="1116137402" sldId="278"/>
            <ac:spMk id="298" creationId="{DA771A72-4395-4B6B-9A5E-536D5C18726C}"/>
          </ac:spMkLst>
        </pc:spChg>
      </pc:sldChg>
      <pc:sldChg chg="del">
        <pc:chgData name="Mahipal Komatreddy" userId="01acd1e8-947b-4bbf-b193-9375e2c2d4c1" providerId="ADAL" clId="{9D85F400-F55F-45C9-B5FB-CE5186A6C3BA}" dt="2026-04-23T15:47:30.616" v="756" actId="47"/>
        <pc:sldMkLst>
          <pc:docMk/>
          <pc:sldMk cId="0" sldId="301"/>
        </pc:sldMkLst>
      </pc:sldChg>
      <pc:sldChg chg="del">
        <pc:chgData name="Mahipal Komatreddy" userId="01acd1e8-947b-4bbf-b193-9375e2c2d4c1" providerId="ADAL" clId="{9D85F400-F55F-45C9-B5FB-CE5186A6C3BA}" dt="2026-04-23T15:47:30.616" v="756" actId="47"/>
        <pc:sldMkLst>
          <pc:docMk/>
          <pc:sldMk cId="0" sldId="302"/>
        </pc:sldMkLst>
      </pc:sldChg>
      <pc:sldChg chg="del">
        <pc:chgData name="Mahipal Komatreddy" userId="01acd1e8-947b-4bbf-b193-9375e2c2d4c1" providerId="ADAL" clId="{9D85F400-F55F-45C9-B5FB-CE5186A6C3BA}" dt="2026-04-23T15:47:30.616" v="756" actId="47"/>
        <pc:sldMkLst>
          <pc:docMk/>
          <pc:sldMk cId="0" sldId="303"/>
        </pc:sldMkLst>
      </pc:sldChg>
      <pc:sldChg chg="del">
        <pc:chgData name="Mahipal Komatreddy" userId="01acd1e8-947b-4bbf-b193-9375e2c2d4c1" providerId="ADAL" clId="{9D85F400-F55F-45C9-B5FB-CE5186A6C3BA}" dt="2026-04-23T15:47:30.616" v="756" actId="47"/>
        <pc:sldMkLst>
          <pc:docMk/>
          <pc:sldMk cId="0" sldId="304"/>
        </pc:sldMkLst>
      </pc:sldChg>
      <pc:sldChg chg="del">
        <pc:chgData name="Mahipal Komatreddy" userId="01acd1e8-947b-4bbf-b193-9375e2c2d4c1" providerId="ADAL" clId="{9D85F400-F55F-45C9-B5FB-CE5186A6C3BA}" dt="2026-04-23T15:47:30.616" v="756" actId="47"/>
        <pc:sldMkLst>
          <pc:docMk/>
          <pc:sldMk cId="0" sldId="305"/>
        </pc:sldMkLst>
      </pc:sldChg>
      <pc:sldChg chg="del">
        <pc:chgData name="Mahipal Komatreddy" userId="01acd1e8-947b-4bbf-b193-9375e2c2d4c1" providerId="ADAL" clId="{9D85F400-F55F-45C9-B5FB-CE5186A6C3BA}" dt="2026-04-23T15:47:30.616" v="756" actId="47"/>
        <pc:sldMkLst>
          <pc:docMk/>
          <pc:sldMk cId="0" sldId="306"/>
        </pc:sldMkLst>
      </pc:sldChg>
      <pc:sldChg chg="del">
        <pc:chgData name="Mahipal Komatreddy" userId="01acd1e8-947b-4bbf-b193-9375e2c2d4c1" providerId="ADAL" clId="{9D85F400-F55F-45C9-B5FB-CE5186A6C3BA}" dt="2026-04-23T15:47:30.616" v="756" actId="47"/>
        <pc:sldMkLst>
          <pc:docMk/>
          <pc:sldMk cId="0" sldId="307"/>
        </pc:sldMkLst>
      </pc:sldChg>
      <pc:sldChg chg="del">
        <pc:chgData name="Mahipal Komatreddy" userId="01acd1e8-947b-4bbf-b193-9375e2c2d4c1" providerId="ADAL" clId="{9D85F400-F55F-45C9-B5FB-CE5186A6C3BA}" dt="2026-04-23T15:47:30.616" v="756" actId="47"/>
        <pc:sldMkLst>
          <pc:docMk/>
          <pc:sldMk cId="0" sldId="308"/>
        </pc:sldMkLst>
      </pc:sldChg>
      <pc:sldChg chg="del">
        <pc:chgData name="Mahipal Komatreddy" userId="01acd1e8-947b-4bbf-b193-9375e2c2d4c1" providerId="ADAL" clId="{9D85F400-F55F-45C9-B5FB-CE5186A6C3BA}" dt="2026-04-23T15:47:30.616" v="756" actId="47"/>
        <pc:sldMkLst>
          <pc:docMk/>
          <pc:sldMk cId="0" sldId="309"/>
        </pc:sldMkLst>
      </pc:sldChg>
      <pc:sldChg chg="del">
        <pc:chgData name="Mahipal Komatreddy" userId="01acd1e8-947b-4bbf-b193-9375e2c2d4c1" providerId="ADAL" clId="{9D85F400-F55F-45C9-B5FB-CE5186A6C3BA}" dt="2026-04-23T15:47:30.616" v="756" actId="47"/>
        <pc:sldMkLst>
          <pc:docMk/>
          <pc:sldMk cId="0" sldId="310"/>
        </pc:sldMkLst>
      </pc:sldChg>
      <pc:sldChg chg="del">
        <pc:chgData name="Mahipal Komatreddy" userId="01acd1e8-947b-4bbf-b193-9375e2c2d4c1" providerId="ADAL" clId="{9D85F400-F55F-45C9-B5FB-CE5186A6C3BA}" dt="2026-04-23T15:47:30.616" v="756" actId="47"/>
        <pc:sldMkLst>
          <pc:docMk/>
          <pc:sldMk cId="0" sldId="311"/>
        </pc:sldMkLst>
      </pc:sldChg>
      <pc:sldChg chg="del">
        <pc:chgData name="Mahipal Komatreddy" userId="01acd1e8-947b-4bbf-b193-9375e2c2d4c1" providerId="ADAL" clId="{9D85F400-F55F-45C9-B5FB-CE5186A6C3BA}" dt="2026-04-23T15:47:30.616" v="756" actId="47"/>
        <pc:sldMkLst>
          <pc:docMk/>
          <pc:sldMk cId="0" sldId="312"/>
        </pc:sldMkLst>
      </pc:sldChg>
      <pc:sldChg chg="del">
        <pc:chgData name="Mahipal Komatreddy" userId="01acd1e8-947b-4bbf-b193-9375e2c2d4c1" providerId="ADAL" clId="{9D85F400-F55F-45C9-B5FB-CE5186A6C3BA}" dt="2026-04-23T15:47:30.616" v="756" actId="47"/>
        <pc:sldMkLst>
          <pc:docMk/>
          <pc:sldMk cId="0" sldId="313"/>
        </pc:sldMkLst>
      </pc:sldChg>
      <pc:sldChg chg="del">
        <pc:chgData name="Mahipal Komatreddy" userId="01acd1e8-947b-4bbf-b193-9375e2c2d4c1" providerId="ADAL" clId="{9D85F400-F55F-45C9-B5FB-CE5186A6C3BA}" dt="2026-04-23T15:47:30.616" v="756" actId="47"/>
        <pc:sldMkLst>
          <pc:docMk/>
          <pc:sldMk cId="0" sldId="314"/>
        </pc:sldMkLst>
      </pc:sldChg>
      <pc:sldChg chg="del">
        <pc:chgData name="Mahipal Komatreddy" userId="01acd1e8-947b-4bbf-b193-9375e2c2d4c1" providerId="ADAL" clId="{9D85F400-F55F-45C9-B5FB-CE5186A6C3BA}" dt="2026-04-23T15:47:30.616" v="756" actId="47"/>
        <pc:sldMkLst>
          <pc:docMk/>
          <pc:sldMk cId="0" sldId="315"/>
        </pc:sldMkLst>
      </pc:sldChg>
      <pc:sldChg chg="del">
        <pc:chgData name="Mahipal Komatreddy" userId="01acd1e8-947b-4bbf-b193-9375e2c2d4c1" providerId="ADAL" clId="{9D85F400-F55F-45C9-B5FB-CE5186A6C3BA}" dt="2026-04-23T15:47:30.616" v="756" actId="47"/>
        <pc:sldMkLst>
          <pc:docMk/>
          <pc:sldMk cId="0" sldId="316"/>
        </pc:sldMkLst>
      </pc:sldChg>
      <pc:sldChg chg="del">
        <pc:chgData name="Mahipal Komatreddy" userId="01acd1e8-947b-4bbf-b193-9375e2c2d4c1" providerId="ADAL" clId="{9D85F400-F55F-45C9-B5FB-CE5186A6C3BA}" dt="2026-04-23T15:47:30.616" v="756" actId="47"/>
        <pc:sldMkLst>
          <pc:docMk/>
          <pc:sldMk cId="0" sldId="317"/>
        </pc:sldMkLst>
      </pc:sldChg>
      <pc:sldChg chg="del">
        <pc:chgData name="Mahipal Komatreddy" userId="01acd1e8-947b-4bbf-b193-9375e2c2d4c1" providerId="ADAL" clId="{9D85F400-F55F-45C9-B5FB-CE5186A6C3BA}" dt="2026-04-23T15:47:30.616" v="756" actId="47"/>
        <pc:sldMkLst>
          <pc:docMk/>
          <pc:sldMk cId="0" sldId="318"/>
        </pc:sldMkLst>
      </pc:sldChg>
      <pc:sldChg chg="del">
        <pc:chgData name="Mahipal Komatreddy" userId="01acd1e8-947b-4bbf-b193-9375e2c2d4c1" providerId="ADAL" clId="{9D85F400-F55F-45C9-B5FB-CE5186A6C3BA}" dt="2026-04-23T15:47:30.616" v="756" actId="47"/>
        <pc:sldMkLst>
          <pc:docMk/>
          <pc:sldMk cId="0" sldId="319"/>
        </pc:sldMkLst>
      </pc:sldChg>
      <pc:sldChg chg="del">
        <pc:chgData name="Mahipal Komatreddy" userId="01acd1e8-947b-4bbf-b193-9375e2c2d4c1" providerId="ADAL" clId="{9D85F400-F55F-45C9-B5FB-CE5186A6C3BA}" dt="2026-04-23T15:47:30.616" v="756" actId="47"/>
        <pc:sldMkLst>
          <pc:docMk/>
          <pc:sldMk cId="0" sldId="320"/>
        </pc:sldMkLst>
      </pc:sldChg>
      <pc:sldChg chg="del">
        <pc:chgData name="Mahipal Komatreddy" userId="01acd1e8-947b-4bbf-b193-9375e2c2d4c1" providerId="ADAL" clId="{9D85F400-F55F-45C9-B5FB-CE5186A6C3BA}" dt="2026-04-23T15:47:30.616" v="756" actId="47"/>
        <pc:sldMkLst>
          <pc:docMk/>
          <pc:sldMk cId="0" sldId="321"/>
        </pc:sldMkLst>
      </pc:sldChg>
      <pc:sldChg chg="modSp mod">
        <pc:chgData name="Mahipal Komatreddy" userId="01acd1e8-947b-4bbf-b193-9375e2c2d4c1" providerId="ADAL" clId="{9D85F400-F55F-45C9-B5FB-CE5186A6C3BA}" dt="2026-04-21T20:14:39.025" v="709" actId="26606"/>
        <pc:sldMkLst>
          <pc:docMk/>
          <pc:sldMk cId="3304016034" sldId="2147469836"/>
        </pc:sldMkLst>
        <pc:picChg chg="mod">
          <ac:chgData name="Mahipal Komatreddy" userId="01acd1e8-947b-4bbf-b193-9375e2c2d4c1" providerId="ADAL" clId="{9D85F400-F55F-45C9-B5FB-CE5186A6C3BA}" dt="2026-04-21T20:14:39.025" v="709" actId="26606"/>
          <ac:picMkLst>
            <pc:docMk/>
            <pc:sldMk cId="3304016034" sldId="2147469836"/>
            <ac:picMk id="4" creationId="{7E0EA334-80D5-46F4-9B00-7AED60161CD9}"/>
          </ac:picMkLst>
        </pc:picChg>
        <pc:picChg chg="mod">
          <ac:chgData name="Mahipal Komatreddy" userId="01acd1e8-947b-4bbf-b193-9375e2c2d4c1" providerId="ADAL" clId="{9D85F400-F55F-45C9-B5FB-CE5186A6C3BA}" dt="2026-04-21T20:14:39.025" v="709" actId="26606"/>
          <ac:picMkLst>
            <pc:docMk/>
            <pc:sldMk cId="3304016034" sldId="2147469836"/>
            <ac:picMk id="8" creationId="{0A515247-ACE6-4BAB-9591-C2C8EDF65D05}"/>
          </ac:picMkLst>
        </pc:picChg>
      </pc:sldChg>
      <pc:sldChg chg="delSp modSp mod">
        <pc:chgData name="Mahipal Komatreddy" userId="01acd1e8-947b-4bbf-b193-9375e2c2d4c1" providerId="ADAL" clId="{9D85F400-F55F-45C9-B5FB-CE5186A6C3BA}" dt="2026-04-21T00:52:28.797" v="434" actId="2165"/>
        <pc:sldMkLst>
          <pc:docMk/>
          <pc:sldMk cId="641711193" sldId="2147469902"/>
        </pc:sldMkLst>
        <pc:graphicFrameChg chg="mod modGraphic">
          <ac:chgData name="Mahipal Komatreddy" userId="01acd1e8-947b-4bbf-b193-9375e2c2d4c1" providerId="ADAL" clId="{9D85F400-F55F-45C9-B5FB-CE5186A6C3BA}" dt="2026-04-21T00:52:28.797" v="434" actId="2165"/>
          <ac:graphicFrameMkLst>
            <pc:docMk/>
            <pc:sldMk cId="641711193" sldId="2147469902"/>
            <ac:graphicFrameMk id="41" creationId="{2F2EA0C9-C38D-4F1A-8551-0B45DED4B9B8}"/>
          </ac:graphicFrameMkLst>
        </pc:graphicFrameChg>
      </pc:sldChg>
      <pc:sldChg chg="modSp add mod ord">
        <pc:chgData name="Mahipal Komatreddy" userId="01acd1e8-947b-4bbf-b193-9375e2c2d4c1" providerId="ADAL" clId="{9D85F400-F55F-45C9-B5FB-CE5186A6C3BA}" dt="2026-04-21T00:41:04.681" v="235" actId="14100"/>
        <pc:sldMkLst>
          <pc:docMk/>
          <pc:sldMk cId="2884143762" sldId="2147469914"/>
        </pc:sldMkLst>
        <pc:spChg chg="mod">
          <ac:chgData name="Mahipal Komatreddy" userId="01acd1e8-947b-4bbf-b193-9375e2c2d4c1" providerId="ADAL" clId="{9D85F400-F55F-45C9-B5FB-CE5186A6C3BA}" dt="2026-04-21T00:41:04.681" v="235" actId="14100"/>
          <ac:spMkLst>
            <pc:docMk/>
            <pc:sldMk cId="2884143762" sldId="2147469914"/>
            <ac:spMk id="5" creationId="{BB346A0D-D86D-D580-D9DA-1E936C448DBA}"/>
          </ac:spMkLst>
        </pc:spChg>
      </pc:sldChg>
      <pc:sldChg chg="modSp add mod">
        <pc:chgData name="Mahipal Komatreddy" userId="01acd1e8-947b-4bbf-b193-9375e2c2d4c1" providerId="ADAL" clId="{9D85F400-F55F-45C9-B5FB-CE5186A6C3BA}" dt="2026-04-21T00:41:51.107" v="240"/>
        <pc:sldMkLst>
          <pc:docMk/>
          <pc:sldMk cId="1048968507" sldId="2147469915"/>
        </pc:sldMkLst>
        <pc:spChg chg="mod">
          <ac:chgData name="Mahipal Komatreddy" userId="01acd1e8-947b-4bbf-b193-9375e2c2d4c1" providerId="ADAL" clId="{9D85F400-F55F-45C9-B5FB-CE5186A6C3BA}" dt="2026-04-21T00:41:51.107" v="240"/>
          <ac:spMkLst>
            <pc:docMk/>
            <pc:sldMk cId="1048968507" sldId="2147469915"/>
            <ac:spMk id="5" creationId="{A5CC6E32-6412-4E52-C70C-8EF0623BE4EF}"/>
          </ac:spMkLst>
        </pc:spChg>
      </pc:sldChg>
      <pc:sldChg chg="modSp add">
        <pc:chgData name="Mahipal Komatreddy" userId="01acd1e8-947b-4bbf-b193-9375e2c2d4c1" providerId="ADAL" clId="{9D85F400-F55F-45C9-B5FB-CE5186A6C3BA}" dt="2026-04-21T00:42:09.724" v="241"/>
        <pc:sldMkLst>
          <pc:docMk/>
          <pc:sldMk cId="3656384308" sldId="2147469916"/>
        </pc:sldMkLst>
        <pc:spChg chg="mod">
          <ac:chgData name="Mahipal Komatreddy" userId="01acd1e8-947b-4bbf-b193-9375e2c2d4c1" providerId="ADAL" clId="{9D85F400-F55F-45C9-B5FB-CE5186A6C3BA}" dt="2026-04-21T00:42:09.724" v="241"/>
          <ac:spMkLst>
            <pc:docMk/>
            <pc:sldMk cId="3656384308" sldId="2147469916"/>
            <ac:spMk id="5" creationId="{41D5860E-D84C-61B5-6C60-966255B364E5}"/>
          </ac:spMkLst>
        </pc:spChg>
      </pc:sldChg>
      <pc:sldChg chg="modSp add mod ord">
        <pc:chgData name="Mahipal Komatreddy" userId="01acd1e8-947b-4bbf-b193-9375e2c2d4c1" providerId="ADAL" clId="{9D85F400-F55F-45C9-B5FB-CE5186A6C3BA}" dt="2026-04-21T16:20:46.155" v="625" actId="20577"/>
        <pc:sldMkLst>
          <pc:docMk/>
          <pc:sldMk cId="161783658" sldId="2147469917"/>
        </pc:sldMkLst>
        <pc:graphicFrameChg chg="mod modGraphic">
          <ac:chgData name="Mahipal Komatreddy" userId="01acd1e8-947b-4bbf-b193-9375e2c2d4c1" providerId="ADAL" clId="{9D85F400-F55F-45C9-B5FB-CE5186A6C3BA}" dt="2026-04-21T16:20:46.155" v="625" actId="20577"/>
          <ac:graphicFrameMkLst>
            <pc:docMk/>
            <pc:sldMk cId="161783658" sldId="2147469917"/>
            <ac:graphicFrameMk id="41" creationId="{2A4E2B48-61C4-C78E-30AF-E386E4CA1F86}"/>
          </ac:graphicFrameMkLst>
        </pc:graphicFrameChg>
      </pc:sldChg>
      <pc:sldChg chg="modSp add mod ord">
        <pc:chgData name="Mahipal Komatreddy" userId="01acd1e8-947b-4bbf-b193-9375e2c2d4c1" providerId="ADAL" clId="{9D85F400-F55F-45C9-B5FB-CE5186A6C3BA}" dt="2026-04-21T01:08:04.938" v="486"/>
        <pc:sldMkLst>
          <pc:docMk/>
          <pc:sldMk cId="3193524263" sldId="2147469918"/>
        </pc:sldMkLst>
        <pc:graphicFrameChg chg="mod modGraphic">
          <ac:chgData name="Mahipal Komatreddy" userId="01acd1e8-947b-4bbf-b193-9375e2c2d4c1" providerId="ADAL" clId="{9D85F400-F55F-45C9-B5FB-CE5186A6C3BA}" dt="2026-04-21T01:08:04.938" v="486"/>
          <ac:graphicFrameMkLst>
            <pc:docMk/>
            <pc:sldMk cId="3193524263" sldId="2147469918"/>
            <ac:graphicFrameMk id="41" creationId="{7F848159-D4E9-C31F-7FD4-643EAC8245FC}"/>
          </ac:graphicFrameMkLst>
        </pc:graphicFrameChg>
      </pc:sldChg>
      <pc:sldChg chg="modSp add mod">
        <pc:chgData name="Mahipal Komatreddy" userId="01acd1e8-947b-4bbf-b193-9375e2c2d4c1" providerId="ADAL" clId="{9D85F400-F55F-45C9-B5FB-CE5186A6C3BA}" dt="2026-04-21T01:03:10.513" v="463" actId="2165"/>
        <pc:sldMkLst>
          <pc:docMk/>
          <pc:sldMk cId="3702546554" sldId="2147469919"/>
        </pc:sldMkLst>
        <pc:graphicFrameChg chg="mod modGraphic">
          <ac:chgData name="Mahipal Komatreddy" userId="01acd1e8-947b-4bbf-b193-9375e2c2d4c1" providerId="ADAL" clId="{9D85F400-F55F-45C9-B5FB-CE5186A6C3BA}" dt="2026-04-21T01:03:10.513" v="463" actId="2165"/>
          <ac:graphicFrameMkLst>
            <pc:docMk/>
            <pc:sldMk cId="3702546554" sldId="2147469919"/>
            <ac:graphicFrameMk id="41" creationId="{D0B60F19-4698-4746-2A98-56D07BB8470F}"/>
          </ac:graphicFrameMkLst>
        </pc:graphicFrameChg>
      </pc:sldChg>
      <pc:sldChg chg="modSp add mod">
        <pc:chgData name="Mahipal Komatreddy" userId="01acd1e8-947b-4bbf-b193-9375e2c2d4c1" providerId="ADAL" clId="{9D85F400-F55F-45C9-B5FB-CE5186A6C3BA}" dt="2026-04-21T01:21:27.535" v="557"/>
        <pc:sldMkLst>
          <pc:docMk/>
          <pc:sldMk cId="184935760" sldId="2147469921"/>
        </pc:sldMkLst>
        <pc:spChg chg="mod">
          <ac:chgData name="Mahipal Komatreddy" userId="01acd1e8-947b-4bbf-b193-9375e2c2d4c1" providerId="ADAL" clId="{9D85F400-F55F-45C9-B5FB-CE5186A6C3BA}" dt="2026-04-21T01:20:28.070" v="552" actId="20577"/>
          <ac:spMkLst>
            <pc:docMk/>
            <pc:sldMk cId="184935760" sldId="2147469921"/>
            <ac:spMk id="10" creationId="{32B462E6-C9BA-3B66-1698-69F7269737F4}"/>
          </ac:spMkLst>
        </pc:spChg>
        <pc:spChg chg="mod">
          <ac:chgData name="Mahipal Komatreddy" userId="01acd1e8-947b-4bbf-b193-9375e2c2d4c1" providerId="ADAL" clId="{9D85F400-F55F-45C9-B5FB-CE5186A6C3BA}" dt="2026-04-21T01:20:49.535" v="554" actId="6549"/>
          <ac:spMkLst>
            <pc:docMk/>
            <pc:sldMk cId="184935760" sldId="2147469921"/>
            <ac:spMk id="166" creationId="{B565D672-335F-B6AC-2407-2DA4D41215DA}"/>
          </ac:spMkLst>
        </pc:spChg>
        <pc:spChg chg="mod">
          <ac:chgData name="Mahipal Komatreddy" userId="01acd1e8-947b-4bbf-b193-9375e2c2d4c1" providerId="ADAL" clId="{9D85F400-F55F-45C9-B5FB-CE5186A6C3BA}" dt="2026-04-21T01:21:01.171" v="555"/>
          <ac:spMkLst>
            <pc:docMk/>
            <pc:sldMk cId="184935760" sldId="2147469921"/>
            <ac:spMk id="234" creationId="{6D344573-4DBE-ECD0-6746-D8407322E3E5}"/>
          </ac:spMkLst>
        </pc:spChg>
        <pc:spChg chg="mod">
          <ac:chgData name="Mahipal Komatreddy" userId="01acd1e8-947b-4bbf-b193-9375e2c2d4c1" providerId="ADAL" clId="{9D85F400-F55F-45C9-B5FB-CE5186A6C3BA}" dt="2026-04-21T01:21:13.042" v="556"/>
          <ac:spMkLst>
            <pc:docMk/>
            <pc:sldMk cId="184935760" sldId="2147469921"/>
            <ac:spMk id="278" creationId="{014E9553-6E00-1B35-327D-60C9F69EF0B8}"/>
          </ac:spMkLst>
        </pc:spChg>
        <pc:spChg chg="mod">
          <ac:chgData name="Mahipal Komatreddy" userId="01acd1e8-947b-4bbf-b193-9375e2c2d4c1" providerId="ADAL" clId="{9D85F400-F55F-45C9-B5FB-CE5186A6C3BA}" dt="2026-04-21T01:21:27.535" v="557"/>
          <ac:spMkLst>
            <pc:docMk/>
            <pc:sldMk cId="184935760" sldId="2147469921"/>
            <ac:spMk id="298" creationId="{45B8FD4D-D073-8768-3AFE-68642F94A9B5}"/>
          </ac:spMkLst>
        </pc:spChg>
      </pc:sldChg>
      <pc:sldChg chg="modSp add mod">
        <pc:chgData name="Mahipal Komatreddy" userId="01acd1e8-947b-4bbf-b193-9375e2c2d4c1" providerId="ADAL" clId="{9D85F400-F55F-45C9-B5FB-CE5186A6C3BA}" dt="2026-04-21T20:14:39.025" v="709" actId="26606"/>
        <pc:sldMkLst>
          <pc:docMk/>
          <pc:sldMk cId="3492520798" sldId="2147469925"/>
        </pc:sldMkLst>
        <pc:picChg chg="mod">
          <ac:chgData name="Mahipal Komatreddy" userId="01acd1e8-947b-4bbf-b193-9375e2c2d4c1" providerId="ADAL" clId="{9D85F400-F55F-45C9-B5FB-CE5186A6C3BA}" dt="2026-04-21T20:14:39.025" v="709" actId="26606"/>
          <ac:picMkLst>
            <pc:docMk/>
            <pc:sldMk cId="3492520798" sldId="2147469925"/>
            <ac:picMk id="8" creationId="{2ABF395F-F823-B66B-C420-14F3FA438D34}"/>
          </ac:picMkLst>
        </pc:picChg>
      </pc:sldChg>
      <pc:sldChg chg="modSp add">
        <pc:chgData name="Mahipal Komatreddy" userId="01acd1e8-947b-4bbf-b193-9375e2c2d4c1" providerId="ADAL" clId="{9D85F400-F55F-45C9-B5FB-CE5186A6C3BA}" dt="2026-04-21T17:32:42.003" v="631"/>
        <pc:sldMkLst>
          <pc:docMk/>
          <pc:sldMk cId="2328580314" sldId="2147469926"/>
        </pc:sldMkLst>
        <pc:spChg chg="mod">
          <ac:chgData name="Mahipal Komatreddy" userId="01acd1e8-947b-4bbf-b193-9375e2c2d4c1" providerId="ADAL" clId="{9D85F400-F55F-45C9-B5FB-CE5186A6C3BA}" dt="2026-04-21T17:32:42.003" v="631"/>
          <ac:spMkLst>
            <pc:docMk/>
            <pc:sldMk cId="2328580314" sldId="2147469926"/>
            <ac:spMk id="3" creationId="{73F3E819-0B37-67B3-3EED-609F59003736}"/>
          </ac:spMkLst>
        </pc:spChg>
      </pc:sldChg>
      <pc:sldChg chg="add">
        <pc:chgData name="Mahipal Komatreddy" userId="01acd1e8-947b-4bbf-b193-9375e2c2d4c1" providerId="ADAL" clId="{9D85F400-F55F-45C9-B5FB-CE5186A6C3BA}" dt="2026-04-21T18:07:21.877" v="638"/>
        <pc:sldMkLst>
          <pc:docMk/>
          <pc:sldMk cId="4214753674" sldId="2147482684"/>
        </pc:sldMkLst>
      </pc:sldChg>
      <pc:sldChg chg="add">
        <pc:chgData name="Mahipal Komatreddy" userId="01acd1e8-947b-4bbf-b193-9375e2c2d4c1" providerId="ADAL" clId="{9D85F400-F55F-45C9-B5FB-CE5186A6C3BA}" dt="2026-04-21T17:35:41.083" v="637"/>
        <pc:sldMkLst>
          <pc:docMk/>
          <pc:sldMk cId="3753916119" sldId="2147482685"/>
        </pc:sldMkLst>
      </pc:sldChg>
      <pc:sldChg chg="modSp add mod">
        <pc:chgData name="Mahipal Komatreddy" userId="01acd1e8-947b-4bbf-b193-9375e2c2d4c1" providerId="ADAL" clId="{9D85F400-F55F-45C9-B5FB-CE5186A6C3BA}" dt="2026-04-21T20:14:39.025" v="709" actId="26606"/>
        <pc:sldMkLst>
          <pc:docMk/>
          <pc:sldMk cId="973425000" sldId="2147482689"/>
        </pc:sldMkLst>
        <pc:picChg chg="mod">
          <ac:chgData name="Mahipal Komatreddy" userId="01acd1e8-947b-4bbf-b193-9375e2c2d4c1" providerId="ADAL" clId="{9D85F400-F55F-45C9-B5FB-CE5186A6C3BA}" dt="2026-04-21T20:14:39.025" v="709" actId="26606"/>
          <ac:picMkLst>
            <pc:docMk/>
            <pc:sldMk cId="973425000" sldId="2147482689"/>
            <ac:picMk id="3" creationId="{94D15295-81C4-2536-864C-18BE750FE70A}"/>
          </ac:picMkLst>
        </pc:picChg>
      </pc:sldChg>
      <pc:sldChg chg="add">
        <pc:chgData name="Mahipal Komatreddy" userId="01acd1e8-947b-4bbf-b193-9375e2c2d4c1" providerId="ADAL" clId="{9D85F400-F55F-45C9-B5FB-CE5186A6C3BA}" dt="2026-04-21T17:35:41.083" v="637"/>
        <pc:sldMkLst>
          <pc:docMk/>
          <pc:sldMk cId="1051611394" sldId="2147483139"/>
        </pc:sldMkLst>
      </pc:sldChg>
      <pc:sldChg chg="add">
        <pc:chgData name="Mahipal Komatreddy" userId="01acd1e8-947b-4bbf-b193-9375e2c2d4c1" providerId="ADAL" clId="{9D85F400-F55F-45C9-B5FB-CE5186A6C3BA}" dt="2026-04-21T17:35:41.083" v="637"/>
        <pc:sldMkLst>
          <pc:docMk/>
          <pc:sldMk cId="646274913" sldId="2147483148"/>
        </pc:sldMkLst>
      </pc:sldChg>
      <pc:sldChg chg="add">
        <pc:chgData name="Mahipal Komatreddy" userId="01acd1e8-947b-4bbf-b193-9375e2c2d4c1" providerId="ADAL" clId="{9D85F400-F55F-45C9-B5FB-CE5186A6C3BA}" dt="2026-04-21T17:35:41.083" v="637"/>
        <pc:sldMkLst>
          <pc:docMk/>
          <pc:sldMk cId="1165102498" sldId="2147483151"/>
        </pc:sldMkLst>
      </pc:sldChg>
      <pc:sldChg chg="add">
        <pc:chgData name="Mahipal Komatreddy" userId="01acd1e8-947b-4bbf-b193-9375e2c2d4c1" providerId="ADAL" clId="{9D85F400-F55F-45C9-B5FB-CE5186A6C3BA}" dt="2026-04-21T17:34:32.426" v="635"/>
        <pc:sldMkLst>
          <pc:docMk/>
          <pc:sldMk cId="2945351834" sldId="2147483152"/>
        </pc:sldMkLst>
      </pc:sldChg>
      <pc:sldChg chg="modSp add mod">
        <pc:chgData name="Mahipal Komatreddy" userId="01acd1e8-947b-4bbf-b193-9375e2c2d4c1" providerId="ADAL" clId="{9D85F400-F55F-45C9-B5FB-CE5186A6C3BA}" dt="2026-04-21T20:14:39.025" v="709" actId="26606"/>
        <pc:sldMkLst>
          <pc:docMk/>
          <pc:sldMk cId="1476941381" sldId="2147483154"/>
        </pc:sldMkLst>
        <pc:picChg chg="mod">
          <ac:chgData name="Mahipal Komatreddy" userId="01acd1e8-947b-4bbf-b193-9375e2c2d4c1" providerId="ADAL" clId="{9D85F400-F55F-45C9-B5FB-CE5186A6C3BA}" dt="2026-04-21T20:14:39.025" v="709" actId="26606"/>
          <ac:picMkLst>
            <pc:docMk/>
            <pc:sldMk cId="1476941381" sldId="2147483154"/>
            <ac:picMk id="4" creationId="{38C2F422-A53F-39FA-88D0-5D2975681495}"/>
          </ac:picMkLst>
        </pc:picChg>
      </pc:sldChg>
      <pc:sldChg chg="add">
        <pc:chgData name="Mahipal Komatreddy" userId="01acd1e8-947b-4bbf-b193-9375e2c2d4c1" providerId="ADAL" clId="{9D85F400-F55F-45C9-B5FB-CE5186A6C3BA}" dt="2026-04-21T18:07:21.877" v="638"/>
        <pc:sldMkLst>
          <pc:docMk/>
          <pc:sldMk cId="2849982531" sldId="2147483156"/>
        </pc:sldMkLst>
      </pc:sldChg>
      <pc:sldChg chg="add">
        <pc:chgData name="Mahipal Komatreddy" userId="01acd1e8-947b-4bbf-b193-9375e2c2d4c1" providerId="ADAL" clId="{9D85F400-F55F-45C9-B5FB-CE5186A6C3BA}" dt="2026-04-21T17:35:41.083" v="637"/>
        <pc:sldMkLst>
          <pc:docMk/>
          <pc:sldMk cId="1124063412" sldId="2147483157"/>
        </pc:sldMkLst>
      </pc:sldChg>
      <pc:sldChg chg="modSp add">
        <pc:chgData name="Mahipal Komatreddy" userId="01acd1e8-947b-4bbf-b193-9375e2c2d4c1" providerId="ADAL" clId="{9D85F400-F55F-45C9-B5FB-CE5186A6C3BA}" dt="2026-04-21T18:07:21.877" v="638"/>
        <pc:sldMkLst>
          <pc:docMk/>
          <pc:sldMk cId="3239540804" sldId="2147483620"/>
        </pc:sldMkLst>
        <pc:spChg chg="mod">
          <ac:chgData name="Mahipal Komatreddy" userId="01acd1e8-947b-4bbf-b193-9375e2c2d4c1" providerId="ADAL" clId="{9D85F400-F55F-45C9-B5FB-CE5186A6C3BA}" dt="2026-04-21T18:07:21.877" v="638"/>
          <ac:spMkLst>
            <pc:docMk/>
            <pc:sldMk cId="3239540804" sldId="2147483620"/>
            <ac:spMk id="3" creationId="{DCA872C5-DE29-DB52-078A-4C6BD5FB1434}"/>
          </ac:spMkLst>
        </pc:spChg>
      </pc:sldChg>
      <pc:sldChg chg="add">
        <pc:chgData name="Mahipal Komatreddy" userId="01acd1e8-947b-4bbf-b193-9375e2c2d4c1" providerId="ADAL" clId="{9D85F400-F55F-45C9-B5FB-CE5186A6C3BA}" dt="2026-04-21T18:07:21.877" v="638"/>
        <pc:sldMkLst>
          <pc:docMk/>
          <pc:sldMk cId="4059012655" sldId="2147483622"/>
        </pc:sldMkLst>
      </pc:sldChg>
      <pc:sldChg chg="add">
        <pc:chgData name="Mahipal Komatreddy" userId="01acd1e8-947b-4bbf-b193-9375e2c2d4c1" providerId="ADAL" clId="{9D85F400-F55F-45C9-B5FB-CE5186A6C3BA}" dt="2026-04-21T18:07:21.877" v="638"/>
        <pc:sldMkLst>
          <pc:docMk/>
          <pc:sldMk cId="3105598790" sldId="2147483623"/>
        </pc:sldMkLst>
      </pc:sldChg>
      <pc:sldChg chg="add">
        <pc:chgData name="Mahipal Komatreddy" userId="01acd1e8-947b-4bbf-b193-9375e2c2d4c1" providerId="ADAL" clId="{9D85F400-F55F-45C9-B5FB-CE5186A6C3BA}" dt="2026-04-21T18:07:21.877" v="638"/>
        <pc:sldMkLst>
          <pc:docMk/>
          <pc:sldMk cId="2670445842" sldId="2147483624"/>
        </pc:sldMkLst>
      </pc:sldChg>
      <pc:sldChg chg="add modTransition setBg">
        <pc:chgData name="Mahipal Komatreddy" userId="01acd1e8-947b-4bbf-b193-9375e2c2d4c1" providerId="ADAL" clId="{9D85F400-F55F-45C9-B5FB-CE5186A6C3BA}" dt="2026-04-21T17:33:20.614" v="632"/>
        <pc:sldMkLst>
          <pc:docMk/>
          <pc:sldMk cId="2219761895" sldId="2147483625"/>
        </pc:sldMkLst>
      </pc:sldChg>
      <pc:sldChg chg="add">
        <pc:chgData name="Mahipal Komatreddy" userId="01acd1e8-947b-4bbf-b193-9375e2c2d4c1" providerId="ADAL" clId="{9D85F400-F55F-45C9-B5FB-CE5186A6C3BA}" dt="2026-04-21T17:33:37.676" v="633"/>
        <pc:sldMkLst>
          <pc:docMk/>
          <pc:sldMk cId="2141831084" sldId="2147483626"/>
        </pc:sldMkLst>
      </pc:sldChg>
      <pc:sldChg chg="add modTransition setBg">
        <pc:chgData name="Mahipal Komatreddy" userId="01acd1e8-947b-4bbf-b193-9375e2c2d4c1" providerId="ADAL" clId="{9D85F400-F55F-45C9-B5FB-CE5186A6C3BA}" dt="2026-04-21T17:35:41.083" v="637"/>
        <pc:sldMkLst>
          <pc:docMk/>
          <pc:sldMk cId="4148913811" sldId="2147483627"/>
        </pc:sldMkLst>
      </pc:sldChg>
      <pc:sldChg chg="modSp add mod ord">
        <pc:chgData name="Mahipal Komatreddy" userId="01acd1e8-947b-4bbf-b193-9375e2c2d4c1" providerId="ADAL" clId="{9D85F400-F55F-45C9-B5FB-CE5186A6C3BA}" dt="2026-04-21T19:45:34.849" v="667" actId="20577"/>
        <pc:sldMkLst>
          <pc:docMk/>
          <pc:sldMk cId="2224497458" sldId="2147483628"/>
        </pc:sldMkLst>
        <pc:spChg chg="mod">
          <ac:chgData name="Mahipal Komatreddy" userId="01acd1e8-947b-4bbf-b193-9375e2c2d4c1" providerId="ADAL" clId="{9D85F400-F55F-45C9-B5FB-CE5186A6C3BA}" dt="2026-04-21T19:45:34.849" v="667" actId="20577"/>
          <ac:spMkLst>
            <pc:docMk/>
            <pc:sldMk cId="2224497458" sldId="2147483628"/>
            <ac:spMk id="5" creationId="{793F09F3-4052-7892-71B1-67A655E6400B}"/>
          </ac:spMkLst>
        </pc:spChg>
      </pc:sldChg>
      <pc:sldChg chg="addSp delSp add del mod ord setBg">
        <pc:chgData name="Mahipal Komatreddy" userId="01acd1e8-947b-4bbf-b193-9375e2c2d4c1" providerId="ADAL" clId="{9D85F400-F55F-45C9-B5FB-CE5186A6C3BA}" dt="2026-04-21T20:38:08.751" v="737"/>
        <pc:sldMkLst>
          <pc:docMk/>
          <pc:sldMk cId="0" sldId="2147483631"/>
        </pc:sldMkLst>
      </pc:sldChg>
      <pc:sldChg chg="add ord setBg">
        <pc:chgData name="Mahipal Komatreddy" userId="01acd1e8-947b-4bbf-b193-9375e2c2d4c1" providerId="ADAL" clId="{9D85F400-F55F-45C9-B5FB-CE5186A6C3BA}" dt="2026-04-21T20:37:52.198" v="735"/>
        <pc:sldMkLst>
          <pc:docMk/>
          <pc:sldMk cId="0" sldId="2147483632"/>
        </pc:sldMkLst>
      </pc:sldChg>
      <pc:sldChg chg="add setBg">
        <pc:chgData name="Mahipal Komatreddy" userId="01acd1e8-947b-4bbf-b193-9375e2c2d4c1" providerId="ADAL" clId="{9D85F400-F55F-45C9-B5FB-CE5186A6C3BA}" dt="2026-04-21T20:28:06.564" v="711"/>
        <pc:sldMkLst>
          <pc:docMk/>
          <pc:sldMk cId="0" sldId="2147483634"/>
        </pc:sldMkLst>
      </pc:sldChg>
      <pc:sldChg chg="add setBg">
        <pc:chgData name="Mahipal Komatreddy" userId="01acd1e8-947b-4bbf-b193-9375e2c2d4c1" providerId="ADAL" clId="{9D85F400-F55F-45C9-B5FB-CE5186A6C3BA}" dt="2026-04-21T20:28:50.596" v="713"/>
        <pc:sldMkLst>
          <pc:docMk/>
          <pc:sldMk cId="0" sldId="2147483635"/>
        </pc:sldMkLst>
      </pc:sldChg>
      <pc:sldChg chg="add setBg">
        <pc:chgData name="Mahipal Komatreddy" userId="01acd1e8-947b-4bbf-b193-9375e2c2d4c1" providerId="ADAL" clId="{9D85F400-F55F-45C9-B5FB-CE5186A6C3BA}" dt="2026-04-21T20:29:17.227" v="714"/>
        <pc:sldMkLst>
          <pc:docMk/>
          <pc:sldMk cId="0" sldId="2147483636"/>
        </pc:sldMkLst>
      </pc:sldChg>
      <pc:sldChg chg="add setBg">
        <pc:chgData name="Mahipal Komatreddy" userId="01acd1e8-947b-4bbf-b193-9375e2c2d4c1" providerId="ADAL" clId="{9D85F400-F55F-45C9-B5FB-CE5186A6C3BA}" dt="2026-04-21T20:30:08.885" v="717"/>
        <pc:sldMkLst>
          <pc:docMk/>
          <pc:sldMk cId="0" sldId="2147483637"/>
        </pc:sldMkLst>
      </pc:sldChg>
      <pc:sldChg chg="add setBg">
        <pc:chgData name="Mahipal Komatreddy" userId="01acd1e8-947b-4bbf-b193-9375e2c2d4c1" providerId="ADAL" clId="{9D85F400-F55F-45C9-B5FB-CE5186A6C3BA}" dt="2026-04-21T20:30:25.013" v="718"/>
        <pc:sldMkLst>
          <pc:docMk/>
          <pc:sldMk cId="0" sldId="2147483638"/>
        </pc:sldMkLst>
      </pc:sldChg>
      <pc:sldChg chg="add setBg">
        <pc:chgData name="Mahipal Komatreddy" userId="01acd1e8-947b-4bbf-b193-9375e2c2d4c1" providerId="ADAL" clId="{9D85F400-F55F-45C9-B5FB-CE5186A6C3BA}" dt="2026-04-21T20:31:06.043" v="719"/>
        <pc:sldMkLst>
          <pc:docMk/>
          <pc:sldMk cId="0" sldId="2147483639"/>
        </pc:sldMkLst>
      </pc:sldChg>
      <pc:sldChg chg="add setBg">
        <pc:chgData name="Mahipal Komatreddy" userId="01acd1e8-947b-4bbf-b193-9375e2c2d4c1" providerId="ADAL" clId="{9D85F400-F55F-45C9-B5FB-CE5186A6C3BA}" dt="2026-04-21T20:31:39.878" v="720"/>
        <pc:sldMkLst>
          <pc:docMk/>
          <pc:sldMk cId="0" sldId="2147483640"/>
        </pc:sldMkLst>
      </pc:sldChg>
      <pc:sldChg chg="add setBg">
        <pc:chgData name="Mahipal Komatreddy" userId="01acd1e8-947b-4bbf-b193-9375e2c2d4c1" providerId="ADAL" clId="{9D85F400-F55F-45C9-B5FB-CE5186A6C3BA}" dt="2026-04-21T22:57:25.258" v="740"/>
        <pc:sldMkLst>
          <pc:docMk/>
          <pc:sldMk cId="0" sldId="2147483641"/>
        </pc:sldMkLst>
      </pc:sldChg>
      <pc:sldChg chg="add setBg">
        <pc:chgData name="Mahipal Komatreddy" userId="01acd1e8-947b-4bbf-b193-9375e2c2d4c1" providerId="ADAL" clId="{9D85F400-F55F-45C9-B5FB-CE5186A6C3BA}" dt="2026-04-21T22:57:31.274" v="741"/>
        <pc:sldMkLst>
          <pc:docMk/>
          <pc:sldMk cId="0" sldId="2147483642"/>
        </pc:sldMkLst>
      </pc:sldChg>
      <pc:sldChg chg="add setBg">
        <pc:chgData name="Mahipal Komatreddy" userId="01acd1e8-947b-4bbf-b193-9375e2c2d4c1" providerId="ADAL" clId="{9D85F400-F55F-45C9-B5FB-CE5186A6C3BA}" dt="2026-04-21T22:57:37.432" v="742"/>
        <pc:sldMkLst>
          <pc:docMk/>
          <pc:sldMk cId="0" sldId="2147483643"/>
        </pc:sldMkLst>
      </pc:sldChg>
      <pc:sldChg chg="add setBg">
        <pc:chgData name="Mahipal Komatreddy" userId="01acd1e8-947b-4bbf-b193-9375e2c2d4c1" providerId="ADAL" clId="{9D85F400-F55F-45C9-B5FB-CE5186A6C3BA}" dt="2026-04-21T22:57:46.779" v="743"/>
        <pc:sldMkLst>
          <pc:docMk/>
          <pc:sldMk cId="0" sldId="2147483644"/>
        </pc:sldMkLst>
      </pc:sldChg>
      <pc:sldChg chg="add setBg">
        <pc:chgData name="Mahipal Komatreddy" userId="01acd1e8-947b-4bbf-b193-9375e2c2d4c1" providerId="ADAL" clId="{9D85F400-F55F-45C9-B5FB-CE5186A6C3BA}" dt="2026-04-21T22:57:53.050" v="744"/>
        <pc:sldMkLst>
          <pc:docMk/>
          <pc:sldMk cId="0" sldId="2147483645"/>
        </pc:sldMkLst>
      </pc:sldChg>
      <pc:sldChg chg="add setBg">
        <pc:chgData name="Mahipal Komatreddy" userId="01acd1e8-947b-4bbf-b193-9375e2c2d4c1" providerId="ADAL" clId="{9D85F400-F55F-45C9-B5FB-CE5186A6C3BA}" dt="2026-04-21T22:57:59.219" v="745"/>
        <pc:sldMkLst>
          <pc:docMk/>
          <pc:sldMk cId="0" sldId="2147483646"/>
        </pc:sldMkLst>
      </pc:sldChg>
      <pc:sldChg chg="add setBg">
        <pc:chgData name="Mahipal Komatreddy" userId="01acd1e8-947b-4bbf-b193-9375e2c2d4c1" providerId="ADAL" clId="{9D85F400-F55F-45C9-B5FB-CE5186A6C3BA}" dt="2026-04-21T22:58:03.919" v="746"/>
        <pc:sldMkLst>
          <pc:docMk/>
          <pc:sldMk cId="0" sldId="2147483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6/18/2026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r>
              <a:rPr sz="1400"/>
              <a:t>Welcome everyone to the Azure AI Governance workshop. My name is Mahipal Komatreddy, and today we'll explore Data Governance for AI — why it matters, how it differs from traditional data governance, and how Microsoft tools help you implement it end to end.</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6/18/2026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r>
              <a:rPr sz="1400"/>
              <a:t>Please review the conditions and terms of use for these training materials. These are for your personal internal reference and non-commercial purposes only. Do not redistribute without Microsoft's express permission.</a:t>
            </a:r>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This is the framing slide — set the stage before diving into details. Emphasize that AI governance is NOT just traditional governance rebranded. It introduces entirely new data surfaces (embeddings, model weights, prompt logs) that require new controls. The four bullets build the case: new flows, amplified risk, regulatory pressure, and Microsoft's solution. This slide answers the question every attendee is thinking: why should I care?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6/18/2026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r>
              <a:rPr sz="1400"/>
              <a:t>This module covers four learning units: Data Lineage and Discovery, Data Classification and Protection, Access and Residency Controls, and Compliance and Lifecycle Governance. Each builds on the previous one, forming a comprehensive governance framework for AI workloads.</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60419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r>
              <a:rPr sz="1400"/>
              <a:t>Let's start with our first learning unit — Data Lineage and Discovery. This is the foundation of AI governance: you can't govern what you can't see.</a:t>
            </a:r>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6</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6/18/2026</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r>
              <a:rPr sz="1400"/>
              <a:t>By the end of this unit, you'll understand three key areas: first, Data Discovery and Lineage — how to inventory every data source feeding your AI agent and trace data from origin to AI response. Second, Training Data Governance — consent, licensing, quality, and retention. Third, Inference Data Governance — prompt and response scanning and zero-retention options.</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674643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Data Discovery is the starting point. Before you can govern data for AI, you need a complete inventory of every source feeding into your AI agents — databases, file shares, APIs, third-party data feeds. Ask the audience: how many of you have a complete inventory of data sources feeding your AI workloads today?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Lineage and Provenance answer the question: where did this data come from, and how was it transformed? For AI, this is critical because regulators and auditors need end-to-end traceability — from the original source table all the way to the AI-generated response. Without lineage, you cannot reproduce results or investigate issues.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3EA40-786C-0B4D-C7E6-35D6DC22AF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436C73-2AE7-3026-DAAE-34F3FF504DD9}"/>
              </a:ext>
            </a:extLst>
          </p:cNvPr>
          <p:cNvSpPr>
            <a:spLocks noGrp="1"/>
          </p:cNvSpPr>
          <p:nvPr>
            <p:ph type="sldNum" sz="quarter" idx="10"/>
          </p:nvPr>
        </p:nvSpPr>
        <p:spPr/>
        <p:txBody>
          <a:bodyPr/>
          <a:lstStyle/>
          <a:p>
            <a:fld id="{F475C4C8-7DEA-455A-9336-A4C7DB3AE516}" type="slidenum">
              <a:rPr lang="en-US"/>
              <a:pPr/>
              <a:t>9</a:t>
            </a:fld>
            <a:endParaRPr lang="en-US"/>
          </a:p>
        </p:txBody>
      </p:sp>
      <p:sp>
        <p:nvSpPr>
          <p:cNvPr id="3" name="Date Placeholder 2">
            <a:extLst>
              <a:ext uri="{FF2B5EF4-FFF2-40B4-BE49-F238E27FC236}">
                <a16:creationId xmlns:a16="http://schemas.microsoft.com/office/drawing/2014/main" id="{0E1BAE0A-723C-0532-B1B8-272AFB0FE459}"/>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368B5247-0B34-78EB-6BB8-2346B8F37FF9}"/>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33755E7E-2572-9F16-8C5C-81A488C84A71}"/>
              </a:ext>
            </a:extLst>
          </p:cNvPr>
          <p:cNvSpPr>
            <a:spLocks noGrp="1"/>
          </p:cNvSpPr>
          <p:nvPr>
            <p:ph type="body" idx="1"/>
          </p:nvPr>
        </p:nvSpPr>
        <p:spPr>
          <a:xfrm>
            <a:off x="685800" y="4400550"/>
            <a:ext cx="5486400" cy="3600450"/>
          </a:xfrm>
          <a:prstGeom prst="rect">
            <a:avLst/>
          </a:prstGeom>
        </p:spPr>
        <p:txBody>
          <a:bodyPr/>
          <a:lstStyle/>
          <a:p>
            <a:r>
              <a:rPr sz="1400"/>
              <a:t>Now let's look at Microsoft Purview — the solution that enables data governance at scale. We'll walk through how Purview's Unified Catalog provides the foundation for everything we just discussed: discovery, lineage, classification, and protection.</a:t>
            </a:r>
          </a:p>
        </p:txBody>
      </p:sp>
      <p:sp>
        <p:nvSpPr>
          <p:cNvPr id="5" name="Header Placeholder 4">
            <a:extLst>
              <a:ext uri="{FF2B5EF4-FFF2-40B4-BE49-F238E27FC236}">
                <a16:creationId xmlns:a16="http://schemas.microsoft.com/office/drawing/2014/main" id="{198E98C8-E0BF-B0AE-6671-B9BDB88E387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837377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strike="noStrike">
                <a:solidFill>
                  <a:srgbClr val="000000"/>
                </a:solidFill>
                <a:effectLst/>
                <a:highlight>
                  <a:srgbClr val="F5F5F5"/>
                </a:highlight>
                <a:latin typeface="Segoe UI" panose="020B0502040204020203" pitchFamily="34" charset="0"/>
              </a:rPr>
              <a:t>Microsoft Purview</a:t>
            </a:r>
            <a:r>
              <a:rPr lang="en-US" b="0" i="0" u="none" strike="noStrike">
                <a:solidFill>
                  <a:srgbClr val="000000"/>
                </a:solidFill>
                <a:effectLst/>
                <a:highlight>
                  <a:srgbClr val="F5F5F5"/>
                </a:highlight>
                <a:latin typeface="Segoe UI" panose="020B0502040204020203" pitchFamily="34" charset="0"/>
              </a:rPr>
              <a:t> is your solution for comprehensive security, governance, and compliance on ALL your data wherever it lives. Microsoft Purview combines our solutions for Data Security (for security leaders), Data Governance (for data officers and consumers) and Data Compliance (for risk leaders) into one unified experience and a unified underlying platform. These connected solutions are all anchored on a trusted common foundation to securely navigate and innovate the digital transformation investments. The open platform gives you tremendous choice in terms of solutions you can choose and apply for your needs. </a:t>
            </a:r>
            <a:r>
              <a:rPr lang="en-US" b="0" i="0" u="none" strike="noStrike">
                <a:solidFill>
                  <a:srgbClr val="444444"/>
                </a:solidFill>
                <a:effectLst/>
                <a:highlight>
                  <a:srgbClr val="F5F5F5"/>
                </a:highlight>
                <a:latin typeface="Segoe UI" panose="020B0502040204020203" pitchFamily="34" charset="0"/>
              </a:rPr>
              <a:t>​ </a:t>
            </a:r>
            <a:r>
              <a:rPr lang="en-US" b="0" i="0" u="none" strike="noStrike">
                <a:solidFill>
                  <a:srgbClr val="000000"/>
                </a:solidFill>
                <a:effectLst/>
                <a:highlight>
                  <a:srgbClr val="F5F5F5"/>
                </a:highlight>
                <a:latin typeface="Segoe UI" panose="020B0502040204020203" pitchFamily="34" charset="0"/>
              </a:rPr>
              <a:t>This is a huge step in our promise to help you protect your entire data estate.  Let’s explore the new Data Governance pillar of Microsoft Purview further.</a:t>
            </a:r>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F558561-BE36-42AC-B7DC-7B2DD2B932EC}"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6/18/2026 10:52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73765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And it’s critical that technology simplifies the way each data professional in your organization manages, discovers, and accesses data.  With a solution built for each role, business domain experts can accelerate data value while your data office and stewards provide the standards for consistent operations and can </a:t>
            </a:r>
            <a:r>
              <a:rPr lang="en-GB" sz="1800" b="0" i="0" u="none" strike="noStrike">
                <a:solidFill>
                  <a:srgbClr val="000000"/>
                </a:solidFill>
                <a:effectLst/>
                <a:latin typeface="Calibri" panose="020F0502020204030204" pitchFamily="34" charset="0"/>
              </a:rPr>
              <a:t>maintain commonalities.  It’s all about seamlessly enabling </a:t>
            </a:r>
            <a:r>
              <a:rPr lang="en-US" sz="1800"/>
              <a:t>responsible data democratization and federated governance. </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C60545-2FD5-44C8-BAB5-70D83C4102C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0452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D072B-0CF9-F9E2-8D97-950EFB40F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E6C91-01B0-C641-A252-89D825E6D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E8DF6-1824-E592-1358-79C61ED049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a:solidFill>
                  <a:schemeClr val="tx1"/>
                </a:solidFill>
                <a:effectLst/>
                <a:latin typeface="+mn-lt"/>
                <a:ea typeface="+mn-ea"/>
                <a:cs typeface="+mn-cs"/>
              </a:rPr>
              <a:t>Microsoft Purview Unified Catalog delivers a modern data governance solution that offers comprehensive visibility by streamlining metadata from disparate catalogs and sources, strengthens data confidence by providing a complete solution that ensures data quality, and empowers day-to-day data consumers to innovate responsibly through easy data discovery experiences in a single control plane —all for greater business value in the era of AI.</a:t>
            </a: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1731"/>
              </a:solidFill>
              <a:effectLst/>
              <a:uLnTx/>
              <a:uFillTx/>
              <a:cs typeface="Segoe Sans Text Semibold"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71731"/>
                </a:solidFill>
                <a:latin typeface="Segoe Sans Text"/>
                <a:cs typeface="Arial"/>
              </a:rPr>
              <a:t> </a:t>
            </a:r>
          </a:p>
          <a:p>
            <a:pPr algn="l"/>
            <a:endParaRPr lang="en-US"/>
          </a:p>
        </p:txBody>
      </p:sp>
      <p:sp>
        <p:nvSpPr>
          <p:cNvPr id="4" name="Slide Number Placeholder 3">
            <a:extLst>
              <a:ext uri="{FF2B5EF4-FFF2-40B4-BE49-F238E27FC236}">
                <a16:creationId xmlns:a16="http://schemas.microsoft.com/office/drawing/2014/main" id="{5DAFA24D-7F87-5C70-8424-B245C48B38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92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2CB99-ACF4-4F75-CB42-D5374BD12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9E9EB-039B-1B5F-3170-EC1EDB79C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DB0FE-45F7-E729-AABE-74F25E9503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FF0000"/>
                </a:solidFill>
                <a:effectLst/>
                <a:highlight>
                  <a:srgbClr val="FFFFFF"/>
                </a:highlight>
                <a:latin typeface="Segoe UI Web (West European)"/>
              </a:rPr>
              <a:t>The Unified Catalog simplifies</a:t>
            </a:r>
            <a:r>
              <a:rPr lang="en-CA" sz="1200" kern="1200">
                <a:solidFill>
                  <a:schemeClr val="tx1"/>
                </a:solidFill>
                <a:effectLst/>
                <a:highlight>
                  <a:srgbClr val="FFFFFF"/>
                </a:highlight>
                <a:latin typeface="+mn-lt"/>
                <a:ea typeface="+mn-ea"/>
                <a:cs typeface="+mn-cs"/>
              </a:rPr>
              <a:t> visibility across disparate catalogs, data sources, and data management, via a unified experience across the heterogenous data estate. It empowers users of the catalog to have estate wide governance and complete and actionable oversight of your data estate. </a:t>
            </a:r>
            <a:endParaRPr lang="en-US" sz="1200" kern="1200">
              <a:solidFill>
                <a:schemeClr val="tx1"/>
              </a:solidFill>
              <a:effectLst/>
              <a:highlight>
                <a:srgbClr val="FFFFFF"/>
              </a:highlight>
              <a:latin typeface="+mn-lt"/>
              <a:ea typeface="+mn-ea"/>
              <a:cs typeface="+mn-cs"/>
            </a:endParaRPr>
          </a:p>
          <a:p>
            <a:endParaRPr lang="en-US" b="0" i="0">
              <a:solidFill>
                <a:srgbClr val="FF0000"/>
              </a:solidFill>
              <a:effectLst/>
              <a:highlight>
                <a:srgbClr val="FFFFFF"/>
              </a:highlight>
              <a:latin typeface="Segoe UI Web (West European)"/>
            </a:endParaRPr>
          </a:p>
        </p:txBody>
      </p:sp>
      <p:sp>
        <p:nvSpPr>
          <p:cNvPr id="4" name="Slide Number Placeholder 3">
            <a:extLst>
              <a:ext uri="{FF2B5EF4-FFF2-40B4-BE49-F238E27FC236}">
                <a16:creationId xmlns:a16="http://schemas.microsoft.com/office/drawing/2014/main" id="{B962E7AD-B1A3-FC41-FE16-D0DAA4554B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34D30-449D-49C6-86FC-13F6006BE1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9145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DF315-0DB7-D45C-6473-ED0BE6960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4898E-EF3D-2F59-8699-82EC3D1EA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A9306-9667-2D88-E6F1-843485EF7E03}"/>
              </a:ext>
            </a:extLst>
          </p:cNvPr>
          <p:cNvSpPr>
            <a:spLocks noGrp="1"/>
          </p:cNvSpPr>
          <p:nvPr>
            <p:ph type="body" idx="1"/>
          </p:nvPr>
        </p:nvSpPr>
        <p:spPr/>
        <p:txBody>
          <a:bodyPr/>
          <a:lstStyle/>
          <a:p>
            <a:pPr marL="0" indent="0">
              <a:buFont typeface="Arial"/>
              <a:buNone/>
            </a:pPr>
            <a:r>
              <a:rPr lang="en-US" sz="1800">
                <a:effectLst/>
                <a:latin typeface="Calibri"/>
                <a:ea typeface="Calibri" panose="020F0502020204030204" pitchFamily="34" charset="0"/>
                <a:cs typeface="Calibri"/>
              </a:rPr>
              <a:t>To begin your data governance journey, Data Map is required to ingest the metadata from your data sources across your data estate. Think of this as the technical layer where data has yet to utilize governance concepts such as glossary terms, data products, governance domains and data quality. The business context that you bring to your data comes from the Unified Catalog</a:t>
            </a:r>
          </a:p>
          <a:p>
            <a:pPr marL="0" indent="0">
              <a:buFont typeface="Arial"/>
              <a:buNone/>
            </a:pPr>
            <a:endParaRPr lang="en-US" sz="1800">
              <a:effectLst/>
              <a:latin typeface="Calibri"/>
              <a:ea typeface="Calibri" panose="020F0502020204030204" pitchFamily="34" charset="0"/>
              <a:cs typeface="Calibri"/>
            </a:endParaRPr>
          </a:p>
        </p:txBody>
      </p:sp>
      <p:sp>
        <p:nvSpPr>
          <p:cNvPr id="4" name="Header Placeholder 3">
            <a:extLst>
              <a:ext uri="{FF2B5EF4-FFF2-40B4-BE49-F238E27FC236}">
                <a16:creationId xmlns:a16="http://schemas.microsoft.com/office/drawing/2014/main" id="{FBD108E5-5B8C-18A7-0ADF-0169E37B810F}"/>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EA70B13-A469-3ED3-B24F-C5F83B8C5B04}"/>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FB08D99-554F-6021-1D80-665BC4B9D7D7}"/>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6/18/2026 10:52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09D848B-F2A5-FA2F-0A3C-D1046826FD4A}"/>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15987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49AE5-14C9-2A51-13C3-F8D138AA7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2870C-9DAA-6CE9-FD73-0D339DD61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5F61D-5028-3FD0-0D6B-6BA4AE0E8CD9}"/>
              </a:ext>
            </a:extLst>
          </p:cNvPr>
          <p:cNvSpPr>
            <a:spLocks noGrp="1"/>
          </p:cNvSpPr>
          <p:nvPr>
            <p:ph type="body" idx="1"/>
          </p:nvPr>
        </p:nvSpPr>
        <p:spPr/>
        <p:txBody>
          <a:bodyPr/>
          <a:lstStyle/>
          <a:p>
            <a:pPr marL="0" indent="0">
              <a:buFont typeface="Arial"/>
              <a:buNone/>
            </a:pPr>
            <a:r>
              <a:rPr lang="en-US" sz="1200" kern="1200">
                <a:solidFill>
                  <a:schemeClr val="tx1"/>
                </a:solidFill>
                <a:effectLst/>
                <a:latin typeface="+mn-lt"/>
                <a:ea typeface="+mn-ea"/>
                <a:cs typeface="+mn-cs"/>
              </a:rPr>
              <a:t>One of the governance concepts mentioned prior is data products. With data products you can enable a responsible marketplace of curated, governed, and shareable package of data for responsible use</a:t>
            </a:r>
            <a:endParaRPr lang="en-US" sz="1800">
              <a:effectLst/>
              <a:latin typeface="Calibri"/>
              <a:ea typeface="Calibri" panose="020F0502020204030204" pitchFamily="34" charset="0"/>
              <a:cs typeface="Calibri"/>
            </a:endParaRPr>
          </a:p>
          <a:p>
            <a:pPr marL="0" indent="0">
              <a:buFont typeface="Arial"/>
              <a:buNone/>
            </a:pPr>
            <a:endParaRPr lang="en-US" sz="1800">
              <a:effectLst/>
              <a:latin typeface="Calibri"/>
              <a:ea typeface="Calibri" panose="020F0502020204030204" pitchFamily="34" charset="0"/>
              <a:cs typeface="Calibri"/>
            </a:endParaRPr>
          </a:p>
          <a:p>
            <a:pPr marL="0" indent="0">
              <a:buFont typeface="Arial"/>
              <a:buNone/>
            </a:pPr>
            <a:endParaRPr lang="en-US" sz="1800">
              <a:effectLst/>
              <a:latin typeface="Calibri"/>
              <a:ea typeface="Calibri" panose="020F0502020204030204" pitchFamily="34" charset="0"/>
              <a:cs typeface="Calibri"/>
            </a:endParaRPr>
          </a:p>
        </p:txBody>
      </p:sp>
      <p:sp>
        <p:nvSpPr>
          <p:cNvPr id="4" name="Header Placeholder 3">
            <a:extLst>
              <a:ext uri="{FF2B5EF4-FFF2-40B4-BE49-F238E27FC236}">
                <a16:creationId xmlns:a16="http://schemas.microsoft.com/office/drawing/2014/main" id="{BC4C0F4D-CC7D-9A98-0C23-ADEF625CB91E}"/>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2638860-19E0-B009-4C40-856ACBFA3E23}"/>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87F9EE4-421C-64CD-8592-772CAFC994C8}"/>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6/18/2026 10:52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4515605F-A625-7CFD-26D7-FAB3EA2A94C8}"/>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66210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E3F22-E349-5088-4E87-EEFE24D4F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084B7-D865-7F3E-4A1C-65F10763E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303CA-DECB-E16E-8049-CA93F36AA5D3}"/>
              </a:ext>
            </a:extLst>
          </p:cNvPr>
          <p:cNvSpPr>
            <a:spLocks noGrp="1"/>
          </p:cNvSpPr>
          <p:nvPr>
            <p:ph type="body" idx="1"/>
          </p:nvPr>
        </p:nvSpPr>
        <p:spPr/>
        <p:txBody>
          <a:bodyPr/>
          <a:lstStyle/>
          <a:p>
            <a:r>
              <a:rPr lang="en-US" sz="1200" kern="1200">
                <a:solidFill>
                  <a:schemeClr val="tx1"/>
                </a:solidFill>
                <a:effectLst/>
                <a:latin typeface="+mn-lt"/>
                <a:ea typeface="+mn-ea"/>
                <a:cs typeface="+mn-cs"/>
              </a:rPr>
              <a:t>With access policies, you can streamline the access request process for the business user while ensuring responsible use of data by applying appropriate policies through the data's business context </a:t>
            </a:r>
            <a:endParaRPr lang="en-US" sz="1800">
              <a:effectLst/>
              <a:latin typeface="Calibri"/>
              <a:ea typeface="Calibri" panose="020F0502020204030204" pitchFamily="34" charset="0"/>
              <a:cs typeface="Calibri"/>
            </a:endParaRPr>
          </a:p>
          <a:p>
            <a:pPr marL="0" indent="0">
              <a:buFont typeface="Arial"/>
              <a:buNone/>
            </a:pPr>
            <a:endParaRPr lang="en-US" sz="1800">
              <a:effectLst/>
              <a:latin typeface="Calibri"/>
              <a:ea typeface="Calibri" panose="020F0502020204030204" pitchFamily="34" charset="0"/>
              <a:cs typeface="Calibri"/>
            </a:endParaRPr>
          </a:p>
        </p:txBody>
      </p:sp>
      <p:sp>
        <p:nvSpPr>
          <p:cNvPr id="4" name="Header Placeholder 3">
            <a:extLst>
              <a:ext uri="{FF2B5EF4-FFF2-40B4-BE49-F238E27FC236}">
                <a16:creationId xmlns:a16="http://schemas.microsoft.com/office/drawing/2014/main" id="{9F467A23-8A54-D768-F747-B8C21311D451}"/>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4DB8A740-15F9-A7FB-3178-B4E16333F178}"/>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C40D6E3-A858-3682-DBBA-E11BA0C4BE13}"/>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6/18/2026 10:52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364276EC-F5AE-5C50-D3FF-325A167B290A}"/>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41596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Apply user-defined attributes to business concepts—such as data products, glossary terms, CDEs, and governance domains--to capture additional business context for enhanced discovery and curation purposes . </a:t>
            </a:r>
            <a:endParaRPr lang="en-US"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4983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a:ea typeface="+mn-ea"/>
                <a:cs typeface="+mn-cs"/>
              </a:rPr>
              <a:t>Driving data confidence begins with your ability to describe your data and to maintain its data quality. With the Unified Catalog, you can accelerate adoption and speed data value with simplified, business-friendly terms in a platform that anchors to business outcomes and empowers every business user with experiences built for their role. </a:t>
            </a:r>
            <a:r>
              <a:rPr lang="en-US" b="0" i="0">
                <a:solidFill>
                  <a:srgbClr val="161616"/>
                </a:solidFill>
                <a:effectLst/>
                <a:highlight>
                  <a:srgbClr val="FFFFFF"/>
                </a:highlight>
                <a:latin typeface="Segoe UI" panose="020B0502040204020203" pitchFamily="34" charset="0"/>
              </a:rPr>
              <a:t>The new Microsoft Purview </a:t>
            </a:r>
            <a:r>
              <a:rPr lang="en-US" b="1" i="0">
                <a:solidFill>
                  <a:srgbClr val="161616"/>
                </a:solidFill>
                <a:effectLst/>
                <a:highlight>
                  <a:srgbClr val="FFFFFF"/>
                </a:highlight>
                <a:latin typeface="Segoe UI" panose="020B0502040204020203" pitchFamily="34" charset="0"/>
              </a:rPr>
              <a:t>Unified Catalog </a:t>
            </a:r>
            <a:r>
              <a:rPr lang="en-US" b="0" i="0">
                <a:solidFill>
                  <a:srgbClr val="161616"/>
                </a:solidFill>
                <a:effectLst/>
                <a:highlight>
                  <a:srgbClr val="FFFFFF"/>
                </a:highlight>
                <a:latin typeface="Segoe UI" panose="020B0502040204020203" pitchFamily="34" charset="0"/>
              </a:rPr>
              <a:t>experience allows you to explore and understand your data categorized by business domains, search through AI powered copilot, and subscribe to data products that come equipped with all the data you need and the tools to safely access it. In addition, with the </a:t>
            </a:r>
            <a:r>
              <a:rPr lang="en-US" b="1" i="0">
                <a:solidFill>
                  <a:srgbClr val="161616"/>
                </a:solidFill>
                <a:effectLst/>
                <a:highlight>
                  <a:srgbClr val="FFFFFF"/>
                </a:highlight>
                <a:latin typeface="Segoe UI" panose="020B0502040204020203" pitchFamily="34" charset="0"/>
              </a:rPr>
              <a:t>Data Health Management </a:t>
            </a:r>
            <a:r>
              <a:rPr lang="en-US" b="0" i="0">
                <a:solidFill>
                  <a:srgbClr val="161616"/>
                </a:solidFill>
                <a:effectLst/>
                <a:highlight>
                  <a:srgbClr val="FFFFFF"/>
                </a:highlight>
                <a:latin typeface="Segoe UI" panose="020B0502040204020203" pitchFamily="34" charset="0"/>
              </a:rPr>
              <a:t>capabilities, you can measure, investigate, and improve the health of your entire data estate.</a:t>
            </a:r>
          </a:p>
          <a:p>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34D30-449D-49C6-86FC-13F6006BE1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72305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r>
              <a:rPr lang="en-US" sz="1200" kern="1200">
                <a:solidFill>
                  <a:schemeClr val="tx1"/>
                </a:solidFill>
                <a:effectLst/>
                <a:latin typeface="+mn-lt"/>
                <a:ea typeface="+mn-ea"/>
                <a:cs typeface="+mn-cs"/>
              </a:rPr>
              <a:t>Organize your data effectively and enable data stewards to customize their domains and enable clear categorization to align your governance practice to how your business is structured </a:t>
            </a:r>
            <a:endParaRPr lang="en-US" sz="1800">
              <a:effectLst/>
              <a:latin typeface="Calibri"/>
              <a:ea typeface="Calibri" panose="020F0502020204030204" pitchFamily="34" charset="0"/>
              <a:cs typeface="Calibri"/>
            </a:endParaRPr>
          </a:p>
          <a:p>
            <a:pPr marL="0" indent="0">
              <a:buFont typeface="Arial"/>
              <a:buNone/>
            </a:pPr>
            <a:endParaRPr lang="en-US" sz="1800">
              <a:effectLst/>
              <a:latin typeface="Calibri"/>
              <a:ea typeface="Calibri" panose="020F0502020204030204" pitchFamily="34" charset="0"/>
              <a:cs typeface="Calibri"/>
            </a:endParaRPr>
          </a:p>
          <a:p>
            <a:pPr marL="0" indent="0">
              <a:buFont typeface="Arial"/>
              <a:buNone/>
            </a:pPr>
            <a:endParaRPr lang="en-US" sz="1800">
              <a:effectLst/>
              <a:latin typeface="Calibri"/>
              <a:ea typeface="Calibri" panose="020F0502020204030204" pitchFamily="34" charset="0"/>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6/18/2026 10:52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59516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kern="1200">
                <a:solidFill>
                  <a:schemeClr val="tx1"/>
                </a:solidFill>
                <a:effectLst/>
                <a:latin typeface="+mn-lt"/>
                <a:ea typeface="+mn-ea"/>
                <a:cs typeface="+mn-cs"/>
              </a:rPr>
              <a:t>Access and use groups of assets associated with specific business use cases (data products) and other governance concepts managed by SMEs</a:t>
            </a:r>
            <a:endParaRPr lang="en-US" sz="1800" b="1" i="0">
              <a:solidFill>
                <a:srgbClr val="000000"/>
              </a:solidFill>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3028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With Purview Data Quality, users can oversee the quality of your data ecosystem and facilitate targeted actions for improvement. Without trustworthy data, there's a risk of eroding trust in AI systems and hindering their adoption. Poor data quality or incompatible data structures can hamper business processes and decision-making capabilities</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00E4BB-37B3-40A7-97C6-57D4DE674E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6653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data lineage, data consumers and owners can understand how data assets are used. An asset in Snowflake can be used in a PBI report or other data workloads. You can also complement lineage within Fabric with Purview Data Lineage.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00E4BB-37B3-40A7-97C6-57D4DE674E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0087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F0E03-0016-BA6B-2E95-21525D77E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E2D29-CCD2-59DC-E309-55F5D41C8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48CFFF-35E2-DF80-2A44-A444BF41685F}"/>
              </a:ext>
            </a:extLst>
          </p:cNvPr>
          <p:cNvSpPr>
            <a:spLocks noGrp="1"/>
          </p:cNvSpPr>
          <p:nvPr>
            <p:ph type="body" idx="1"/>
          </p:nvPr>
        </p:nvSpPr>
        <p:spPr/>
        <p:txBody>
          <a:bodyPr/>
          <a:lstStyle/>
          <a:p>
            <a:r>
              <a:rPr lang="en-US" sz="1200" kern="1200">
                <a:solidFill>
                  <a:schemeClr val="tx1"/>
                </a:solidFill>
                <a:effectLst/>
                <a:latin typeface="+mn-lt"/>
                <a:ea typeface="+mn-ea"/>
                <a:cs typeface="+mn-cs"/>
              </a:rPr>
              <a:t>With Data Observability you can enable data stewards, domain owners and data product owners to see the relationship between governance concepts and assets in the form of lineage to understand the business impact of data as it is used and as it moves through out your data estate, bringing business context to data consumption.</a:t>
            </a:r>
            <a:endParaRPr lang="en-US">
              <a:effectLst/>
            </a:endParaRPr>
          </a:p>
        </p:txBody>
      </p:sp>
      <p:sp>
        <p:nvSpPr>
          <p:cNvPr id="4" name="Slide Number Placeholder 3">
            <a:extLst>
              <a:ext uri="{FF2B5EF4-FFF2-40B4-BE49-F238E27FC236}">
                <a16:creationId xmlns:a16="http://schemas.microsoft.com/office/drawing/2014/main" id="{F13EA50C-9B97-0277-F72C-54D404D737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00E4BB-37B3-40A7-97C6-57D4DE674E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5316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786C3-1A12-8CE0-757F-7C4155793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E41C8-2E39-AB72-7E79-B4033DA441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3F384-5024-3D4A-2D38-683915AF0943}"/>
              </a:ext>
            </a:extLst>
          </p:cNvPr>
          <p:cNvSpPr>
            <a:spLocks noGrp="1"/>
          </p:cNvSpPr>
          <p:nvPr>
            <p:ph type="body" idx="1"/>
          </p:nvPr>
        </p:nvSpPr>
        <p:spPr/>
        <p:txBody>
          <a:bodyPr/>
          <a:lstStyle/>
          <a:p>
            <a:r>
              <a:rPr lang="en-US" sz="1800">
                <a:effectLst/>
                <a:latin typeface="Calibri" panose="020F0502020204030204" pitchFamily="34" charset="0"/>
                <a:ea typeface="Calibri" panose="020F0502020204030204" pitchFamily="34" charset="0"/>
              </a:rPr>
              <a:t>Use the rich metadata within the Unified Catalog for analytics in Fabric and Databricks.</a:t>
            </a:r>
          </a:p>
        </p:txBody>
      </p:sp>
      <p:sp>
        <p:nvSpPr>
          <p:cNvPr id="4" name="Slide Number Placeholder 3">
            <a:extLst>
              <a:ext uri="{FF2B5EF4-FFF2-40B4-BE49-F238E27FC236}">
                <a16:creationId xmlns:a16="http://schemas.microsoft.com/office/drawing/2014/main" id="{E7EDD52B-516B-28E3-8F8E-99A5CB97D1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93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65E8B-0AEB-014F-480A-025864DA4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E9FD2-413A-F26D-6F7F-02B28968F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8F157-747F-A2AC-021E-C5F7ED788638}"/>
              </a:ext>
            </a:extLst>
          </p:cNvPr>
          <p:cNvSpPr>
            <a:spLocks noGrp="1"/>
          </p:cNvSpPr>
          <p:nvPr>
            <p:ph type="body" idx="1"/>
          </p:nvPr>
        </p:nvSpPr>
        <p:spPr/>
        <p:txBody>
          <a:bodyPr/>
          <a:lstStyle/>
          <a:p>
            <a:r>
              <a:rPr lang="en-US" sz="1200" kern="1200">
                <a:solidFill>
                  <a:schemeClr val="tx1"/>
                </a:solidFill>
                <a:effectLst/>
                <a:latin typeface="+mn-lt"/>
                <a:ea typeface="+mn-ea"/>
                <a:cs typeface="+mn-cs"/>
              </a:rPr>
              <a:t>Provide pre-built insights and analytics dashboards that help you monitor and optimize your data governance activities with reports. You can check for measurements such as Access and Use, Discoverability, Estate Curation, MDQ management, and more.</a:t>
            </a:r>
            <a:endParaRPr lang="en-US" sz="180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0EFC1ECB-71FA-AF80-2419-5C6901DD4B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2736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a:solidFill>
                  <a:schemeClr val="tx1"/>
                </a:solidFill>
                <a:effectLst/>
                <a:highlight>
                  <a:srgbClr val="081923"/>
                </a:highlight>
                <a:latin typeface="+mn-lt"/>
                <a:ea typeface="+mn-ea"/>
                <a:cs typeface="+mn-cs"/>
              </a:rPr>
              <a:t>Built for day-to-day business users such as data scientists or analysts to responsibly unlock business value with easier data discovery and actionable insights.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34D30-449D-49C6-86FC-13F6006BE1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7324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With natural language search, business users are empowered to use a catalog for day to day data use cases.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C816F-2421-41C1-A0F0-F403CEFF25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40885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27907-96ED-D72E-945C-D98E418EA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C5830-9B56-9C2C-5F64-6738A7E7D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B95A3-68F2-9C2D-9AB6-E0712F48914B}"/>
              </a:ext>
            </a:extLst>
          </p:cNvPr>
          <p:cNvSpPr>
            <a:spLocks noGrp="1"/>
          </p:cNvSpPr>
          <p:nvPr>
            <p:ph type="body" idx="1"/>
          </p:nvPr>
        </p:nvSpPr>
        <p:spPr/>
        <p:txBody>
          <a:bodyPr/>
          <a:lstStyle/>
          <a:p>
            <a:r>
              <a:rPr lang="en-US" sz="1200" kern="1200">
                <a:solidFill>
                  <a:schemeClr val="tx1"/>
                </a:solidFill>
                <a:effectLst/>
                <a:latin typeface="+mn-lt"/>
                <a:ea typeface="+mn-ea"/>
                <a:cs typeface="+mn-cs"/>
              </a:rPr>
              <a:t>Ensure the right people have access to the right data through reader and owner level rights with role-based access controls such as requesting access.</a:t>
            </a:r>
            <a:endParaRPr lang="en-US" sz="180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74D54930-BAF7-DA03-2BE5-D18674F540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523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DB24B-F173-0533-9684-81A7657DA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93E3E-5179-EC00-E901-7E1CB6869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8F8D2-AE78-F50E-166E-5D0C7CBE49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1731"/>
                </a:solidFill>
                <a:effectLst/>
                <a:uLnTx/>
                <a:uFillTx/>
                <a:cs typeface="Segoe Sans Text Semibold" pitchFamily="2" charset="0"/>
              </a:rPr>
              <a:t>Data Governance is essential for AI transformation within your organization, especially considering different use cases such as discovering, understanding and accessing data for AI, ensuring data quality for AI, and managing data for AI. Every person within your organization can benefit from Data Governance for AI, depending on the scenario and why they will be using AI.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71731"/>
                </a:solidFill>
                <a:latin typeface="Segoe Sans Text"/>
                <a:cs typeface="Arial"/>
              </a:rPr>
              <a:t> </a:t>
            </a:r>
          </a:p>
          <a:p>
            <a:pPr algn="l"/>
            <a:endParaRPr lang="en-US"/>
          </a:p>
        </p:txBody>
      </p:sp>
      <p:sp>
        <p:nvSpPr>
          <p:cNvPr id="4" name="Slide Number Placeholder 3">
            <a:extLst>
              <a:ext uri="{FF2B5EF4-FFF2-40B4-BE49-F238E27FC236}">
                <a16:creationId xmlns:a16="http://schemas.microsoft.com/office/drawing/2014/main" id="{68627146-70C1-0E79-3B7A-21F0EFAD40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5043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6DF09-DAF2-248B-B314-DC31E25D1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E4152-E343-80E0-47DB-228E191F3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43798-476C-74A6-9BA2-9F57FD0B8546}"/>
              </a:ext>
            </a:extLst>
          </p:cNvPr>
          <p:cNvSpPr>
            <a:spLocks noGrp="1"/>
          </p:cNvSpPr>
          <p:nvPr>
            <p:ph type="body" idx="1"/>
          </p:nvPr>
        </p:nvSpPr>
        <p:spPr/>
        <p:txBody>
          <a:bodyPr/>
          <a:lstStyle/>
          <a:p>
            <a:r>
              <a:rPr lang="en-US" sz="1800" b="0" kern="1200">
                <a:effectLst/>
                <a:latin typeface="Segoe UI" panose="020B0502040204020203" pitchFamily="34" charset="0"/>
                <a:ea typeface="Times New Roman" panose="02020603050405020304" pitchFamily="18" charset="0"/>
              </a:rPr>
              <a:t>Consumers and business users can use the catalog to find AI ready data</a:t>
            </a:r>
          </a:p>
        </p:txBody>
      </p:sp>
      <p:sp>
        <p:nvSpPr>
          <p:cNvPr id="4" name="Slide Number Placeholder 3">
            <a:extLst>
              <a:ext uri="{FF2B5EF4-FFF2-40B4-BE49-F238E27FC236}">
                <a16:creationId xmlns:a16="http://schemas.microsoft.com/office/drawing/2014/main" id="{2AEE78D0-30D2-3FDF-9949-B9D38DE01A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C816F-2421-41C1-A0F0-F403CEFF25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19998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53EB9-DDC5-9AB3-33E1-0B8BB9460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57D1C-F355-1FF2-FD84-E750B6206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58518-2E8E-0E7A-5EA5-D35F705069FA}"/>
              </a:ext>
            </a:extLst>
          </p:cNvPr>
          <p:cNvSpPr>
            <a:spLocks noGrp="1"/>
          </p:cNvSpPr>
          <p:nvPr>
            <p:ph type="body" idx="1"/>
          </p:nvPr>
        </p:nvSpPr>
        <p:spPr/>
        <p:txBody>
          <a:bodyPr/>
          <a:lstStyle/>
          <a:p>
            <a:r>
              <a:rPr lang="en-US" sz="1800">
                <a:effectLst/>
                <a:latin typeface="Calibri" panose="020F0502020204030204" pitchFamily="34" charset="0"/>
                <a:ea typeface="Calibri" panose="020F0502020204030204" pitchFamily="34" charset="0"/>
              </a:rPr>
              <a:t>Data owners can ensure data quality of assets for AI is accurate and reliable for AI.</a:t>
            </a:r>
          </a:p>
        </p:txBody>
      </p:sp>
      <p:sp>
        <p:nvSpPr>
          <p:cNvPr id="4" name="Slide Number Placeholder 3">
            <a:extLst>
              <a:ext uri="{FF2B5EF4-FFF2-40B4-BE49-F238E27FC236}">
                <a16:creationId xmlns:a16="http://schemas.microsoft.com/office/drawing/2014/main" id="{EB26E67B-EE73-BAB3-4E35-4DEC0981BF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2403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00607-F60E-77D5-3269-E0DBDFEE4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AB9AE-B85E-2D42-309F-5EB0BB604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D26B2-B525-BE32-9595-68A6251D7DCF}"/>
              </a:ext>
            </a:extLst>
          </p:cNvPr>
          <p:cNvSpPr>
            <a:spLocks noGrp="1"/>
          </p:cNvSpPr>
          <p:nvPr>
            <p:ph type="body" idx="1"/>
          </p:nvPr>
        </p:nvSpPr>
        <p:spPr/>
        <p:txBody>
          <a:bodyPr/>
          <a:lstStyle/>
          <a:p>
            <a:r>
              <a:rPr lang="en-US" sz="1800">
                <a:effectLst/>
                <a:latin typeface="Calibri" panose="020F0502020204030204" pitchFamily="34" charset="0"/>
                <a:ea typeface="Calibri" panose="020F0502020204030204" pitchFamily="34" charset="0"/>
              </a:rPr>
              <a:t>Data owners can encourage proper usage for AI via data use policies.</a:t>
            </a:r>
          </a:p>
        </p:txBody>
      </p:sp>
      <p:sp>
        <p:nvSpPr>
          <p:cNvPr id="4" name="Slide Number Placeholder 3">
            <a:extLst>
              <a:ext uri="{FF2B5EF4-FFF2-40B4-BE49-F238E27FC236}">
                <a16:creationId xmlns:a16="http://schemas.microsoft.com/office/drawing/2014/main" id="{1EB85E56-B35D-11A8-C95B-592308F79D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FBE523-06A5-4268-B506-C0B1F91A57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27520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Transition: We've covered Purview's core capabilities. Now let's see how they apply specifically to training data governance — ensuring the data that trains your models is governed end to end.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slide captures why training data governance is non-negotiable. The model is only as trustworthy as the data it was trained on. Walk through each risk: PII memorization — models can literally regurgitate sensitive data from training sets. Bias — skewed data produces biased outputs. Consent — you must track rights to use data for training. And lineage — auditors need to trace every model back to its exact training dataset.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Here we see the five governed handoffs in the training data lifecycle: Source, Curate, Label, Train, and Register. The key point is that governance responsibility spans two platforms — Purview handles the first three stages (source, curate, label) while </a:t>
            </a:r>
            <a:r>
              <a:rPr lang="en-US" sz="1400"/>
              <a:t>Microsoft</a:t>
            </a:r>
            <a:r>
              <a:rPr sz="1400"/>
              <a:t> Foundry handles training and registration. The handoff between them must preserve governance metadata.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slide details what Purview Unified Catalog brings to training data governance. Highlight the six capabilities: Data Products for versioned registration, Auto-Classification for PII/PHI scanning, Sensitivity Labels that follow the data into Foundry, Quality Rules for bias and completeness checks, Dataset Versioning for reproducibility, and Access Policies to control who can export data for training.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Now the </a:t>
            </a:r>
            <a:r>
              <a:rPr lang="en-US" sz="1400"/>
              <a:t>Microsoft</a:t>
            </a:r>
            <a:r>
              <a:rPr sz="1400"/>
              <a:t> Foundry side. Once data leaves Purview, Foundry picks up governance with: a Model Catalog with versioned cards linking back to datasets, managed fine-tuning that honors Purview labels, an Evaluations Suite for quality, safety, and bias testing, safety filtering, approval workflows driven by risk tier, and monitoring that feeds signals back to the catalog.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is the integration slide — arguably the most important in this section. Emphasize the unified lineage graph: Purview scans and classifies source tables, applies labels, publishes as an approved Data Product. Foundry then imports that product, runs fine-tuning with safety filters, executes evaluations, and creates a model card with full dataset lineage. One continuous chain from source column to deployed model.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Walk the audience through this six-step demo flow. This is a concrete, end-to-end example: publish a Data Product in Purview, classify and label PII/PHI, run quality gates, import to Foundry, train and evaluate, then approve and register. If doing a live demo, pause here and show each step. If not, walk through the screenshots.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governance control mapping table is a key reference. It shows clearly which product — Purview or Foundry — owns which control. This is useful for customers who want to understand accountability boundaries. Consider printing this as a handout.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Transition: Now we shift from training-time governance to runtime governance — controlling what data the model retrieves (grounding/RAG) and what flows through prompts and responses (inference). These are the controls that protect your users in real time.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slide frames why AI data governance is fundamentally different from traditional data governance. Generative AI creates entirely new attack surfaces: grounding leakage where models surface unauthorized data, prompt exposure where users paste sensitive information, hallucinations that misinform decisions, and new auditability requirements. Ask the audience which of these they've encountered.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The AI Data Lifecycle has four stages, each requiring its own governance controls: Source Data classified in Purview, Grounding/RAG indexed with ACLs and security-trimmed retrieval, Prompt/Inference intercepted for DLP and safety checks, and Response and Audit logged, filtered, and attributed. The key message: governance must follow the data across all four stages.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Deep dive into Grounding and RAG Governance. Six critical controls: security-trimmed retrieval to enforce source ACLs, label-aware grounding to respect sensitivity labels, source allow/deny lists, lineage and citations for every answer, vector index residency for data sovereignty, and groundedness evaluation to reject ungrounded responses. Emphasize that without security trimming, RAG can become a data leakage vector.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Inference Data Governance covers both sides of the conversation. Inbound: sensitive data detection, PII redaction, prompt shield for injection attacks, DLP enforcement, and attribution logging. Outbound: content safety for harmful content, protected material detection for copyrighted text, groundedness checks, label inheritance, response logging, and eDiscovery hooks. This is the last line of defense.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Microsoft Foundry provides the runtime governance layer where prompts and responses actually live. Walk through each capability: Content Safety with harm filters and Prompt Shields, Groundedness Detection that flags unsupported answers before they reach users, Protected Material detection for copyrighted content, the Model Catalog with compliance metadata, the Evaluations Suite, and end-to-end Monitoring and Tracing.</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Microsoft Purview provides the cross-tenant data posture, DLP, and audit layer. Key capabilities: AI Hub for discovering all AI apps in use including shadow AI, DLP for Generative AI to block sensitive data, Sensitivity-Label Honor across Copilot and Foundry, Insider Risk for AI to detect exfiltration attempts, Audit and eDiscovery for legal compliance, and Unified Catalog Grounding to flow approved datasets into RAG pipelines.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control mapping table is the companion to the training data table we saw earlier. It maps each governance concern — from hallucinations to prompt injection to audit — to the specific features in Foundry and Purview that address it. This is another excellent reference handout for customers.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5AF97-8F1D-4F79-7BE1-F3ED9174CA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A0E8B4-43D7-79C6-1A1C-431636090E79}"/>
              </a:ext>
            </a:extLst>
          </p:cNvPr>
          <p:cNvSpPr>
            <a:spLocks noGrp="1"/>
          </p:cNvSpPr>
          <p:nvPr>
            <p:ph type="sldNum" sz="quarter" idx="10"/>
          </p:nvPr>
        </p:nvSpPr>
        <p:spPr/>
        <p:txBody>
          <a:bodyPr/>
          <a:lstStyle/>
          <a:p>
            <a:fld id="{F475C4C8-7DEA-455A-9336-A4C7DB3AE516}" type="slidenum">
              <a:rPr lang="en-US"/>
              <a:pPr/>
              <a:t>49</a:t>
            </a:fld>
            <a:endParaRPr lang="en-US"/>
          </a:p>
        </p:txBody>
      </p:sp>
      <p:sp>
        <p:nvSpPr>
          <p:cNvPr id="3" name="Date Placeholder 2">
            <a:extLst>
              <a:ext uri="{FF2B5EF4-FFF2-40B4-BE49-F238E27FC236}">
                <a16:creationId xmlns:a16="http://schemas.microsoft.com/office/drawing/2014/main" id="{082C13FC-AF9D-B348-EEAD-B0672D91F94B}"/>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816A8614-47AE-56AF-39C9-6B5B57CD82D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98CE343E-0E87-83E4-24E7-EB20F02CBC21}"/>
              </a:ext>
            </a:extLst>
          </p:cNvPr>
          <p:cNvSpPr>
            <a:spLocks noGrp="1"/>
          </p:cNvSpPr>
          <p:nvPr>
            <p:ph type="body" idx="1"/>
          </p:nvPr>
        </p:nvSpPr>
        <p:spPr>
          <a:xfrm>
            <a:off x="685800" y="4400550"/>
            <a:ext cx="5486400" cy="3600450"/>
          </a:xfrm>
          <a:prstGeom prst="rect">
            <a:avLst/>
          </a:prstGeom>
        </p:spPr>
        <p:txBody>
          <a:bodyPr/>
          <a:lstStyle/>
          <a:p>
            <a:r>
              <a:rPr sz="1400"/>
              <a:t>Moving to our second learning unit — Data Classification and Protection. Now that we understand discovery and lineage, we need to classify what we've found and protect it appropriately.</a:t>
            </a:r>
          </a:p>
        </p:txBody>
      </p:sp>
      <p:sp>
        <p:nvSpPr>
          <p:cNvPr id="5" name="Header Placeholder 4">
            <a:extLst>
              <a:ext uri="{FF2B5EF4-FFF2-40B4-BE49-F238E27FC236}">
                <a16:creationId xmlns:a16="http://schemas.microsoft.com/office/drawing/2014/main" id="{2A5B8DD3-ECA8-F37C-C12F-A5BDFB9BE0F3}"/>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3800627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3DDE-113C-1479-59ED-D9FBD855517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DB1914B-B262-DC38-4A34-1AEB6B8AC58C}"/>
              </a:ext>
            </a:extLst>
          </p:cNvPr>
          <p:cNvSpPr>
            <a:spLocks noGrp="1"/>
          </p:cNvSpPr>
          <p:nvPr>
            <p:ph type="sldNum" sz="quarter" idx="12"/>
          </p:nvPr>
        </p:nvSpPr>
        <p:spPr/>
        <p:txBody>
          <a:bodyPr/>
          <a:lstStyle/>
          <a:p>
            <a:pPr lvl="0"/>
            <a:fld id="{8B263312-38AA-4E1E-B2B5-0F8F122B24FE}" type="slidenum">
              <a:rPr lang="en-US" noProof="0" smtClean="0"/>
              <a:pPr lvl="0"/>
              <a:t>50</a:t>
            </a:fld>
            <a:endParaRPr lang="en-US" noProof="0"/>
          </a:p>
        </p:txBody>
      </p:sp>
      <p:sp>
        <p:nvSpPr>
          <p:cNvPr id="3" name="Date Placeholder 2">
            <a:extLst>
              <a:ext uri="{FF2B5EF4-FFF2-40B4-BE49-F238E27FC236}">
                <a16:creationId xmlns:a16="http://schemas.microsoft.com/office/drawing/2014/main" id="{17E44E74-5D77-AF06-50C7-CAB086022D10}"/>
              </a:ext>
            </a:extLst>
          </p:cNvPr>
          <p:cNvSpPr>
            <a:spLocks noGrp="1"/>
          </p:cNvSpPr>
          <p:nvPr>
            <p:ph type="dt" idx="14"/>
          </p:nvPr>
        </p:nvSpPr>
        <p:spPr/>
        <p:txBody>
          <a:bodyPr/>
          <a:lstStyle/>
          <a:p>
            <a:fld id="{C6C9641A-9089-4752-A056-B1CBB82B5AD3}" type="datetime1">
              <a:rPr lang="en-US" smtClean="0"/>
              <a:t>6/18/2026</a:t>
            </a:fld>
            <a:endParaRPr lang="en-US"/>
          </a:p>
        </p:txBody>
      </p:sp>
      <p:sp>
        <p:nvSpPr>
          <p:cNvPr id="8" name="Slide Image Placeholder 7">
            <a:extLst>
              <a:ext uri="{FF2B5EF4-FFF2-40B4-BE49-F238E27FC236}">
                <a16:creationId xmlns:a16="http://schemas.microsoft.com/office/drawing/2014/main" id="{0CA2FE2B-C6A1-DF08-F9B0-28C2BAF865D9}"/>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2960CDAD-292B-6942-E3E8-9D0BA6EE2805}"/>
              </a:ext>
            </a:extLst>
          </p:cNvPr>
          <p:cNvSpPr>
            <a:spLocks noGrp="1"/>
          </p:cNvSpPr>
          <p:nvPr>
            <p:ph type="body" idx="1"/>
          </p:nvPr>
        </p:nvSpPr>
        <p:spPr>
          <a:xfrm>
            <a:off x="685800" y="4400550"/>
            <a:ext cx="5486400" cy="3600450"/>
          </a:xfrm>
          <a:prstGeom prst="rect">
            <a:avLst/>
          </a:prstGeom>
        </p:spPr>
        <p:txBody>
          <a:bodyPr/>
          <a:lstStyle/>
          <a:p>
            <a:r>
              <a:rPr sz="1400"/>
              <a:t>In this unit, you'll learn about sensitivity labeling for confidential data, PII and PHI tagging, Data Loss Prevention for AI pipelines, and encryption and key management for training data, indexes, and model artifacts.</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4" name="Header Placeholder 3">
            <a:extLst>
              <a:ext uri="{FF2B5EF4-FFF2-40B4-BE49-F238E27FC236}">
                <a16:creationId xmlns:a16="http://schemas.microsoft.com/office/drawing/2014/main" id="{CFF24518-A419-2BE4-4146-A5BF0CE45296}"/>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468143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Quick overview of Purview Unified Catalog capabilities. It provides a single catalog for structured and unstructured data across M365, Azure, Fabric, and third-party clouds. Highlight the four pillars: Unified Data Map, Auto-Classification with 300+ built-in sensitive information types, Sensitivity Labels extending the M365 taxonomy to data assets, and Data Products with quality rules.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is an important distinction that many people confuse. PII — Personally Identifiable Information — is any data that can identify a specific individual, governed by GDPR, CCPA, and LGPD. PHI — Protected Health Information — is health data linked to an individual, governed by HIPAA and HITECH. Both are regulated but under different frameworks with different controls. Your governance strategy must handle both.</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Purview uses four complementary classification techniques. Sensitive Information Types use regex and keyword patterns — 300+ built-in for PII and PHI. Trainable Classifiers use ML models trained on sample documents. Exact Data Match does hashed lookups against your own data for near-zero false positives. And Sensitivity Labels can be applied manually, by policy, or automatically on match. Together these provide defense in depth for classification.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Here's a sampler of out-of-the-box Sensitive Information Types. Point out specific examples: SSN with format validation, credit cards with Luhn checks, EU passport patterns, medical record numbers, DEA numbers, and ICD-10 diagnostic codes. The tip at the bottom is important: combine multiple SITs in a single policy for high-confidence matches, such as MRN plus ICD-10 plus patient name.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is the demo architecture. Walk through the flow: sources including Azure SQL, Fabric Lakehouse, and Snowflake feed into Purview Unified Catalog via scanning. The scan applies PII and PHI rule sets, classifies at column level, labels as Confidential-PHI, propagates lineage downstream, and enforces DLP plus access policies. The consumers at the bottom show who uses this governed data.</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Before the demo, ensure these prerequisites are in place. On the environment side: a Purview account with Unified Catalog, registered data sources, Azure SQL DB with sample data, Fabric lakehouse, managed identity, and published sensitivity labels. On the roles side: Collection Admin, Data Source Admin, Data Curator, Data Reader, Compliance Admin, and Information Protection Admin. This is your checklist.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This is the demo dataset — two tables in Azure SQL. The Patients table has FullName, SSN, DOB, and MRN. The Claims table has DiagnosisCode, PrescriberDEA, and ClaimAmount. Six of seven columns should auto-classify on first scan. Only ClaimAmount stays unclassified since it's a numeric field with no PII or PHI significance. Point this out to show classification accuracy.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Walk through the six demo steps: Register the Azure SQL and Fabric sources, build a scan rule set with PII and PHI classifications enabled, run the first scan and watch column-level classifications appear, apply the Confidential-PHI sensitivity label at table level, search the catalog filtering by PHI label to show cross-source results, and finally attach a DLP plus access policy to the label. Each step builds on the previous one.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Deep dive into the Confidential-PHI sensitivity label. On the left: how it's configured — scope, encryption permissions, content marking with a HIPAA watermark, auto-labeling conditions, and downgrade justification requirements. On the right: how it's enforced downstream — DLP blocks copy to non-HIPAA locations, access policies enable row and column masking, Power BI inherits the label, and Insider Risk alerts on bulk PHI exfiltration. One label, end-to-end protection.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Wrap up the demo section by highlighting four concrete moments to call out during the live walkthrough: column-level classification badges appearing in the schema view, the label applied at table scope and inherited to all columns, a single search returning PHI assets across SQL and Fabric, and the combined lineage plus protection view showing sources, downstream reports, and attached policies.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8BB7-659B-6580-1243-D02ACC5D121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CB13C8-CE44-1996-8336-E4D8DC2DC1B5}"/>
              </a:ext>
            </a:extLst>
          </p:cNvPr>
          <p:cNvSpPr>
            <a:spLocks noGrp="1"/>
          </p:cNvSpPr>
          <p:nvPr>
            <p:ph type="sldNum" sz="quarter" idx="10"/>
          </p:nvPr>
        </p:nvSpPr>
        <p:spPr/>
        <p:txBody>
          <a:bodyPr/>
          <a:lstStyle/>
          <a:p>
            <a:fld id="{F475C4C8-7DEA-455A-9336-A4C7DB3AE516}" type="slidenum">
              <a:rPr lang="en-US"/>
              <a:pPr/>
              <a:t>61</a:t>
            </a:fld>
            <a:endParaRPr lang="en-US"/>
          </a:p>
        </p:txBody>
      </p:sp>
      <p:sp>
        <p:nvSpPr>
          <p:cNvPr id="3" name="Date Placeholder 2">
            <a:extLst>
              <a:ext uri="{FF2B5EF4-FFF2-40B4-BE49-F238E27FC236}">
                <a16:creationId xmlns:a16="http://schemas.microsoft.com/office/drawing/2014/main" id="{41A9AEAF-E623-8869-F9C7-05694B5D98DB}"/>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146EF7E1-9A10-D6A0-8B76-3E3A1C15C3B3}"/>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6457AB41-2581-BA96-972D-91F14DA5AC2D}"/>
              </a:ext>
            </a:extLst>
          </p:cNvPr>
          <p:cNvSpPr>
            <a:spLocks noGrp="1"/>
          </p:cNvSpPr>
          <p:nvPr>
            <p:ph type="body" idx="1"/>
          </p:nvPr>
        </p:nvSpPr>
        <p:spPr>
          <a:xfrm>
            <a:off x="685800" y="4400550"/>
            <a:ext cx="5486400" cy="3600450"/>
          </a:xfrm>
          <a:prstGeom prst="rect">
            <a:avLst/>
          </a:prstGeom>
        </p:spPr>
        <p:txBody>
          <a:bodyPr/>
          <a:lstStyle/>
          <a:p>
            <a:r>
              <a:rPr sz="1400"/>
              <a:t>Our third learning unit covers Access and Residency Controls. This is about ensuring the right people and systems have access to the right data, and that data stays in approved locations.</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5" name="Header Placeholder 4">
            <a:extLst>
              <a:ext uri="{FF2B5EF4-FFF2-40B4-BE49-F238E27FC236}">
                <a16:creationId xmlns:a16="http://schemas.microsoft.com/office/drawing/2014/main" id="{2289A84B-364A-CDDA-4530-1E71AF733C1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8829712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60EF-152E-A1B0-074F-33A302B3489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57B5D6D-99B8-0DB6-2EEB-01F3F415B21F}"/>
              </a:ext>
            </a:extLst>
          </p:cNvPr>
          <p:cNvSpPr>
            <a:spLocks noGrp="1"/>
          </p:cNvSpPr>
          <p:nvPr>
            <p:ph type="sldNum" sz="quarter" idx="12"/>
          </p:nvPr>
        </p:nvSpPr>
        <p:spPr/>
        <p:txBody>
          <a:bodyPr/>
          <a:lstStyle/>
          <a:p>
            <a:pPr lvl="0"/>
            <a:fld id="{8B263312-38AA-4E1E-B2B5-0F8F122B24FE}" type="slidenum">
              <a:rPr lang="en-US" noProof="0" smtClean="0"/>
              <a:pPr lvl="0"/>
              <a:t>62</a:t>
            </a:fld>
            <a:endParaRPr lang="en-US" noProof="0"/>
          </a:p>
        </p:txBody>
      </p:sp>
      <p:sp>
        <p:nvSpPr>
          <p:cNvPr id="3" name="Date Placeholder 2">
            <a:extLst>
              <a:ext uri="{FF2B5EF4-FFF2-40B4-BE49-F238E27FC236}">
                <a16:creationId xmlns:a16="http://schemas.microsoft.com/office/drawing/2014/main" id="{5724AFC7-0F60-13B1-5860-E7878C2AF06C}"/>
              </a:ext>
            </a:extLst>
          </p:cNvPr>
          <p:cNvSpPr>
            <a:spLocks noGrp="1"/>
          </p:cNvSpPr>
          <p:nvPr>
            <p:ph type="dt" idx="14"/>
          </p:nvPr>
        </p:nvSpPr>
        <p:spPr/>
        <p:txBody>
          <a:bodyPr/>
          <a:lstStyle/>
          <a:p>
            <a:fld id="{C6C9641A-9089-4752-A056-B1CBB82B5AD3}" type="datetime1">
              <a:rPr lang="en-US" smtClean="0"/>
              <a:t>6/18/2026</a:t>
            </a:fld>
            <a:endParaRPr lang="en-US"/>
          </a:p>
        </p:txBody>
      </p:sp>
      <p:sp>
        <p:nvSpPr>
          <p:cNvPr id="8" name="Slide Image Placeholder 7">
            <a:extLst>
              <a:ext uri="{FF2B5EF4-FFF2-40B4-BE49-F238E27FC236}">
                <a16:creationId xmlns:a16="http://schemas.microsoft.com/office/drawing/2014/main" id="{7F3D474F-E6E9-C295-D4B2-AB0571000A0A}"/>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1E0D57DE-884F-23E8-910B-25CC99320458}"/>
              </a:ext>
            </a:extLst>
          </p:cNvPr>
          <p:cNvSpPr>
            <a:spLocks noGrp="1"/>
          </p:cNvSpPr>
          <p:nvPr>
            <p:ph type="body" idx="1"/>
          </p:nvPr>
        </p:nvSpPr>
        <p:spPr>
          <a:xfrm>
            <a:off x="685800" y="4400550"/>
            <a:ext cx="5486400" cy="3600450"/>
          </a:xfrm>
          <a:prstGeom prst="rect">
            <a:avLst/>
          </a:prstGeom>
        </p:spPr>
        <p:txBody>
          <a:bodyPr/>
          <a:lstStyle/>
          <a:p>
            <a:r>
              <a:rPr sz="1400"/>
              <a:t>In this unit, you'll learn about Access Control and Identity — including RBAC, Conditional Access, and Information Barriers — as well as Residency and Sovereignty, covering region pinning, the EU Data Boundary, and sovereign clouds.</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4" name="Header Placeholder 3">
            <a:extLst>
              <a:ext uri="{FF2B5EF4-FFF2-40B4-BE49-F238E27FC236}">
                <a16:creationId xmlns:a16="http://schemas.microsoft.com/office/drawing/2014/main" id="{78D47595-7A55-0EE5-B5B2-CCF902498DD2}"/>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166641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Walk through each access control layer. Emphasize that AI workloads require more granular access than traditional apps because data flows through multiple stages — ingestion, training, indexing, inference — each with different access requirements. Managed Identity is critical: no human credentials should be stored in AI pipelines.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These are the AI-specific access patterns that traditional IAM doesn't cover well. The key insight: every stage of the AI lifecycle has its own access surface. Training data export is often the weakest link — if anyone can export data from the catalog, your governance chain breaks.</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228E-44CB-4663-6024-AA8CEAD62A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A56B48-AF79-6598-7025-3E44A6144758}"/>
              </a:ext>
            </a:extLst>
          </p:cNvPr>
          <p:cNvSpPr>
            <a:spLocks noGrp="1"/>
          </p:cNvSpPr>
          <p:nvPr>
            <p:ph type="sldNum" sz="quarter" idx="10"/>
          </p:nvPr>
        </p:nvSpPr>
        <p:spPr/>
        <p:txBody>
          <a:bodyPr/>
          <a:lstStyle/>
          <a:p>
            <a:fld id="{F475C4C8-7DEA-455A-9336-A4C7DB3AE516}" type="slidenum">
              <a:rPr lang="en-US"/>
              <a:pPr/>
              <a:t>65</a:t>
            </a:fld>
            <a:endParaRPr lang="en-US"/>
          </a:p>
        </p:txBody>
      </p:sp>
      <p:sp>
        <p:nvSpPr>
          <p:cNvPr id="3" name="Date Placeholder 2">
            <a:extLst>
              <a:ext uri="{FF2B5EF4-FFF2-40B4-BE49-F238E27FC236}">
                <a16:creationId xmlns:a16="http://schemas.microsoft.com/office/drawing/2014/main" id="{944A166E-9400-3684-B5DD-335548466ABA}"/>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E726122D-49FC-C565-3A87-62DC56041EDC}"/>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D9B1FE0-BEA8-39CF-CC9A-601E5CD43D58}"/>
              </a:ext>
            </a:extLst>
          </p:cNvPr>
          <p:cNvSpPr>
            <a:spLocks noGrp="1"/>
          </p:cNvSpPr>
          <p:nvPr>
            <p:ph type="body" idx="1"/>
          </p:nvPr>
        </p:nvSpPr>
        <p:spPr>
          <a:xfrm>
            <a:off x="685800" y="4400550"/>
            <a:ext cx="5486400" cy="3600450"/>
          </a:xfrm>
          <a:prstGeom prst="rect">
            <a:avLst/>
          </a:prstGeom>
        </p:spPr>
        <p:txBody>
          <a:bodyPr/>
          <a:lstStyle/>
          <a:p>
            <a:r>
              <a:rPr sz="1400"/>
              <a:t>Our fourth and final learning unit — Compliance and Lifecycle Governance. This brings everything together with regulatory compliance, data retention, monitoring, responsible AI, and agent-specific governance.</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5" name="Header Placeholder 4">
            <a:extLst>
              <a:ext uri="{FF2B5EF4-FFF2-40B4-BE49-F238E27FC236}">
                <a16:creationId xmlns:a16="http://schemas.microsoft.com/office/drawing/2014/main" id="{068505E6-FE7A-97E0-F919-AEF728F8C175}"/>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5155288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F595-B317-B256-4D67-25C1CB2A15F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99B0853-CC95-4BD8-96BA-2979B514E4FA}"/>
              </a:ext>
            </a:extLst>
          </p:cNvPr>
          <p:cNvSpPr>
            <a:spLocks noGrp="1"/>
          </p:cNvSpPr>
          <p:nvPr>
            <p:ph type="sldNum" sz="quarter" idx="12"/>
          </p:nvPr>
        </p:nvSpPr>
        <p:spPr/>
        <p:txBody>
          <a:bodyPr/>
          <a:lstStyle/>
          <a:p>
            <a:pPr lvl="0"/>
            <a:fld id="{8B263312-38AA-4E1E-B2B5-0F8F122B24FE}" type="slidenum">
              <a:rPr lang="en-US" noProof="0" smtClean="0"/>
              <a:pPr lvl="0"/>
              <a:t>66</a:t>
            </a:fld>
            <a:endParaRPr lang="en-US" noProof="0"/>
          </a:p>
        </p:txBody>
      </p:sp>
      <p:sp>
        <p:nvSpPr>
          <p:cNvPr id="3" name="Date Placeholder 2">
            <a:extLst>
              <a:ext uri="{FF2B5EF4-FFF2-40B4-BE49-F238E27FC236}">
                <a16:creationId xmlns:a16="http://schemas.microsoft.com/office/drawing/2014/main" id="{E222843C-AF0D-05B7-F389-FE7B46F73B90}"/>
              </a:ext>
            </a:extLst>
          </p:cNvPr>
          <p:cNvSpPr>
            <a:spLocks noGrp="1"/>
          </p:cNvSpPr>
          <p:nvPr>
            <p:ph type="dt" idx="14"/>
          </p:nvPr>
        </p:nvSpPr>
        <p:spPr/>
        <p:txBody>
          <a:bodyPr/>
          <a:lstStyle/>
          <a:p>
            <a:fld id="{C6C9641A-9089-4752-A056-B1CBB82B5AD3}" type="datetime1">
              <a:rPr lang="en-US" smtClean="0"/>
              <a:t>6/18/2026</a:t>
            </a:fld>
            <a:endParaRPr lang="en-US"/>
          </a:p>
        </p:txBody>
      </p:sp>
      <p:sp>
        <p:nvSpPr>
          <p:cNvPr id="8" name="Slide Image Placeholder 7">
            <a:extLst>
              <a:ext uri="{FF2B5EF4-FFF2-40B4-BE49-F238E27FC236}">
                <a16:creationId xmlns:a16="http://schemas.microsoft.com/office/drawing/2014/main" id="{AF5F5EA7-F587-07AA-5BA1-2DF832759B9A}"/>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F58C8216-DDB2-785A-45C5-B86C107C02F3}"/>
              </a:ext>
            </a:extLst>
          </p:cNvPr>
          <p:cNvSpPr>
            <a:spLocks noGrp="1"/>
          </p:cNvSpPr>
          <p:nvPr>
            <p:ph type="body" idx="1"/>
          </p:nvPr>
        </p:nvSpPr>
        <p:spPr>
          <a:xfrm>
            <a:off x="685800" y="4400550"/>
            <a:ext cx="5486400" cy="3600450"/>
          </a:xfrm>
          <a:prstGeom prst="rect">
            <a:avLst/>
          </a:prstGeom>
        </p:spPr>
        <p:txBody>
          <a:bodyPr/>
          <a:lstStyle/>
          <a:p>
            <a:r>
              <a:rPr sz="1400"/>
              <a:t>This unit covers five areas: Privacy and Regulatory Compliance across major frameworks like GDPR, HIPAA, CCPA, NIST AI RMF, and ISO 42001. Retention and Lifecycle including purge policies and right-to-erasure. Monitoring, Audit, and Incident Response. Responsible AI Controls for content safety and bias. And Agent-Specific Governance for tool authorization, action audit, and output attribution.</a:t>
            </a:r>
          </a:p>
          <a:p>
            <a:r>
              <a:rPr sz="1400"/>
              <a:t>[SCOPE NOTE] This workshop module focuses specifically on Data Governance topics related to Microsoft Purview Unified Catalog. Other topics such as security controls, identity and access management, encryption, DLP enforcement, and threat protection are covered in a separate Security module outside of this presentation. If attendees raise security-related questions, acknowledge them and redirect to the Security module.</a:t>
            </a:r>
          </a:p>
        </p:txBody>
      </p:sp>
      <p:sp>
        <p:nvSpPr>
          <p:cNvPr id="4" name="Header Placeholder 3">
            <a:extLst>
              <a:ext uri="{FF2B5EF4-FFF2-40B4-BE49-F238E27FC236}">
                <a16:creationId xmlns:a16="http://schemas.microsoft.com/office/drawing/2014/main" id="{2F3C3526-35DF-ED17-99BC-989F9C3094C8}"/>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335819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Data residency and sovereignty are increasingly critical for AI workloads. Unlike traditional applications where data paths are well understood, AI introduces new data flows — training data, embeddings stored in vector indexes, model weights, and inference logs — each of which may cross borders unexpectedly. Walk through each bullet and ask the audience which regulations apply to their organization.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This slide identifies the six data surfaces unique to AI that organizations often overlook when planning residency. Emphasize that it's not just about where the database lives — vector indexes, model weights, inference endpoints, and even audit logs all need explicit region pinning. Ask: how many of these are you currently tracking?</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Walk through each Azure control that enforces residency. The key message: Azure provides guardrails at every layer — compute, storage, networking, and policy. Azure Policy with allowed-locations is the broadest control and should be your first step. Then layer on service-specific controls like </a:t>
            </a:r>
            <a:r>
              <a:rPr lang="en-US" sz="1400"/>
              <a:t>Microsoft</a:t>
            </a:r>
            <a:r>
              <a:rPr sz="1400"/>
              <a:t> Foundry region selection and AI Search geo-pinning.</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This slide covers Microsoft's highest-assurance residency offerings. The EU Data Boundary is relevant for most European customers — emphasize that AI services are in scope. For highly regulated industries like defense and government, sovereign clouds provide full isolation. Azure for Sovereignty is the newest option, providing policy-driven guardrails without requiring a separate cloud instance.</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This control mapping table is a key reference for customers. Walk through each row and explain the dual responsibility: Azure platform controls enforce the technical guardrails, while Purview provides the governance visibility and policy enforcement. This is a great handout for architecture review sessions.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End this section with a practical, actionable checklist. This is something attendees can take back to their teams immediately. Walk through each item and ask who has already completed each step. This helps gauge the audience's maturity and guides Q&amp;A discussion.</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This is your closing slide before Q&amp;A. Reinforce the four pillars and leave the audience with a concrete next step. The 'Next Step' bullet is intentionally actionable — you want attendees to leave with something they can do immediately, not just knowledge.</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74</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6/18/2026</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r>
              <a:rPr sz="1400"/>
              <a:t>We've covered a lot of ground today. Let's open the floor for questions. Think about: which governance controls are most urgent for your AI workloads? Where are the biggest gaps in your current approach? And what's your first step when you get back to the office?</a:t>
            </a:r>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This appendix contains step-by-step demo walkthroughs for the Microsoft Purview Unified Catalog scenarios referenced throughout the workshop. Use these slides as a guide for live demos or as a self-paced reference for attendees.</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Open the Purview portal and walk through each step. Key moments to highlight: the source registration wizard accepts many source types (SQL, Fabric, Snowflake, Databricks). The scan rule set selection is where you choose which classifiers run. After the scan completes, show the audience how assets appear in the catalog with full schema details.</a:t>
            </a:r>
          </a:p>
          <a:p>
            <a:r>
              <a:rPr sz="1400"/>
              <a:t>[VIDEO] A video placeholder has been added to this slide. Record the demo as 'demo_1.mp4'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This is the 'wow moment' — show how Purview auto-classifies columns with no configuration beyond enabling the scan rule set. Walk through at least 3 different classification types (SSN, ICD-10, DEA). Point out the confidence scores. Then show the unclassified ClaimAmount to demonstrate precision — not everything gets flagged.</a:t>
            </a:r>
          </a:p>
          <a:p>
            <a:r>
              <a:rPr sz="1400"/>
              <a:t>[VIDEO] A video placeholder has been added to this slide. Record the demo as 'demo_2.mp4'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The key message here is 'one label, everywhere.' Apply it once in Purview and it follows the data into Power BI, Fabric, DLP policies, and AI pipelines. The cross-source search is powerful — show a search that returns both SQL and Fabric assets with the same label.</a:t>
            </a:r>
          </a:p>
          <a:p>
            <a:r>
              <a:rPr sz="1400"/>
              <a:t>[VIDEO] A video placeholder has been added to this slide. Record the demo as 'demo_3.mp4'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Quality rules are critical for AI governance — if training data has missing values, duplicates, or stale records, the model will be compromised. Show the rule creation wizard and emphasize the three types: completeness, uniqueness, and freshness. After the scan, the quality score on the Data Product card is the key visual.</a:t>
            </a:r>
          </a:p>
          <a:p>
            <a:r>
              <a:rPr sz="1400"/>
              <a:t>[VIDEO] A video placeholder has been added to this slide. Record the demo as 'demo_4.mp4'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Data Products are how you make data discoverable AND governed for AI consumers. Walk through the creation wizard slowly — the terms of use field is where you attach AI-specific usage policies. After publishing, show how a data scientist would find and request access to this product.</a:t>
            </a:r>
          </a:p>
          <a:p>
            <a:r>
              <a:rPr sz="1400"/>
              <a:t>[VIDEO] A video placeholder has been added to this slide. Record the demo as 'demo_5.mp4'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This demo shows the self-service access workflow. The key insight is that access is governed through the catalog, not through direct SQL permissions. This means governance teams have visibility and control. Show the audit trail at the end — this is what auditors ask for.</a:t>
            </a:r>
          </a:p>
          <a:p>
            <a:r>
              <a:rPr sz="1400"/>
              <a:t>[VIDEO] A video placeholder has been added to this slide. Record the demo as 'demo_6.mp4'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Lineage is the backbone of AI governance — it answers 'where did this data come from and where does it go?' Trace the full path from source to model. Impact analysis is particularly powerful — show how removing one source table cascades across reports, lakehouse tables, and AI models.</a:t>
            </a:r>
          </a:p>
          <a:p>
            <a:r>
              <a:rPr sz="1400"/>
              <a:t>[VIDEO] A video placeholder has been added to this slide. Record the demo as 'demo_7.mp4'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Governance Domains map to how your business is actually structured. This is where data stewards operate day to day. Show the glossary term creation — this makes data discoverable by business terms, not just technical names. The domain health dashboard gives leadership a single view of governance maturity.</a:t>
            </a:r>
          </a:p>
          <a:p>
            <a:r>
              <a:rPr sz="1400"/>
              <a:t>[VIDEO] A video placeholder has been added to this slide. Record the demo as 'demo_8.mp4'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This demo shows the AI engineer's experience — finding governed data through the catalog instead of asking around or accessing raw databases. Natural language search is the entry point. Filters for quality score and AI-approved terms of use ensure only governed data is used for training.</a:t>
            </a:r>
          </a:p>
          <a:p>
            <a:r>
              <a:rPr sz="1400"/>
              <a:t>[VIDEO] A video placeholder has been added to this slide. Record the demo as 'demo_9.mp4'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Protection policies close the loop — classification and labels are only useful if they trigger enforcement. Show the policy creation linked to a sensitivity label, then demonstrate the block in action. The DLP incident report is what compliance teams need for audits.</a:t>
            </a:r>
          </a:p>
          <a:p>
            <a:r>
              <a:rPr sz="1400"/>
              <a:t>[VIDEO] A video placeholder has been added to this slide. Record the demo as 'demo_10.mp4'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AI Hub is often the biggest eye-opener for customers — they discover shadow AI usage they didn't know existed. Start by showing the app discovery view, then drill into sensitive data in prompts. The report export is valuable for CISOs and compliance officers.</a:t>
            </a:r>
          </a:p>
          <a:p>
            <a:r>
              <a:rPr sz="1400"/>
              <a:t>[VIDEO] A video placeholder has been added to this slide. Record the demo as 'demo_11.mp4'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Audit and eDiscovery for AI is a regulatory requirement in many industries. Show the audit search filtered to AI activities — this demonstrates that every prompt and response is logged. The eDiscovery workflow is the same one legal teams already use for email, now extended to AI interactions.</a:t>
            </a:r>
          </a:p>
          <a:p>
            <a:r>
              <a:rPr sz="1400"/>
              <a:t>[VIDEO] A video placeholder has been added to this slide. Record the demo as 'demo_12.mp4'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LIVE DEMO: This is the capstone demo — it ties everything together. The Purview-to-Foundry integration shows that governance isn't a separate process; it's embedded in the AI development workflow. The model card with dataset lineage is the ultimate artifact for auditors and compliance teams.</a:t>
            </a:r>
          </a:p>
          <a:p>
            <a:r>
              <a:rPr sz="1400"/>
              <a:t>[VIDEO] A video placeholder has been added to this slide. Record the demo as 'demo_13.mp4' (1080p, H.264) and replace the placeholder: right-click the gray frame → Cut, then Insert → Video → This Device → select the MP4. Set playback to 'Start Automatically' or 'On Click' as preferred.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t>Wrap up the demo appendix by pointing attendees to these resources. Emphasize that the Purview portal is the single entry point for all governance activities. If lab environments are available, encourage hands-on practice. The Tech Community is an excellent resource for real-world implementation guidance.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8375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1.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1.xml"/><Relationship Id="rId1" Type="http://schemas.openxmlformats.org/officeDocument/2006/relationships/tags" Target="../tags/tag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23.xml"/><Relationship Id="rId1" Type="http://schemas.openxmlformats.org/officeDocument/2006/relationships/tags" Target="../tags/tag6.xml"/><Relationship Id="rId5" Type="http://schemas.openxmlformats.org/officeDocument/2006/relationships/image" Target="../media/image3.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8.xml"/><Relationship Id="rId1" Type="http://schemas.openxmlformats.org/officeDocument/2006/relationships/tags" Target="../tags/tag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8" Type="http://schemas.openxmlformats.org/officeDocument/2006/relationships/hyperlink" Target="https://medium.com/azure-data-lake/connecting-your-own-hadoop-or-spark-to-azure-data-lake-store-93d426d6a5f4" TargetMode="External"/><Relationship Id="rId13" Type="http://schemas.openxmlformats.org/officeDocument/2006/relationships/image" Target="../media/image14.jpeg"/><Relationship Id="rId3" Type="http://schemas.openxmlformats.org/officeDocument/2006/relationships/image" Target="../media/image5.jpe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notesSlide" Target="../notesSlides/notesSlide11.xml"/><Relationship Id="rId16"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jpe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6.jpeg"/><Relationship Id="rId9" Type="http://schemas.openxmlformats.org/officeDocument/2006/relationships/image" Target="../media/image10.png"/><Relationship Id="rId14"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3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3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3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6.png"/><Relationship Id="rId7"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3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3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31.xml"/><Relationship Id="rId5" Type="http://schemas.openxmlformats.org/officeDocument/2006/relationships/image" Target="../media/image59.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3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3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3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73.png"/><Relationship Id="rId7"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31.xml"/><Relationship Id="rId6" Type="http://schemas.openxmlformats.org/officeDocument/2006/relationships/image" Target="../media/image40.png"/><Relationship Id="rId5" Type="http://schemas.openxmlformats.org/officeDocument/2006/relationships/image" Target="../media/image74.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5.xml"/><Relationship Id="rId1" Type="http://schemas.openxmlformats.org/officeDocument/2006/relationships/slideLayout" Target="../slideLayouts/slideLayout31.xml"/><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31.xml"/><Relationship Id="rId6" Type="http://schemas.openxmlformats.org/officeDocument/2006/relationships/image" Target="../media/image77.png"/><Relationship Id="rId5" Type="http://schemas.openxmlformats.org/officeDocument/2006/relationships/image" Target="../media/image66.png"/><Relationship Id="rId4" Type="http://schemas.openxmlformats.org/officeDocument/2006/relationships/image" Target="../media/image46.png"/><Relationship Id="rId9" Type="http://schemas.openxmlformats.org/officeDocument/2006/relationships/image" Target="../media/image78.png"/></Relationships>
</file>

<file path=ppt/slides/_rels/slide4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46.png"/><Relationship Id="rId7" Type="http://schemas.openxmlformats.org/officeDocument/2006/relationships/image" Target="../media/image81.png"/><Relationship Id="rId2" Type="http://schemas.openxmlformats.org/officeDocument/2006/relationships/notesSlide" Target="../notesSlides/notesSlide47.xml"/><Relationship Id="rId1" Type="http://schemas.openxmlformats.org/officeDocument/2006/relationships/slideLayout" Target="../slideLayouts/slideLayout31.xml"/><Relationship Id="rId6" Type="http://schemas.openxmlformats.org/officeDocument/2006/relationships/image" Target="../media/image50.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6.xml"/><Relationship Id="rId1" Type="http://schemas.openxmlformats.org/officeDocument/2006/relationships/tags" Target="../tags/tag8.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33.xml"/><Relationship Id="rId1" Type="http://schemas.openxmlformats.org/officeDocument/2006/relationships/tags" Target="../tags/tag9.xml"/><Relationship Id="rId5" Type="http://schemas.openxmlformats.org/officeDocument/2006/relationships/image" Target="../media/image3.jpe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1.xml"/><Relationship Id="rId1" Type="http://schemas.openxmlformats.org/officeDocument/2006/relationships/slideLayout" Target="../slideLayouts/slideLayout31.xml"/><Relationship Id="rId6" Type="http://schemas.openxmlformats.org/officeDocument/2006/relationships/image" Target="../media/image39.png"/><Relationship Id="rId5" Type="http://schemas.openxmlformats.org/officeDocument/2006/relationships/image" Target="../media/image50.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2.xml"/><Relationship Id="rId1" Type="http://schemas.openxmlformats.org/officeDocument/2006/relationships/slideLayout" Target="../slideLayouts/slideLayout31.xml"/><Relationship Id="rId4" Type="http://schemas.openxmlformats.org/officeDocument/2006/relationships/image" Target="../media/image84.png"/></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3.xml"/><Relationship Id="rId1" Type="http://schemas.openxmlformats.org/officeDocument/2006/relationships/slideLayout" Target="../slideLayouts/slideLayout31.xml"/><Relationship Id="rId6" Type="http://schemas.openxmlformats.org/officeDocument/2006/relationships/image" Target="../media/image50.png"/><Relationship Id="rId5" Type="http://schemas.openxmlformats.org/officeDocument/2006/relationships/image" Target="../media/image82.png"/><Relationship Id="rId4" Type="http://schemas.openxmlformats.org/officeDocument/2006/relationships/image" Target="../media/image8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1.png"/><Relationship Id="rId7" Type="http://schemas.openxmlformats.org/officeDocument/2006/relationships/image" Target="../media/image89.png"/><Relationship Id="rId2" Type="http://schemas.openxmlformats.org/officeDocument/2006/relationships/notesSlide" Target="../notesSlides/notesSlide55.xml"/><Relationship Id="rId1" Type="http://schemas.openxmlformats.org/officeDocument/2006/relationships/slideLayout" Target="../slideLayouts/slideLayout31.xml"/><Relationship Id="rId6" Type="http://schemas.openxmlformats.org/officeDocument/2006/relationships/image" Target="../media/image88.png"/><Relationship Id="rId11" Type="http://schemas.openxmlformats.org/officeDocument/2006/relationships/image" Target="../media/image92.png"/><Relationship Id="rId5" Type="http://schemas.openxmlformats.org/officeDocument/2006/relationships/image" Target="../media/image87.png"/><Relationship Id="rId10" Type="http://schemas.openxmlformats.org/officeDocument/2006/relationships/image" Target="../media/image91.png"/><Relationship Id="rId4" Type="http://schemas.openxmlformats.org/officeDocument/2006/relationships/image" Target="../media/image86.png"/><Relationship Id="rId9"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6.xml"/><Relationship Id="rId1" Type="http://schemas.openxmlformats.org/officeDocument/2006/relationships/slideLayout" Target="../slideLayouts/slideLayout31.xml"/><Relationship Id="rId4" Type="http://schemas.openxmlformats.org/officeDocument/2006/relationships/image" Target="../media/image8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60.png"/><Relationship Id="rId7" Type="http://schemas.openxmlformats.org/officeDocument/2006/relationships/image" Target="../media/image95.png"/><Relationship Id="rId2" Type="http://schemas.openxmlformats.org/officeDocument/2006/relationships/notesSlide" Target="../notesSlides/notesSlide58.xml"/><Relationship Id="rId1" Type="http://schemas.openxmlformats.org/officeDocument/2006/relationships/slideLayout" Target="../slideLayouts/slideLayout31.xml"/><Relationship Id="rId6" Type="http://schemas.openxmlformats.org/officeDocument/2006/relationships/image" Target="../media/image61.png"/><Relationship Id="rId5" Type="http://schemas.openxmlformats.org/officeDocument/2006/relationships/image" Target="../media/image94.png"/><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50.png"/><Relationship Id="rId7" Type="http://schemas.openxmlformats.org/officeDocument/2006/relationships/image" Target="../media/image76.png"/><Relationship Id="rId2" Type="http://schemas.openxmlformats.org/officeDocument/2006/relationships/notesSlide" Target="../notesSlides/notesSlide59.xml"/><Relationship Id="rId1" Type="http://schemas.openxmlformats.org/officeDocument/2006/relationships/slideLayout" Target="../slideLayouts/slideLayout31.xml"/><Relationship Id="rId6" Type="http://schemas.openxmlformats.org/officeDocument/2006/relationships/image" Target="../media/image73.png"/><Relationship Id="rId5" Type="http://schemas.openxmlformats.org/officeDocument/2006/relationships/image" Target="../media/image80.png"/><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0.xml"/><Relationship Id="rId1" Type="http://schemas.openxmlformats.org/officeDocument/2006/relationships/slideLayout" Target="../slideLayouts/slideLayout31.xml"/><Relationship Id="rId6" Type="http://schemas.openxmlformats.org/officeDocument/2006/relationships/image" Target="../media/image79.png"/><Relationship Id="rId5" Type="http://schemas.openxmlformats.org/officeDocument/2006/relationships/image" Target="../media/image99.png"/><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9.xml"/><Relationship Id="rId1" Type="http://schemas.openxmlformats.org/officeDocument/2006/relationships/tags" Target="../tags/tag10.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9.xml"/><Relationship Id="rId1" Type="http://schemas.openxmlformats.org/officeDocument/2006/relationships/tags" Target="../tags/tag11.xml"/><Relationship Id="rId5" Type="http://schemas.openxmlformats.org/officeDocument/2006/relationships/image" Target="../media/image3.jpe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4.xml"/><Relationship Id="rId1" Type="http://schemas.openxmlformats.org/officeDocument/2006/relationships/tags" Target="../tags/tag12.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46.xml"/><Relationship Id="rId1" Type="http://schemas.openxmlformats.org/officeDocument/2006/relationships/tags" Target="../tags/tag13.xml"/><Relationship Id="rId5" Type="http://schemas.openxmlformats.org/officeDocument/2006/relationships/image" Target="../media/image3.jpe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7298437" cy="2031325"/>
          </a:xfrm>
        </p:spPr>
        <p:txBody>
          <a:bodyPr/>
          <a:lstStyle/>
          <a:p>
            <a:r>
              <a:rPr lang="en-US"/>
              <a:t>Module 3 – Core Governance Pillars</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p:txBody>
          <a:bodyPr>
            <a:normAutofit/>
          </a:bodyPr>
          <a:lstStyle/>
          <a:p>
            <a:r>
              <a:rPr lang="en-US" dirty="0"/>
              <a:t>Data Governance for AI</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dirty="0">
                <a:solidFill>
                  <a:schemeClr val="tx1"/>
                </a:solidFill>
                <a:cs typeface="Segoe UI Semibold"/>
              </a:rPr>
              <a:t>© Microsoft Corporation. All rights reserved.</a:t>
            </a:r>
            <a:endParaRPr lang="en-US" dirty="0">
              <a:solidFill>
                <a:schemeClr val="tx1"/>
              </a:solidFill>
              <a:cs typeface="Segoe UI Semibold" panose="020B0702040204020203" pitchFamily="34" charset="0"/>
            </a:endParaRPr>
          </a:p>
          <a:p>
            <a:pPr algn="ctr" defTabSz="914102">
              <a:spcBef>
                <a:spcPts val="600"/>
              </a:spcBef>
              <a:spcAft>
                <a:spcPts val="600"/>
              </a:spcAft>
              <a:defRPr/>
            </a:pPr>
            <a:r>
              <a:rPr lang="en-US" dirty="0">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dirty="0">
                <a:solidFill>
                  <a:schemeClr val="tx1"/>
                </a:solidFill>
                <a:cs typeface="Segoe UI Semibold"/>
              </a:rPr>
              <a:t>1</a:t>
            </a:r>
            <a:endParaRPr lang="en-US" b="0" i="0" u="none" strike="noStrike" kern="1200" cap="none" spc="0" normalizeH="0" baseline="30000" noProof="0" dirty="0">
              <a:ln>
                <a:noFill/>
              </a:ln>
              <a:solidFill>
                <a:schemeClr val="tx1"/>
              </a:solidFill>
              <a:effectLst/>
              <a:uLnTx/>
              <a:uFillTx/>
              <a:cs typeface="Segoe UI Semibold"/>
            </a:endParaRPr>
          </a:p>
        </p:txBody>
      </p:sp>
      <p:grpSp>
        <p:nvGrpSpPr>
          <p:cNvPr id="8" name="Group 7" descr="Diagram for: Conditions and terms of use">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Why Data Governance for AI?</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AI creates new data surfaces that traditional governance wasn't designed to handle.</a:t>
            </a:r>
          </a:p>
        </p:txBody>
      </p:sp>
      <p:sp>
        <p:nvSpPr>
          <p:cNvPr id="4" name="TextBox 3"/>
          <p:cNvSpPr txBox="1"/>
          <p:nvPr/>
        </p:nvSpPr>
        <p:spPr>
          <a:xfrm>
            <a:off x="548640" y="1417320"/>
            <a:ext cx="11094720" cy="3139321"/>
          </a:xfrm>
          <a:prstGeom prst="rect">
            <a:avLst/>
          </a:prstGeom>
          <a:noFill/>
        </p:spPr>
        <p:txBody>
          <a:bodyPr wrap="square">
            <a:spAutoFit/>
          </a:bodyPr>
          <a:lstStyle/>
          <a:p>
            <a:r>
              <a:rPr sz="1500" b="1">
                <a:solidFill>
                  <a:srgbClr val="243A5E"/>
                </a:solidFill>
              </a:rPr>
              <a:t>New Data Flows
</a:t>
            </a:r>
            <a:r>
              <a:rPr sz="1400">
                <a:solidFill>
                  <a:srgbClr val="505050"/>
                </a:solidFill>
              </a:rPr>
              <a:t>Training data, vector embeddings, model weights, prompt logs, and inference outputs — each requires governance controls that didn't exist before.</a:t>
            </a:r>
          </a:p>
          <a:p>
            <a:pPr>
              <a:spcBef>
                <a:spcPts val="800"/>
              </a:spcBef>
            </a:pPr>
            <a:r>
              <a:rPr sz="1500" b="1">
                <a:solidFill>
                  <a:srgbClr val="243A5E"/>
                </a:solidFill>
              </a:rPr>
              <a:t>Amplified Risk
</a:t>
            </a:r>
            <a:r>
              <a:rPr sz="1400">
                <a:solidFill>
                  <a:srgbClr val="505050"/>
                </a:solidFill>
              </a:rPr>
              <a:t>A single ungoverned dataset can produce biased models, leak PII at scale, or violate regulations across every AI response.</a:t>
            </a:r>
          </a:p>
          <a:p>
            <a:pPr>
              <a:spcBef>
                <a:spcPts val="800"/>
              </a:spcBef>
            </a:pPr>
            <a:r>
              <a:rPr sz="1500" b="1">
                <a:solidFill>
                  <a:srgbClr val="243A5E"/>
                </a:solidFill>
              </a:rPr>
              <a:t>Regulatory Acceleration
</a:t>
            </a:r>
            <a:r>
              <a:rPr sz="1400">
                <a:solidFill>
                  <a:srgbClr val="505050"/>
                </a:solidFill>
              </a:rPr>
              <a:t>GDPR, HIPAA, NIST AI RMF, ISO 42001, and the EU AI Act </a:t>
            </a:r>
            <a:r>
              <a:rPr lang="en-US" sz="1400">
                <a:solidFill>
                  <a:srgbClr val="505050"/>
                </a:solidFill>
              </a:rPr>
              <a:t>(prohibited practices enforced Feb 2025; high-risk AI obligations effective Aug 2026) </a:t>
            </a:r>
            <a:r>
              <a:rPr sz="1400">
                <a:solidFill>
                  <a:srgbClr val="505050"/>
                </a:solidFill>
              </a:rPr>
              <a:t>all demand traceability, explainability, and data accountability for AI systems.</a:t>
            </a:r>
          </a:p>
          <a:p>
            <a:pPr>
              <a:spcBef>
                <a:spcPts val="800"/>
              </a:spcBef>
            </a:pPr>
            <a:r>
              <a:rPr sz="1500" b="1">
                <a:solidFill>
                  <a:srgbClr val="243A5E"/>
                </a:solidFill>
              </a:rPr>
              <a:t>The Purview Approach
</a:t>
            </a:r>
            <a:r>
              <a:rPr sz="1400">
                <a:solidFill>
                  <a:srgbClr val="505050"/>
                </a:solidFill>
              </a:rPr>
              <a:t>Microsoft Purview Unified Catalog provides discovery, classification, lineage, and policy enforcement across the entire AI data lifecycle — from source to response.</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Workshop – Azure AI Governance  |  Data Governance for AI</a:t>
            </a:r>
          </a:p>
        </p:txBody>
      </p:sp>
      <p:sp>
        <p:nvSpPr>
          <p:cNvPr id="6" name="TextBox 5"/>
          <p:cNvSpPr txBox="1"/>
          <p:nvPr/>
        </p:nvSpPr>
        <p:spPr>
          <a:xfrm>
            <a:off x="11094720" y="6446520"/>
            <a:ext cx="640080" cy="320040"/>
          </a:xfrm>
          <a:prstGeom prst="rect">
            <a:avLst/>
          </a:prstGeom>
          <a:noFill/>
        </p:spPr>
        <p:txBody>
          <a:bodyPr wrap="none">
            <a:spAutoFit/>
          </a:bodyPr>
          <a:lstStyle/>
          <a:p>
            <a:pPr algn="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in this Module</a:t>
            </a:r>
          </a:p>
        </p:txBody>
      </p:sp>
      <p:graphicFrame>
        <p:nvGraphicFramePr>
          <p:cNvPr id="60" name="Table 3">
            <a:extLst>
              <a:ext uri="{FF2B5EF4-FFF2-40B4-BE49-F238E27FC236}">
                <a16:creationId xmlns:a16="http://schemas.microsoft.com/office/drawing/2014/main" id="{8804C3E9-FF87-4FC8-B151-3F854A0C06E0}"/>
              </a:ext>
            </a:extLst>
          </p:cNvPr>
          <p:cNvGraphicFramePr>
            <a:graphicFrameLocks noGrp="1"/>
          </p:cNvGraphicFramePr>
          <p:nvPr>
            <p:extLst>
              <p:ext uri="{D42A27DB-BD31-4B8C-83A1-F6EECF244321}">
                <p14:modId xmlns:p14="http://schemas.microsoft.com/office/powerpoint/2010/main" val="209916434"/>
              </p:ext>
            </p:extLst>
          </p:nvPr>
        </p:nvGraphicFramePr>
        <p:xfrm>
          <a:off x="575481" y="1815577"/>
          <a:ext cx="5669280" cy="2968976"/>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742244">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da-DK" sz="1800" b="1" i="0" kern="1200" noProof="0" dirty="0">
                          <a:solidFill>
                            <a:schemeClr val="dk1"/>
                          </a:solidFill>
                          <a:effectLst/>
                          <a:latin typeface="+mn-lt"/>
                          <a:ea typeface="+mn-ea"/>
                          <a:cs typeface="+mn-cs"/>
                        </a:rPr>
                        <a:t>Data Lineage &amp; Discovery</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742244">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Data Classification &amp; Protection</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742244">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Access &amp; Residency Controls</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742244">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Compliance &amp; Lifecycle Governance</a:t>
                      </a:r>
                      <a:r>
                        <a:rPr lang="en-US" sz="1800" b="0" i="0" kern="1200" dirty="0">
                          <a:solidFill>
                            <a:schemeClr val="dk1"/>
                          </a:solidFill>
                          <a:effectLst/>
                          <a:latin typeface="+mn-lt"/>
                          <a:ea typeface="+mn-ea"/>
                          <a:cs typeface="+mn-cs"/>
                        </a:rPr>
                        <a:t> </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1743516"/>
                  </a:ext>
                </a:extLst>
              </a:tr>
            </a:tbl>
          </a:graphicData>
        </a:graphic>
      </p:graphicFrame>
      <p:grpSp>
        <p:nvGrpSpPr>
          <p:cNvPr id="113" name="Group 112" descr="Diagram for: Learning Units covered in this Module">
            <a:extLst>
              <a:ext uri="{FF2B5EF4-FFF2-40B4-BE49-F238E27FC236}">
                <a16:creationId xmlns:a16="http://schemas.microsoft.com/office/drawing/2014/main" id="{E67EC9C9-4036-4049-A606-02859E660D35}"/>
              </a:ext>
              <a:ext uri="{C183D7F6-B498-43B3-948B-1728B52AA6E4}">
                <adec:decorative xmlns:adec="http://schemas.microsoft.com/office/drawing/2017/decorative" val="1"/>
              </a:ext>
            </a:extLst>
          </p:cNvPr>
          <p:cNvGrpSpPr>
            <a:grpSpLocks noChangeAspect="1"/>
          </p:cNvGrpSpPr>
          <p:nvPr/>
        </p:nvGrpSpPr>
        <p:grpSpPr>
          <a:xfrm>
            <a:off x="777563" y="1979473"/>
            <a:ext cx="411480" cy="411480"/>
            <a:chOff x="10323474" y="1468393"/>
            <a:chExt cx="751672" cy="751672"/>
          </a:xfrm>
        </p:grpSpPr>
        <p:sp>
          <p:nvSpPr>
            <p:cNvPr id="114" name="Oval 113">
              <a:extLst>
                <a:ext uri="{FF2B5EF4-FFF2-40B4-BE49-F238E27FC236}">
                  <a16:creationId xmlns:a16="http://schemas.microsoft.com/office/drawing/2014/main" id="{7CC6FF59-B706-4D40-913E-2B539CA4C70B}"/>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15" name="Group 114">
              <a:extLst>
                <a:ext uri="{FF2B5EF4-FFF2-40B4-BE49-F238E27FC236}">
                  <a16:creationId xmlns:a16="http://schemas.microsoft.com/office/drawing/2014/main" id="{BAC01E94-EEBB-4925-8E2D-4258CC2BD989}"/>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16" name="Freeform: Shape 115">
                <a:extLst>
                  <a:ext uri="{FF2B5EF4-FFF2-40B4-BE49-F238E27FC236}">
                    <a16:creationId xmlns:a16="http://schemas.microsoft.com/office/drawing/2014/main" id="{6AE7A149-2E9D-4F44-9417-6045DB6D1A4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7" name="Freeform: Shape 116">
                <a:extLst>
                  <a:ext uri="{FF2B5EF4-FFF2-40B4-BE49-F238E27FC236}">
                    <a16:creationId xmlns:a16="http://schemas.microsoft.com/office/drawing/2014/main" id="{EAFC9DE6-764E-4F52-9861-ECF0A9ACF04E}"/>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8" name="Freeform: Shape 117">
                <a:extLst>
                  <a:ext uri="{FF2B5EF4-FFF2-40B4-BE49-F238E27FC236}">
                    <a16:creationId xmlns:a16="http://schemas.microsoft.com/office/drawing/2014/main" id="{9312041A-C8AB-4A1E-B47E-EC1538B24E90}"/>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9" name="Freeform: Shape 118">
                <a:extLst>
                  <a:ext uri="{FF2B5EF4-FFF2-40B4-BE49-F238E27FC236}">
                    <a16:creationId xmlns:a16="http://schemas.microsoft.com/office/drawing/2014/main" id="{4803AEDC-ACBB-4785-BD3D-A6D1E2635944}"/>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0" name="Freeform: Shape 119">
                <a:extLst>
                  <a:ext uri="{FF2B5EF4-FFF2-40B4-BE49-F238E27FC236}">
                    <a16:creationId xmlns:a16="http://schemas.microsoft.com/office/drawing/2014/main" id="{B45AB315-D777-47B8-B7E7-671E87E2DCFE}"/>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1" name="Freeform: Shape 120">
                <a:extLst>
                  <a:ext uri="{FF2B5EF4-FFF2-40B4-BE49-F238E27FC236}">
                    <a16:creationId xmlns:a16="http://schemas.microsoft.com/office/drawing/2014/main" id="{08FCA7F9-BF0A-4E42-8AAA-51E83040AE72}"/>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2" name="Freeform: Shape 121">
                <a:extLst>
                  <a:ext uri="{FF2B5EF4-FFF2-40B4-BE49-F238E27FC236}">
                    <a16:creationId xmlns:a16="http://schemas.microsoft.com/office/drawing/2014/main" id="{27B7610D-8EC7-4E74-B173-08CC624E4AF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3" name="Freeform: Shape 122">
                <a:extLst>
                  <a:ext uri="{FF2B5EF4-FFF2-40B4-BE49-F238E27FC236}">
                    <a16:creationId xmlns:a16="http://schemas.microsoft.com/office/drawing/2014/main" id="{2798CDC8-4B12-46B2-A230-8CD396E22CFE}"/>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4" name="Freeform: Shape 123">
                <a:extLst>
                  <a:ext uri="{FF2B5EF4-FFF2-40B4-BE49-F238E27FC236}">
                    <a16:creationId xmlns:a16="http://schemas.microsoft.com/office/drawing/2014/main" id="{B32555E6-DBC7-4EFB-998A-C1127B91309E}"/>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5" name="Freeform: Shape 124">
                <a:extLst>
                  <a:ext uri="{FF2B5EF4-FFF2-40B4-BE49-F238E27FC236}">
                    <a16:creationId xmlns:a16="http://schemas.microsoft.com/office/drawing/2014/main" id="{3D43F885-6A83-4E25-B7F9-F6FD061958BB}"/>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6" name="Freeform: Shape 125">
                <a:extLst>
                  <a:ext uri="{FF2B5EF4-FFF2-40B4-BE49-F238E27FC236}">
                    <a16:creationId xmlns:a16="http://schemas.microsoft.com/office/drawing/2014/main" id="{CE630334-3A45-4998-B6E0-2579EF0C5514}"/>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50" name="Straight Connector 149">
            <a:extLst>
              <a:ext uri="{FF2B5EF4-FFF2-40B4-BE49-F238E27FC236}">
                <a16:creationId xmlns:a16="http://schemas.microsoft.com/office/drawing/2014/main" id="{122AD19F-234A-49A0-87D6-6D79C24C75A9}"/>
              </a:ext>
              <a:ext uri="{C183D7F6-B498-43B3-948B-1728B52AA6E4}">
                <adec:decorative xmlns:adec="http://schemas.microsoft.com/office/drawing/2017/decorative" val="1"/>
              </a:ext>
            </a:extLst>
          </p:cNvPr>
          <p:cNvCxnSpPr>
            <a:cxnSpLocks/>
          </p:cNvCxnSpPr>
          <p:nvPr/>
        </p:nvCxnSpPr>
        <p:spPr>
          <a:xfrm>
            <a:off x="5771254" y="255272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3" name="Group 172" descr="Diagram for: Learning Units covered in this Module">
            <a:extLst>
              <a:ext uri="{FF2B5EF4-FFF2-40B4-BE49-F238E27FC236}">
                <a16:creationId xmlns:a16="http://schemas.microsoft.com/office/drawing/2014/main" id="{DDD88C92-3533-4912-BBF9-0BE2FC28F2FF}"/>
              </a:ext>
              <a:ext uri="{C183D7F6-B498-43B3-948B-1728B52AA6E4}">
                <adec:decorative xmlns:adec="http://schemas.microsoft.com/office/drawing/2017/decorative" val="1"/>
              </a:ext>
            </a:extLst>
          </p:cNvPr>
          <p:cNvGrpSpPr/>
          <p:nvPr/>
        </p:nvGrpSpPr>
        <p:grpSpPr>
          <a:xfrm>
            <a:off x="777563" y="2723130"/>
            <a:ext cx="411480" cy="411480"/>
            <a:chOff x="724354" y="2781602"/>
            <a:chExt cx="438218" cy="438964"/>
          </a:xfrm>
        </p:grpSpPr>
        <p:sp>
          <p:nvSpPr>
            <p:cNvPr id="174" name="Oval 173">
              <a:extLst>
                <a:ext uri="{FF2B5EF4-FFF2-40B4-BE49-F238E27FC236}">
                  <a16:creationId xmlns:a16="http://schemas.microsoft.com/office/drawing/2014/main" id="{7E30725D-1F8A-49A7-8BDF-A4D13934356A}"/>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75" name="Trackers_EADF">
              <a:extLst>
                <a:ext uri="{FF2B5EF4-FFF2-40B4-BE49-F238E27FC236}">
                  <a16:creationId xmlns:a16="http://schemas.microsoft.com/office/drawing/2014/main" id="{02DC7706-ABB7-4909-8D12-443AD1FF9D14}"/>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5" name="Straight Connector 194">
            <a:extLst>
              <a:ext uri="{FF2B5EF4-FFF2-40B4-BE49-F238E27FC236}">
                <a16:creationId xmlns:a16="http://schemas.microsoft.com/office/drawing/2014/main" id="{D3B5E88B-BF90-4D05-A01D-D419CF351922}"/>
              </a:ext>
              <a:ext uri="{C183D7F6-B498-43B3-948B-1728B52AA6E4}">
                <adec:decorative xmlns:adec="http://schemas.microsoft.com/office/drawing/2017/decorative" val="1"/>
              </a:ext>
            </a:extLst>
          </p:cNvPr>
          <p:cNvCxnSpPr>
            <a:cxnSpLocks/>
          </p:cNvCxnSpPr>
          <p:nvPr/>
        </p:nvCxnSpPr>
        <p:spPr>
          <a:xfrm>
            <a:off x="5771254" y="329792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4" name="Group 213" descr="Diagram for: Learning Units covered in this Module">
            <a:extLst>
              <a:ext uri="{FF2B5EF4-FFF2-40B4-BE49-F238E27FC236}">
                <a16:creationId xmlns:a16="http://schemas.microsoft.com/office/drawing/2014/main" id="{49FBDAE8-1CA0-4498-BDD4-5F72F8A55FE3}"/>
              </a:ext>
              <a:ext uri="{C183D7F6-B498-43B3-948B-1728B52AA6E4}">
                <adec:decorative xmlns:adec="http://schemas.microsoft.com/office/drawing/2017/decorative" val="1"/>
              </a:ext>
            </a:extLst>
          </p:cNvPr>
          <p:cNvGrpSpPr>
            <a:grpSpLocks/>
          </p:cNvGrpSpPr>
          <p:nvPr/>
        </p:nvGrpSpPr>
        <p:grpSpPr>
          <a:xfrm>
            <a:off x="777563" y="3466787"/>
            <a:ext cx="411480" cy="411480"/>
            <a:chOff x="7039782" y="1468393"/>
            <a:chExt cx="751672" cy="751672"/>
          </a:xfrm>
        </p:grpSpPr>
        <p:sp>
          <p:nvSpPr>
            <p:cNvPr id="215" name="Oval 214">
              <a:extLst>
                <a:ext uri="{FF2B5EF4-FFF2-40B4-BE49-F238E27FC236}">
                  <a16:creationId xmlns:a16="http://schemas.microsoft.com/office/drawing/2014/main" id="{8F5AB732-4561-4ACF-B19C-431EE389605C}"/>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6" name="list_4">
              <a:extLst>
                <a:ext uri="{FF2B5EF4-FFF2-40B4-BE49-F238E27FC236}">
                  <a16:creationId xmlns:a16="http://schemas.microsoft.com/office/drawing/2014/main" id="{2C170C89-AC11-43EC-8173-22A988A5DBF8}"/>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32" name="Straight Connector 231">
            <a:extLst>
              <a:ext uri="{FF2B5EF4-FFF2-40B4-BE49-F238E27FC236}">
                <a16:creationId xmlns:a16="http://schemas.microsoft.com/office/drawing/2014/main" id="{4A0F8D22-EC79-4E66-87D9-0167168B763E}"/>
              </a:ext>
              <a:ext uri="{C183D7F6-B498-43B3-948B-1728B52AA6E4}">
                <adec:decorative xmlns:adec="http://schemas.microsoft.com/office/drawing/2017/decorative" val="1"/>
              </a:ext>
            </a:extLst>
          </p:cNvPr>
          <p:cNvCxnSpPr>
            <a:cxnSpLocks/>
          </p:cNvCxnSpPr>
          <p:nvPr/>
        </p:nvCxnSpPr>
        <p:spPr>
          <a:xfrm>
            <a:off x="5771254" y="403995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47" name="Group 246" descr="Diagram for: Learning Units covered in this Module">
            <a:extLst>
              <a:ext uri="{FF2B5EF4-FFF2-40B4-BE49-F238E27FC236}">
                <a16:creationId xmlns:a16="http://schemas.microsoft.com/office/drawing/2014/main" id="{3E100519-3DF6-4DCE-BA5C-207424F0EC7B}"/>
              </a:ext>
              <a:ext uri="{C183D7F6-B498-43B3-948B-1728B52AA6E4}">
                <adec:decorative xmlns:adec="http://schemas.microsoft.com/office/drawing/2017/decorative" val="1"/>
              </a:ext>
            </a:extLst>
          </p:cNvPr>
          <p:cNvGrpSpPr>
            <a:grpSpLocks/>
          </p:cNvGrpSpPr>
          <p:nvPr/>
        </p:nvGrpSpPr>
        <p:grpSpPr>
          <a:xfrm>
            <a:off x="777563" y="4210444"/>
            <a:ext cx="411480" cy="411480"/>
            <a:chOff x="724354" y="3721051"/>
            <a:chExt cx="438218" cy="438218"/>
          </a:xfrm>
        </p:grpSpPr>
        <p:sp>
          <p:nvSpPr>
            <p:cNvPr id="248" name="Oval 247">
              <a:extLst>
                <a:ext uri="{FF2B5EF4-FFF2-40B4-BE49-F238E27FC236}">
                  <a16:creationId xmlns:a16="http://schemas.microsoft.com/office/drawing/2014/main" id="{227E0D0D-A055-46A6-9021-41C9973EBA13}"/>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49" name="Business applications">
              <a:extLst>
                <a:ext uri="{FF2B5EF4-FFF2-40B4-BE49-F238E27FC236}">
                  <a16:creationId xmlns:a16="http://schemas.microsoft.com/office/drawing/2014/main" id="{64E60069-E006-4E3A-99AB-E311EB131DF7}"/>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cxnSp>
        <p:nvCxnSpPr>
          <p:cNvPr id="261" name="Straight Connector 260">
            <a:extLst>
              <a:ext uri="{FF2B5EF4-FFF2-40B4-BE49-F238E27FC236}">
                <a16:creationId xmlns:a16="http://schemas.microsoft.com/office/drawing/2014/main" id="{1FFA4376-9016-46FC-BE6B-9E9307FD7D65}"/>
              </a:ext>
              <a:ext uri="{C183D7F6-B498-43B3-948B-1728B52AA6E4}">
                <adec:decorative xmlns:adec="http://schemas.microsoft.com/office/drawing/2017/decorative" val="1"/>
              </a:ext>
            </a:extLst>
          </p:cNvPr>
          <p:cNvCxnSpPr>
            <a:cxnSpLocks/>
          </p:cNvCxnSpPr>
          <p:nvPr/>
        </p:nvCxnSpPr>
        <p:spPr>
          <a:xfrm>
            <a:off x="5771254" y="4783570"/>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0" name="Footer Placeholder 3">
            <a:extLst>
              <a:ext uri="{FF2B5EF4-FFF2-40B4-BE49-F238E27FC236}">
                <a16:creationId xmlns:a16="http://schemas.microsoft.com/office/drawing/2014/main" id="{9ABB7B2D-A463-4361-B048-97813EA1E43C}"/>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301" name="Picture 300" descr="Two young employees sitting in a coffee table working on a laptop">
            <a:extLst>
              <a:ext uri="{FF2B5EF4-FFF2-40B4-BE49-F238E27FC236}">
                <a16:creationId xmlns:a16="http://schemas.microsoft.com/office/drawing/2014/main" id="{CE9FCB1E-651B-499B-980A-39247C6CF683}"/>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303" name="Slide Number Placeholder 5">
            <a:extLst>
              <a:ext uri="{FF2B5EF4-FFF2-40B4-BE49-F238E27FC236}">
                <a16:creationId xmlns:a16="http://schemas.microsoft.com/office/drawing/2014/main" id="{F0865CAA-7DD6-4F3B-BFF8-AB7189CD88F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
        <p:nvSpPr>
          <p:cNvPr id="3" name="TextBox 2">
            <a:extLst>
              <a:ext uri="{FF2B5EF4-FFF2-40B4-BE49-F238E27FC236}">
                <a16:creationId xmlns:a16="http://schemas.microsoft.com/office/drawing/2014/main" id="{3C888E26-9BE0-46A7-AFDE-FB7C1705DD28}"/>
              </a:ext>
            </a:extLst>
          </p:cNvPr>
          <p:cNvSpPr txBox="1"/>
          <p:nvPr/>
        </p:nvSpPr>
        <p:spPr>
          <a:xfrm>
            <a:off x="0" y="6319363"/>
            <a:ext cx="12192000" cy="553998"/>
          </a:xfrm>
          <a:prstGeom prst="rect">
            <a:avLst/>
          </a:prstGeom>
          <a:solidFill>
            <a:srgbClr val="FFFF99"/>
          </a:solidFill>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algn="ctr"/>
            <a:endParaRPr lang="en-US" sz="1200" b="1" i="1">
              <a:solidFill>
                <a:srgbClr val="C00000"/>
              </a:solidFill>
              <a:cs typeface="Segoe UI"/>
            </a:endParaRPr>
          </a:p>
        </p:txBody>
      </p:sp>
    </p:spTree>
    <p:custDataLst>
      <p:tags r:id="rId1"/>
    </p:custDataLst>
    <p:extLst>
      <p:ext uri="{BB962C8B-B14F-4D97-AF65-F5344CB8AC3E}">
        <p14:creationId xmlns:p14="http://schemas.microsoft.com/office/powerpoint/2010/main" val="1417215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200" y="3318975"/>
            <a:ext cx="10591800" cy="2031325"/>
          </a:xfrm>
        </p:spPr>
        <p:txBody>
          <a:bodyPr/>
          <a:lstStyle/>
          <a:p>
            <a:r>
              <a:rPr lang="en-US" dirty="0"/>
              <a:t>Data Lineage &amp; Discovery</a:t>
            </a:r>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Text Placeholder 3">
            <a:extLst>
              <a:ext uri="{FF2B5EF4-FFF2-40B4-BE49-F238E27FC236}">
                <a16:creationId xmlns:a16="http://schemas.microsoft.com/office/drawing/2014/main" id="{4C8A9935-3720-736A-EFCC-47B69C09C666}"/>
              </a:ext>
            </a:extLst>
          </p:cNvPr>
          <p:cNvSpPr txBox="1">
            <a:spLocks noGrp="1"/>
          </p:cNvSpPr>
          <p:nvPr>
            <p:ph type="body" sz="quarter" idx="12"/>
          </p:nvPr>
        </p:nvSpPr>
        <p:spPr>
          <a:xfrm>
            <a:off x="719828" y="5606355"/>
            <a:ext cx="4164583" cy="338554"/>
          </a:xfrm>
          <a:prstGeom prst="rect">
            <a:avLst/>
          </a:prstGeom>
          <a:noFill/>
        </p:spPr>
        <p:txBody>
          <a:bodyPr wrap="none">
            <a:spAutoFit/>
          </a:bodyPr>
          <a:lstStyle/>
          <a:p>
            <a:pPr algn="l"/>
            <a:r>
              <a:rPr sz="1800" b="0" dirty="0">
                <a:solidFill>
                  <a:srgbClr val="FFFFFF"/>
                </a:solidFill>
              </a:rPr>
              <a:t>Mahipal Komatreddy</a:t>
            </a: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a:t>Objectives — Data Lineage &amp; Discovery</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graphicFrame>
        <p:nvGraphicFramePr>
          <p:cNvPr id="41" name="Table 2">
            <a:extLst>
              <a:ext uri="{FF2B5EF4-FFF2-40B4-BE49-F238E27FC236}">
                <a16:creationId xmlns:a16="http://schemas.microsoft.com/office/drawing/2014/main" id="{2F2EA0C9-C38D-4F1A-8551-0B45DED4B9B8}"/>
              </a:ext>
            </a:extLst>
          </p:cNvPr>
          <p:cNvGraphicFramePr>
            <a:graphicFrameLocks noGrp="1"/>
          </p:cNvGraphicFramePr>
          <p:nvPr>
            <p:extLst>
              <p:ext uri="{D42A27DB-BD31-4B8C-83A1-F6EECF244321}">
                <p14:modId xmlns:p14="http://schemas.microsoft.com/office/powerpoint/2010/main" val="1452231719"/>
              </p:ext>
            </p:extLst>
          </p:nvPr>
        </p:nvGraphicFramePr>
        <p:xfrm>
          <a:off x="432526" y="1835202"/>
          <a:ext cx="8188960" cy="2968772"/>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473442237"/>
                    </a:ext>
                  </a:extLst>
                </a:gridCol>
                <a:gridCol w="548640">
                  <a:extLst>
                    <a:ext uri="{9D8B030D-6E8A-4147-A177-3AD203B41FA5}">
                      <a16:colId xmlns:a16="http://schemas.microsoft.com/office/drawing/2014/main" val="108120203"/>
                    </a:ext>
                  </a:extLst>
                </a:gridCol>
                <a:gridCol w="7223760">
                  <a:extLst>
                    <a:ext uri="{9D8B030D-6E8A-4147-A177-3AD203B41FA5}">
                      <a16:colId xmlns:a16="http://schemas.microsoft.com/office/drawing/2014/main" val="2189273595"/>
                    </a:ext>
                  </a:extLst>
                </a:gridCol>
                <a:gridCol w="208280">
                  <a:extLst>
                    <a:ext uri="{9D8B030D-6E8A-4147-A177-3AD203B41FA5}">
                      <a16:colId xmlns:a16="http://schemas.microsoft.com/office/drawing/2014/main" val="518262350"/>
                    </a:ext>
                  </a:extLst>
                </a:gridCol>
              </a:tblGrid>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1</a:t>
                      </a:r>
                    </a:p>
                  </a:txBody>
                  <a:tcPr marT="73152" marB="73152" anchor="ctr">
                    <a:lnL w="3175" cap="flat" cmpd="sng" algn="ctr">
                      <a:noFill/>
                      <a:prstDash val="solid"/>
                      <a:round/>
                      <a:headEnd type="none" w="med" len="med"/>
                      <a:tailEnd type="none" w="med" len="med"/>
                    </a:lnL>
                    <a:lnR w="12700" cmpd="sng">
                      <a:noFill/>
                    </a:lnR>
                    <a:lnT w="381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defTabSz="914192">
                        <a:spcBef>
                          <a:spcPts val="100"/>
                        </a:spcBef>
                        <a:spcAft>
                          <a:spcPts val="200"/>
                        </a:spcAft>
                      </a:pPr>
                      <a:r>
                        <a:rPr lang="en-US" sz="1400" b="0" kern="1200" dirty="0">
                          <a:solidFill>
                            <a:schemeClr val="tx1"/>
                          </a:solidFill>
                          <a:latin typeface="+mj-lt"/>
                          <a:ea typeface="+mn-ea"/>
                          <a:cs typeface="Segoe UI Semibold"/>
                        </a:rPr>
                        <a:t>Understand….</a:t>
                      </a: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Data Discovery - Inventory every source feeding the agent</a:t>
                      </a: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Lineage &amp; Provenance - </a:t>
                      </a:r>
                      <a:r>
                        <a:rPr lang="en-US" sz="1400" b="0" i="0" dirty="0">
                          <a:solidFill>
                            <a:srgbClr val="242424"/>
                          </a:solidFill>
                          <a:effectLst/>
                          <a:latin typeface="Segoe UI" panose="020B0502040204020203" pitchFamily="34" charset="0"/>
                        </a:rPr>
                        <a:t>end-to-end traceability from source to AI response</a:t>
                      </a: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228600" defTabSz="914192">
                        <a:spcBef>
                          <a:spcPts val="100"/>
                        </a:spcBef>
                        <a:spcAft>
                          <a:spcPts val="200"/>
                        </a:spcAft>
                        <a:buFont typeface="Wingdings" panose="05000000000000000000" pitchFamily="2" charset="2"/>
                        <a:buChar char="ü"/>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179405"/>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2</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 F</a:t>
                      </a:r>
                      <a:endPar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endParaRP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Training Data Governance — consent, licensing, quality, retention</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b="0" kern="1200" dirty="0">
                          <a:solidFill>
                            <a:schemeClr val="tx1"/>
                          </a:solidFill>
                          <a:latin typeface="+mn-lt"/>
                          <a:ea typeface="+mn-ea"/>
                          <a:cs typeface="Segoe UI Semibold"/>
                        </a:rPr>
                        <a:t>Grounding (RAG) Data Governance — index-level permissions, label-aware retrieval</a:t>
                      </a:r>
                    </a:p>
                    <a:p>
                      <a:endParaRPr lang="en-US" sz="1800" b="0" i="0" kern="1200" dirty="0">
                        <a:solidFill>
                          <a:schemeClr val="dk1"/>
                        </a:solidFill>
                        <a:effectLst/>
                        <a:latin typeface="+mn-lt"/>
                        <a:ea typeface="+mn-ea"/>
                        <a:cs typeface="+mn-cs"/>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743437"/>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3</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b="0" kern="1200" dirty="0">
                          <a:solidFill>
                            <a:schemeClr val="tx1"/>
                          </a:solidFill>
                          <a:latin typeface="+mn-lt"/>
                          <a:ea typeface="+mn-ea"/>
                          <a:cs typeface="Segoe UI Semibold"/>
                        </a:rPr>
                        <a:t>Inference Data Governance — prompt/response scanning, zero-retention options</a:t>
                      </a:r>
                      <a:endParaRPr lang="en-GB" sz="1400" b="0" kern="1200" dirty="0">
                        <a:solidFill>
                          <a:schemeClr val="tx1"/>
                        </a:solidFill>
                        <a:latin typeface="+mn-lt"/>
                        <a:ea typeface="+mn-ea"/>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2214051"/>
                  </a:ext>
                </a:extLst>
              </a:tr>
            </a:tbl>
          </a:graphicData>
        </a:graphic>
      </p:graphicFrame>
      <p:cxnSp>
        <p:nvCxnSpPr>
          <p:cNvPr id="50" name="Straight Connector 49">
            <a:extLst>
              <a:ext uri="{FF2B5EF4-FFF2-40B4-BE49-F238E27FC236}">
                <a16:creationId xmlns:a16="http://schemas.microsoft.com/office/drawing/2014/main" id="{26FAB757-B91F-42E0-8DDA-81C39A2F8225}"/>
              </a:ext>
              <a:ext uri="{C183D7F6-B498-43B3-948B-1728B52AA6E4}">
                <adec:decorative xmlns:adec="http://schemas.microsoft.com/office/drawing/2017/decorative" val="1"/>
              </a:ext>
            </a:extLst>
          </p:cNvPr>
          <p:cNvCxnSpPr>
            <a:cxnSpLocks/>
          </p:cNvCxnSpPr>
          <p:nvPr/>
        </p:nvCxnSpPr>
        <p:spPr>
          <a:xfrm>
            <a:off x="8057878" y="26511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238B2AE-E431-4EA1-8BC4-5D6AC984F8EB}"/>
              </a:ext>
              <a:ext uri="{C183D7F6-B498-43B3-948B-1728B52AA6E4}">
                <adec:decorative xmlns:adec="http://schemas.microsoft.com/office/drawing/2017/decorative" val="1"/>
              </a:ext>
            </a:extLst>
          </p:cNvPr>
          <p:cNvCxnSpPr>
            <a:cxnSpLocks/>
          </p:cNvCxnSpPr>
          <p:nvPr/>
        </p:nvCxnSpPr>
        <p:spPr>
          <a:xfrm>
            <a:off x="8057878" y="35528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ECE0622-5E4F-47AD-AF38-87A50324A092}"/>
              </a:ext>
              <a:ext uri="{C183D7F6-B498-43B3-948B-1728B52AA6E4}">
                <adec:decorative xmlns:adec="http://schemas.microsoft.com/office/drawing/2017/decorative" val="1"/>
              </a:ext>
            </a:extLst>
          </p:cNvPr>
          <p:cNvCxnSpPr>
            <a:cxnSpLocks/>
          </p:cNvCxnSpPr>
          <p:nvPr/>
        </p:nvCxnSpPr>
        <p:spPr>
          <a:xfrm>
            <a:off x="8057878" y="445965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3" name="Footer Placeholder 2">
            <a:extLst>
              <a:ext uri="{FF2B5EF4-FFF2-40B4-BE49-F238E27FC236}">
                <a16:creationId xmlns:a16="http://schemas.microsoft.com/office/drawing/2014/main" id="{ECD277A2-DA01-4024-A1E9-96359B541ED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96" name="Picture 95" descr="Two co-workers walking in an office hallway, and having a discussions a surface laptop on their hands.">
            <a:extLst>
              <a:ext uri="{FF2B5EF4-FFF2-40B4-BE49-F238E27FC236}">
                <a16:creationId xmlns:a16="http://schemas.microsoft.com/office/drawing/2014/main" id="{305F1FC5-8F24-46D4-B8F3-C147DB355743}"/>
              </a:ext>
            </a:extLst>
          </p:cNvPr>
          <p:cNvPicPr>
            <a:picLocks noChangeAspect="1"/>
          </p:cNvPicPr>
          <p:nvPr/>
        </p:nvPicPr>
        <p:blipFill rotWithShape="1">
          <a:blip r:embed="rId5"/>
          <a:srcRect l="16228" t="2311" r="13881" b="2311"/>
          <a:stretch/>
        </p:blipFill>
        <p:spPr>
          <a:xfrm>
            <a:off x="8914424" y="0"/>
            <a:ext cx="3277576" cy="6858000"/>
          </a:xfrm>
          <a:custGeom>
            <a:avLst/>
            <a:gdLst>
              <a:gd name="connsiteX0" fmla="*/ 0 w 3627769"/>
              <a:gd name="connsiteY0" fmla="*/ 0 h 4875667"/>
              <a:gd name="connsiteX1" fmla="*/ 3627769 w 3627769"/>
              <a:gd name="connsiteY1" fmla="*/ 0 h 4875667"/>
              <a:gd name="connsiteX2" fmla="*/ 3627769 w 3627769"/>
              <a:gd name="connsiteY2" fmla="*/ 4875667 h 4875667"/>
              <a:gd name="connsiteX3" fmla="*/ 0 w 3627769"/>
              <a:gd name="connsiteY3" fmla="*/ 4875667 h 4875667"/>
            </a:gdLst>
            <a:ahLst/>
            <a:cxnLst>
              <a:cxn ang="0">
                <a:pos x="connsiteX0" y="connsiteY0"/>
              </a:cxn>
              <a:cxn ang="0">
                <a:pos x="connsiteX1" y="connsiteY1"/>
              </a:cxn>
              <a:cxn ang="0">
                <a:pos x="connsiteX2" y="connsiteY2"/>
              </a:cxn>
              <a:cxn ang="0">
                <a:pos x="connsiteX3" y="connsiteY3"/>
              </a:cxn>
            </a:cxnLst>
            <a:rect l="l" t="t" r="r" b="b"/>
            <a:pathLst>
              <a:path w="3627769" h="4875667">
                <a:moveTo>
                  <a:pt x="0" y="0"/>
                </a:moveTo>
                <a:lnTo>
                  <a:pt x="3627769" y="0"/>
                </a:lnTo>
                <a:lnTo>
                  <a:pt x="3627769" y="4875667"/>
                </a:lnTo>
                <a:lnTo>
                  <a:pt x="0" y="4875667"/>
                </a:lnTo>
                <a:close/>
              </a:path>
            </a:pathLst>
          </a:custGeom>
        </p:spPr>
      </p:pic>
      <p:sp>
        <p:nvSpPr>
          <p:cNvPr id="98" name="Slide Number Placeholder 5">
            <a:extLst>
              <a:ext uri="{FF2B5EF4-FFF2-40B4-BE49-F238E27FC236}">
                <a16:creationId xmlns:a16="http://schemas.microsoft.com/office/drawing/2014/main" id="{A9ABC2D8-91C0-4E2E-B712-C5930BDC544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64171119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41BD3B0-D1AD-4D6D-B558-0439FF1E1913}"/>
              </a:ext>
            </a:extLst>
          </p:cNvPr>
          <p:cNvSpPr>
            <a:spLocks noGrp="1"/>
          </p:cNvSpPr>
          <p:nvPr>
            <p:ph type="title"/>
          </p:nvPr>
        </p:nvSpPr>
        <p:spPr/>
        <p:txBody>
          <a:bodyPr/>
          <a:lstStyle/>
          <a:p>
            <a:r>
              <a:rPr lang="en-US" dirty="0"/>
              <a:t>Data Discovery</a:t>
            </a:r>
          </a:p>
        </p:txBody>
      </p:sp>
      <p:grpSp>
        <p:nvGrpSpPr>
          <p:cNvPr id="44" name="Group 43" descr="Diagram for: Data Discovery">
            <a:extLst>
              <a:ext uri="{FF2B5EF4-FFF2-40B4-BE49-F238E27FC236}">
                <a16:creationId xmlns:a16="http://schemas.microsoft.com/office/drawing/2014/main" id="{9072CA92-8480-480B-81F5-135430C04919}"/>
              </a:ext>
              <a:ext uri="{C183D7F6-B498-43B3-948B-1728B52AA6E4}">
                <adec:decorative xmlns:adec="http://schemas.microsoft.com/office/drawing/2017/decorative" val="1"/>
              </a:ext>
            </a:extLst>
          </p:cNvPr>
          <p:cNvGrpSpPr/>
          <p:nvPr/>
        </p:nvGrpSpPr>
        <p:grpSpPr>
          <a:xfrm>
            <a:off x="576263" y="2119276"/>
            <a:ext cx="11044237" cy="4040224"/>
            <a:chOff x="576263" y="2119276"/>
            <a:chExt cx="11044237" cy="4040224"/>
          </a:xfrm>
        </p:grpSpPr>
        <p:sp>
          <p:nvSpPr>
            <p:cNvPr id="48" name="Rectangle 47">
              <a:extLst>
                <a:ext uri="{FF2B5EF4-FFF2-40B4-BE49-F238E27FC236}">
                  <a16:creationId xmlns:a16="http://schemas.microsoft.com/office/drawing/2014/main" id="{A48B4A6D-B9BC-4390-8F77-40D19CFDC1D8}"/>
                </a:ext>
              </a:extLst>
            </p:cNvPr>
            <p:cNvSpPr>
              <a:spLocks/>
            </p:cNvSpPr>
            <p:nvPr/>
          </p:nvSpPr>
          <p:spPr bwMode="auto">
            <a:xfrm>
              <a:off x="576263" y="2119276"/>
              <a:ext cx="10996940" cy="3990701"/>
            </a:xfrm>
            <a:prstGeom prst="rect">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a:solidFill>
                  <a:schemeClr val="accent6"/>
                </a:solidFill>
                <a:latin typeface="Segoe UI"/>
                <a:cs typeface="Segoe UI" pitchFamily="34" charset="0"/>
              </a:endParaRPr>
            </a:p>
          </p:txBody>
        </p:sp>
        <p:sp>
          <p:nvSpPr>
            <p:cNvPr id="50" name="Rectangle 49">
              <a:extLst>
                <a:ext uri="{FF2B5EF4-FFF2-40B4-BE49-F238E27FC236}">
                  <a16:creationId xmlns:a16="http://schemas.microsoft.com/office/drawing/2014/main" id="{E7C564B5-8FD6-41E4-83CE-E4B4A2A99AAD}"/>
                </a:ext>
              </a:extLst>
            </p:cNvPr>
            <p:cNvSpPr>
              <a:spLocks/>
            </p:cNvSpPr>
            <p:nvPr/>
          </p:nvSpPr>
          <p:spPr bwMode="auto">
            <a:xfrm>
              <a:off x="623560" y="2168799"/>
              <a:ext cx="10996940" cy="399070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 name="Group 1" descr="Diagram for: Data Discovery">
            <a:extLst>
              <a:ext uri="{FF2B5EF4-FFF2-40B4-BE49-F238E27FC236}">
                <a16:creationId xmlns:a16="http://schemas.microsoft.com/office/drawing/2014/main" id="{82325A46-95D4-4DE3-BAD1-3C9E00B3BC50}"/>
              </a:ext>
            </a:extLst>
          </p:cNvPr>
          <p:cNvGrpSpPr/>
          <p:nvPr/>
        </p:nvGrpSpPr>
        <p:grpSpPr>
          <a:xfrm>
            <a:off x="925007" y="1825597"/>
            <a:ext cx="2322000" cy="4147690"/>
            <a:chOff x="925007" y="1825597"/>
            <a:chExt cx="2322000" cy="4147690"/>
          </a:xfrm>
        </p:grpSpPr>
        <p:grpSp>
          <p:nvGrpSpPr>
            <p:cNvPr id="127" name="Group 126" descr="Icon of a person with a box around them">
              <a:extLst>
                <a:ext uri="{FF2B5EF4-FFF2-40B4-BE49-F238E27FC236}">
                  <a16:creationId xmlns:a16="http://schemas.microsoft.com/office/drawing/2014/main" id="{4DCD4C87-4E37-46C6-8BC9-50FD1911454C}"/>
                </a:ext>
              </a:extLst>
            </p:cNvPr>
            <p:cNvGrpSpPr/>
            <p:nvPr/>
          </p:nvGrpSpPr>
          <p:grpSpPr>
            <a:xfrm>
              <a:off x="925007" y="1825597"/>
              <a:ext cx="587403" cy="587403"/>
              <a:chOff x="4850654" y="510655"/>
              <a:chExt cx="751672" cy="751672"/>
            </a:xfrm>
          </p:grpSpPr>
          <p:sp>
            <p:nvSpPr>
              <p:cNvPr id="128" name="Oval 127">
                <a:extLst>
                  <a:ext uri="{FF2B5EF4-FFF2-40B4-BE49-F238E27FC236}">
                    <a16:creationId xmlns:a16="http://schemas.microsoft.com/office/drawing/2014/main" id="{DFD1674D-BF16-478E-8A2A-0D3D98FBE386}"/>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9" name="people_5">
                <a:extLst>
                  <a:ext uri="{FF2B5EF4-FFF2-40B4-BE49-F238E27FC236}">
                    <a16:creationId xmlns:a16="http://schemas.microsoft.com/office/drawing/2014/main" id="{7FCCB2F0-AA6E-49E6-92C4-16E71D1D5485}"/>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2" name="Straight Connector 161">
              <a:extLst>
                <a:ext uri="{FF2B5EF4-FFF2-40B4-BE49-F238E27FC236}">
                  <a16:creationId xmlns:a16="http://schemas.microsoft.com/office/drawing/2014/main" id="{0EA74B73-D9CA-4FCC-BB9A-B56F9A224E52}"/>
                </a:ext>
                <a:ext uri="{C183D7F6-B498-43B3-948B-1728B52AA6E4}">
                  <adec:decorative xmlns:adec="http://schemas.microsoft.com/office/drawing/2017/decorative" val="1"/>
                </a:ext>
              </a:extLst>
            </p:cNvPr>
            <p:cNvCxnSpPr>
              <a:cxnSpLocks/>
            </p:cNvCxnSpPr>
            <p:nvPr/>
          </p:nvCxnSpPr>
          <p:spPr>
            <a:xfrm>
              <a:off x="925007"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F2538396-F1C5-49F3-A6F1-4519132EC83A}"/>
                </a:ext>
              </a:extLst>
            </p:cNvPr>
            <p:cNvSpPr/>
            <p:nvPr/>
          </p:nvSpPr>
          <p:spPr>
            <a:xfrm>
              <a:off x="925007" y="2706679"/>
              <a:ext cx="2322000" cy="3266608"/>
            </a:xfrm>
            <a:prstGeom prst="rect">
              <a:avLst/>
            </a:prstGeom>
            <a:noFill/>
          </p:spPr>
          <p:txBody>
            <a:bodyPr wrap="square" lIns="0" tIns="0" rIns="0" bIns="0" anchor="t" anchorCtr="0">
              <a:noAutofit/>
            </a:bodyPr>
            <a:lstStyle/>
            <a:p>
              <a:r>
                <a:rPr lang="en-US" b="1" dirty="0"/>
                <a:t>Data source inventory</a:t>
              </a:r>
              <a:r>
                <a:rPr lang="en-US" dirty="0"/>
                <a:t> — registering every data source an agent may touch (databases, file stores, SharePoint, SaaS APIs, vector stores)</a:t>
              </a:r>
            </a:p>
            <a:p>
              <a:br>
                <a:rPr lang="en-US" sz="1400" dirty="0"/>
              </a:br>
              <a:endParaRPr lang="en-US" sz="1400" dirty="0">
                <a:cs typeface="Segoe UI Semibold" panose="020B0702040204020203" pitchFamily="34" charset="0"/>
              </a:endParaRPr>
            </a:p>
          </p:txBody>
        </p:sp>
      </p:grpSp>
      <p:grpSp>
        <p:nvGrpSpPr>
          <p:cNvPr id="7" name="Group 6" descr="Diagram for: Data Discovery">
            <a:extLst>
              <a:ext uri="{FF2B5EF4-FFF2-40B4-BE49-F238E27FC236}">
                <a16:creationId xmlns:a16="http://schemas.microsoft.com/office/drawing/2014/main" id="{54CB79CE-B4EB-4854-8182-E7AB05B9D235}"/>
              </a:ext>
            </a:extLst>
          </p:cNvPr>
          <p:cNvGrpSpPr/>
          <p:nvPr/>
        </p:nvGrpSpPr>
        <p:grpSpPr>
          <a:xfrm>
            <a:off x="3423465" y="1825597"/>
            <a:ext cx="2498458" cy="4147690"/>
            <a:chOff x="3423465" y="1825597"/>
            <a:chExt cx="2498458" cy="4147690"/>
          </a:xfrm>
        </p:grpSpPr>
        <p:cxnSp>
          <p:nvCxnSpPr>
            <p:cNvPr id="197" name="Straight Connector 196">
              <a:extLst>
                <a:ext uri="{FF2B5EF4-FFF2-40B4-BE49-F238E27FC236}">
                  <a16:creationId xmlns:a16="http://schemas.microsoft.com/office/drawing/2014/main" id="{C14B3930-2A4E-436A-B990-83BC2F430EB1}"/>
                </a:ext>
                <a:ext uri="{C183D7F6-B498-43B3-948B-1728B52AA6E4}">
                  <adec:decorative xmlns:adec="http://schemas.microsoft.com/office/drawing/2017/decorative" val="1"/>
                </a:ext>
              </a:extLst>
            </p:cNvPr>
            <p:cNvCxnSpPr>
              <a:cxnSpLocks/>
            </p:cNvCxnSpPr>
            <p:nvPr/>
          </p:nvCxnSpPr>
          <p:spPr>
            <a:xfrm>
              <a:off x="3423465"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6" name="Group 205" descr="Icon of a person wearing a headset">
              <a:extLst>
                <a:ext uri="{FF2B5EF4-FFF2-40B4-BE49-F238E27FC236}">
                  <a16:creationId xmlns:a16="http://schemas.microsoft.com/office/drawing/2014/main" id="{D2012E37-B5AE-4F7E-81E8-5041CE03967A}"/>
                </a:ext>
              </a:extLst>
            </p:cNvPr>
            <p:cNvGrpSpPr/>
            <p:nvPr/>
          </p:nvGrpSpPr>
          <p:grpSpPr>
            <a:xfrm>
              <a:off x="3599923" y="1825597"/>
              <a:ext cx="587403" cy="587403"/>
              <a:chOff x="4850654" y="1468393"/>
              <a:chExt cx="751672" cy="751672"/>
            </a:xfrm>
          </p:grpSpPr>
          <p:sp>
            <p:nvSpPr>
              <p:cNvPr id="207" name="Oval 206">
                <a:extLst>
                  <a:ext uri="{FF2B5EF4-FFF2-40B4-BE49-F238E27FC236}">
                    <a16:creationId xmlns:a16="http://schemas.microsoft.com/office/drawing/2014/main" id="{0E648C0D-09B2-4DCF-90B7-73BCB896D273}"/>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8" name="Telemarketer_E7B9">
                <a:extLst>
                  <a:ext uri="{FF2B5EF4-FFF2-40B4-BE49-F238E27FC236}">
                    <a16:creationId xmlns:a16="http://schemas.microsoft.com/office/drawing/2014/main" id="{183EB09B-473A-4E39-80D2-239A1B7AE4A8}"/>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31" name="Straight Connector 230">
              <a:extLst>
                <a:ext uri="{FF2B5EF4-FFF2-40B4-BE49-F238E27FC236}">
                  <a16:creationId xmlns:a16="http://schemas.microsoft.com/office/drawing/2014/main" id="{3A30E715-A7D8-4708-8FE8-F39A29430B47}"/>
                </a:ext>
                <a:ext uri="{C183D7F6-B498-43B3-948B-1728B52AA6E4}">
                  <adec:decorative xmlns:adec="http://schemas.microsoft.com/office/drawing/2017/decorative" val="1"/>
                </a:ext>
              </a:extLst>
            </p:cNvPr>
            <p:cNvCxnSpPr>
              <a:cxnSpLocks/>
            </p:cNvCxnSpPr>
            <p:nvPr/>
          </p:nvCxnSpPr>
          <p:spPr>
            <a:xfrm>
              <a:off x="3599923"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4" name="Rectangle 233">
              <a:extLst>
                <a:ext uri="{FF2B5EF4-FFF2-40B4-BE49-F238E27FC236}">
                  <a16:creationId xmlns:a16="http://schemas.microsoft.com/office/drawing/2014/main" id="{A83345B0-E004-41AA-96B0-CA59DEB356E4}"/>
                </a:ext>
              </a:extLst>
            </p:cNvPr>
            <p:cNvSpPr/>
            <p:nvPr/>
          </p:nvSpPr>
          <p:spPr>
            <a:xfrm>
              <a:off x="3599923" y="2706679"/>
              <a:ext cx="2322000" cy="3266608"/>
            </a:xfrm>
            <a:prstGeom prst="rect">
              <a:avLst/>
            </a:prstGeom>
            <a:noFill/>
          </p:spPr>
          <p:txBody>
            <a:bodyPr wrap="square" lIns="0" tIns="0" rIns="0" bIns="0" anchor="t" anchorCtr="0">
              <a:noAutofit/>
            </a:bodyPr>
            <a:lstStyle/>
            <a:p>
              <a:pPr defTabSz="932597">
                <a:spcBef>
                  <a:spcPts val="300"/>
                </a:spcBef>
                <a:spcAft>
                  <a:spcPts val="300"/>
                </a:spcAft>
                <a:defRPr/>
              </a:pPr>
              <a:r>
                <a:rPr lang="en-US" b="1" dirty="0"/>
                <a:t>Metadata management</a:t>
              </a:r>
              <a:r>
                <a:rPr lang="en-US" dirty="0"/>
                <a:t> — business glossary, data ownership, steward assignments</a:t>
              </a:r>
              <a:endParaRPr lang="en-US" sz="1400" dirty="0">
                <a:cs typeface="Segoe UI Semibold" panose="020B0702040204020203" pitchFamily="34" charset="0"/>
              </a:endParaRPr>
            </a:p>
          </p:txBody>
        </p:sp>
      </p:grpSp>
      <p:grpSp>
        <p:nvGrpSpPr>
          <p:cNvPr id="6" name="Group 5" descr="Diagram for: Data Discovery">
            <a:extLst>
              <a:ext uri="{FF2B5EF4-FFF2-40B4-BE49-F238E27FC236}">
                <a16:creationId xmlns:a16="http://schemas.microsoft.com/office/drawing/2014/main" id="{7F73B42F-8030-46F7-9E8C-D0F2DAF14D27}"/>
              </a:ext>
            </a:extLst>
          </p:cNvPr>
          <p:cNvGrpSpPr/>
          <p:nvPr/>
        </p:nvGrpSpPr>
        <p:grpSpPr>
          <a:xfrm>
            <a:off x="6098381" y="1825597"/>
            <a:ext cx="2498458" cy="4147690"/>
            <a:chOff x="6098381" y="1825597"/>
            <a:chExt cx="2498458" cy="4147690"/>
          </a:xfrm>
        </p:grpSpPr>
        <p:cxnSp>
          <p:nvCxnSpPr>
            <p:cNvPr id="255" name="Straight Connector 254">
              <a:extLst>
                <a:ext uri="{FF2B5EF4-FFF2-40B4-BE49-F238E27FC236}">
                  <a16:creationId xmlns:a16="http://schemas.microsoft.com/office/drawing/2014/main" id="{5709D7A9-2AD7-4918-9C55-ECD44AF03025}"/>
                </a:ext>
                <a:ext uri="{C183D7F6-B498-43B3-948B-1728B52AA6E4}">
                  <adec:decorative xmlns:adec="http://schemas.microsoft.com/office/drawing/2017/decorative" val="1"/>
                </a:ext>
              </a:extLst>
            </p:cNvPr>
            <p:cNvCxnSpPr>
              <a:cxnSpLocks/>
            </p:cNvCxnSpPr>
            <p:nvPr/>
          </p:nvCxnSpPr>
          <p:spPr>
            <a:xfrm>
              <a:off x="6098381"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61" name="Group 260" descr="Icon of three people with an arrow above them pointing down">
              <a:extLst>
                <a:ext uri="{FF2B5EF4-FFF2-40B4-BE49-F238E27FC236}">
                  <a16:creationId xmlns:a16="http://schemas.microsoft.com/office/drawing/2014/main" id="{9611A44A-BC75-46C8-ABB1-020DD64CD961}"/>
                </a:ext>
              </a:extLst>
            </p:cNvPr>
            <p:cNvGrpSpPr/>
            <p:nvPr/>
          </p:nvGrpSpPr>
          <p:grpSpPr>
            <a:xfrm>
              <a:off x="6274839" y="1825597"/>
              <a:ext cx="587403" cy="587403"/>
              <a:chOff x="4850654" y="2426131"/>
              <a:chExt cx="751672" cy="751672"/>
            </a:xfrm>
          </p:grpSpPr>
          <p:sp>
            <p:nvSpPr>
              <p:cNvPr id="262" name="Oval 261">
                <a:extLst>
                  <a:ext uri="{FF2B5EF4-FFF2-40B4-BE49-F238E27FC236}">
                    <a16:creationId xmlns:a16="http://schemas.microsoft.com/office/drawing/2014/main" id="{39409448-4BC8-48E8-9CB0-E09E75995214}"/>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3" name="people_2">
                <a:extLst>
                  <a:ext uri="{FF2B5EF4-FFF2-40B4-BE49-F238E27FC236}">
                    <a16:creationId xmlns:a16="http://schemas.microsoft.com/office/drawing/2014/main" id="{7B38EB59-3170-4BCC-839E-59662300686C}"/>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76" name="Straight Connector 275">
              <a:extLst>
                <a:ext uri="{FF2B5EF4-FFF2-40B4-BE49-F238E27FC236}">
                  <a16:creationId xmlns:a16="http://schemas.microsoft.com/office/drawing/2014/main" id="{01E85B7A-35C7-462D-B93A-C61A3C3B8EE9}"/>
                </a:ext>
                <a:ext uri="{C183D7F6-B498-43B3-948B-1728B52AA6E4}">
                  <adec:decorative xmlns:adec="http://schemas.microsoft.com/office/drawing/2017/decorative" val="1"/>
                </a:ext>
              </a:extLst>
            </p:cNvPr>
            <p:cNvCxnSpPr>
              <a:cxnSpLocks/>
            </p:cNvCxnSpPr>
            <p:nvPr/>
          </p:nvCxnSpPr>
          <p:spPr>
            <a:xfrm>
              <a:off x="6274839"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 name="Rectangle 277">
              <a:extLst>
                <a:ext uri="{FF2B5EF4-FFF2-40B4-BE49-F238E27FC236}">
                  <a16:creationId xmlns:a16="http://schemas.microsoft.com/office/drawing/2014/main" id="{7D19C399-1DEB-4C82-9B26-521D5B80406E}"/>
                </a:ext>
              </a:extLst>
            </p:cNvPr>
            <p:cNvSpPr/>
            <p:nvPr/>
          </p:nvSpPr>
          <p:spPr>
            <a:xfrm>
              <a:off x="6274839" y="2706679"/>
              <a:ext cx="2322000" cy="3266608"/>
            </a:xfrm>
            <a:prstGeom prst="rect">
              <a:avLst/>
            </a:prstGeom>
            <a:noFill/>
          </p:spPr>
          <p:txBody>
            <a:bodyPr wrap="square" lIns="0" tIns="0" rIns="0" bIns="0" anchor="t" anchorCtr="0">
              <a:noAutofit/>
            </a:bodyPr>
            <a:lstStyle/>
            <a:p>
              <a:r>
                <a:rPr lang="en-US" b="1" dirty="0"/>
                <a:t>Asset classification</a:t>
              </a:r>
              <a:r>
                <a:rPr lang="en-US" dirty="0"/>
                <a:t> — automatic tagging of sensitive, regulated, or business-critical data</a:t>
              </a:r>
            </a:p>
          </p:txBody>
        </p:sp>
      </p:grpSp>
      <p:grpSp>
        <p:nvGrpSpPr>
          <p:cNvPr id="3" name="Group 2" descr="Diagram for: Data Discovery">
            <a:extLst>
              <a:ext uri="{FF2B5EF4-FFF2-40B4-BE49-F238E27FC236}">
                <a16:creationId xmlns:a16="http://schemas.microsoft.com/office/drawing/2014/main" id="{7714CA3D-0F54-4748-95BC-D8C40E96D892}"/>
              </a:ext>
            </a:extLst>
          </p:cNvPr>
          <p:cNvGrpSpPr/>
          <p:nvPr/>
        </p:nvGrpSpPr>
        <p:grpSpPr>
          <a:xfrm>
            <a:off x="8773297" y="1825597"/>
            <a:ext cx="2498459" cy="4147690"/>
            <a:chOff x="8773297" y="1825597"/>
            <a:chExt cx="2498459" cy="4147690"/>
          </a:xfrm>
        </p:grpSpPr>
        <p:cxnSp>
          <p:nvCxnSpPr>
            <p:cNvPr id="289" name="Straight Connector 288">
              <a:extLst>
                <a:ext uri="{FF2B5EF4-FFF2-40B4-BE49-F238E27FC236}">
                  <a16:creationId xmlns:a16="http://schemas.microsoft.com/office/drawing/2014/main" id="{82C1D490-A662-49A4-951D-8D4AC359B3FF}"/>
                </a:ext>
                <a:ext uri="{C183D7F6-B498-43B3-948B-1728B52AA6E4}">
                  <adec:decorative xmlns:adec="http://schemas.microsoft.com/office/drawing/2017/decorative" val="1"/>
                </a:ext>
              </a:extLst>
            </p:cNvPr>
            <p:cNvCxnSpPr>
              <a:cxnSpLocks/>
            </p:cNvCxnSpPr>
            <p:nvPr/>
          </p:nvCxnSpPr>
          <p:spPr>
            <a:xfrm>
              <a:off x="8773297"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2" name="Group 291" descr="Icon of a group of three people">
              <a:extLst>
                <a:ext uri="{FF2B5EF4-FFF2-40B4-BE49-F238E27FC236}">
                  <a16:creationId xmlns:a16="http://schemas.microsoft.com/office/drawing/2014/main" id="{53A1DE84-F29A-4758-9AED-CBA4E5412091}"/>
                </a:ext>
              </a:extLst>
            </p:cNvPr>
            <p:cNvGrpSpPr/>
            <p:nvPr/>
          </p:nvGrpSpPr>
          <p:grpSpPr>
            <a:xfrm>
              <a:off x="8949756" y="1825597"/>
              <a:ext cx="587403" cy="587403"/>
              <a:chOff x="4850654" y="3383869"/>
              <a:chExt cx="751672" cy="751672"/>
            </a:xfrm>
          </p:grpSpPr>
          <p:sp>
            <p:nvSpPr>
              <p:cNvPr id="293" name="Oval 292">
                <a:extLst>
                  <a:ext uri="{FF2B5EF4-FFF2-40B4-BE49-F238E27FC236}">
                    <a16:creationId xmlns:a16="http://schemas.microsoft.com/office/drawing/2014/main" id="{568A6794-00B1-4C67-9ECD-1682C7997757}"/>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94" name="Freeform: Shape 293">
                <a:extLst>
                  <a:ext uri="{FF2B5EF4-FFF2-40B4-BE49-F238E27FC236}">
                    <a16:creationId xmlns:a16="http://schemas.microsoft.com/office/drawing/2014/main" id="{D6EE3697-0A5C-42FB-AD0E-74ADCC01C011}"/>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cxnSp>
          <p:nvCxnSpPr>
            <p:cNvPr id="297" name="Straight Connector 296">
              <a:extLst>
                <a:ext uri="{FF2B5EF4-FFF2-40B4-BE49-F238E27FC236}">
                  <a16:creationId xmlns:a16="http://schemas.microsoft.com/office/drawing/2014/main" id="{F6EC245C-6726-4A05-B015-F7C765A652E0}"/>
                </a:ext>
                <a:ext uri="{C183D7F6-B498-43B3-948B-1728B52AA6E4}">
                  <adec:decorative xmlns:adec="http://schemas.microsoft.com/office/drawing/2017/decorative" val="1"/>
                </a:ext>
              </a:extLst>
            </p:cNvPr>
            <p:cNvCxnSpPr>
              <a:cxnSpLocks/>
            </p:cNvCxnSpPr>
            <p:nvPr/>
          </p:nvCxnSpPr>
          <p:spPr>
            <a:xfrm>
              <a:off x="8949756"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8" name="Rectangle 297">
              <a:extLst>
                <a:ext uri="{FF2B5EF4-FFF2-40B4-BE49-F238E27FC236}">
                  <a16:creationId xmlns:a16="http://schemas.microsoft.com/office/drawing/2014/main" id="{DA771A72-4395-4B6B-9A5E-536D5C18726C}"/>
                </a:ext>
              </a:extLst>
            </p:cNvPr>
            <p:cNvSpPr/>
            <p:nvPr/>
          </p:nvSpPr>
          <p:spPr>
            <a:xfrm>
              <a:off x="8949756" y="2706679"/>
              <a:ext cx="2322000" cy="3266608"/>
            </a:xfrm>
            <a:prstGeom prst="rect">
              <a:avLst/>
            </a:prstGeom>
            <a:noFill/>
          </p:spPr>
          <p:txBody>
            <a:bodyPr wrap="square" lIns="0" tIns="0" rIns="0" bIns="0" anchor="t" anchorCtr="0">
              <a:noAutofit/>
            </a:bodyPr>
            <a:lstStyle/>
            <a:p>
              <a:r>
                <a:rPr lang="en-US" b="1" dirty="0"/>
                <a:t>Data quality profiling</a:t>
              </a:r>
              <a:r>
                <a:rPr lang="en-US" dirty="0"/>
                <a:t> — completeness, accuracy, freshness, duplication metrics</a:t>
              </a:r>
            </a:p>
          </p:txBody>
        </p:sp>
      </p:grpSp>
      <p:sp>
        <p:nvSpPr>
          <p:cNvPr id="39" name="Footer Placeholder 3">
            <a:extLst>
              <a:ext uri="{FF2B5EF4-FFF2-40B4-BE49-F238E27FC236}">
                <a16:creationId xmlns:a16="http://schemas.microsoft.com/office/drawing/2014/main" id="{98F38063-9781-4E4F-B657-FCBCC110883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0" name="Slide Number Placeholder 4">
            <a:extLst>
              <a:ext uri="{FF2B5EF4-FFF2-40B4-BE49-F238E27FC236}">
                <a16:creationId xmlns:a16="http://schemas.microsoft.com/office/drawing/2014/main" id="{E749DDCF-2AA3-424A-AB4E-9AD60A8568AA}"/>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7</a:t>
            </a:fld>
            <a:endParaRPr lang="en-US" noProof="0"/>
          </a:p>
        </p:txBody>
      </p:sp>
    </p:spTree>
    <p:extLst>
      <p:ext uri="{BB962C8B-B14F-4D97-AF65-F5344CB8AC3E}">
        <p14:creationId xmlns:p14="http://schemas.microsoft.com/office/powerpoint/2010/main" val="11161374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B0BDB-667D-E2F2-8E5A-C66EFC18643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2B462E6-C9BA-3B66-1698-69F7269737F4}"/>
              </a:ext>
            </a:extLst>
          </p:cNvPr>
          <p:cNvSpPr>
            <a:spLocks noGrp="1"/>
          </p:cNvSpPr>
          <p:nvPr>
            <p:ph type="title"/>
          </p:nvPr>
        </p:nvSpPr>
        <p:spPr/>
        <p:txBody>
          <a:bodyPr/>
          <a:lstStyle/>
          <a:p>
            <a:r>
              <a:rPr lang="en-GB" dirty="0"/>
              <a:t>Lineage &amp; Provenance</a:t>
            </a:r>
            <a:endParaRPr lang="en-US" dirty="0"/>
          </a:p>
        </p:txBody>
      </p:sp>
      <p:grpSp>
        <p:nvGrpSpPr>
          <p:cNvPr id="44" name="Group 43" descr="Diagram for: Lineage &amp; Provenance">
            <a:extLst>
              <a:ext uri="{FF2B5EF4-FFF2-40B4-BE49-F238E27FC236}">
                <a16:creationId xmlns:a16="http://schemas.microsoft.com/office/drawing/2014/main" id="{9437EB9A-4CE7-9D8E-10BD-1495B7694144}"/>
              </a:ext>
              <a:ext uri="{C183D7F6-B498-43B3-948B-1728B52AA6E4}">
                <adec:decorative xmlns:adec="http://schemas.microsoft.com/office/drawing/2017/decorative" val="1"/>
              </a:ext>
            </a:extLst>
          </p:cNvPr>
          <p:cNvGrpSpPr/>
          <p:nvPr/>
        </p:nvGrpSpPr>
        <p:grpSpPr>
          <a:xfrm>
            <a:off x="576263" y="2119276"/>
            <a:ext cx="11044237" cy="4040224"/>
            <a:chOff x="576263" y="2119276"/>
            <a:chExt cx="11044237" cy="4040224"/>
          </a:xfrm>
        </p:grpSpPr>
        <p:sp>
          <p:nvSpPr>
            <p:cNvPr id="48" name="Rectangle 47">
              <a:extLst>
                <a:ext uri="{FF2B5EF4-FFF2-40B4-BE49-F238E27FC236}">
                  <a16:creationId xmlns:a16="http://schemas.microsoft.com/office/drawing/2014/main" id="{CB9C51F5-2A37-294C-20A8-8CEB876552E1}"/>
                </a:ext>
              </a:extLst>
            </p:cNvPr>
            <p:cNvSpPr>
              <a:spLocks/>
            </p:cNvSpPr>
            <p:nvPr/>
          </p:nvSpPr>
          <p:spPr bwMode="auto">
            <a:xfrm>
              <a:off x="576263" y="2119276"/>
              <a:ext cx="10996940" cy="3990701"/>
            </a:xfrm>
            <a:prstGeom prst="rect">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a:solidFill>
                  <a:schemeClr val="accent6"/>
                </a:solidFill>
                <a:latin typeface="Segoe UI"/>
                <a:cs typeface="Segoe UI" pitchFamily="34" charset="0"/>
              </a:endParaRPr>
            </a:p>
          </p:txBody>
        </p:sp>
        <p:sp>
          <p:nvSpPr>
            <p:cNvPr id="50" name="Rectangle 49">
              <a:extLst>
                <a:ext uri="{FF2B5EF4-FFF2-40B4-BE49-F238E27FC236}">
                  <a16:creationId xmlns:a16="http://schemas.microsoft.com/office/drawing/2014/main" id="{7D65F007-7C70-3D2A-E9FA-09B755E58D0D}"/>
                </a:ext>
              </a:extLst>
            </p:cNvPr>
            <p:cNvSpPr>
              <a:spLocks/>
            </p:cNvSpPr>
            <p:nvPr/>
          </p:nvSpPr>
          <p:spPr bwMode="auto">
            <a:xfrm>
              <a:off x="623560" y="2168799"/>
              <a:ext cx="10996940" cy="399070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 name="Group 1" descr="Diagram for: Lineage &amp; Provenance">
            <a:extLst>
              <a:ext uri="{FF2B5EF4-FFF2-40B4-BE49-F238E27FC236}">
                <a16:creationId xmlns:a16="http://schemas.microsoft.com/office/drawing/2014/main" id="{4651C4C1-E5F5-A8F7-4E0B-0AE7F037A8E6}"/>
              </a:ext>
            </a:extLst>
          </p:cNvPr>
          <p:cNvGrpSpPr/>
          <p:nvPr/>
        </p:nvGrpSpPr>
        <p:grpSpPr>
          <a:xfrm>
            <a:off x="925007" y="1825597"/>
            <a:ext cx="2322000" cy="4147690"/>
            <a:chOff x="925007" y="1825597"/>
            <a:chExt cx="2322000" cy="4147690"/>
          </a:xfrm>
        </p:grpSpPr>
        <p:grpSp>
          <p:nvGrpSpPr>
            <p:cNvPr id="127" name="Group 126" descr="Icon of a person with a box around them">
              <a:extLst>
                <a:ext uri="{FF2B5EF4-FFF2-40B4-BE49-F238E27FC236}">
                  <a16:creationId xmlns:a16="http://schemas.microsoft.com/office/drawing/2014/main" id="{E554CEA8-E790-9BF1-F3BE-1F1E6DF00C13}"/>
                </a:ext>
              </a:extLst>
            </p:cNvPr>
            <p:cNvGrpSpPr/>
            <p:nvPr/>
          </p:nvGrpSpPr>
          <p:grpSpPr>
            <a:xfrm>
              <a:off x="925007" y="1825597"/>
              <a:ext cx="587403" cy="587403"/>
              <a:chOff x="4850654" y="510655"/>
              <a:chExt cx="751672" cy="751672"/>
            </a:xfrm>
          </p:grpSpPr>
          <p:sp>
            <p:nvSpPr>
              <p:cNvPr id="128" name="Oval 127">
                <a:extLst>
                  <a:ext uri="{FF2B5EF4-FFF2-40B4-BE49-F238E27FC236}">
                    <a16:creationId xmlns:a16="http://schemas.microsoft.com/office/drawing/2014/main" id="{87DFC276-2255-3588-C071-1F733B87EAE5}"/>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9" name="people_5">
                <a:extLst>
                  <a:ext uri="{FF2B5EF4-FFF2-40B4-BE49-F238E27FC236}">
                    <a16:creationId xmlns:a16="http://schemas.microsoft.com/office/drawing/2014/main" id="{7E91775D-F27B-0FB5-9B3F-33E98E08C900}"/>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2" name="Straight Connector 161">
              <a:extLst>
                <a:ext uri="{FF2B5EF4-FFF2-40B4-BE49-F238E27FC236}">
                  <a16:creationId xmlns:a16="http://schemas.microsoft.com/office/drawing/2014/main" id="{A29B23F9-DE70-E6ED-00F5-36733B9CDB10}"/>
                </a:ext>
                <a:ext uri="{C183D7F6-B498-43B3-948B-1728B52AA6E4}">
                  <adec:decorative xmlns:adec="http://schemas.microsoft.com/office/drawing/2017/decorative" val="1"/>
                </a:ext>
              </a:extLst>
            </p:cNvPr>
            <p:cNvCxnSpPr>
              <a:cxnSpLocks/>
            </p:cNvCxnSpPr>
            <p:nvPr/>
          </p:nvCxnSpPr>
          <p:spPr>
            <a:xfrm>
              <a:off x="925007"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B565D672-335F-B6AC-2407-2DA4D41215DA}"/>
                </a:ext>
              </a:extLst>
            </p:cNvPr>
            <p:cNvSpPr/>
            <p:nvPr/>
          </p:nvSpPr>
          <p:spPr>
            <a:xfrm>
              <a:off x="925007" y="2706679"/>
              <a:ext cx="2322000" cy="3266608"/>
            </a:xfrm>
            <a:prstGeom prst="rect">
              <a:avLst/>
            </a:prstGeom>
            <a:noFill/>
          </p:spPr>
          <p:txBody>
            <a:bodyPr wrap="square" lIns="0" tIns="0" rIns="0" bIns="0" anchor="t" anchorCtr="0">
              <a:noAutofit/>
            </a:bodyPr>
            <a:lstStyle/>
            <a:p>
              <a:r>
                <a:rPr lang="en-US" b="1" dirty="0"/>
                <a:t>End-to-end lineage</a:t>
              </a:r>
              <a:r>
                <a:rPr lang="en-US" dirty="0"/>
                <a:t> — from source system → ingestion → transformation → embedding → index → agent response</a:t>
              </a:r>
            </a:p>
            <a:p>
              <a:br>
                <a:rPr lang="en-US" sz="1400" dirty="0"/>
              </a:br>
              <a:endParaRPr lang="en-US" sz="1400" dirty="0">
                <a:cs typeface="Segoe UI Semibold" panose="020B0702040204020203" pitchFamily="34" charset="0"/>
              </a:endParaRPr>
            </a:p>
          </p:txBody>
        </p:sp>
      </p:grpSp>
      <p:grpSp>
        <p:nvGrpSpPr>
          <p:cNvPr id="7" name="Group 6" descr="Diagram for: Lineage &amp; Provenance">
            <a:extLst>
              <a:ext uri="{FF2B5EF4-FFF2-40B4-BE49-F238E27FC236}">
                <a16:creationId xmlns:a16="http://schemas.microsoft.com/office/drawing/2014/main" id="{4C93C5C1-ED9C-D302-8DDA-452A4FD84C67}"/>
              </a:ext>
            </a:extLst>
          </p:cNvPr>
          <p:cNvGrpSpPr/>
          <p:nvPr/>
        </p:nvGrpSpPr>
        <p:grpSpPr>
          <a:xfrm>
            <a:off x="3423465" y="1825597"/>
            <a:ext cx="2498458" cy="4147690"/>
            <a:chOff x="3423465" y="1825597"/>
            <a:chExt cx="2498458" cy="4147690"/>
          </a:xfrm>
        </p:grpSpPr>
        <p:cxnSp>
          <p:nvCxnSpPr>
            <p:cNvPr id="197" name="Straight Connector 196">
              <a:extLst>
                <a:ext uri="{FF2B5EF4-FFF2-40B4-BE49-F238E27FC236}">
                  <a16:creationId xmlns:a16="http://schemas.microsoft.com/office/drawing/2014/main" id="{1D26184C-E4E8-B287-1DE0-F95B93A44861}"/>
                </a:ext>
                <a:ext uri="{C183D7F6-B498-43B3-948B-1728B52AA6E4}">
                  <adec:decorative xmlns:adec="http://schemas.microsoft.com/office/drawing/2017/decorative" val="1"/>
                </a:ext>
              </a:extLst>
            </p:cNvPr>
            <p:cNvCxnSpPr>
              <a:cxnSpLocks/>
            </p:cNvCxnSpPr>
            <p:nvPr/>
          </p:nvCxnSpPr>
          <p:spPr>
            <a:xfrm>
              <a:off x="3423465"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6" name="Group 205" descr="Icon of a person wearing a headset">
              <a:extLst>
                <a:ext uri="{FF2B5EF4-FFF2-40B4-BE49-F238E27FC236}">
                  <a16:creationId xmlns:a16="http://schemas.microsoft.com/office/drawing/2014/main" id="{492C12A1-5558-2920-FD25-0BCD4729215C}"/>
                </a:ext>
              </a:extLst>
            </p:cNvPr>
            <p:cNvGrpSpPr/>
            <p:nvPr/>
          </p:nvGrpSpPr>
          <p:grpSpPr>
            <a:xfrm>
              <a:off x="3599923" y="1825597"/>
              <a:ext cx="587403" cy="587403"/>
              <a:chOff x="4850654" y="1468393"/>
              <a:chExt cx="751672" cy="751672"/>
            </a:xfrm>
          </p:grpSpPr>
          <p:sp>
            <p:nvSpPr>
              <p:cNvPr id="207" name="Oval 206">
                <a:extLst>
                  <a:ext uri="{FF2B5EF4-FFF2-40B4-BE49-F238E27FC236}">
                    <a16:creationId xmlns:a16="http://schemas.microsoft.com/office/drawing/2014/main" id="{41B9C7EF-5799-F802-1A3D-6B8E58A64580}"/>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8" name="Telemarketer_E7B9">
                <a:extLst>
                  <a:ext uri="{FF2B5EF4-FFF2-40B4-BE49-F238E27FC236}">
                    <a16:creationId xmlns:a16="http://schemas.microsoft.com/office/drawing/2014/main" id="{2758DDAB-08EF-D0FC-4EA6-BCB8CAB3D8E2}"/>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31" name="Straight Connector 230">
              <a:extLst>
                <a:ext uri="{FF2B5EF4-FFF2-40B4-BE49-F238E27FC236}">
                  <a16:creationId xmlns:a16="http://schemas.microsoft.com/office/drawing/2014/main" id="{D70703EC-E4D2-0E44-6F3F-66BD14055EE2}"/>
                </a:ext>
                <a:ext uri="{C183D7F6-B498-43B3-948B-1728B52AA6E4}">
                  <adec:decorative xmlns:adec="http://schemas.microsoft.com/office/drawing/2017/decorative" val="1"/>
                </a:ext>
              </a:extLst>
            </p:cNvPr>
            <p:cNvCxnSpPr>
              <a:cxnSpLocks/>
            </p:cNvCxnSpPr>
            <p:nvPr/>
          </p:nvCxnSpPr>
          <p:spPr>
            <a:xfrm>
              <a:off x="3599923"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4" name="Rectangle 233">
              <a:extLst>
                <a:ext uri="{FF2B5EF4-FFF2-40B4-BE49-F238E27FC236}">
                  <a16:creationId xmlns:a16="http://schemas.microsoft.com/office/drawing/2014/main" id="{6D344573-4DBE-ECD0-6746-D8407322E3E5}"/>
                </a:ext>
              </a:extLst>
            </p:cNvPr>
            <p:cNvSpPr/>
            <p:nvPr/>
          </p:nvSpPr>
          <p:spPr>
            <a:xfrm>
              <a:off x="3599923" y="2706679"/>
              <a:ext cx="2322000" cy="3266608"/>
            </a:xfrm>
            <a:prstGeom prst="rect">
              <a:avLst/>
            </a:prstGeom>
            <a:noFill/>
          </p:spPr>
          <p:txBody>
            <a:bodyPr wrap="square" lIns="0" tIns="0" rIns="0" bIns="0" anchor="t" anchorCtr="0">
              <a:noAutofit/>
            </a:bodyPr>
            <a:lstStyle/>
            <a:p>
              <a:r>
                <a:rPr lang="en-US" b="1" dirty="0"/>
                <a:t>Impact analysis</a:t>
              </a:r>
              <a:r>
                <a:rPr lang="en-US" dirty="0"/>
                <a:t> — what breaks downstream when upstream data changes</a:t>
              </a:r>
            </a:p>
          </p:txBody>
        </p:sp>
      </p:grpSp>
      <p:grpSp>
        <p:nvGrpSpPr>
          <p:cNvPr id="6" name="Group 5" descr="Diagram for: Lineage &amp; Provenance">
            <a:extLst>
              <a:ext uri="{FF2B5EF4-FFF2-40B4-BE49-F238E27FC236}">
                <a16:creationId xmlns:a16="http://schemas.microsoft.com/office/drawing/2014/main" id="{9FA3DF72-6BDF-4C03-0452-7E09A9843F28}"/>
              </a:ext>
            </a:extLst>
          </p:cNvPr>
          <p:cNvGrpSpPr/>
          <p:nvPr/>
        </p:nvGrpSpPr>
        <p:grpSpPr>
          <a:xfrm>
            <a:off x="6098381" y="1825597"/>
            <a:ext cx="2498458" cy="4147690"/>
            <a:chOff x="6098381" y="1825597"/>
            <a:chExt cx="2498458" cy="4147690"/>
          </a:xfrm>
        </p:grpSpPr>
        <p:cxnSp>
          <p:nvCxnSpPr>
            <p:cNvPr id="255" name="Straight Connector 254">
              <a:extLst>
                <a:ext uri="{FF2B5EF4-FFF2-40B4-BE49-F238E27FC236}">
                  <a16:creationId xmlns:a16="http://schemas.microsoft.com/office/drawing/2014/main" id="{8A84A645-E697-70BB-F8E7-817B4337F150}"/>
                </a:ext>
                <a:ext uri="{C183D7F6-B498-43B3-948B-1728B52AA6E4}">
                  <adec:decorative xmlns:adec="http://schemas.microsoft.com/office/drawing/2017/decorative" val="1"/>
                </a:ext>
              </a:extLst>
            </p:cNvPr>
            <p:cNvCxnSpPr>
              <a:cxnSpLocks/>
            </p:cNvCxnSpPr>
            <p:nvPr/>
          </p:nvCxnSpPr>
          <p:spPr>
            <a:xfrm>
              <a:off x="6098381"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61" name="Group 260" descr="Icon of three people with an arrow above them pointing down">
              <a:extLst>
                <a:ext uri="{FF2B5EF4-FFF2-40B4-BE49-F238E27FC236}">
                  <a16:creationId xmlns:a16="http://schemas.microsoft.com/office/drawing/2014/main" id="{F55B9ECD-2839-F697-F9F3-B4B668909E5A}"/>
                </a:ext>
              </a:extLst>
            </p:cNvPr>
            <p:cNvGrpSpPr/>
            <p:nvPr/>
          </p:nvGrpSpPr>
          <p:grpSpPr>
            <a:xfrm>
              <a:off x="6274839" y="1825597"/>
              <a:ext cx="587403" cy="587403"/>
              <a:chOff x="4850654" y="2426131"/>
              <a:chExt cx="751672" cy="751672"/>
            </a:xfrm>
          </p:grpSpPr>
          <p:sp>
            <p:nvSpPr>
              <p:cNvPr id="262" name="Oval 261">
                <a:extLst>
                  <a:ext uri="{FF2B5EF4-FFF2-40B4-BE49-F238E27FC236}">
                    <a16:creationId xmlns:a16="http://schemas.microsoft.com/office/drawing/2014/main" id="{7B19B935-92E2-B55B-B3EE-DC11A0B7EA2A}"/>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3" name="people_2">
                <a:extLst>
                  <a:ext uri="{FF2B5EF4-FFF2-40B4-BE49-F238E27FC236}">
                    <a16:creationId xmlns:a16="http://schemas.microsoft.com/office/drawing/2014/main" id="{92957D55-05A8-3EF9-29F1-E3FD47700904}"/>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76" name="Straight Connector 275">
              <a:extLst>
                <a:ext uri="{FF2B5EF4-FFF2-40B4-BE49-F238E27FC236}">
                  <a16:creationId xmlns:a16="http://schemas.microsoft.com/office/drawing/2014/main" id="{21BD11E2-50AD-27C9-142B-45FC27A511CF}"/>
                </a:ext>
                <a:ext uri="{C183D7F6-B498-43B3-948B-1728B52AA6E4}">
                  <adec:decorative xmlns:adec="http://schemas.microsoft.com/office/drawing/2017/decorative" val="1"/>
                </a:ext>
              </a:extLst>
            </p:cNvPr>
            <p:cNvCxnSpPr>
              <a:cxnSpLocks/>
            </p:cNvCxnSpPr>
            <p:nvPr/>
          </p:nvCxnSpPr>
          <p:spPr>
            <a:xfrm>
              <a:off x="6274839"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 name="Rectangle 277">
              <a:extLst>
                <a:ext uri="{FF2B5EF4-FFF2-40B4-BE49-F238E27FC236}">
                  <a16:creationId xmlns:a16="http://schemas.microsoft.com/office/drawing/2014/main" id="{014E9553-6E00-1B35-327D-60C9F69EF0B8}"/>
                </a:ext>
              </a:extLst>
            </p:cNvPr>
            <p:cNvSpPr/>
            <p:nvPr/>
          </p:nvSpPr>
          <p:spPr>
            <a:xfrm>
              <a:off x="6274839" y="2706679"/>
              <a:ext cx="2322000" cy="3266608"/>
            </a:xfrm>
            <a:prstGeom prst="rect">
              <a:avLst/>
            </a:prstGeom>
            <a:noFill/>
          </p:spPr>
          <p:txBody>
            <a:bodyPr wrap="square" lIns="0" tIns="0" rIns="0" bIns="0" anchor="t" anchorCtr="0">
              <a:noAutofit/>
            </a:bodyPr>
            <a:lstStyle/>
            <a:p>
              <a:r>
                <a:rPr lang="en-US" b="1"/>
                <a:t>Version history</a:t>
              </a:r>
              <a:r>
                <a:rPr lang="en-US"/>
                <a:t> — training dataset versions, index refresh versions, model versions</a:t>
              </a:r>
            </a:p>
          </p:txBody>
        </p:sp>
      </p:grpSp>
      <p:grpSp>
        <p:nvGrpSpPr>
          <p:cNvPr id="3" name="Group 2" descr="Diagram for: Lineage &amp; Provenance">
            <a:extLst>
              <a:ext uri="{FF2B5EF4-FFF2-40B4-BE49-F238E27FC236}">
                <a16:creationId xmlns:a16="http://schemas.microsoft.com/office/drawing/2014/main" id="{5358F92E-2509-316E-E3EF-36D62819AAF9}"/>
              </a:ext>
            </a:extLst>
          </p:cNvPr>
          <p:cNvGrpSpPr/>
          <p:nvPr/>
        </p:nvGrpSpPr>
        <p:grpSpPr>
          <a:xfrm>
            <a:off x="8773297" y="1825597"/>
            <a:ext cx="2498459" cy="4147690"/>
            <a:chOff x="8773297" y="1825597"/>
            <a:chExt cx="2498459" cy="4147690"/>
          </a:xfrm>
        </p:grpSpPr>
        <p:cxnSp>
          <p:nvCxnSpPr>
            <p:cNvPr id="289" name="Straight Connector 288">
              <a:extLst>
                <a:ext uri="{FF2B5EF4-FFF2-40B4-BE49-F238E27FC236}">
                  <a16:creationId xmlns:a16="http://schemas.microsoft.com/office/drawing/2014/main" id="{1DABAEF0-BE76-0542-AB26-3F7C4AF314B9}"/>
                </a:ext>
                <a:ext uri="{C183D7F6-B498-43B3-948B-1728B52AA6E4}">
                  <adec:decorative xmlns:adec="http://schemas.microsoft.com/office/drawing/2017/decorative" val="1"/>
                </a:ext>
              </a:extLst>
            </p:cNvPr>
            <p:cNvCxnSpPr>
              <a:cxnSpLocks/>
            </p:cNvCxnSpPr>
            <p:nvPr/>
          </p:nvCxnSpPr>
          <p:spPr>
            <a:xfrm>
              <a:off x="8773297"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2" name="Group 291" descr="Icon of a group of three people">
              <a:extLst>
                <a:ext uri="{FF2B5EF4-FFF2-40B4-BE49-F238E27FC236}">
                  <a16:creationId xmlns:a16="http://schemas.microsoft.com/office/drawing/2014/main" id="{221D1365-9E61-7FD4-3F97-B158F85A7167}"/>
                </a:ext>
              </a:extLst>
            </p:cNvPr>
            <p:cNvGrpSpPr/>
            <p:nvPr/>
          </p:nvGrpSpPr>
          <p:grpSpPr>
            <a:xfrm>
              <a:off x="8949756" y="1825597"/>
              <a:ext cx="587403" cy="587403"/>
              <a:chOff x="4850654" y="3383869"/>
              <a:chExt cx="751672" cy="751672"/>
            </a:xfrm>
          </p:grpSpPr>
          <p:sp>
            <p:nvSpPr>
              <p:cNvPr id="293" name="Oval 292">
                <a:extLst>
                  <a:ext uri="{FF2B5EF4-FFF2-40B4-BE49-F238E27FC236}">
                    <a16:creationId xmlns:a16="http://schemas.microsoft.com/office/drawing/2014/main" id="{280A9458-42B2-4298-455A-0468AC2086EC}"/>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94" name="Freeform: Shape 293">
                <a:extLst>
                  <a:ext uri="{FF2B5EF4-FFF2-40B4-BE49-F238E27FC236}">
                    <a16:creationId xmlns:a16="http://schemas.microsoft.com/office/drawing/2014/main" id="{4B266C14-9538-5B6B-F635-BCBA05523C04}"/>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cxnSp>
          <p:nvCxnSpPr>
            <p:cNvPr id="297" name="Straight Connector 296">
              <a:extLst>
                <a:ext uri="{FF2B5EF4-FFF2-40B4-BE49-F238E27FC236}">
                  <a16:creationId xmlns:a16="http://schemas.microsoft.com/office/drawing/2014/main" id="{1652C60C-438B-D515-D37D-ECEF2019B58D}"/>
                </a:ext>
                <a:ext uri="{C183D7F6-B498-43B3-948B-1728B52AA6E4}">
                  <adec:decorative xmlns:adec="http://schemas.microsoft.com/office/drawing/2017/decorative" val="1"/>
                </a:ext>
              </a:extLst>
            </p:cNvPr>
            <p:cNvCxnSpPr>
              <a:cxnSpLocks/>
            </p:cNvCxnSpPr>
            <p:nvPr/>
          </p:nvCxnSpPr>
          <p:spPr>
            <a:xfrm>
              <a:off x="8949756"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8" name="Rectangle 297">
              <a:extLst>
                <a:ext uri="{FF2B5EF4-FFF2-40B4-BE49-F238E27FC236}">
                  <a16:creationId xmlns:a16="http://schemas.microsoft.com/office/drawing/2014/main" id="{45B8FD4D-D073-8768-3AFE-68642F94A9B5}"/>
                </a:ext>
              </a:extLst>
            </p:cNvPr>
            <p:cNvSpPr/>
            <p:nvPr/>
          </p:nvSpPr>
          <p:spPr>
            <a:xfrm>
              <a:off x="8949756" y="2706679"/>
              <a:ext cx="2322000" cy="3266608"/>
            </a:xfrm>
            <a:prstGeom prst="rect">
              <a:avLst/>
            </a:prstGeom>
            <a:noFill/>
          </p:spPr>
          <p:txBody>
            <a:bodyPr wrap="square" lIns="0" tIns="0" rIns="0" bIns="0" anchor="t" anchorCtr="0">
              <a:noAutofit/>
            </a:bodyPr>
            <a:lstStyle/>
            <a:p>
              <a:r>
                <a:rPr lang="en-US" b="1" dirty="0"/>
                <a:t>Audit trail</a:t>
              </a:r>
              <a:r>
                <a:rPr lang="en-US" dirty="0"/>
                <a:t> — who accessed what data, when, and through which agent</a:t>
              </a:r>
            </a:p>
          </p:txBody>
        </p:sp>
      </p:grpSp>
      <p:sp>
        <p:nvSpPr>
          <p:cNvPr id="39" name="Footer Placeholder 3">
            <a:extLst>
              <a:ext uri="{FF2B5EF4-FFF2-40B4-BE49-F238E27FC236}">
                <a16:creationId xmlns:a16="http://schemas.microsoft.com/office/drawing/2014/main" id="{26DA6E1E-52C6-23FB-6414-5E926C7F0ED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0" name="Slide Number Placeholder 4">
            <a:extLst>
              <a:ext uri="{FF2B5EF4-FFF2-40B4-BE49-F238E27FC236}">
                <a16:creationId xmlns:a16="http://schemas.microsoft.com/office/drawing/2014/main" id="{71168740-DB1F-044F-4778-83B88B3024C0}"/>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8</a:t>
            </a:fld>
            <a:endParaRPr lang="en-US" noProof="0"/>
          </a:p>
        </p:txBody>
      </p:sp>
    </p:spTree>
    <p:extLst>
      <p:ext uri="{BB962C8B-B14F-4D97-AF65-F5344CB8AC3E}">
        <p14:creationId xmlns:p14="http://schemas.microsoft.com/office/powerpoint/2010/main" val="18493576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ACBF-8377-78E9-CFA7-442F307729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3F09F3-4052-7892-71B1-67A655E6400B}"/>
              </a:ext>
            </a:extLst>
          </p:cNvPr>
          <p:cNvSpPr>
            <a:spLocks noGrp="1"/>
          </p:cNvSpPr>
          <p:nvPr>
            <p:ph type="title"/>
            <p:custDataLst>
              <p:custData r:id="rId2"/>
            </p:custDataLst>
          </p:nvPr>
        </p:nvSpPr>
        <p:spPr>
          <a:xfrm>
            <a:off x="584200" y="4334637"/>
            <a:ext cx="10591800" cy="1015663"/>
          </a:xfrm>
        </p:spPr>
        <p:txBody>
          <a:bodyPr/>
          <a:lstStyle/>
          <a:p>
            <a:r>
              <a:rPr lang="en-US" dirty="0"/>
              <a:t>Microsoft Purview Solution</a:t>
            </a:r>
          </a:p>
        </p:txBody>
      </p:sp>
      <p:sp>
        <p:nvSpPr>
          <p:cNvPr id="2" name="Text Placeholder 1">
            <a:extLst>
              <a:ext uri="{FF2B5EF4-FFF2-40B4-BE49-F238E27FC236}">
                <a16:creationId xmlns:a16="http://schemas.microsoft.com/office/drawing/2014/main" id="{BF55C143-0E52-B8B1-2245-D8E0EB119DC8}"/>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3652B58F-5B2B-FA54-4143-7BF05A050E6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DE94399-8CA1-366F-6600-646826B0386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2449745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0CC6E83A-00D4-BFB6-48BE-EDDBCDF9B6F6}"/>
              </a:ext>
              <a:ext uri="{C183D7F6-B498-43B3-948B-1728B52AA6E4}">
                <adec:decorative xmlns:adec="http://schemas.microsoft.com/office/drawing/2017/decorative" val="1"/>
              </a:ext>
            </a:extLst>
          </p:cNvPr>
          <p:cNvSpPr/>
          <p:nvPr/>
        </p:nvSpPr>
        <p:spPr bwMode="auto">
          <a:xfrm>
            <a:off x="435430" y="1540934"/>
            <a:ext cx="11321142" cy="5083849"/>
          </a:xfrm>
          <a:prstGeom prst="roundRect">
            <a:avLst>
              <a:gd name="adj" fmla="val 6925"/>
            </a:avLst>
          </a:prstGeom>
          <a:solidFill>
            <a:srgbClr val="FFFFFF">
              <a:alpha val="74000"/>
            </a:srgbClr>
          </a:solidFill>
          <a:ln w="19050">
            <a:noFill/>
            <a:headEnd type="none" w="med" len="med"/>
            <a:tailEnd type="none" w="med" len="med"/>
          </a:ln>
          <a:effectLst>
            <a:outerShdw blurRad="127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s-MX"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18" name="Freeform 17">
            <a:extLst>
              <a:ext uri="{FF2B5EF4-FFF2-40B4-BE49-F238E27FC236}">
                <a16:creationId xmlns:a16="http://schemas.microsoft.com/office/drawing/2014/main" id="{E420BC65-68A0-F23A-0AE3-7330FB177F0C}"/>
              </a:ext>
              <a:ext uri="{C183D7F6-B498-43B3-948B-1728B52AA6E4}">
                <adec:decorative xmlns:adec="http://schemas.microsoft.com/office/drawing/2017/decorative" val="1"/>
              </a:ext>
            </a:extLst>
          </p:cNvPr>
          <p:cNvSpPr/>
          <p:nvPr/>
        </p:nvSpPr>
        <p:spPr>
          <a:xfrm>
            <a:off x="552530" y="1705094"/>
            <a:ext cx="11064240" cy="4740864"/>
          </a:xfrm>
          <a:custGeom>
            <a:avLst/>
            <a:gdLst>
              <a:gd name="connsiteX0" fmla="*/ 232164 w 11064240"/>
              <a:gd name="connsiteY0" fmla="*/ 0 h 4439936"/>
              <a:gd name="connsiteX1" fmla="*/ 3642782 w 11064240"/>
              <a:gd name="connsiteY1" fmla="*/ 0 h 4439936"/>
              <a:gd name="connsiteX2" fmla="*/ 3727063 w 11064240"/>
              <a:gd name="connsiteY2" fmla="*/ 84281 h 4439936"/>
              <a:gd name="connsiteX3" fmla="*/ 3727063 w 11064240"/>
              <a:gd name="connsiteY3" fmla="*/ 539806 h 4439936"/>
              <a:gd name="connsiteX4" fmla="*/ 3767803 w 11064240"/>
              <a:gd name="connsiteY4" fmla="*/ 580546 h 4439936"/>
              <a:gd name="connsiteX5" fmla="*/ 3808543 w 11064240"/>
              <a:gd name="connsiteY5" fmla="*/ 539806 h 4439936"/>
              <a:gd name="connsiteX6" fmla="*/ 3808543 w 11064240"/>
              <a:gd name="connsiteY6" fmla="*/ 84281 h 4439936"/>
              <a:gd name="connsiteX7" fmla="*/ 3892824 w 11064240"/>
              <a:gd name="connsiteY7" fmla="*/ 0 h 4439936"/>
              <a:gd name="connsiteX8" fmla="*/ 7201162 w 11064240"/>
              <a:gd name="connsiteY8" fmla="*/ 0 h 4439936"/>
              <a:gd name="connsiteX9" fmla="*/ 7285443 w 11064240"/>
              <a:gd name="connsiteY9" fmla="*/ 84281 h 4439936"/>
              <a:gd name="connsiteX10" fmla="*/ 7285443 w 11064240"/>
              <a:gd name="connsiteY10" fmla="*/ 539806 h 4439936"/>
              <a:gd name="connsiteX11" fmla="*/ 7326183 w 11064240"/>
              <a:gd name="connsiteY11" fmla="*/ 580546 h 4439936"/>
              <a:gd name="connsiteX12" fmla="*/ 7366923 w 11064240"/>
              <a:gd name="connsiteY12" fmla="*/ 539806 h 4439936"/>
              <a:gd name="connsiteX13" fmla="*/ 7366923 w 11064240"/>
              <a:gd name="connsiteY13" fmla="*/ 84281 h 4439936"/>
              <a:gd name="connsiteX14" fmla="*/ 7451204 w 11064240"/>
              <a:gd name="connsiteY14" fmla="*/ 0 h 4439936"/>
              <a:gd name="connsiteX15" fmla="*/ 10832076 w 11064240"/>
              <a:gd name="connsiteY15" fmla="*/ 0 h 4439936"/>
              <a:gd name="connsiteX16" fmla="*/ 11064240 w 11064240"/>
              <a:gd name="connsiteY16" fmla="*/ 232164 h 4439936"/>
              <a:gd name="connsiteX17" fmla="*/ 11064240 w 11064240"/>
              <a:gd name="connsiteY17" fmla="*/ 4207772 h 4439936"/>
              <a:gd name="connsiteX18" fmla="*/ 10832076 w 11064240"/>
              <a:gd name="connsiteY18" fmla="*/ 4439936 h 4439936"/>
              <a:gd name="connsiteX19" fmla="*/ 232164 w 11064240"/>
              <a:gd name="connsiteY19" fmla="*/ 4439936 h 4439936"/>
              <a:gd name="connsiteX20" fmla="*/ 0 w 11064240"/>
              <a:gd name="connsiteY20" fmla="*/ 4207772 h 4439936"/>
              <a:gd name="connsiteX21" fmla="*/ 0 w 11064240"/>
              <a:gd name="connsiteY21" fmla="*/ 232164 h 4439936"/>
              <a:gd name="connsiteX22" fmla="*/ 232164 w 11064240"/>
              <a:gd name="connsiteY22" fmla="*/ 0 h 443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64240" h="4439936">
                <a:moveTo>
                  <a:pt x="232164" y="0"/>
                </a:moveTo>
                <a:lnTo>
                  <a:pt x="3642782" y="0"/>
                </a:lnTo>
                <a:cubicBezTo>
                  <a:pt x="3689328" y="0"/>
                  <a:pt x="3727063" y="37735"/>
                  <a:pt x="3727063" y="84281"/>
                </a:cubicBezTo>
                <a:lnTo>
                  <a:pt x="3727063" y="539806"/>
                </a:lnTo>
                <a:cubicBezTo>
                  <a:pt x="3727063" y="562315"/>
                  <a:pt x="3745294" y="580546"/>
                  <a:pt x="3767803" y="580546"/>
                </a:cubicBezTo>
                <a:cubicBezTo>
                  <a:pt x="3790312" y="580546"/>
                  <a:pt x="3808543" y="562315"/>
                  <a:pt x="3808543" y="539806"/>
                </a:cubicBezTo>
                <a:lnTo>
                  <a:pt x="3808543" y="84281"/>
                </a:lnTo>
                <a:cubicBezTo>
                  <a:pt x="3808543" y="37735"/>
                  <a:pt x="3846279" y="0"/>
                  <a:pt x="3892824" y="0"/>
                </a:cubicBezTo>
                <a:lnTo>
                  <a:pt x="7201162" y="0"/>
                </a:lnTo>
                <a:cubicBezTo>
                  <a:pt x="7247708" y="0"/>
                  <a:pt x="7285443" y="37735"/>
                  <a:pt x="7285443" y="84281"/>
                </a:cubicBezTo>
                <a:lnTo>
                  <a:pt x="7285443" y="539806"/>
                </a:lnTo>
                <a:cubicBezTo>
                  <a:pt x="7285443" y="562315"/>
                  <a:pt x="7303674" y="580546"/>
                  <a:pt x="7326183" y="580546"/>
                </a:cubicBezTo>
                <a:cubicBezTo>
                  <a:pt x="7348692" y="580546"/>
                  <a:pt x="7366923" y="562315"/>
                  <a:pt x="7366923" y="539806"/>
                </a:cubicBezTo>
                <a:lnTo>
                  <a:pt x="7366923" y="84281"/>
                </a:lnTo>
                <a:cubicBezTo>
                  <a:pt x="7366923" y="37735"/>
                  <a:pt x="7404659" y="0"/>
                  <a:pt x="7451204" y="0"/>
                </a:cubicBezTo>
                <a:lnTo>
                  <a:pt x="10832076" y="0"/>
                </a:lnTo>
                <a:cubicBezTo>
                  <a:pt x="10960297" y="0"/>
                  <a:pt x="11064240" y="103943"/>
                  <a:pt x="11064240" y="232164"/>
                </a:cubicBezTo>
                <a:lnTo>
                  <a:pt x="11064240" y="4207772"/>
                </a:lnTo>
                <a:cubicBezTo>
                  <a:pt x="11064240" y="4335993"/>
                  <a:pt x="10960297" y="4439936"/>
                  <a:pt x="10832076" y="4439936"/>
                </a:cubicBezTo>
                <a:lnTo>
                  <a:pt x="232164" y="4439936"/>
                </a:lnTo>
                <a:cubicBezTo>
                  <a:pt x="103943" y="4439936"/>
                  <a:pt x="0" y="4335993"/>
                  <a:pt x="0" y="4207772"/>
                </a:cubicBezTo>
                <a:lnTo>
                  <a:pt x="0" y="232164"/>
                </a:lnTo>
                <a:cubicBezTo>
                  <a:pt x="0" y="103943"/>
                  <a:pt x="103943" y="0"/>
                  <a:pt x="232164" y="0"/>
                </a:cubicBezTo>
                <a:close/>
              </a:path>
            </a:pathLst>
          </a:custGeom>
          <a:gradFill>
            <a:gsLst>
              <a:gs pos="100000">
                <a:srgbClr val="D6EEFF"/>
              </a:gs>
              <a:gs pos="50000">
                <a:schemeClr val="bg1"/>
              </a:gs>
            </a:gsLst>
            <a:lin ang="2400000" scaled="0"/>
          </a:gradFill>
          <a:ln w="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5" name="TextBox 4">
            <a:extLst>
              <a:ext uri="{FF2B5EF4-FFF2-40B4-BE49-F238E27FC236}">
                <a16:creationId xmlns:a16="http://schemas.microsoft.com/office/drawing/2014/main" id="{899669CE-41D9-099B-F680-E742CA539F8A}"/>
              </a:ext>
            </a:extLst>
          </p:cNvPr>
          <p:cNvSpPr txBox="1"/>
          <p:nvPr/>
        </p:nvSpPr>
        <p:spPr>
          <a:xfrm>
            <a:off x="2323298" y="5622629"/>
            <a:ext cx="7379116" cy="646986"/>
          </a:xfrm>
          <a:prstGeom prst="roundRect">
            <a:avLst/>
          </a:prstGeom>
          <a:noFill/>
        </p:spPr>
        <p:txBody>
          <a:bodyPr wrap="square" lIns="91440" tIns="45720" rIns="91440" bIns="45720" anchor="t">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lumMod val="75000"/>
                    <a:lumOff val="25000"/>
                  </a:srgbClr>
                </a:solidFill>
                <a:effectLst/>
                <a:uLnTx/>
                <a:uFillTx/>
                <a:latin typeface="Segoe UI Semibold"/>
                <a:ea typeface="+mn-ea"/>
                <a:cs typeface="+mn-cs"/>
              </a:rPr>
              <a:t>Shared platform capabilities</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UI"/>
                <a:ea typeface="+mn-ea"/>
                <a:cs typeface="+mn-cs"/>
              </a:rPr>
              <a:t>AI-based efficiency, Data Map, Classification, Labels, Audit Logs, Policies, Data Connectors</a:t>
            </a:r>
          </a:p>
        </p:txBody>
      </p:sp>
      <p:sp>
        <p:nvSpPr>
          <p:cNvPr id="9" name="Text Placeholder 2">
            <a:extLst>
              <a:ext uri="{FF2B5EF4-FFF2-40B4-BE49-F238E27FC236}">
                <a16:creationId xmlns:a16="http://schemas.microsoft.com/office/drawing/2014/main" id="{650E4166-D17D-6AB1-F267-7BBBC9B2750F}"/>
              </a:ext>
            </a:extLst>
          </p:cNvPr>
          <p:cNvSpPr txBox="1">
            <a:spLocks/>
          </p:cNvSpPr>
          <p:nvPr/>
        </p:nvSpPr>
        <p:spPr>
          <a:xfrm>
            <a:off x="760038" y="3522464"/>
            <a:ext cx="3387096" cy="977191"/>
          </a:xfrm>
          <a:prstGeom prst="rect">
            <a:avLst/>
          </a:prstGeom>
        </p:spPr>
        <p:txBody>
          <a:bodyPr vert="horz" wrap="square" lIns="0" tIns="0" rIns="0" bIns="0" rtlCol="0" anchor="t">
            <a:spAutoFit/>
          </a:bodyPr>
          <a:lstStyle>
            <a:lvl1pPr marL="0" marR="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Loss Prevention </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Insider Risk Management </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Information Protection</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endParaRPr>
          </a:p>
        </p:txBody>
      </p:sp>
      <p:sp>
        <p:nvSpPr>
          <p:cNvPr id="10" name="TextBox 9">
            <a:extLst>
              <a:ext uri="{FF2B5EF4-FFF2-40B4-BE49-F238E27FC236}">
                <a16:creationId xmlns:a16="http://schemas.microsoft.com/office/drawing/2014/main" id="{2349E03B-13EF-DAF2-4FA1-99368DA2E533}"/>
              </a:ext>
            </a:extLst>
          </p:cNvPr>
          <p:cNvSpPr txBox="1"/>
          <p:nvPr/>
        </p:nvSpPr>
        <p:spPr>
          <a:xfrm>
            <a:off x="929482" y="2519988"/>
            <a:ext cx="3048208" cy="52322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Secure data across its lifecycle, wherever it lives</a:t>
            </a:r>
          </a:p>
        </p:txBody>
      </p:sp>
      <p:sp>
        <p:nvSpPr>
          <p:cNvPr id="11" name="Freeform 39">
            <a:extLst>
              <a:ext uri="{FF2B5EF4-FFF2-40B4-BE49-F238E27FC236}">
                <a16:creationId xmlns:a16="http://schemas.microsoft.com/office/drawing/2014/main" id="{37F85729-5F03-2DFB-D58C-99B3BCEE3C6A}"/>
              </a:ext>
            </a:extLst>
          </p:cNvPr>
          <p:cNvSpPr/>
          <p:nvPr/>
        </p:nvSpPr>
        <p:spPr>
          <a:xfrm>
            <a:off x="853386" y="1927133"/>
            <a:ext cx="3200400" cy="402336"/>
          </a:xfrm>
          <a:prstGeom prst="roundRect">
            <a:avLst>
              <a:gd name="adj" fmla="val 50000"/>
            </a:avLst>
          </a:prstGeom>
          <a:solidFill>
            <a:srgbClr val="0078D4"/>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0" normalizeH="0" baseline="0" noProof="0">
                <a:ln>
                  <a:noFill/>
                </a:ln>
                <a:solidFill>
                  <a:srgbClr val="FFFFFF"/>
                </a:solidFill>
                <a:effectLst/>
                <a:uLnTx/>
                <a:uFillTx/>
                <a:latin typeface="Segoe UI Semibold"/>
                <a:ea typeface="+mn-ea"/>
                <a:cs typeface="+mn-cs"/>
              </a:rPr>
              <a:t>DATA SECURITY</a:t>
            </a:r>
          </a:p>
        </p:txBody>
      </p:sp>
      <p:cxnSp>
        <p:nvCxnSpPr>
          <p:cNvPr id="12" name="Straight Connector 11">
            <a:extLst>
              <a:ext uri="{FF2B5EF4-FFF2-40B4-BE49-F238E27FC236}">
                <a16:creationId xmlns:a16="http://schemas.microsoft.com/office/drawing/2014/main" id="{CC1F5B01-6A89-7A15-9881-609271579652}"/>
              </a:ext>
              <a:ext uri="{C183D7F6-B498-43B3-948B-1728B52AA6E4}">
                <adec:decorative xmlns:adec="http://schemas.microsoft.com/office/drawing/2017/decorative" val="1"/>
              </a:ext>
            </a:extLst>
          </p:cNvPr>
          <p:cNvCxnSpPr>
            <a:cxnSpLocks/>
          </p:cNvCxnSpPr>
          <p:nvPr/>
        </p:nvCxnSpPr>
        <p:spPr>
          <a:xfrm>
            <a:off x="819968" y="3295282"/>
            <a:ext cx="330576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7C8632E0-E6F3-6693-D0FE-35C9CABF6243}"/>
              </a:ext>
            </a:extLst>
          </p:cNvPr>
          <p:cNvSpPr txBox="1">
            <a:spLocks/>
          </p:cNvSpPr>
          <p:nvPr/>
        </p:nvSpPr>
        <p:spPr>
          <a:xfrm>
            <a:off x="4402452" y="3522464"/>
            <a:ext cx="3387096" cy="977191"/>
          </a:xfrm>
          <a:prstGeom prst="rect">
            <a:avLst/>
          </a:prstGeom>
        </p:spPr>
        <p:txBody>
          <a:bodyPr vert="horz" wrap="square" lIns="0" tIns="0" rIns="0" bIns="0" rtlCol="0">
            <a:spAutoFit/>
          </a:bodyPr>
          <a:lstStyle>
            <a:lvl1pPr marL="0" marR="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it-IT"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Unified Catalog</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it-IT"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Quality</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it-IT"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Lineage</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it-IT"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Health Management</a:t>
            </a:r>
          </a:p>
        </p:txBody>
      </p:sp>
      <p:sp>
        <p:nvSpPr>
          <p:cNvPr id="15" name="TextBox 14">
            <a:extLst>
              <a:ext uri="{FF2B5EF4-FFF2-40B4-BE49-F238E27FC236}">
                <a16:creationId xmlns:a16="http://schemas.microsoft.com/office/drawing/2014/main" id="{905D5813-0B98-1808-4947-70EDC8416210}"/>
              </a:ext>
            </a:extLst>
          </p:cNvPr>
          <p:cNvSpPr txBox="1"/>
          <p:nvPr/>
        </p:nvSpPr>
        <p:spPr>
          <a:xfrm>
            <a:off x="4571896" y="2519988"/>
            <a:ext cx="3048208" cy="52322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Confidently activate your data &amp; accelerate time to insights</a:t>
            </a:r>
          </a:p>
        </p:txBody>
      </p:sp>
      <p:sp>
        <p:nvSpPr>
          <p:cNvPr id="16" name="Freeform 50">
            <a:extLst>
              <a:ext uri="{FF2B5EF4-FFF2-40B4-BE49-F238E27FC236}">
                <a16:creationId xmlns:a16="http://schemas.microsoft.com/office/drawing/2014/main" id="{6640EB17-CE13-0762-5E62-49A4B98BE6AD}"/>
              </a:ext>
            </a:extLst>
          </p:cNvPr>
          <p:cNvSpPr/>
          <p:nvPr/>
        </p:nvSpPr>
        <p:spPr>
          <a:xfrm>
            <a:off x="4494164" y="1927133"/>
            <a:ext cx="3203673" cy="402336"/>
          </a:xfrm>
          <a:prstGeom prst="roundRect">
            <a:avLst>
              <a:gd name="adj" fmla="val 50000"/>
            </a:avLst>
          </a:prstGeom>
          <a:gradFill>
            <a:gsLst>
              <a:gs pos="99000">
                <a:srgbClr val="49C4B0"/>
              </a:gs>
              <a:gs pos="0">
                <a:srgbClr val="6DD0C0"/>
              </a:gs>
            </a:gsLst>
            <a:lin ang="0" scaled="0"/>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0" normalizeH="0" baseline="0" noProof="0">
                <a:ln>
                  <a:noFill/>
                </a:ln>
                <a:solidFill>
                  <a:srgbClr val="FFFFFF"/>
                </a:solidFill>
                <a:effectLst/>
                <a:uLnTx/>
                <a:uFillTx/>
                <a:latin typeface="Segoe UI Semibold"/>
                <a:ea typeface="+mn-ea"/>
                <a:cs typeface="+mn-cs"/>
              </a:rPr>
              <a:t>DATA GOVERNANCE</a:t>
            </a:r>
          </a:p>
        </p:txBody>
      </p:sp>
      <p:cxnSp>
        <p:nvCxnSpPr>
          <p:cNvPr id="17" name="Straight Connector 16">
            <a:extLst>
              <a:ext uri="{FF2B5EF4-FFF2-40B4-BE49-F238E27FC236}">
                <a16:creationId xmlns:a16="http://schemas.microsoft.com/office/drawing/2014/main" id="{32415EC8-E63A-5C22-9733-26C034DF02F9}"/>
              </a:ext>
              <a:ext uri="{C183D7F6-B498-43B3-948B-1728B52AA6E4}">
                <adec:decorative xmlns:adec="http://schemas.microsoft.com/office/drawing/2017/decorative" val="1"/>
              </a:ext>
            </a:extLst>
          </p:cNvPr>
          <p:cNvCxnSpPr>
            <a:cxnSpLocks/>
          </p:cNvCxnSpPr>
          <p:nvPr/>
        </p:nvCxnSpPr>
        <p:spPr>
          <a:xfrm>
            <a:off x="4445260" y="3295282"/>
            <a:ext cx="330576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94A8E7DB-391F-569D-1F24-BAEFB6FBEEB7}"/>
              </a:ext>
            </a:extLst>
          </p:cNvPr>
          <p:cNvSpPr txBox="1">
            <a:spLocks/>
          </p:cNvSpPr>
          <p:nvPr/>
        </p:nvSpPr>
        <p:spPr>
          <a:xfrm>
            <a:off x="8013411" y="3522464"/>
            <a:ext cx="3387096" cy="1231106"/>
          </a:xfrm>
          <a:prstGeom prst="rect">
            <a:avLst/>
          </a:prstGeom>
        </p:spPr>
        <p:txBody>
          <a:bodyPr vert="horz" wrap="square" lIns="0" tIns="0" rIns="0" bIns="0" rtlCol="0" anchor="t">
            <a:spAutoFit/>
          </a:bodyPr>
          <a:lstStyle>
            <a:lvl1pPr marL="0" marR="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Compliance Manager</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eDiscovery and Audit</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Communication Compliance</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Lifecycle Management </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Records Management</a:t>
            </a:r>
          </a:p>
        </p:txBody>
      </p:sp>
      <p:sp>
        <p:nvSpPr>
          <p:cNvPr id="20" name="TextBox 19">
            <a:extLst>
              <a:ext uri="{FF2B5EF4-FFF2-40B4-BE49-F238E27FC236}">
                <a16:creationId xmlns:a16="http://schemas.microsoft.com/office/drawing/2014/main" id="{49879014-81B0-41E9-1EEE-3DE2C2234DD6}"/>
              </a:ext>
            </a:extLst>
          </p:cNvPr>
          <p:cNvSpPr txBox="1"/>
          <p:nvPr/>
        </p:nvSpPr>
        <p:spPr>
          <a:xfrm>
            <a:off x="8182855" y="2519988"/>
            <a:ext cx="3048208" cy="52322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Manage critical risks and regulatory requirements</a:t>
            </a:r>
          </a:p>
        </p:txBody>
      </p:sp>
      <p:sp>
        <p:nvSpPr>
          <p:cNvPr id="21" name="Freeform 51">
            <a:extLst>
              <a:ext uri="{FF2B5EF4-FFF2-40B4-BE49-F238E27FC236}">
                <a16:creationId xmlns:a16="http://schemas.microsoft.com/office/drawing/2014/main" id="{C08B6FC8-1FA1-40EB-9791-16DEAB88A652}"/>
              </a:ext>
            </a:extLst>
          </p:cNvPr>
          <p:cNvSpPr/>
          <p:nvPr/>
        </p:nvSpPr>
        <p:spPr>
          <a:xfrm>
            <a:off x="8106759" y="1927133"/>
            <a:ext cx="3200400" cy="402336"/>
          </a:xfrm>
          <a:prstGeom prst="roundRect">
            <a:avLst>
              <a:gd name="adj" fmla="val 50000"/>
            </a:avLst>
          </a:prstGeom>
          <a:solidFill>
            <a:srgbClr val="002060"/>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0" normalizeH="0" baseline="0" noProof="0">
                <a:ln>
                  <a:noFill/>
                </a:ln>
                <a:solidFill>
                  <a:srgbClr val="FFFFFF"/>
                </a:solidFill>
                <a:effectLst/>
                <a:uLnTx/>
                <a:uFillTx/>
                <a:latin typeface="Segoe UI Semibold"/>
                <a:ea typeface="+mn-ea"/>
                <a:cs typeface="+mn-cs"/>
              </a:rPr>
              <a:t>DATA COMPLIANCE</a:t>
            </a:r>
          </a:p>
        </p:txBody>
      </p:sp>
      <p:cxnSp>
        <p:nvCxnSpPr>
          <p:cNvPr id="22" name="Straight Connector 21">
            <a:extLst>
              <a:ext uri="{FF2B5EF4-FFF2-40B4-BE49-F238E27FC236}">
                <a16:creationId xmlns:a16="http://schemas.microsoft.com/office/drawing/2014/main" id="{E4D04B80-9F04-BD5B-9D2A-129E6D30711A}"/>
              </a:ext>
              <a:ext uri="{C183D7F6-B498-43B3-948B-1728B52AA6E4}">
                <adec:decorative xmlns:adec="http://schemas.microsoft.com/office/drawing/2017/decorative" val="1"/>
              </a:ext>
            </a:extLst>
          </p:cNvPr>
          <p:cNvCxnSpPr>
            <a:cxnSpLocks/>
          </p:cNvCxnSpPr>
          <p:nvPr/>
        </p:nvCxnSpPr>
        <p:spPr>
          <a:xfrm>
            <a:off x="8070554" y="3295282"/>
            <a:ext cx="330576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95A3F8F2-051D-726B-E348-84BF09954EC4}"/>
              </a:ext>
            </a:extLst>
          </p:cNvPr>
          <p:cNvSpPr/>
          <p:nvPr/>
        </p:nvSpPr>
        <p:spPr>
          <a:xfrm>
            <a:off x="4366075" y="1705094"/>
            <a:ext cx="3464032" cy="3048475"/>
          </a:xfrm>
          <a:prstGeom prst="roundRect">
            <a:avLst>
              <a:gd name="adj" fmla="val 3201"/>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33" name="Group 32" descr="Diagram for: Shared platform capabilities&#10;AI-based efficiency, Data Map, ">
            <a:extLst>
              <a:ext uri="{FF2B5EF4-FFF2-40B4-BE49-F238E27FC236}">
                <a16:creationId xmlns:a16="http://schemas.microsoft.com/office/drawing/2014/main" id="{4801D596-E89E-5000-431B-44C6EDB7626F}"/>
              </a:ext>
            </a:extLst>
          </p:cNvPr>
          <p:cNvGrpSpPr/>
          <p:nvPr/>
        </p:nvGrpSpPr>
        <p:grpSpPr>
          <a:xfrm>
            <a:off x="798206" y="5038865"/>
            <a:ext cx="10578117" cy="492982"/>
            <a:chOff x="798206" y="5106599"/>
            <a:chExt cx="10578117" cy="492982"/>
          </a:xfrm>
        </p:grpSpPr>
        <p:sp>
          <p:nvSpPr>
            <p:cNvPr id="24" name="Rectangle: Rounded Corners 23">
              <a:extLst>
                <a:ext uri="{FF2B5EF4-FFF2-40B4-BE49-F238E27FC236}">
                  <a16:creationId xmlns:a16="http://schemas.microsoft.com/office/drawing/2014/main" id="{6EE991D2-3E84-9C02-7DD7-E90823F4C645}"/>
                </a:ext>
              </a:extLst>
            </p:cNvPr>
            <p:cNvSpPr/>
            <p:nvPr/>
          </p:nvSpPr>
          <p:spPr bwMode="auto">
            <a:xfrm>
              <a:off x="7758325" y="5106599"/>
              <a:ext cx="3617998" cy="492981"/>
            </a:xfrm>
            <a:prstGeom prst="roundRect">
              <a:avLst>
                <a:gd name="adj" fmla="val 50000"/>
              </a:avLst>
            </a:prstGeom>
            <a:solidFill>
              <a:schemeClr val="bg1"/>
            </a:solidFill>
            <a:ln w="28575" cap="flat" cmpd="sng" algn="ctr">
              <a:solidFill>
                <a:schemeClr val="accent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78D4"/>
                  </a:solidFill>
                  <a:effectLst/>
                  <a:uLnTx/>
                  <a:uFillTx/>
                  <a:latin typeface="Segoe UI Semibold"/>
                  <a:ea typeface="+mn-ea"/>
                  <a:cs typeface="+mn-cs"/>
                </a:rPr>
                <a:t>        Microsoft and Multi-cloud</a:t>
              </a:r>
            </a:p>
          </p:txBody>
        </p:sp>
        <p:sp>
          <p:nvSpPr>
            <p:cNvPr id="25" name="Rectangle: Rounded Corners 24">
              <a:extLst>
                <a:ext uri="{FF2B5EF4-FFF2-40B4-BE49-F238E27FC236}">
                  <a16:creationId xmlns:a16="http://schemas.microsoft.com/office/drawing/2014/main" id="{7A73420D-0CD5-3983-BB3A-8FBC23308B91}"/>
                </a:ext>
              </a:extLst>
            </p:cNvPr>
            <p:cNvSpPr/>
            <p:nvPr/>
          </p:nvSpPr>
          <p:spPr bwMode="auto">
            <a:xfrm>
              <a:off x="798206" y="5106600"/>
              <a:ext cx="3599914" cy="492981"/>
            </a:xfrm>
            <a:prstGeom prst="roundRect">
              <a:avLst>
                <a:gd name="adj" fmla="val 50000"/>
              </a:avLst>
            </a:prstGeom>
            <a:solidFill>
              <a:schemeClr val="bg1"/>
            </a:solidFill>
            <a:ln w="28575" cap="flat" cmpd="sng" algn="ctr">
              <a:solidFill>
                <a:schemeClr val="accent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78D4"/>
                  </a:solidFill>
                  <a:effectLst/>
                  <a:uLnTx/>
                  <a:uFillTx/>
                  <a:latin typeface="Segoe UI Semibold"/>
                  <a:ea typeface="+mn-ea"/>
                  <a:cs typeface="+mn-cs"/>
                </a:rPr>
                <a:t>   Unstructured &amp; Structured data</a:t>
              </a:r>
            </a:p>
          </p:txBody>
        </p:sp>
        <p:sp>
          <p:nvSpPr>
            <p:cNvPr id="23" name="Rectangle: Rounded Corners 22">
              <a:extLst>
                <a:ext uri="{FF2B5EF4-FFF2-40B4-BE49-F238E27FC236}">
                  <a16:creationId xmlns:a16="http://schemas.microsoft.com/office/drawing/2014/main" id="{6F0AC573-02E6-82D7-F358-F0BF672A4DE4}"/>
                </a:ext>
              </a:extLst>
            </p:cNvPr>
            <p:cNvSpPr/>
            <p:nvPr/>
          </p:nvSpPr>
          <p:spPr bwMode="auto">
            <a:xfrm>
              <a:off x="3982574" y="5106600"/>
              <a:ext cx="4200728" cy="492981"/>
            </a:xfrm>
            <a:prstGeom prst="roundRect">
              <a:avLst>
                <a:gd name="adj" fmla="val 50000"/>
              </a:avLst>
            </a:prstGeom>
            <a:solidFill>
              <a:schemeClr val="accent1"/>
            </a:solidFill>
            <a:ln w="28575" cap="flat" cmpd="sng" algn="ctr">
              <a:solidFill>
                <a:schemeClr val="accent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Segoe UI Semibold"/>
                  <a:ea typeface="+mn-ea"/>
                  <a:cs typeface="+mn-cs"/>
                </a:rPr>
                <a:t>Traditional and AI generated data</a:t>
              </a:r>
            </a:p>
          </p:txBody>
        </p:sp>
      </p:grpSp>
      <p:sp>
        <p:nvSpPr>
          <p:cNvPr id="13" name="Title 2">
            <a:extLst>
              <a:ext uri="{FF2B5EF4-FFF2-40B4-BE49-F238E27FC236}">
                <a16:creationId xmlns:a16="http://schemas.microsoft.com/office/drawing/2014/main" id="{22530F8C-7586-DFD2-CF55-3D7D8668681C}"/>
              </a:ext>
            </a:extLst>
          </p:cNvPr>
          <p:cNvSpPr txBox="1">
            <a:spLocks/>
          </p:cNvSpPr>
          <p:nvPr/>
        </p:nvSpPr>
        <p:spPr>
          <a:xfrm>
            <a:off x="588963" y="457200"/>
            <a:ext cx="11017250" cy="923330"/>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bg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br>
              <a:rPr kumimoji="0" lang="en-US" sz="3600" b="0" i="0" u="none" strike="noStrike" kern="1200" cap="none" spc="0" normalizeH="0" baseline="0" noProof="0">
                <a:ln w="3175">
                  <a:noFill/>
                </a:ln>
                <a:solidFill>
                  <a:srgbClr val="1C1C1C"/>
                </a:solidFill>
                <a:effectLst/>
                <a:uLnTx/>
                <a:uFillTx/>
                <a:latin typeface="Segoe UI Semibold"/>
                <a:ea typeface="+mn-ea"/>
                <a:cs typeface="Segoe UI" pitchFamily="34" charset="0"/>
              </a:rPr>
            </a:br>
            <a:r>
              <a:rPr kumimoji="0" lang="en-US" sz="2400" b="0" i="0" u="none" strike="noStrike" kern="1200" cap="none" spc="0" normalizeH="0" baseline="0" noProof="0">
                <a:ln w="3175">
                  <a:noFill/>
                </a:ln>
                <a:solidFill>
                  <a:srgbClr val="1C1C1C"/>
                </a:solidFill>
                <a:effectLst/>
                <a:uLnTx/>
                <a:uFillTx/>
                <a:latin typeface="Segoe UI"/>
                <a:ea typeface="+mn-ea"/>
                <a:cs typeface="Segoe UI" pitchFamily="34" charset="0"/>
              </a:rPr>
              <a:t>Integrated solutions to secure &amp; govern your entire data estate</a:t>
            </a:r>
          </a:p>
        </p:txBody>
      </p:sp>
      <p:pic>
        <p:nvPicPr>
          <p:cNvPr id="26" name="Picture 25" descr="Illustration for: Shared platform capabilities&#10;AI-based efficiency, Data Map, ">
            <a:extLst>
              <a:ext uri="{FF2B5EF4-FFF2-40B4-BE49-F238E27FC236}">
                <a16:creationId xmlns:a16="http://schemas.microsoft.com/office/drawing/2014/main" id="{98B9D210-0F1D-E418-A2B7-0165E5AE3F5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17960" y="447869"/>
            <a:ext cx="435791" cy="435791"/>
          </a:xfrm>
          <a:prstGeom prst="rect">
            <a:avLst/>
          </a:prstGeom>
        </p:spPr>
      </p:pic>
      <p:sp>
        <p:nvSpPr>
          <p:cNvPr id="29" name="TextBox 28">
            <a:extLst>
              <a:ext uri="{FF2B5EF4-FFF2-40B4-BE49-F238E27FC236}">
                <a16:creationId xmlns:a16="http://schemas.microsoft.com/office/drawing/2014/main" id="{405FF762-E1A1-514C-2D8E-3B5F8E546923}"/>
              </a:ext>
            </a:extLst>
          </p:cNvPr>
          <p:cNvSpPr txBox="1">
            <a:spLocks/>
          </p:cNvSpPr>
          <p:nvPr/>
        </p:nvSpPr>
        <p:spPr>
          <a:xfrm>
            <a:off x="3477231" y="368685"/>
            <a:ext cx="4940628" cy="553998"/>
          </a:xfrm>
          <a:prstGeom prst="rect">
            <a:avLst/>
          </a:prstGeom>
        </p:spPr>
        <p:txBody>
          <a:bodyPr wrap="square" lIns="0" tIns="0" rIns="0" bIns="0">
            <a:spAutoFit/>
          </a:bodyPr>
          <a:lstStyle/>
          <a:p>
            <a:pPr marL="0" marR="0" lvl="0" indent="0" algn="ctr" defTabSz="932472" rtl="0" eaLnBrk="1" fontAlgn="base" latinLnBrk="0" hangingPunct="1">
              <a:lnSpc>
                <a:spcPct val="100000"/>
              </a:lnSpc>
              <a:spcBef>
                <a:spcPts val="0"/>
              </a:spcBef>
              <a:spcAft>
                <a:spcPct val="0"/>
              </a:spcAft>
              <a:buClrTx/>
              <a:buSzTx/>
              <a:buFontTx/>
              <a:buNone/>
              <a:tabLst/>
              <a:defRPr/>
            </a:pPr>
            <a:r>
              <a:rPr kumimoji="0" lang="en-US" sz="3600" b="0" i="0" u="none" strike="noStrike" kern="1200" cap="none" spc="-50" normalizeH="0" baseline="0" noProof="0">
                <a:ln w="3175">
                  <a:noFill/>
                </a:ln>
                <a:solidFill>
                  <a:srgbClr val="0078D4"/>
                </a:solidFill>
                <a:effectLst/>
                <a:uLnTx/>
                <a:uFillTx/>
                <a:latin typeface="Segoe Sans Display Semibold"/>
                <a:ea typeface="+mn-ea"/>
                <a:cs typeface="+mn-cs"/>
              </a:rPr>
              <a:t>Microsoft Purview</a:t>
            </a:r>
          </a:p>
        </p:txBody>
      </p:sp>
      <p:sp>
        <p:nvSpPr>
          <p:cNvPr id="30" name="Arrow: Bent 29">
            <a:extLst>
              <a:ext uri="{FF2B5EF4-FFF2-40B4-BE49-F238E27FC236}">
                <a16:creationId xmlns:a16="http://schemas.microsoft.com/office/drawing/2014/main" id="{CE6DE231-33E7-18A2-EA9C-06E25A374D9E}"/>
              </a:ext>
              <a:ext uri="{C183D7F6-B498-43B3-948B-1728B52AA6E4}">
                <adec:decorative xmlns:adec="http://schemas.microsoft.com/office/drawing/2017/decorative" val="1"/>
              </a:ext>
            </a:extLst>
          </p:cNvPr>
          <p:cNvSpPr/>
          <p:nvPr/>
        </p:nvSpPr>
        <p:spPr bwMode="auto">
          <a:xfrm rot="16200000">
            <a:off x="1488282" y="5013059"/>
            <a:ext cx="336550" cy="1516063"/>
          </a:xfrm>
          <a:prstGeom prst="bentArrow">
            <a:avLst>
              <a:gd name="adj1" fmla="val 0"/>
              <a:gd name="adj2" fmla="val 0"/>
              <a:gd name="adj3" fmla="val 0"/>
              <a:gd name="adj4" fmla="val 22981"/>
            </a:avLst>
          </a:prstGeom>
          <a:solidFill>
            <a:schemeClr val="tx2"/>
          </a:solidFill>
          <a:ln w="12700">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grpSp>
        <p:nvGrpSpPr>
          <p:cNvPr id="31" name="Group 30" descr="Diagram for: Shared platform capabilities&#10;AI-based efficiency, Data Map, ">
            <a:extLst>
              <a:ext uri="{FF2B5EF4-FFF2-40B4-BE49-F238E27FC236}">
                <a16:creationId xmlns:a16="http://schemas.microsoft.com/office/drawing/2014/main" id="{EC28419A-B64F-CC52-827D-0D658CDB4F1E}"/>
              </a:ext>
              <a:ext uri="{C183D7F6-B498-43B3-948B-1728B52AA6E4}">
                <adec:decorative xmlns:adec="http://schemas.microsoft.com/office/drawing/2017/decorative" val="1"/>
              </a:ext>
            </a:extLst>
          </p:cNvPr>
          <p:cNvGrpSpPr/>
          <p:nvPr/>
        </p:nvGrpSpPr>
        <p:grpSpPr>
          <a:xfrm>
            <a:off x="9546906" y="5529475"/>
            <a:ext cx="1796862" cy="445133"/>
            <a:chOff x="8754561" y="5597209"/>
            <a:chExt cx="2593915" cy="445133"/>
          </a:xfrm>
          <a:solidFill>
            <a:schemeClr val="accent1"/>
          </a:solidFill>
        </p:grpSpPr>
        <p:sp>
          <p:nvSpPr>
            <p:cNvPr id="32" name="Arrow: Bent 31">
              <a:extLst>
                <a:ext uri="{FF2B5EF4-FFF2-40B4-BE49-F238E27FC236}">
                  <a16:creationId xmlns:a16="http://schemas.microsoft.com/office/drawing/2014/main" id="{BFFC3365-8305-5B41-626E-42DD364CC769}"/>
                </a:ext>
              </a:extLst>
            </p:cNvPr>
            <p:cNvSpPr/>
            <p:nvPr/>
          </p:nvSpPr>
          <p:spPr bwMode="auto">
            <a:xfrm rot="5400000" flipH="1">
              <a:off x="9909175" y="4622800"/>
              <a:ext cx="336550" cy="2432050"/>
            </a:xfrm>
            <a:prstGeom prst="bentArrow">
              <a:avLst>
                <a:gd name="adj1" fmla="val 25000"/>
                <a:gd name="adj2" fmla="val 0"/>
                <a:gd name="adj3" fmla="val 0"/>
                <a:gd name="adj4" fmla="val 22981"/>
              </a:avLst>
            </a:prstGeom>
            <a:grpFill/>
            <a:ln w="12700">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34" name="Oval 33">
              <a:extLst>
                <a:ext uri="{FF2B5EF4-FFF2-40B4-BE49-F238E27FC236}">
                  <a16:creationId xmlns:a16="http://schemas.microsoft.com/office/drawing/2014/main" id="{9C589369-B9D8-8F4B-ABB1-04902CE3A4A3}"/>
                </a:ext>
              </a:extLst>
            </p:cNvPr>
            <p:cNvSpPr/>
            <p:nvPr/>
          </p:nvSpPr>
          <p:spPr bwMode="auto">
            <a:xfrm>
              <a:off x="8754561" y="5966142"/>
              <a:ext cx="110001" cy="76200"/>
            </a:xfrm>
            <a:prstGeom prst="ellipse">
              <a:avLst/>
            </a:prstGeom>
            <a:grp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35" name="Oval 34">
              <a:extLst>
                <a:ext uri="{FF2B5EF4-FFF2-40B4-BE49-F238E27FC236}">
                  <a16:creationId xmlns:a16="http://schemas.microsoft.com/office/drawing/2014/main" id="{B048662F-A759-270D-D427-3FE369C78697}"/>
                </a:ext>
              </a:extLst>
            </p:cNvPr>
            <p:cNvSpPr/>
            <p:nvPr/>
          </p:nvSpPr>
          <p:spPr bwMode="auto">
            <a:xfrm>
              <a:off x="11238475" y="5597209"/>
              <a:ext cx="110001" cy="76200"/>
            </a:xfrm>
            <a:prstGeom prst="ellipse">
              <a:avLst/>
            </a:prstGeom>
            <a:grp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grpSp>
      <p:sp>
        <p:nvSpPr>
          <p:cNvPr id="36" name="Oval 35">
            <a:extLst>
              <a:ext uri="{FF2B5EF4-FFF2-40B4-BE49-F238E27FC236}">
                <a16:creationId xmlns:a16="http://schemas.microsoft.com/office/drawing/2014/main" id="{F678BD2F-0C60-7BDE-4694-1BC30653F3CD}"/>
              </a:ext>
              <a:ext uri="{C183D7F6-B498-43B3-948B-1728B52AA6E4}">
                <adec:decorative xmlns:adec="http://schemas.microsoft.com/office/drawing/2017/decorative" val="1"/>
              </a:ext>
            </a:extLst>
          </p:cNvPr>
          <p:cNvSpPr/>
          <p:nvPr/>
        </p:nvSpPr>
        <p:spPr bwMode="auto">
          <a:xfrm>
            <a:off x="2377386" y="5899995"/>
            <a:ext cx="76200" cy="76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37" name="Oval 36">
            <a:extLst>
              <a:ext uri="{FF2B5EF4-FFF2-40B4-BE49-F238E27FC236}">
                <a16:creationId xmlns:a16="http://schemas.microsoft.com/office/drawing/2014/main" id="{D02EEC54-CB7B-B140-EA74-053DB390994B}"/>
              </a:ext>
              <a:ext uri="{C183D7F6-B498-43B3-948B-1728B52AA6E4}">
                <adec:decorative xmlns:adec="http://schemas.microsoft.com/office/drawing/2017/decorative" val="1"/>
              </a:ext>
            </a:extLst>
          </p:cNvPr>
          <p:cNvSpPr/>
          <p:nvPr/>
        </p:nvSpPr>
        <p:spPr bwMode="auto">
          <a:xfrm>
            <a:off x="863601" y="5529791"/>
            <a:ext cx="76200" cy="76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38" name="Hidden Title 38" descr="Slide title: Shared platform capabilities"/>
          <p:cNvSpPr>
            <a:spLocks noGrp="1"/>
          </p:cNvSpPr>
          <p:nvPr>
            <p:ph type="title"/>
          </p:nvPr>
        </p:nvSpPr>
        <p:spPr>
          <a:xfrm>
            <a:off x="0" y="-457200"/>
            <a:ext cx="9144000" cy="457200"/>
          </a:xfrm>
        </p:spPr>
        <p:txBody>
          <a:bodyPr/>
          <a:lstStyle/>
          <a:p>
            <a:r>
              <a:rPr lang="en-US" sz="100" dirty="0"/>
              <a:t>Shared platform capabilities</a:t>
            </a:r>
          </a:p>
        </p:txBody>
      </p:sp>
    </p:spTree>
    <p:extLst>
      <p:ext uri="{BB962C8B-B14F-4D97-AF65-F5344CB8AC3E}">
        <p14:creationId xmlns:p14="http://schemas.microsoft.com/office/powerpoint/2010/main" val="33989126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47FB4AD-4787-FC09-529C-619E9CE98AF3}"/>
              </a:ext>
            </a:extLst>
          </p:cNvPr>
          <p:cNvSpPr>
            <a:spLocks noGrp="1" noRot="1" noMove="1" noResize="1" noEditPoints="1" noAdjustHandles="1" noChangeArrowheads="1" noChangeShapeType="1"/>
          </p:cNvSpPr>
          <p:nvPr/>
        </p:nvSpPr>
        <p:spPr>
          <a:xfrm>
            <a:off x="0" y="-1852"/>
            <a:ext cx="12192000" cy="6858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14" name="Freeform: Shape 86">
            <a:extLst>
              <a:ext uri="{FF2B5EF4-FFF2-40B4-BE49-F238E27FC236}">
                <a16:creationId xmlns:a16="http://schemas.microsoft.com/office/drawing/2014/main" id="{5347ECFC-C288-0A07-5FEE-C3AFD5A2965F}"/>
              </a:ext>
              <a:ext uri="{C183D7F6-B498-43B3-948B-1728B52AA6E4}">
                <adec:decorative xmlns:adec="http://schemas.microsoft.com/office/drawing/2017/decorative" val="1"/>
              </a:ext>
            </a:extLst>
          </p:cNvPr>
          <p:cNvSpPr/>
          <p:nvPr/>
        </p:nvSpPr>
        <p:spPr>
          <a:xfrm>
            <a:off x="1064339" y="2368809"/>
            <a:ext cx="3501898" cy="2332053"/>
          </a:xfrm>
          <a:custGeom>
            <a:avLst/>
            <a:gdLst/>
            <a:ahLst/>
            <a:cxnLst/>
            <a:rect l="l" t="t" r="r" b="b"/>
            <a:pathLst>
              <a:path w="3493679" h="1087366">
                <a:moveTo>
                  <a:pt x="29609" y="0"/>
                </a:moveTo>
                <a:lnTo>
                  <a:pt x="3464070" y="0"/>
                </a:lnTo>
                <a:cubicBezTo>
                  <a:pt x="3480423" y="0"/>
                  <a:pt x="3493679" y="13256"/>
                  <a:pt x="3493679" y="29609"/>
                </a:cubicBezTo>
                <a:lnTo>
                  <a:pt x="3493679" y="1057757"/>
                </a:lnTo>
                <a:cubicBezTo>
                  <a:pt x="3493679" y="1074110"/>
                  <a:pt x="3480423" y="1087366"/>
                  <a:pt x="3464070" y="1087366"/>
                </a:cubicBezTo>
                <a:lnTo>
                  <a:pt x="29609" y="1087366"/>
                </a:lnTo>
                <a:cubicBezTo>
                  <a:pt x="13256" y="1087366"/>
                  <a:pt x="0" y="1074110"/>
                  <a:pt x="0" y="1057757"/>
                </a:cubicBezTo>
                <a:lnTo>
                  <a:pt x="0" y="925626"/>
                </a:lnTo>
                <a:lnTo>
                  <a:pt x="70764" y="918492"/>
                </a:lnTo>
                <a:cubicBezTo>
                  <a:pt x="246219" y="882589"/>
                  <a:pt x="378203" y="727347"/>
                  <a:pt x="378203" y="541277"/>
                </a:cubicBezTo>
                <a:cubicBezTo>
                  <a:pt x="378203" y="355207"/>
                  <a:pt x="246219" y="199965"/>
                  <a:pt x="70764" y="164062"/>
                </a:cubicBezTo>
                <a:lnTo>
                  <a:pt x="0" y="156928"/>
                </a:lnTo>
                <a:lnTo>
                  <a:pt x="0" y="29609"/>
                </a:lnTo>
                <a:cubicBezTo>
                  <a:pt x="0" y="13256"/>
                  <a:pt x="13256" y="0"/>
                  <a:pt x="29609" y="0"/>
                </a:cubicBezTo>
                <a:close/>
              </a:path>
            </a:pathLst>
          </a:custGeom>
          <a:solidFill>
            <a:srgbClr val="FFFFFF"/>
          </a:solidFill>
          <a:ln w="22225" cap="flat" cmpd="sng" algn="ctr">
            <a:gradFill flip="none" rotWithShape="1">
              <a:gsLst>
                <a:gs pos="0">
                  <a:srgbClr val="3894D1"/>
                </a:gs>
                <a:gs pos="100000">
                  <a:schemeClr val="bg2"/>
                </a:gs>
              </a:gsLst>
              <a:lin ang="8100000" scaled="1"/>
              <a:tileRect/>
            </a:gra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46" name="Rectangle: Top Corners Rounded 125">
            <a:extLst>
              <a:ext uri="{FF2B5EF4-FFF2-40B4-BE49-F238E27FC236}">
                <a16:creationId xmlns:a16="http://schemas.microsoft.com/office/drawing/2014/main" id="{B5916E59-6658-A4B0-486E-4661A7E3A569}"/>
              </a:ext>
              <a:ext uri="{C183D7F6-B498-43B3-948B-1728B52AA6E4}">
                <adec:decorative xmlns:adec="http://schemas.microsoft.com/office/drawing/2017/decorative" val="1"/>
              </a:ext>
            </a:extLst>
          </p:cNvPr>
          <p:cNvSpPr/>
          <p:nvPr/>
        </p:nvSpPr>
        <p:spPr bwMode="auto">
          <a:xfrm>
            <a:off x="5354729" y="1114634"/>
            <a:ext cx="6524925" cy="5550421"/>
          </a:xfrm>
          <a:prstGeom prst="roundRect">
            <a:avLst>
              <a:gd name="adj" fmla="val 3192"/>
            </a:avLst>
          </a:prstGeom>
          <a:solidFill>
            <a:srgbClr val="C3E5FF">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000000"/>
                </a:solidFill>
                <a:latin typeface="Segoe Sans Text"/>
              </a:defRPr>
            </a:lvl1pPr>
            <a:lvl2pPr marL="457183" algn="l" defTabSz="914367" rtl="0" eaLnBrk="1" latinLnBrk="0" hangingPunct="1">
              <a:defRPr sz="1765" kern="1200">
                <a:solidFill>
                  <a:srgbClr val="000000"/>
                </a:solidFill>
                <a:latin typeface="Segoe Sans Text"/>
              </a:defRPr>
            </a:lvl2pPr>
            <a:lvl3pPr marL="914367" algn="l" defTabSz="914367" rtl="0" eaLnBrk="1" latinLnBrk="0" hangingPunct="1">
              <a:defRPr sz="1765" kern="1200">
                <a:solidFill>
                  <a:srgbClr val="000000"/>
                </a:solidFill>
                <a:latin typeface="Segoe Sans Text"/>
              </a:defRPr>
            </a:lvl3pPr>
            <a:lvl4pPr marL="1371550" algn="l" defTabSz="914367" rtl="0" eaLnBrk="1" latinLnBrk="0" hangingPunct="1">
              <a:defRPr sz="1765" kern="1200">
                <a:solidFill>
                  <a:srgbClr val="000000"/>
                </a:solidFill>
                <a:latin typeface="Segoe Sans Text"/>
              </a:defRPr>
            </a:lvl4pPr>
            <a:lvl5pPr marL="1828734" algn="l" defTabSz="914367" rtl="0" eaLnBrk="1" latinLnBrk="0" hangingPunct="1">
              <a:defRPr sz="1765" kern="1200">
                <a:solidFill>
                  <a:srgbClr val="000000"/>
                </a:solidFill>
                <a:latin typeface="Segoe Sans Text"/>
              </a:defRPr>
            </a:lvl5pPr>
            <a:lvl6pPr marL="2285918" algn="l" defTabSz="914367" rtl="0" eaLnBrk="1" latinLnBrk="0" hangingPunct="1">
              <a:defRPr sz="1765" kern="1200">
                <a:solidFill>
                  <a:srgbClr val="000000"/>
                </a:solidFill>
                <a:latin typeface="Segoe Sans Text"/>
              </a:defRPr>
            </a:lvl6pPr>
            <a:lvl7pPr marL="2743101" algn="l" defTabSz="914367" rtl="0" eaLnBrk="1" latinLnBrk="0" hangingPunct="1">
              <a:defRPr sz="1765" kern="1200">
                <a:solidFill>
                  <a:srgbClr val="000000"/>
                </a:solidFill>
                <a:latin typeface="Segoe Sans Text"/>
              </a:defRPr>
            </a:lvl7pPr>
            <a:lvl8pPr marL="3200284" algn="l" defTabSz="914367" rtl="0" eaLnBrk="1" latinLnBrk="0" hangingPunct="1">
              <a:defRPr sz="1765" kern="1200">
                <a:solidFill>
                  <a:srgbClr val="000000"/>
                </a:solidFill>
                <a:latin typeface="Segoe Sans Text"/>
              </a:defRPr>
            </a:lvl8pPr>
            <a:lvl9pPr marL="3657469" algn="l" defTabSz="914367" rtl="0" eaLnBrk="1" latinLnBrk="0" hangingPunct="1">
              <a:defRPr sz="1765" kern="1200">
                <a:solidFill>
                  <a:srgbClr val="000000"/>
                </a:solidFill>
                <a:latin typeface="Segoe Sans Text"/>
              </a:defRPr>
            </a:lvl9p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n-US"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247" name="Rectangle: Top Corners Rounded 125">
            <a:extLst>
              <a:ext uri="{FF2B5EF4-FFF2-40B4-BE49-F238E27FC236}">
                <a16:creationId xmlns:a16="http://schemas.microsoft.com/office/drawing/2014/main" id="{750FE108-4AD9-0045-9A74-93B851303963}"/>
              </a:ext>
              <a:ext uri="{C183D7F6-B498-43B3-948B-1728B52AA6E4}">
                <adec:decorative xmlns:adec="http://schemas.microsoft.com/office/drawing/2017/decorative" val="1"/>
              </a:ext>
            </a:extLst>
          </p:cNvPr>
          <p:cNvSpPr/>
          <p:nvPr/>
        </p:nvSpPr>
        <p:spPr bwMode="auto">
          <a:xfrm>
            <a:off x="5427200" y="1211986"/>
            <a:ext cx="6379983" cy="5327171"/>
          </a:xfrm>
          <a:prstGeom prst="roundRect">
            <a:avLst>
              <a:gd name="adj" fmla="val 1742"/>
            </a:avLst>
          </a:prstGeom>
          <a:solidFill>
            <a:schemeClr val="bg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bIns="91440" rtlCol="0" anchor="t"/>
          <a:lstStyle>
            <a:defPPr>
              <a:defRPr lang="en-US"/>
            </a:defPPr>
            <a:lvl1pPr marL="0" algn="l" defTabSz="914367" rtl="0" eaLnBrk="1" latinLnBrk="0" hangingPunct="1">
              <a:defRPr sz="1765" kern="1200">
                <a:solidFill>
                  <a:srgbClr val="000000"/>
                </a:solidFill>
                <a:latin typeface="Segoe Sans Text"/>
              </a:defRPr>
            </a:lvl1pPr>
            <a:lvl2pPr marL="457183" algn="l" defTabSz="914367" rtl="0" eaLnBrk="1" latinLnBrk="0" hangingPunct="1">
              <a:defRPr sz="1765" kern="1200">
                <a:solidFill>
                  <a:srgbClr val="000000"/>
                </a:solidFill>
                <a:latin typeface="Segoe Sans Text"/>
              </a:defRPr>
            </a:lvl2pPr>
            <a:lvl3pPr marL="914367" algn="l" defTabSz="914367" rtl="0" eaLnBrk="1" latinLnBrk="0" hangingPunct="1">
              <a:defRPr sz="1765" kern="1200">
                <a:solidFill>
                  <a:srgbClr val="000000"/>
                </a:solidFill>
                <a:latin typeface="Segoe Sans Text"/>
              </a:defRPr>
            </a:lvl3pPr>
            <a:lvl4pPr marL="1371550" algn="l" defTabSz="914367" rtl="0" eaLnBrk="1" latinLnBrk="0" hangingPunct="1">
              <a:defRPr sz="1765" kern="1200">
                <a:solidFill>
                  <a:srgbClr val="000000"/>
                </a:solidFill>
                <a:latin typeface="Segoe Sans Text"/>
              </a:defRPr>
            </a:lvl4pPr>
            <a:lvl5pPr marL="1828734" algn="l" defTabSz="914367" rtl="0" eaLnBrk="1" latinLnBrk="0" hangingPunct="1">
              <a:defRPr sz="1765" kern="1200">
                <a:solidFill>
                  <a:srgbClr val="000000"/>
                </a:solidFill>
                <a:latin typeface="Segoe Sans Text"/>
              </a:defRPr>
            </a:lvl5pPr>
            <a:lvl6pPr marL="2285918" algn="l" defTabSz="914367" rtl="0" eaLnBrk="1" latinLnBrk="0" hangingPunct="1">
              <a:defRPr sz="1765" kern="1200">
                <a:solidFill>
                  <a:srgbClr val="000000"/>
                </a:solidFill>
                <a:latin typeface="Segoe Sans Text"/>
              </a:defRPr>
            </a:lvl6pPr>
            <a:lvl7pPr marL="2743101" algn="l" defTabSz="914367" rtl="0" eaLnBrk="1" latinLnBrk="0" hangingPunct="1">
              <a:defRPr sz="1765" kern="1200">
                <a:solidFill>
                  <a:srgbClr val="000000"/>
                </a:solidFill>
                <a:latin typeface="Segoe Sans Text"/>
              </a:defRPr>
            </a:lvl7pPr>
            <a:lvl8pPr marL="3200284" algn="l" defTabSz="914367" rtl="0" eaLnBrk="1" latinLnBrk="0" hangingPunct="1">
              <a:defRPr sz="1765" kern="1200">
                <a:solidFill>
                  <a:srgbClr val="000000"/>
                </a:solidFill>
                <a:latin typeface="Segoe Sans Text"/>
              </a:defRPr>
            </a:lvl8pPr>
            <a:lvl9pPr marL="3657469" algn="l" defTabSz="914367" rtl="0" eaLnBrk="1" latinLnBrk="0" hangingPunct="1">
              <a:defRPr sz="1765" kern="1200">
                <a:solidFill>
                  <a:srgbClr val="000000"/>
                </a:solidFill>
                <a:latin typeface="Segoe Sans Text"/>
              </a:defRPr>
            </a:lvl9pPr>
          </a:lstStyle>
          <a:p>
            <a:pPr marL="0" marR="0" lvl="0" indent="0" algn="l" defTabSz="914367" rtl="0" eaLnBrk="1" fontAlgn="auto" latinLnBrk="0" hangingPunct="1">
              <a:lnSpc>
                <a:spcPct val="100000"/>
              </a:lnSpc>
              <a:spcBef>
                <a:spcPts val="60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241" name="Rectangle: Rounded Corners 240">
            <a:extLst>
              <a:ext uri="{FF2B5EF4-FFF2-40B4-BE49-F238E27FC236}">
                <a16:creationId xmlns:a16="http://schemas.microsoft.com/office/drawing/2014/main" id="{52A2AB2A-AAE7-B29B-DC0D-3D9A838D97D6}"/>
              </a:ext>
            </a:extLst>
          </p:cNvPr>
          <p:cNvSpPr/>
          <p:nvPr/>
        </p:nvSpPr>
        <p:spPr>
          <a:xfrm>
            <a:off x="5528151" y="1302304"/>
            <a:ext cx="6178081" cy="3821462"/>
          </a:xfrm>
          <a:prstGeom prst="roundRect">
            <a:avLst>
              <a:gd name="adj" fmla="val 2428"/>
            </a:avLst>
          </a:prstGeom>
          <a:solidFill>
            <a:srgbClr val="FFFFFF"/>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237" name="Oval 236">
            <a:extLst>
              <a:ext uri="{FF2B5EF4-FFF2-40B4-BE49-F238E27FC236}">
                <a16:creationId xmlns:a16="http://schemas.microsoft.com/office/drawing/2014/main" id="{75E4D229-3CBA-691C-5996-206400D0A9BF}"/>
              </a:ext>
              <a:ext uri="{C183D7F6-B498-43B3-948B-1728B52AA6E4}">
                <adec:decorative xmlns:adec="http://schemas.microsoft.com/office/drawing/2017/decorative" val="1"/>
              </a:ext>
            </a:extLst>
          </p:cNvPr>
          <p:cNvSpPr/>
          <p:nvPr/>
        </p:nvSpPr>
        <p:spPr bwMode="auto">
          <a:xfrm>
            <a:off x="747672" y="1384644"/>
            <a:ext cx="649793" cy="649793"/>
          </a:xfrm>
          <a:prstGeom prst="ellipse">
            <a:avLst/>
          </a:prstGeom>
          <a:gradFill>
            <a:gsLst>
              <a:gs pos="0">
                <a:schemeClr val="accent2"/>
              </a:gs>
              <a:gs pos="100000">
                <a:schemeClr val="tx2"/>
              </a:gs>
            </a:gsLst>
            <a:lin ang="2400000" scaled="0"/>
          </a:gradFill>
          <a:effectLst>
            <a:outerShdw blurRad="177800" dist="50800" dir="2160000" algn="tl" rotWithShape="0">
              <a:prstClr val="black">
                <a:alpha val="17000"/>
              </a:prstClr>
            </a:outerShdw>
          </a:effectLst>
        </p:spPr>
        <p:txBody>
          <a:bodyPr vert="horz"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9" name="Rectangle: Rounded Corners 368">
            <a:extLst>
              <a:ext uri="{FF2B5EF4-FFF2-40B4-BE49-F238E27FC236}">
                <a16:creationId xmlns:a16="http://schemas.microsoft.com/office/drawing/2014/main" id="{9324AA0E-7E63-7E68-7F15-9AFA2D28A1A7}"/>
              </a:ext>
              <a:ext uri="{C183D7F6-B498-43B3-948B-1728B52AA6E4}">
                <adec:decorative xmlns:adec="http://schemas.microsoft.com/office/drawing/2017/decorative" val="1"/>
              </a:ext>
            </a:extLst>
          </p:cNvPr>
          <p:cNvSpPr/>
          <p:nvPr/>
        </p:nvSpPr>
        <p:spPr>
          <a:xfrm>
            <a:off x="5636785" y="1404898"/>
            <a:ext cx="5960812" cy="1539208"/>
          </a:xfrm>
          <a:prstGeom prst="roundRect">
            <a:avLst>
              <a:gd name="adj" fmla="val 2723"/>
            </a:avLst>
          </a:prstGeom>
          <a:solidFill>
            <a:srgbClr val="FFFFFF"/>
          </a:solidFill>
          <a:ln w="22225" cap="flat" cmpd="sng" algn="ctr">
            <a:gradFill>
              <a:gsLst>
                <a:gs pos="0">
                  <a:srgbClr val="3894D1"/>
                </a:gs>
                <a:gs pos="100000">
                  <a:schemeClr val="bg2"/>
                </a:gs>
              </a:gsLst>
              <a:lin ang="3600000" scaled="0"/>
            </a:gra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 name="Title 2">
            <a:extLst>
              <a:ext uri="{FF2B5EF4-FFF2-40B4-BE49-F238E27FC236}">
                <a16:creationId xmlns:a16="http://schemas.microsoft.com/office/drawing/2014/main" id="{D931B80B-47AB-462A-3B6D-12C2B3CA9430}"/>
              </a:ext>
            </a:extLst>
          </p:cNvPr>
          <p:cNvSpPr>
            <a:spLocks noGrp="1"/>
          </p:cNvSpPr>
          <p:nvPr>
            <p:ph type="title"/>
          </p:nvPr>
        </p:nvSpPr>
        <p:spPr/>
        <p:txBody>
          <a:bodyPr>
            <a:normAutofit/>
          </a:bodyPr>
          <a:lstStyle/>
          <a:p>
            <a:r>
              <a:rPr lang="en-US" sz="3300">
                <a:latin typeface="Segoe UI Semibold" panose="020B0702040204020203" pitchFamily="34" charset="0"/>
                <a:cs typeface="Segoe UI Semibold" panose="020B0702040204020203" pitchFamily="34" charset="0"/>
              </a:rPr>
              <a:t>A federated practice paired with user-friendly tools</a:t>
            </a:r>
          </a:p>
        </p:txBody>
      </p:sp>
      <p:cxnSp>
        <p:nvCxnSpPr>
          <p:cNvPr id="5" name="Straight Connector 4">
            <a:extLst>
              <a:ext uri="{FF2B5EF4-FFF2-40B4-BE49-F238E27FC236}">
                <a16:creationId xmlns:a16="http://schemas.microsoft.com/office/drawing/2014/main" id="{07B5C687-EA8C-844C-1821-8E2EB0E4D4B3}"/>
              </a:ext>
              <a:ext uri="{C183D7F6-B498-43B3-948B-1728B52AA6E4}">
                <adec:decorative xmlns:adec="http://schemas.microsoft.com/office/drawing/2017/decorative" val="1"/>
              </a:ext>
            </a:extLst>
          </p:cNvPr>
          <p:cNvCxnSpPr>
            <a:cxnSpLocks/>
          </p:cNvCxnSpPr>
          <p:nvPr/>
        </p:nvCxnSpPr>
        <p:spPr>
          <a:xfrm>
            <a:off x="5030779" y="1790868"/>
            <a:ext cx="0" cy="4874187"/>
          </a:xfrm>
          <a:prstGeom prst="line">
            <a:avLst/>
          </a:prstGeom>
          <a:ln w="12700">
            <a:gradFill>
              <a:gsLst>
                <a:gs pos="100000">
                  <a:schemeClr val="accent4">
                    <a:lumMod val="60000"/>
                    <a:lumOff val="40000"/>
                  </a:schemeClr>
                </a:gs>
                <a:gs pos="0">
                  <a:schemeClr val="bg2"/>
                </a:gs>
              </a:gsLst>
              <a:lin ang="5400000" scaled="0"/>
            </a:gra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7" name="Freeform: Shape 86">
            <a:extLst>
              <a:ext uri="{FF2B5EF4-FFF2-40B4-BE49-F238E27FC236}">
                <a16:creationId xmlns:a16="http://schemas.microsoft.com/office/drawing/2014/main" id="{E6A46455-01D6-CA5A-62FF-0EF900A79266}"/>
              </a:ext>
              <a:ext uri="{C183D7F6-B498-43B3-948B-1728B52AA6E4}">
                <adec:decorative xmlns:adec="http://schemas.microsoft.com/office/drawing/2017/decorative" val="1"/>
              </a:ext>
            </a:extLst>
          </p:cNvPr>
          <p:cNvSpPr/>
          <p:nvPr/>
        </p:nvSpPr>
        <p:spPr>
          <a:xfrm>
            <a:off x="1064339" y="1166176"/>
            <a:ext cx="3493679" cy="1087366"/>
          </a:xfrm>
          <a:custGeom>
            <a:avLst/>
            <a:gdLst/>
            <a:ahLst/>
            <a:cxnLst/>
            <a:rect l="l" t="t" r="r" b="b"/>
            <a:pathLst>
              <a:path w="3493679" h="1087366">
                <a:moveTo>
                  <a:pt x="29609" y="0"/>
                </a:moveTo>
                <a:lnTo>
                  <a:pt x="3464070" y="0"/>
                </a:lnTo>
                <a:cubicBezTo>
                  <a:pt x="3480423" y="0"/>
                  <a:pt x="3493679" y="13256"/>
                  <a:pt x="3493679" y="29609"/>
                </a:cubicBezTo>
                <a:lnTo>
                  <a:pt x="3493679" y="1057757"/>
                </a:lnTo>
                <a:cubicBezTo>
                  <a:pt x="3493679" y="1074110"/>
                  <a:pt x="3480423" y="1087366"/>
                  <a:pt x="3464070" y="1087366"/>
                </a:cubicBezTo>
                <a:lnTo>
                  <a:pt x="29609" y="1087366"/>
                </a:lnTo>
                <a:cubicBezTo>
                  <a:pt x="13256" y="1087366"/>
                  <a:pt x="0" y="1074110"/>
                  <a:pt x="0" y="1057757"/>
                </a:cubicBezTo>
                <a:lnTo>
                  <a:pt x="0" y="925626"/>
                </a:lnTo>
                <a:lnTo>
                  <a:pt x="70764" y="918492"/>
                </a:lnTo>
                <a:cubicBezTo>
                  <a:pt x="246219" y="882589"/>
                  <a:pt x="378203" y="727347"/>
                  <a:pt x="378203" y="541277"/>
                </a:cubicBezTo>
                <a:cubicBezTo>
                  <a:pt x="378203" y="355207"/>
                  <a:pt x="246219" y="199965"/>
                  <a:pt x="70764" y="164062"/>
                </a:cubicBezTo>
                <a:lnTo>
                  <a:pt x="0" y="156928"/>
                </a:lnTo>
                <a:lnTo>
                  <a:pt x="0" y="29609"/>
                </a:lnTo>
                <a:cubicBezTo>
                  <a:pt x="0" y="13256"/>
                  <a:pt x="13256" y="0"/>
                  <a:pt x="29609" y="0"/>
                </a:cubicBezTo>
                <a:close/>
              </a:path>
            </a:pathLst>
          </a:custGeom>
          <a:solidFill>
            <a:srgbClr val="FFFFFF"/>
          </a:solidFill>
          <a:ln w="22225" cap="flat" cmpd="sng" algn="ctr">
            <a:gradFill flip="none" rotWithShape="1">
              <a:gsLst>
                <a:gs pos="0">
                  <a:srgbClr val="3894D1"/>
                </a:gs>
                <a:gs pos="100000">
                  <a:schemeClr val="bg2"/>
                </a:gs>
              </a:gsLst>
              <a:lin ang="8100000" scaled="1"/>
              <a:tileRect/>
            </a:gra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7" name="TextBox 36">
            <a:extLst>
              <a:ext uri="{FF2B5EF4-FFF2-40B4-BE49-F238E27FC236}">
                <a16:creationId xmlns:a16="http://schemas.microsoft.com/office/drawing/2014/main" id="{FADA2968-B1A8-B1EB-49BF-38C01DF23C05}"/>
              </a:ext>
            </a:extLst>
          </p:cNvPr>
          <p:cNvSpPr txBox="1"/>
          <p:nvPr/>
        </p:nvSpPr>
        <p:spPr>
          <a:xfrm>
            <a:off x="1557272" y="1267073"/>
            <a:ext cx="186964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Data Consumers</a:t>
            </a:r>
          </a:p>
        </p:txBody>
      </p:sp>
      <p:sp>
        <p:nvSpPr>
          <p:cNvPr id="38" name="TextBox 37">
            <a:extLst>
              <a:ext uri="{FF2B5EF4-FFF2-40B4-BE49-F238E27FC236}">
                <a16:creationId xmlns:a16="http://schemas.microsoft.com/office/drawing/2014/main" id="{FADA1D28-8675-F894-DEC7-412F84C250A6}"/>
              </a:ext>
            </a:extLst>
          </p:cNvPr>
          <p:cNvSpPr txBox="1"/>
          <p:nvPr/>
        </p:nvSpPr>
        <p:spPr>
          <a:xfrm>
            <a:off x="1774719" y="1577984"/>
            <a:ext cx="2568432"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a:ea typeface="+mn-ea"/>
                <a:cs typeface="+mn-cs"/>
              </a:rPr>
              <a:t>Quickly find relevant, trusted datasets and use streamlined workflows to request access.</a:t>
            </a:r>
          </a:p>
        </p:txBody>
      </p:sp>
      <p:pic>
        <p:nvPicPr>
          <p:cNvPr id="42" name="Picture 41" descr="Illustration for: A federated practice paired with user-friendly tools">
            <a:extLst>
              <a:ext uri="{FF2B5EF4-FFF2-40B4-BE49-F238E27FC236}">
                <a16:creationId xmlns:a16="http://schemas.microsoft.com/office/drawing/2014/main" id="{1157A22E-5A8B-A40F-E69C-D31633F617ED}"/>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84568" y="1421540"/>
            <a:ext cx="576000" cy="576000"/>
          </a:xfrm>
          <a:prstGeom prst="ellipse">
            <a:avLst/>
          </a:prstGeom>
          <a:gradFill>
            <a:gsLst>
              <a:gs pos="0">
                <a:schemeClr val="accent2"/>
              </a:gs>
              <a:gs pos="100000">
                <a:schemeClr val="tx2"/>
              </a:gs>
            </a:gsLst>
            <a:lin ang="2400000" scaled="0"/>
          </a:gradFill>
          <a:effectLst>
            <a:outerShdw blurRad="177800" dist="50800" dir="2160000" algn="tl" rotWithShape="0">
              <a:prstClr val="black">
                <a:alpha val="17000"/>
              </a:prstClr>
            </a:outerShdw>
          </a:effectLst>
        </p:spPr>
      </p:pic>
      <p:sp>
        <p:nvSpPr>
          <p:cNvPr id="51" name="Rounded Rectangle 48">
            <a:extLst>
              <a:ext uri="{FF2B5EF4-FFF2-40B4-BE49-F238E27FC236}">
                <a16:creationId xmlns:a16="http://schemas.microsoft.com/office/drawing/2014/main" id="{B6346C01-E566-71D2-E3B2-DF5726FF3228}"/>
              </a:ext>
              <a:ext uri="{C183D7F6-B498-43B3-948B-1728B52AA6E4}">
                <adec:decorative xmlns:adec="http://schemas.microsoft.com/office/drawing/2017/decorative" val="1"/>
              </a:ext>
            </a:extLst>
          </p:cNvPr>
          <p:cNvSpPr/>
          <p:nvPr/>
        </p:nvSpPr>
        <p:spPr>
          <a:xfrm>
            <a:off x="5634262" y="3357464"/>
            <a:ext cx="5965859" cy="1632256"/>
          </a:xfrm>
          <a:prstGeom prst="roundRect">
            <a:avLst>
              <a:gd name="adj" fmla="val 3790"/>
            </a:avLst>
          </a:prstGeom>
          <a:solidFill>
            <a:srgbClr val="FFFFFF"/>
          </a:solidFill>
          <a:ln w="15875">
            <a:solidFill>
              <a:schemeClr val="accent2"/>
            </a:soli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sp>
        <p:nvSpPr>
          <p:cNvPr id="135" name="TextBox 134">
            <a:extLst>
              <a:ext uri="{FF2B5EF4-FFF2-40B4-BE49-F238E27FC236}">
                <a16:creationId xmlns:a16="http://schemas.microsoft.com/office/drawing/2014/main" id="{0B50FCF6-7328-E97E-72FE-8A78E2DDC905}"/>
              </a:ext>
            </a:extLst>
          </p:cNvPr>
          <p:cNvSpPr txBox="1"/>
          <p:nvPr/>
        </p:nvSpPr>
        <p:spPr>
          <a:xfrm>
            <a:off x="1554791" y="2430099"/>
            <a:ext cx="261956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Data Owners</a:t>
            </a:r>
          </a:p>
        </p:txBody>
      </p:sp>
      <p:sp>
        <p:nvSpPr>
          <p:cNvPr id="136" name="TextBox 135">
            <a:extLst>
              <a:ext uri="{FF2B5EF4-FFF2-40B4-BE49-F238E27FC236}">
                <a16:creationId xmlns:a16="http://schemas.microsoft.com/office/drawing/2014/main" id="{981BDED4-4662-1735-6D0C-AE9A8617FE07}"/>
              </a:ext>
            </a:extLst>
          </p:cNvPr>
          <p:cNvSpPr txBox="1"/>
          <p:nvPr/>
        </p:nvSpPr>
        <p:spPr>
          <a:xfrm>
            <a:off x="1609965" y="2692558"/>
            <a:ext cx="2524843" cy="20313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a:ea typeface="+mn-ea"/>
                <a:cs typeface="+mn-cs"/>
              </a:rPr>
              <a:t>Register data assets for use, manage classifications and access, and ensure high quality standards.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rPr>
              <a:t>Ensure data quality, seamless data discovery, glossary consistency, and lineage. Work with central office. </a:t>
            </a: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8" name="Oval 137">
            <a:extLst>
              <a:ext uri="{FF2B5EF4-FFF2-40B4-BE49-F238E27FC236}">
                <a16:creationId xmlns:a16="http://schemas.microsoft.com/office/drawing/2014/main" id="{AB556F13-FCB5-646B-E680-FB179822DD06}"/>
              </a:ext>
              <a:ext uri="{C183D7F6-B498-43B3-948B-1728B52AA6E4}">
                <adec:decorative xmlns:adec="http://schemas.microsoft.com/office/drawing/2017/decorative" val="1"/>
              </a:ext>
            </a:extLst>
          </p:cNvPr>
          <p:cNvSpPr/>
          <p:nvPr/>
        </p:nvSpPr>
        <p:spPr bwMode="auto">
          <a:xfrm>
            <a:off x="750126" y="2588070"/>
            <a:ext cx="649793" cy="649793"/>
          </a:xfrm>
          <a:prstGeom prst="ellipse">
            <a:avLst/>
          </a:prstGeom>
          <a:gradFill>
            <a:gsLst>
              <a:gs pos="0">
                <a:schemeClr val="accent2"/>
              </a:gs>
              <a:gs pos="100000">
                <a:schemeClr val="tx2"/>
              </a:gs>
            </a:gsLst>
            <a:lin ang="2400000" scaled="0"/>
          </a:gradFill>
          <a:effectLst>
            <a:outerShdw blurRad="177800" dist="50800" dir="2160000" algn="tl" rotWithShape="0">
              <a:prstClr val="black">
                <a:alpha val="17000"/>
              </a:prstClr>
            </a:outerShdw>
          </a:effectLst>
        </p:spPr>
        <p:txBody>
          <a:bodyPr vert="horz"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139" name="Picture 138" descr="Illustration for: A federated practice paired with user-friendly tools">
            <a:extLst>
              <a:ext uri="{FF2B5EF4-FFF2-40B4-BE49-F238E27FC236}">
                <a16:creationId xmlns:a16="http://schemas.microsoft.com/office/drawing/2014/main" id="{0125C9F3-415D-75B3-3E35-31A1434EEFEB}"/>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8212" t="14218" r="39503" b="57591"/>
          <a:stretch/>
        </p:blipFill>
        <p:spPr>
          <a:xfrm>
            <a:off x="787022" y="2624966"/>
            <a:ext cx="576000" cy="576000"/>
          </a:xfrm>
          <a:prstGeom prst="ellipse">
            <a:avLst/>
          </a:prstGeom>
        </p:spPr>
      </p:pic>
      <p:grpSp>
        <p:nvGrpSpPr>
          <p:cNvPr id="52" name="Group 51" descr="Diagram for: A federated practice paired with user-friendly tools">
            <a:extLst>
              <a:ext uri="{FF2B5EF4-FFF2-40B4-BE49-F238E27FC236}">
                <a16:creationId xmlns:a16="http://schemas.microsoft.com/office/drawing/2014/main" id="{808CD4F6-04A4-58F2-9B3A-741349938BA3}"/>
              </a:ext>
              <a:ext uri="{C183D7F6-B498-43B3-948B-1728B52AA6E4}">
                <adec:decorative xmlns:adec="http://schemas.microsoft.com/office/drawing/2017/decorative" val="1"/>
              </a:ext>
            </a:extLst>
          </p:cNvPr>
          <p:cNvGrpSpPr/>
          <p:nvPr/>
        </p:nvGrpSpPr>
        <p:grpSpPr>
          <a:xfrm>
            <a:off x="704333" y="4989720"/>
            <a:ext cx="649793" cy="649793"/>
            <a:chOff x="257121" y="4943961"/>
            <a:chExt cx="649793" cy="649793"/>
          </a:xfrm>
        </p:grpSpPr>
        <p:sp>
          <p:nvSpPr>
            <p:cNvPr id="11" name="Oval 10">
              <a:extLst>
                <a:ext uri="{FF2B5EF4-FFF2-40B4-BE49-F238E27FC236}">
                  <a16:creationId xmlns:a16="http://schemas.microsoft.com/office/drawing/2014/main" id="{E658B02F-168F-3172-C923-9286280FC289}"/>
                </a:ext>
                <a:ext uri="{C183D7F6-B498-43B3-948B-1728B52AA6E4}">
                  <adec:decorative xmlns:adec="http://schemas.microsoft.com/office/drawing/2017/decorative" val="1"/>
                </a:ext>
              </a:extLst>
            </p:cNvPr>
            <p:cNvSpPr/>
            <p:nvPr/>
          </p:nvSpPr>
          <p:spPr bwMode="auto">
            <a:xfrm>
              <a:off x="257121" y="4943961"/>
              <a:ext cx="649793" cy="649793"/>
            </a:xfrm>
            <a:prstGeom prst="ellipse">
              <a:avLst/>
            </a:prstGeom>
            <a:gradFill flip="none" rotWithShape="1">
              <a:gsLst>
                <a:gs pos="0">
                  <a:schemeClr val="accent2"/>
                </a:gs>
                <a:gs pos="100000">
                  <a:schemeClr val="accent2">
                    <a:lumMod val="75000"/>
                  </a:schemeClr>
                </a:gs>
              </a:gsLst>
              <a:lin ang="0" scaled="1"/>
              <a:tileRect/>
            </a:gradFill>
            <a:effectLst>
              <a:outerShdw blurRad="177800" dist="50800" dir="2160000" algn="tl" rotWithShape="0">
                <a:prstClr val="black">
                  <a:alpha val="17000"/>
                </a:prstClr>
              </a:outerShdw>
            </a:effectLst>
          </p:spPr>
          <p:txBody>
            <a:bodyPr vert="horz"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27" name="Picture 26">
              <a:extLst>
                <a:ext uri="{FF2B5EF4-FFF2-40B4-BE49-F238E27FC236}">
                  <a16:creationId xmlns:a16="http://schemas.microsoft.com/office/drawing/2014/main" id="{BBBFE5E2-8405-0F98-9288-F1E519C1C277}"/>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049" t="-1" r="24754" b="38212"/>
            <a:stretch/>
          </p:blipFill>
          <p:spPr>
            <a:xfrm>
              <a:off x="295420" y="4982799"/>
              <a:ext cx="576081" cy="576081"/>
            </a:xfrm>
            <a:prstGeom prst="ellipse">
              <a:avLst/>
            </a:prstGeom>
            <a:gradFill>
              <a:gsLst>
                <a:gs pos="80712">
                  <a:srgbClr val="7A75C1"/>
                </a:gs>
                <a:gs pos="18000">
                  <a:srgbClr val="49C5B1"/>
                </a:gs>
                <a:gs pos="96000">
                  <a:srgbClr val="8661C5"/>
                </a:gs>
              </a:gsLst>
              <a:lin ang="2700000" scaled="1"/>
            </a:gradFill>
            <a:ln>
              <a:noFill/>
            </a:ln>
            <a:effectLst>
              <a:outerShdw blurRad="101600" dist="50800" dir="2700000" algn="tl" rotWithShape="0">
                <a:srgbClr val="000000">
                  <a:lumMod val="50000"/>
                  <a:lumOff val="50000"/>
                  <a:alpha val="20000"/>
                </a:srgbClr>
              </a:outerShdw>
            </a:effectLst>
          </p:spPr>
        </p:pic>
      </p:grpSp>
      <p:grpSp>
        <p:nvGrpSpPr>
          <p:cNvPr id="30" name="Group 29" descr="Diagram for: A federated practice paired with user-friendly tools">
            <a:extLst>
              <a:ext uri="{FF2B5EF4-FFF2-40B4-BE49-F238E27FC236}">
                <a16:creationId xmlns:a16="http://schemas.microsoft.com/office/drawing/2014/main" id="{E0D3D279-9F67-D7C1-A589-CB62023BAF3C}"/>
              </a:ext>
              <a:ext uri="{C183D7F6-B498-43B3-948B-1728B52AA6E4}">
                <adec:decorative xmlns:adec="http://schemas.microsoft.com/office/drawing/2017/decorative" val="1"/>
              </a:ext>
            </a:extLst>
          </p:cNvPr>
          <p:cNvGrpSpPr/>
          <p:nvPr/>
        </p:nvGrpSpPr>
        <p:grpSpPr>
          <a:xfrm>
            <a:off x="6205910" y="2070861"/>
            <a:ext cx="604414" cy="581271"/>
            <a:chOff x="5155850" y="2998004"/>
            <a:chExt cx="728729" cy="665158"/>
          </a:xfrm>
          <a:solidFill>
            <a:srgbClr val="0078D3">
              <a:lumMod val="20000"/>
              <a:lumOff val="80000"/>
            </a:srgbClr>
          </a:solidFill>
        </p:grpSpPr>
        <p:grpSp>
          <p:nvGrpSpPr>
            <p:cNvPr id="31" name="Group 30" descr="Operations">
              <a:extLst>
                <a:ext uri="{FF2B5EF4-FFF2-40B4-BE49-F238E27FC236}">
                  <a16:creationId xmlns:a16="http://schemas.microsoft.com/office/drawing/2014/main" id="{2FE9F620-B8CF-8594-4B97-05C55599F73B}"/>
                </a:ext>
              </a:extLst>
            </p:cNvPr>
            <p:cNvGrpSpPr/>
            <p:nvPr/>
          </p:nvGrpSpPr>
          <p:grpSpPr>
            <a:xfrm>
              <a:off x="5155850" y="2998004"/>
              <a:ext cx="728729" cy="571049"/>
              <a:chOff x="5155850" y="3155058"/>
              <a:chExt cx="728729" cy="571049"/>
            </a:xfrm>
            <a:grpFill/>
          </p:grpSpPr>
          <p:grpSp>
            <p:nvGrpSpPr>
              <p:cNvPr id="68" name="Group 67">
                <a:extLst>
                  <a:ext uri="{FF2B5EF4-FFF2-40B4-BE49-F238E27FC236}">
                    <a16:creationId xmlns:a16="http://schemas.microsoft.com/office/drawing/2014/main" id="{0D2E8B50-50D4-D5F5-A110-1C64765A41A8}"/>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73" name="Freeform 24">
                  <a:extLst>
                    <a:ext uri="{FF2B5EF4-FFF2-40B4-BE49-F238E27FC236}">
                      <a16:creationId xmlns:a16="http://schemas.microsoft.com/office/drawing/2014/main" id="{5EDD1C35-E905-4EE8-ACF6-5C5C6AC90BD0}"/>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4" name="Freeform 25">
                  <a:extLst>
                    <a:ext uri="{FF2B5EF4-FFF2-40B4-BE49-F238E27FC236}">
                      <a16:creationId xmlns:a16="http://schemas.microsoft.com/office/drawing/2014/main" id="{94E62849-D07D-F31B-581B-955D03F6B517}"/>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69" name="Text Placeholder 112">
                <a:extLst>
                  <a:ext uri="{FF2B5EF4-FFF2-40B4-BE49-F238E27FC236}">
                    <a16:creationId xmlns:a16="http://schemas.microsoft.com/office/drawing/2014/main" id="{EFE9E73E-E708-B39D-5174-9E8F764C28E7}"/>
                  </a:ext>
                </a:extLst>
              </p:cNvPr>
              <p:cNvSpPr txBox="1">
                <a:spLocks/>
              </p:cNvSpPr>
              <p:nvPr/>
            </p:nvSpPr>
            <p:spPr>
              <a:xfrm>
                <a:off x="5447940" y="3486873"/>
                <a:ext cx="235642"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Sales</a:t>
                </a:r>
              </a:p>
            </p:txBody>
          </p:sp>
        </p:grpSp>
        <p:grpSp>
          <p:nvGrpSpPr>
            <p:cNvPr id="32" name="Group 31">
              <a:extLst>
                <a:ext uri="{FF2B5EF4-FFF2-40B4-BE49-F238E27FC236}">
                  <a16:creationId xmlns:a16="http://schemas.microsoft.com/office/drawing/2014/main" id="{7C3AD0A2-1442-AE3E-373E-FBA285493C4E}"/>
                </a:ext>
              </a:extLst>
            </p:cNvPr>
            <p:cNvGrpSpPr/>
            <p:nvPr/>
          </p:nvGrpSpPr>
          <p:grpSpPr>
            <a:xfrm>
              <a:off x="5439471" y="3544277"/>
              <a:ext cx="112289" cy="116842"/>
              <a:chOff x="3735764" y="4887712"/>
              <a:chExt cx="247650" cy="257690"/>
            </a:xfrm>
            <a:grpFill/>
          </p:grpSpPr>
          <p:sp>
            <p:nvSpPr>
              <p:cNvPr id="61" name="Freeform: Shape 60">
                <a:extLst>
                  <a:ext uri="{FF2B5EF4-FFF2-40B4-BE49-F238E27FC236}">
                    <a16:creationId xmlns:a16="http://schemas.microsoft.com/office/drawing/2014/main" id="{497BACB0-C5F7-9F9A-1187-61F61D4270F0}"/>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2" name="Freeform: Shape 61">
                <a:extLst>
                  <a:ext uri="{FF2B5EF4-FFF2-40B4-BE49-F238E27FC236}">
                    <a16:creationId xmlns:a16="http://schemas.microsoft.com/office/drawing/2014/main" id="{1A010E1E-7633-0D6B-06AE-901CD2844EB3}"/>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3" name="Freeform: Shape 62">
                <a:extLst>
                  <a:ext uri="{FF2B5EF4-FFF2-40B4-BE49-F238E27FC236}">
                    <a16:creationId xmlns:a16="http://schemas.microsoft.com/office/drawing/2014/main" id="{797E8EA4-1CF3-E279-F581-6A676F562F62}"/>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4" name="Freeform: Shape 63">
                <a:extLst>
                  <a:ext uri="{FF2B5EF4-FFF2-40B4-BE49-F238E27FC236}">
                    <a16:creationId xmlns:a16="http://schemas.microsoft.com/office/drawing/2014/main" id="{28DA984E-4CE0-78C9-3767-A22968DE1E78}"/>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5" name="Freeform: Shape 64">
                <a:extLst>
                  <a:ext uri="{FF2B5EF4-FFF2-40B4-BE49-F238E27FC236}">
                    <a16:creationId xmlns:a16="http://schemas.microsoft.com/office/drawing/2014/main" id="{7E9544F2-1AB4-326A-96BD-09C84B07BDD0}"/>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6" name="Freeform: Shape 65">
                <a:extLst>
                  <a:ext uri="{FF2B5EF4-FFF2-40B4-BE49-F238E27FC236}">
                    <a16:creationId xmlns:a16="http://schemas.microsoft.com/office/drawing/2014/main" id="{B96280A5-7F89-0F85-9CDC-A8763088CDC8}"/>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7" name="Freeform: Shape 66">
                <a:extLst>
                  <a:ext uri="{FF2B5EF4-FFF2-40B4-BE49-F238E27FC236}">
                    <a16:creationId xmlns:a16="http://schemas.microsoft.com/office/drawing/2014/main" id="{04366671-B7CF-C432-6B0D-2E043590D77C}"/>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33" name="Group 32">
              <a:extLst>
                <a:ext uri="{FF2B5EF4-FFF2-40B4-BE49-F238E27FC236}">
                  <a16:creationId xmlns:a16="http://schemas.microsoft.com/office/drawing/2014/main" id="{A4D1A05F-6550-3A9E-F822-B81B9C83048C}"/>
                </a:ext>
              </a:extLst>
            </p:cNvPr>
            <p:cNvGrpSpPr/>
            <p:nvPr/>
          </p:nvGrpSpPr>
          <p:grpSpPr>
            <a:xfrm>
              <a:off x="5666264" y="3542234"/>
              <a:ext cx="95015" cy="120928"/>
              <a:chOff x="3878639" y="6897922"/>
              <a:chExt cx="209550" cy="266701"/>
            </a:xfrm>
            <a:grpFill/>
          </p:grpSpPr>
          <p:sp>
            <p:nvSpPr>
              <p:cNvPr id="57" name="Freeform: Shape 56">
                <a:extLst>
                  <a:ext uri="{FF2B5EF4-FFF2-40B4-BE49-F238E27FC236}">
                    <a16:creationId xmlns:a16="http://schemas.microsoft.com/office/drawing/2014/main" id="{F4945674-7272-3768-1370-7603C450A610}"/>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0" name="Freeform: Shape 59">
                <a:extLst>
                  <a:ext uri="{FF2B5EF4-FFF2-40B4-BE49-F238E27FC236}">
                    <a16:creationId xmlns:a16="http://schemas.microsoft.com/office/drawing/2014/main" id="{B7CDDA33-0828-A75E-2442-80D02049166C}"/>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35" name="Group 34">
              <a:extLst>
                <a:ext uri="{FF2B5EF4-FFF2-40B4-BE49-F238E27FC236}">
                  <a16:creationId xmlns:a16="http://schemas.microsoft.com/office/drawing/2014/main" id="{DEE25806-3F83-F82C-8331-C1CE80794BFB}"/>
                </a:ext>
              </a:extLst>
            </p:cNvPr>
            <p:cNvGrpSpPr/>
            <p:nvPr/>
          </p:nvGrpSpPr>
          <p:grpSpPr>
            <a:xfrm>
              <a:off x="5207277" y="3544277"/>
              <a:ext cx="117689" cy="116843"/>
              <a:chOff x="5200133" y="3503044"/>
              <a:chExt cx="117689" cy="116843"/>
            </a:xfrm>
            <a:grpFill/>
          </p:grpSpPr>
          <p:sp>
            <p:nvSpPr>
              <p:cNvPr id="39" name="Freeform: Shape 38">
                <a:extLst>
                  <a:ext uri="{FF2B5EF4-FFF2-40B4-BE49-F238E27FC236}">
                    <a16:creationId xmlns:a16="http://schemas.microsoft.com/office/drawing/2014/main" id="{3487F0E8-B914-F5EF-45CF-03D9F322076A}"/>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48" name="Freeform: Shape 47">
                <a:extLst>
                  <a:ext uri="{FF2B5EF4-FFF2-40B4-BE49-F238E27FC236}">
                    <a16:creationId xmlns:a16="http://schemas.microsoft.com/office/drawing/2014/main" id="{27E8CACA-0E32-53D0-9A7C-16DEF71F0734}"/>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56" name="Freeform: Shape 55">
                <a:extLst>
                  <a:ext uri="{FF2B5EF4-FFF2-40B4-BE49-F238E27FC236}">
                    <a16:creationId xmlns:a16="http://schemas.microsoft.com/office/drawing/2014/main" id="{26636023-EC01-B8BA-1CB3-72C89247077E}"/>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75" name="Group 74" descr="Diagram for: A federated practice paired with user-friendly tools">
            <a:extLst>
              <a:ext uri="{FF2B5EF4-FFF2-40B4-BE49-F238E27FC236}">
                <a16:creationId xmlns:a16="http://schemas.microsoft.com/office/drawing/2014/main" id="{0118A909-9C4B-822D-DA91-D2CE9F84041F}"/>
              </a:ext>
              <a:ext uri="{C183D7F6-B498-43B3-948B-1728B52AA6E4}">
                <adec:decorative xmlns:adec="http://schemas.microsoft.com/office/drawing/2017/decorative" val="1"/>
              </a:ext>
            </a:extLst>
          </p:cNvPr>
          <p:cNvGrpSpPr/>
          <p:nvPr/>
        </p:nvGrpSpPr>
        <p:grpSpPr>
          <a:xfrm>
            <a:off x="7010790" y="2063126"/>
            <a:ext cx="604414" cy="581271"/>
            <a:chOff x="6371073" y="2998004"/>
            <a:chExt cx="728729" cy="665158"/>
          </a:xfrm>
          <a:solidFill>
            <a:srgbClr val="0078D3">
              <a:lumMod val="20000"/>
              <a:lumOff val="80000"/>
            </a:srgbClr>
          </a:solidFill>
        </p:grpSpPr>
        <p:grpSp>
          <p:nvGrpSpPr>
            <p:cNvPr id="76" name="Group 75" descr="Finance">
              <a:extLst>
                <a:ext uri="{FF2B5EF4-FFF2-40B4-BE49-F238E27FC236}">
                  <a16:creationId xmlns:a16="http://schemas.microsoft.com/office/drawing/2014/main" id="{7593ADAF-4BC1-1575-02AD-4386058A5D0E}"/>
                </a:ext>
              </a:extLst>
            </p:cNvPr>
            <p:cNvGrpSpPr/>
            <p:nvPr/>
          </p:nvGrpSpPr>
          <p:grpSpPr>
            <a:xfrm>
              <a:off x="6371073" y="2998004"/>
              <a:ext cx="728729" cy="571049"/>
              <a:chOff x="5155850" y="3155058"/>
              <a:chExt cx="728729" cy="571049"/>
            </a:xfrm>
            <a:grpFill/>
          </p:grpSpPr>
          <p:grpSp>
            <p:nvGrpSpPr>
              <p:cNvPr id="95" name="Group 94">
                <a:extLst>
                  <a:ext uri="{FF2B5EF4-FFF2-40B4-BE49-F238E27FC236}">
                    <a16:creationId xmlns:a16="http://schemas.microsoft.com/office/drawing/2014/main" id="{1E339D51-FDE0-57C1-DB4B-B7F2F72B2087}"/>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97" name="Freeform 24">
                  <a:extLst>
                    <a:ext uri="{FF2B5EF4-FFF2-40B4-BE49-F238E27FC236}">
                      <a16:creationId xmlns:a16="http://schemas.microsoft.com/office/drawing/2014/main" id="{9A9868FD-1183-3BCB-7866-F442CF9FB1C2}"/>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9" name="Freeform 25">
                  <a:extLst>
                    <a:ext uri="{FF2B5EF4-FFF2-40B4-BE49-F238E27FC236}">
                      <a16:creationId xmlns:a16="http://schemas.microsoft.com/office/drawing/2014/main" id="{3AEA39F1-0B13-7739-7AB7-666DD63AB6DC}"/>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96" name="Text Placeholder 112">
                <a:extLst>
                  <a:ext uri="{FF2B5EF4-FFF2-40B4-BE49-F238E27FC236}">
                    <a16:creationId xmlns:a16="http://schemas.microsoft.com/office/drawing/2014/main" id="{629897EE-8E7B-F147-072B-ECCD01F0BE83}"/>
                  </a:ext>
                </a:extLst>
              </p:cNvPr>
              <p:cNvSpPr txBox="1">
                <a:spLocks/>
              </p:cNvSpPr>
              <p:nvPr/>
            </p:nvSpPr>
            <p:spPr>
              <a:xfrm>
                <a:off x="5325313" y="3486873"/>
                <a:ext cx="480901"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Marketing</a:t>
                </a:r>
              </a:p>
            </p:txBody>
          </p:sp>
        </p:grpSp>
        <p:grpSp>
          <p:nvGrpSpPr>
            <p:cNvPr id="77" name="Group 76">
              <a:extLst>
                <a:ext uri="{FF2B5EF4-FFF2-40B4-BE49-F238E27FC236}">
                  <a16:creationId xmlns:a16="http://schemas.microsoft.com/office/drawing/2014/main" id="{15E86AA0-1F4A-A2E0-03C4-09078E28016D}"/>
                </a:ext>
              </a:extLst>
            </p:cNvPr>
            <p:cNvGrpSpPr/>
            <p:nvPr/>
          </p:nvGrpSpPr>
          <p:grpSpPr>
            <a:xfrm>
              <a:off x="6684015" y="3544277"/>
              <a:ext cx="112289" cy="116842"/>
              <a:chOff x="3735764" y="4887712"/>
              <a:chExt cx="247650" cy="257690"/>
            </a:xfrm>
            <a:grpFill/>
          </p:grpSpPr>
          <p:sp>
            <p:nvSpPr>
              <p:cNvPr id="88" name="Freeform: Shape 87">
                <a:extLst>
                  <a:ext uri="{FF2B5EF4-FFF2-40B4-BE49-F238E27FC236}">
                    <a16:creationId xmlns:a16="http://schemas.microsoft.com/office/drawing/2014/main" id="{B42D562E-B875-8D6E-5E86-1491987D0F36}"/>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9" name="Freeform: Shape 88">
                <a:extLst>
                  <a:ext uri="{FF2B5EF4-FFF2-40B4-BE49-F238E27FC236}">
                    <a16:creationId xmlns:a16="http://schemas.microsoft.com/office/drawing/2014/main" id="{415D29BB-6332-847D-8B24-5DFC252F5038}"/>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0" name="Freeform: Shape 89">
                <a:extLst>
                  <a:ext uri="{FF2B5EF4-FFF2-40B4-BE49-F238E27FC236}">
                    <a16:creationId xmlns:a16="http://schemas.microsoft.com/office/drawing/2014/main" id="{4B67411E-5097-72B1-3E46-B1FAEC7CB725}"/>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1" name="Freeform: Shape 90">
                <a:extLst>
                  <a:ext uri="{FF2B5EF4-FFF2-40B4-BE49-F238E27FC236}">
                    <a16:creationId xmlns:a16="http://schemas.microsoft.com/office/drawing/2014/main" id="{B7F96843-4E36-C490-7C51-6F28D2962B3D}"/>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2" name="Freeform: Shape 91">
                <a:extLst>
                  <a:ext uri="{FF2B5EF4-FFF2-40B4-BE49-F238E27FC236}">
                    <a16:creationId xmlns:a16="http://schemas.microsoft.com/office/drawing/2014/main" id="{3A3AB64B-C9DC-A7E4-0D29-237299AB4EDA}"/>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3" name="Freeform: Shape 92">
                <a:extLst>
                  <a:ext uri="{FF2B5EF4-FFF2-40B4-BE49-F238E27FC236}">
                    <a16:creationId xmlns:a16="http://schemas.microsoft.com/office/drawing/2014/main" id="{9AE5CBB4-F0CB-A871-F295-F8A863E0EBAE}"/>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4" name="Freeform: Shape 93">
                <a:extLst>
                  <a:ext uri="{FF2B5EF4-FFF2-40B4-BE49-F238E27FC236}">
                    <a16:creationId xmlns:a16="http://schemas.microsoft.com/office/drawing/2014/main" id="{0E9931F1-8E2B-06F0-1F7B-07EFB4082CCD}"/>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79" name="Group 78">
              <a:extLst>
                <a:ext uri="{FF2B5EF4-FFF2-40B4-BE49-F238E27FC236}">
                  <a16:creationId xmlns:a16="http://schemas.microsoft.com/office/drawing/2014/main" id="{680D22E7-136E-789F-8FCC-87230DED8DAD}"/>
                </a:ext>
              </a:extLst>
            </p:cNvPr>
            <p:cNvGrpSpPr/>
            <p:nvPr/>
          </p:nvGrpSpPr>
          <p:grpSpPr>
            <a:xfrm>
              <a:off x="6910808" y="3542234"/>
              <a:ext cx="95015" cy="120928"/>
              <a:chOff x="3878639" y="6897922"/>
              <a:chExt cx="209550" cy="266701"/>
            </a:xfrm>
            <a:grpFill/>
          </p:grpSpPr>
          <p:sp>
            <p:nvSpPr>
              <p:cNvPr id="84" name="Freeform: Shape 83">
                <a:extLst>
                  <a:ext uri="{FF2B5EF4-FFF2-40B4-BE49-F238E27FC236}">
                    <a16:creationId xmlns:a16="http://schemas.microsoft.com/office/drawing/2014/main" id="{7472886D-6FBE-8653-B4E9-F0DFF0EB20CE}"/>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6" name="Freeform: Shape 85">
                <a:extLst>
                  <a:ext uri="{FF2B5EF4-FFF2-40B4-BE49-F238E27FC236}">
                    <a16:creationId xmlns:a16="http://schemas.microsoft.com/office/drawing/2014/main" id="{6135F1B6-1867-AD7D-359A-8BB9D795315E}"/>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80" name="Group 79">
              <a:extLst>
                <a:ext uri="{FF2B5EF4-FFF2-40B4-BE49-F238E27FC236}">
                  <a16:creationId xmlns:a16="http://schemas.microsoft.com/office/drawing/2014/main" id="{21C0590F-0D6A-5AFB-6DC1-E35BE232E959}"/>
                </a:ext>
              </a:extLst>
            </p:cNvPr>
            <p:cNvGrpSpPr/>
            <p:nvPr/>
          </p:nvGrpSpPr>
          <p:grpSpPr>
            <a:xfrm>
              <a:off x="6451821" y="3544277"/>
              <a:ext cx="117689" cy="116843"/>
              <a:chOff x="5200133" y="3503044"/>
              <a:chExt cx="117689" cy="116843"/>
            </a:xfrm>
            <a:grpFill/>
          </p:grpSpPr>
          <p:sp>
            <p:nvSpPr>
              <p:cNvPr id="81" name="Freeform: Shape 80">
                <a:extLst>
                  <a:ext uri="{FF2B5EF4-FFF2-40B4-BE49-F238E27FC236}">
                    <a16:creationId xmlns:a16="http://schemas.microsoft.com/office/drawing/2014/main" id="{880B7FA2-3F76-516A-922C-FF5B37DD9A37}"/>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2" name="Freeform: Shape 81">
                <a:extLst>
                  <a:ext uri="{FF2B5EF4-FFF2-40B4-BE49-F238E27FC236}">
                    <a16:creationId xmlns:a16="http://schemas.microsoft.com/office/drawing/2014/main" id="{4A3C363A-BCC6-57BE-FE38-2E995743174C}"/>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3" name="Freeform: Shape 82">
                <a:extLst>
                  <a:ext uri="{FF2B5EF4-FFF2-40B4-BE49-F238E27FC236}">
                    <a16:creationId xmlns:a16="http://schemas.microsoft.com/office/drawing/2014/main" id="{8B997CF8-B6F0-12E8-BCF3-9134DD3F68F1}"/>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03" name="Group 102" descr="Diagram for: A federated practice paired with user-friendly tools">
            <a:extLst>
              <a:ext uri="{FF2B5EF4-FFF2-40B4-BE49-F238E27FC236}">
                <a16:creationId xmlns:a16="http://schemas.microsoft.com/office/drawing/2014/main" id="{47E8BC5A-3916-345F-0090-C7B374CB43E2}"/>
              </a:ext>
              <a:ext uri="{C183D7F6-B498-43B3-948B-1728B52AA6E4}">
                <adec:decorative xmlns:adec="http://schemas.microsoft.com/office/drawing/2017/decorative" val="1"/>
              </a:ext>
            </a:extLst>
          </p:cNvPr>
          <p:cNvGrpSpPr/>
          <p:nvPr/>
        </p:nvGrpSpPr>
        <p:grpSpPr>
          <a:xfrm>
            <a:off x="8626216" y="2063408"/>
            <a:ext cx="604414" cy="581271"/>
            <a:chOff x="9272931" y="2998004"/>
            <a:chExt cx="728729" cy="665158"/>
          </a:xfrm>
          <a:solidFill>
            <a:srgbClr val="0078D3">
              <a:lumMod val="20000"/>
              <a:lumOff val="80000"/>
            </a:srgbClr>
          </a:solidFill>
        </p:grpSpPr>
        <p:grpSp>
          <p:nvGrpSpPr>
            <p:cNvPr id="105" name="Group 104" descr="Marketing">
              <a:extLst>
                <a:ext uri="{FF2B5EF4-FFF2-40B4-BE49-F238E27FC236}">
                  <a16:creationId xmlns:a16="http://schemas.microsoft.com/office/drawing/2014/main" id="{374F1332-60C8-60E7-538A-1D279746C17B}"/>
                </a:ext>
              </a:extLst>
            </p:cNvPr>
            <p:cNvGrpSpPr/>
            <p:nvPr/>
          </p:nvGrpSpPr>
          <p:grpSpPr>
            <a:xfrm>
              <a:off x="9272931" y="2998004"/>
              <a:ext cx="728729" cy="571049"/>
              <a:chOff x="5155850" y="3155058"/>
              <a:chExt cx="728729" cy="571049"/>
            </a:xfrm>
            <a:grpFill/>
          </p:grpSpPr>
          <p:grpSp>
            <p:nvGrpSpPr>
              <p:cNvPr id="134" name="Group 133">
                <a:extLst>
                  <a:ext uri="{FF2B5EF4-FFF2-40B4-BE49-F238E27FC236}">
                    <a16:creationId xmlns:a16="http://schemas.microsoft.com/office/drawing/2014/main" id="{A98D6319-C578-E562-95D2-9BE5B9C43964}"/>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142" name="Freeform 24">
                  <a:extLst>
                    <a:ext uri="{FF2B5EF4-FFF2-40B4-BE49-F238E27FC236}">
                      <a16:creationId xmlns:a16="http://schemas.microsoft.com/office/drawing/2014/main" id="{4E239CD9-FD0A-25B0-B0AE-B0100FE71179}"/>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3" name="Freeform 25">
                  <a:extLst>
                    <a:ext uri="{FF2B5EF4-FFF2-40B4-BE49-F238E27FC236}">
                      <a16:creationId xmlns:a16="http://schemas.microsoft.com/office/drawing/2014/main" id="{AF07ECFE-67CA-A065-20B8-51D6B38BF5E6}"/>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41" name="Text Placeholder 112">
                <a:extLst>
                  <a:ext uri="{FF2B5EF4-FFF2-40B4-BE49-F238E27FC236}">
                    <a16:creationId xmlns:a16="http://schemas.microsoft.com/office/drawing/2014/main" id="{3607DB89-3A12-0300-CF38-B7AC747302E7}"/>
                  </a:ext>
                </a:extLst>
              </p:cNvPr>
              <p:cNvSpPr txBox="1">
                <a:spLocks/>
              </p:cNvSpPr>
              <p:nvPr/>
            </p:nvSpPr>
            <p:spPr>
              <a:xfrm>
                <a:off x="5308480" y="3486873"/>
                <a:ext cx="514564"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Operations</a:t>
                </a:r>
              </a:p>
            </p:txBody>
          </p:sp>
        </p:grpSp>
        <p:grpSp>
          <p:nvGrpSpPr>
            <p:cNvPr id="107" name="Group 106">
              <a:extLst>
                <a:ext uri="{FF2B5EF4-FFF2-40B4-BE49-F238E27FC236}">
                  <a16:creationId xmlns:a16="http://schemas.microsoft.com/office/drawing/2014/main" id="{A43ED8D1-B03C-9082-FC0B-09D8B8009F78}"/>
                </a:ext>
              </a:extLst>
            </p:cNvPr>
            <p:cNvGrpSpPr/>
            <p:nvPr/>
          </p:nvGrpSpPr>
          <p:grpSpPr>
            <a:xfrm>
              <a:off x="9570962" y="3544277"/>
              <a:ext cx="112289" cy="116842"/>
              <a:chOff x="3735764" y="4887712"/>
              <a:chExt cx="247650" cy="257690"/>
            </a:xfrm>
            <a:grpFill/>
          </p:grpSpPr>
          <p:sp>
            <p:nvSpPr>
              <p:cNvPr id="125" name="Freeform: Shape 124">
                <a:extLst>
                  <a:ext uri="{FF2B5EF4-FFF2-40B4-BE49-F238E27FC236}">
                    <a16:creationId xmlns:a16="http://schemas.microsoft.com/office/drawing/2014/main" id="{F72D5999-F376-6F09-523F-A00579FB02FC}"/>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6" name="Freeform: Shape 125">
                <a:extLst>
                  <a:ext uri="{FF2B5EF4-FFF2-40B4-BE49-F238E27FC236}">
                    <a16:creationId xmlns:a16="http://schemas.microsoft.com/office/drawing/2014/main" id="{AF40E8C2-F068-B9A9-6017-B1B7968D9468}"/>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7" name="Freeform: Shape 126">
                <a:extLst>
                  <a:ext uri="{FF2B5EF4-FFF2-40B4-BE49-F238E27FC236}">
                    <a16:creationId xmlns:a16="http://schemas.microsoft.com/office/drawing/2014/main" id="{0E80D1F4-47BB-DB60-82D1-190D065197C2}"/>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8" name="Freeform: Shape 127">
                <a:extLst>
                  <a:ext uri="{FF2B5EF4-FFF2-40B4-BE49-F238E27FC236}">
                    <a16:creationId xmlns:a16="http://schemas.microsoft.com/office/drawing/2014/main" id="{CF69EB82-C9F7-B988-EB5F-1D876E305A95}"/>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9" name="Freeform: Shape 128">
                <a:extLst>
                  <a:ext uri="{FF2B5EF4-FFF2-40B4-BE49-F238E27FC236}">
                    <a16:creationId xmlns:a16="http://schemas.microsoft.com/office/drawing/2014/main" id="{EEF48CB2-62D5-D178-0DA9-5735629E510F}"/>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32" name="Freeform: Shape 131">
                <a:extLst>
                  <a:ext uri="{FF2B5EF4-FFF2-40B4-BE49-F238E27FC236}">
                    <a16:creationId xmlns:a16="http://schemas.microsoft.com/office/drawing/2014/main" id="{55715EB8-E9E6-F67A-F17B-6599DAEBBDD7}"/>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33" name="Freeform: Shape 132">
                <a:extLst>
                  <a:ext uri="{FF2B5EF4-FFF2-40B4-BE49-F238E27FC236}">
                    <a16:creationId xmlns:a16="http://schemas.microsoft.com/office/drawing/2014/main" id="{7BDF7331-4A20-1111-99AD-0A9BA2477648}"/>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09" name="Group 108">
              <a:extLst>
                <a:ext uri="{FF2B5EF4-FFF2-40B4-BE49-F238E27FC236}">
                  <a16:creationId xmlns:a16="http://schemas.microsoft.com/office/drawing/2014/main" id="{A8F88EDE-6903-4248-2BA6-E35F130C97B1}"/>
                </a:ext>
              </a:extLst>
            </p:cNvPr>
            <p:cNvGrpSpPr/>
            <p:nvPr/>
          </p:nvGrpSpPr>
          <p:grpSpPr>
            <a:xfrm>
              <a:off x="9797755" y="3542234"/>
              <a:ext cx="95015" cy="120928"/>
              <a:chOff x="3878639" y="6897922"/>
              <a:chExt cx="209550" cy="266701"/>
            </a:xfrm>
            <a:grpFill/>
          </p:grpSpPr>
          <p:sp>
            <p:nvSpPr>
              <p:cNvPr id="120" name="Freeform: Shape 119">
                <a:extLst>
                  <a:ext uri="{FF2B5EF4-FFF2-40B4-BE49-F238E27FC236}">
                    <a16:creationId xmlns:a16="http://schemas.microsoft.com/office/drawing/2014/main" id="{A6740D3D-0187-1D1F-BF2A-BF2E8B190FFD}"/>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2" name="Freeform: Shape 121">
                <a:extLst>
                  <a:ext uri="{FF2B5EF4-FFF2-40B4-BE49-F238E27FC236}">
                    <a16:creationId xmlns:a16="http://schemas.microsoft.com/office/drawing/2014/main" id="{6C0A1CB8-E55B-E731-6DCB-CCBACF525DFD}"/>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11" name="Group 110">
              <a:extLst>
                <a:ext uri="{FF2B5EF4-FFF2-40B4-BE49-F238E27FC236}">
                  <a16:creationId xmlns:a16="http://schemas.microsoft.com/office/drawing/2014/main" id="{F9F9D175-314E-83BB-DFCF-66E3A6370816}"/>
                </a:ext>
              </a:extLst>
            </p:cNvPr>
            <p:cNvGrpSpPr/>
            <p:nvPr/>
          </p:nvGrpSpPr>
          <p:grpSpPr>
            <a:xfrm>
              <a:off x="9338768" y="3544277"/>
              <a:ext cx="117689" cy="116843"/>
              <a:chOff x="5200133" y="3503044"/>
              <a:chExt cx="117689" cy="116843"/>
            </a:xfrm>
            <a:grpFill/>
          </p:grpSpPr>
          <p:sp>
            <p:nvSpPr>
              <p:cNvPr id="113" name="Freeform: Shape 112">
                <a:extLst>
                  <a:ext uri="{FF2B5EF4-FFF2-40B4-BE49-F238E27FC236}">
                    <a16:creationId xmlns:a16="http://schemas.microsoft.com/office/drawing/2014/main" id="{89AB514E-A34E-E3BF-56AB-CEE9E63D2775}"/>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5" name="Freeform: Shape 114">
                <a:extLst>
                  <a:ext uri="{FF2B5EF4-FFF2-40B4-BE49-F238E27FC236}">
                    <a16:creationId xmlns:a16="http://schemas.microsoft.com/office/drawing/2014/main" id="{64371EC6-1DAD-71EA-279C-C649CA1C2769}"/>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8" name="Freeform: Shape 117">
                <a:extLst>
                  <a:ext uri="{FF2B5EF4-FFF2-40B4-BE49-F238E27FC236}">
                    <a16:creationId xmlns:a16="http://schemas.microsoft.com/office/drawing/2014/main" id="{522ED8EC-04F2-FA60-112D-6E2AD1269681}"/>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44" name="Group 143" descr="Diagram for: A federated practice paired with user-friendly tools">
            <a:extLst>
              <a:ext uri="{FF2B5EF4-FFF2-40B4-BE49-F238E27FC236}">
                <a16:creationId xmlns:a16="http://schemas.microsoft.com/office/drawing/2014/main" id="{BA4BAC6D-C3BF-5AF5-438A-639C3CC83B29}"/>
              </a:ext>
              <a:ext uri="{C183D7F6-B498-43B3-948B-1728B52AA6E4}">
                <adec:decorative xmlns:adec="http://schemas.microsoft.com/office/drawing/2017/decorative" val="1"/>
              </a:ext>
            </a:extLst>
          </p:cNvPr>
          <p:cNvGrpSpPr/>
          <p:nvPr/>
        </p:nvGrpSpPr>
        <p:grpSpPr>
          <a:xfrm>
            <a:off x="9449119" y="2063408"/>
            <a:ext cx="604414" cy="581271"/>
            <a:chOff x="10405869" y="2998004"/>
            <a:chExt cx="728729" cy="665158"/>
          </a:xfrm>
          <a:solidFill>
            <a:srgbClr val="0078D3">
              <a:lumMod val="20000"/>
              <a:lumOff val="80000"/>
            </a:srgbClr>
          </a:solidFill>
        </p:grpSpPr>
        <p:grpSp>
          <p:nvGrpSpPr>
            <p:cNvPr id="145" name="Group 144" descr="Sales">
              <a:extLst>
                <a:ext uri="{FF2B5EF4-FFF2-40B4-BE49-F238E27FC236}">
                  <a16:creationId xmlns:a16="http://schemas.microsoft.com/office/drawing/2014/main" id="{984BDFD0-DA65-126D-27C3-8FDBD105B87F}"/>
                </a:ext>
              </a:extLst>
            </p:cNvPr>
            <p:cNvGrpSpPr/>
            <p:nvPr/>
          </p:nvGrpSpPr>
          <p:grpSpPr>
            <a:xfrm>
              <a:off x="10405869" y="2998004"/>
              <a:ext cx="728729" cy="571049"/>
              <a:chOff x="5155850" y="3155058"/>
              <a:chExt cx="728729" cy="571049"/>
            </a:xfrm>
            <a:grpFill/>
          </p:grpSpPr>
          <p:grpSp>
            <p:nvGrpSpPr>
              <p:cNvPr id="161" name="Group 160">
                <a:extLst>
                  <a:ext uri="{FF2B5EF4-FFF2-40B4-BE49-F238E27FC236}">
                    <a16:creationId xmlns:a16="http://schemas.microsoft.com/office/drawing/2014/main" id="{0531C03F-A550-D588-8FFB-FC95576FCC1C}"/>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163" name="Freeform 24">
                  <a:extLst>
                    <a:ext uri="{FF2B5EF4-FFF2-40B4-BE49-F238E27FC236}">
                      <a16:creationId xmlns:a16="http://schemas.microsoft.com/office/drawing/2014/main" id="{73EFEE73-8184-950A-DEFA-4FFB378F09BD}"/>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4" name="Freeform 25">
                  <a:extLst>
                    <a:ext uri="{FF2B5EF4-FFF2-40B4-BE49-F238E27FC236}">
                      <a16:creationId xmlns:a16="http://schemas.microsoft.com/office/drawing/2014/main" id="{93D5989D-117E-807B-2292-A73E36288F87}"/>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62" name="Text Placeholder 112">
                <a:extLst>
                  <a:ext uri="{FF2B5EF4-FFF2-40B4-BE49-F238E27FC236}">
                    <a16:creationId xmlns:a16="http://schemas.microsoft.com/office/drawing/2014/main" id="{B6FAE835-00D0-207F-0216-0C2DAB62A980}"/>
                  </a:ext>
                </a:extLst>
              </p:cNvPr>
              <p:cNvSpPr txBox="1">
                <a:spLocks/>
              </p:cNvSpPr>
              <p:nvPr/>
            </p:nvSpPr>
            <p:spPr>
              <a:xfrm>
                <a:off x="5389431" y="3486873"/>
                <a:ext cx="352661"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Finance</a:t>
                </a:r>
              </a:p>
            </p:txBody>
          </p:sp>
        </p:grpSp>
        <p:grpSp>
          <p:nvGrpSpPr>
            <p:cNvPr id="146" name="Group 145">
              <a:extLst>
                <a:ext uri="{FF2B5EF4-FFF2-40B4-BE49-F238E27FC236}">
                  <a16:creationId xmlns:a16="http://schemas.microsoft.com/office/drawing/2014/main" id="{289DA310-2503-2B1B-841A-5FB4A422EE98}"/>
                </a:ext>
              </a:extLst>
            </p:cNvPr>
            <p:cNvGrpSpPr/>
            <p:nvPr/>
          </p:nvGrpSpPr>
          <p:grpSpPr>
            <a:xfrm>
              <a:off x="10705474" y="3544277"/>
              <a:ext cx="112289" cy="116842"/>
              <a:chOff x="3735764" y="4887712"/>
              <a:chExt cx="247650" cy="257690"/>
            </a:xfrm>
            <a:grpFill/>
          </p:grpSpPr>
          <p:sp>
            <p:nvSpPr>
              <p:cNvPr id="154" name="Freeform: Shape 153">
                <a:extLst>
                  <a:ext uri="{FF2B5EF4-FFF2-40B4-BE49-F238E27FC236}">
                    <a16:creationId xmlns:a16="http://schemas.microsoft.com/office/drawing/2014/main" id="{0CA162F5-214E-8F64-B3C4-07C3C5913AAB}"/>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5" name="Freeform: Shape 154">
                <a:extLst>
                  <a:ext uri="{FF2B5EF4-FFF2-40B4-BE49-F238E27FC236}">
                    <a16:creationId xmlns:a16="http://schemas.microsoft.com/office/drawing/2014/main" id="{0CC98010-A9A9-11D2-76B3-12ECBCE9C4E3}"/>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6" name="Freeform: Shape 155">
                <a:extLst>
                  <a:ext uri="{FF2B5EF4-FFF2-40B4-BE49-F238E27FC236}">
                    <a16:creationId xmlns:a16="http://schemas.microsoft.com/office/drawing/2014/main" id="{CB4FEF3F-6C69-A577-E9B1-A82515D0D657}"/>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7" name="Freeform: Shape 156">
                <a:extLst>
                  <a:ext uri="{FF2B5EF4-FFF2-40B4-BE49-F238E27FC236}">
                    <a16:creationId xmlns:a16="http://schemas.microsoft.com/office/drawing/2014/main" id="{0CC23BEA-6C2C-9585-F9A3-A0CABEB80A95}"/>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8" name="Freeform: Shape 157">
                <a:extLst>
                  <a:ext uri="{FF2B5EF4-FFF2-40B4-BE49-F238E27FC236}">
                    <a16:creationId xmlns:a16="http://schemas.microsoft.com/office/drawing/2014/main" id="{CDA5D241-9F0A-BB2B-4F91-A42CC43F4FCA}"/>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9" name="Freeform: Shape 158">
                <a:extLst>
                  <a:ext uri="{FF2B5EF4-FFF2-40B4-BE49-F238E27FC236}">
                    <a16:creationId xmlns:a16="http://schemas.microsoft.com/office/drawing/2014/main" id="{C76E8FA1-AD46-F7B3-08B4-4B8C441C6086}"/>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60" name="Freeform: Shape 159">
                <a:extLst>
                  <a:ext uri="{FF2B5EF4-FFF2-40B4-BE49-F238E27FC236}">
                    <a16:creationId xmlns:a16="http://schemas.microsoft.com/office/drawing/2014/main" id="{997B387A-1287-2B27-C1D6-22F0B81E51FF}"/>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47" name="Group 146">
              <a:extLst>
                <a:ext uri="{FF2B5EF4-FFF2-40B4-BE49-F238E27FC236}">
                  <a16:creationId xmlns:a16="http://schemas.microsoft.com/office/drawing/2014/main" id="{3764599D-6A56-52F1-DF68-74FB41D2312C}"/>
                </a:ext>
              </a:extLst>
            </p:cNvPr>
            <p:cNvGrpSpPr/>
            <p:nvPr/>
          </p:nvGrpSpPr>
          <p:grpSpPr>
            <a:xfrm>
              <a:off x="10932267" y="3542234"/>
              <a:ext cx="95015" cy="120928"/>
              <a:chOff x="3878639" y="6897922"/>
              <a:chExt cx="209550" cy="266701"/>
            </a:xfrm>
            <a:grpFill/>
          </p:grpSpPr>
          <p:sp>
            <p:nvSpPr>
              <p:cNvPr id="152" name="Freeform: Shape 151">
                <a:extLst>
                  <a:ext uri="{FF2B5EF4-FFF2-40B4-BE49-F238E27FC236}">
                    <a16:creationId xmlns:a16="http://schemas.microsoft.com/office/drawing/2014/main" id="{CCCED026-CB11-B6FC-DF14-0183073765AE}"/>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3" name="Freeform: Shape 152">
                <a:extLst>
                  <a:ext uri="{FF2B5EF4-FFF2-40B4-BE49-F238E27FC236}">
                    <a16:creationId xmlns:a16="http://schemas.microsoft.com/office/drawing/2014/main" id="{98241580-7EAB-7207-E0B9-84437FF00513}"/>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48" name="Group 147">
              <a:extLst>
                <a:ext uri="{FF2B5EF4-FFF2-40B4-BE49-F238E27FC236}">
                  <a16:creationId xmlns:a16="http://schemas.microsoft.com/office/drawing/2014/main" id="{B59DA5B2-85C0-3B4E-8433-E2570B738CB7}"/>
                </a:ext>
              </a:extLst>
            </p:cNvPr>
            <p:cNvGrpSpPr/>
            <p:nvPr/>
          </p:nvGrpSpPr>
          <p:grpSpPr>
            <a:xfrm>
              <a:off x="10473280" y="3544277"/>
              <a:ext cx="117689" cy="116843"/>
              <a:chOff x="5200133" y="3503044"/>
              <a:chExt cx="117689" cy="116843"/>
            </a:xfrm>
            <a:grpFill/>
          </p:grpSpPr>
          <p:sp>
            <p:nvSpPr>
              <p:cNvPr id="149" name="Freeform: Shape 148">
                <a:extLst>
                  <a:ext uri="{FF2B5EF4-FFF2-40B4-BE49-F238E27FC236}">
                    <a16:creationId xmlns:a16="http://schemas.microsoft.com/office/drawing/2014/main" id="{CFEF13C8-4D7D-391D-F5EA-097842A2518E}"/>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0" name="Freeform: Shape 149">
                <a:extLst>
                  <a:ext uri="{FF2B5EF4-FFF2-40B4-BE49-F238E27FC236}">
                    <a16:creationId xmlns:a16="http://schemas.microsoft.com/office/drawing/2014/main" id="{50B90143-E70D-2CAF-FC2B-06983A75F793}"/>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1" name="Freeform: Shape 150">
                <a:extLst>
                  <a:ext uri="{FF2B5EF4-FFF2-40B4-BE49-F238E27FC236}">
                    <a16:creationId xmlns:a16="http://schemas.microsoft.com/office/drawing/2014/main" id="{504DAB0D-6D57-A31A-F3AD-403875281061}"/>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65" name="Group 164" descr="Diagram for: A federated practice paired with user-friendly tools">
            <a:extLst>
              <a:ext uri="{FF2B5EF4-FFF2-40B4-BE49-F238E27FC236}">
                <a16:creationId xmlns:a16="http://schemas.microsoft.com/office/drawing/2014/main" id="{4785D5A2-5BA5-5E60-7559-2ABCA258C8FA}"/>
              </a:ext>
              <a:ext uri="{C183D7F6-B498-43B3-948B-1728B52AA6E4}">
                <adec:decorative xmlns:adec="http://schemas.microsoft.com/office/drawing/2017/decorative" val="1"/>
              </a:ext>
            </a:extLst>
          </p:cNvPr>
          <p:cNvGrpSpPr/>
          <p:nvPr/>
        </p:nvGrpSpPr>
        <p:grpSpPr>
          <a:xfrm>
            <a:off x="7815670" y="2063126"/>
            <a:ext cx="604414" cy="581271"/>
            <a:chOff x="6371073" y="2998004"/>
            <a:chExt cx="728729" cy="665158"/>
          </a:xfrm>
          <a:solidFill>
            <a:srgbClr val="0078D3">
              <a:lumMod val="20000"/>
              <a:lumOff val="80000"/>
            </a:srgbClr>
          </a:solidFill>
        </p:grpSpPr>
        <p:grpSp>
          <p:nvGrpSpPr>
            <p:cNvPr id="166" name="Group 165" descr="Finance">
              <a:extLst>
                <a:ext uri="{FF2B5EF4-FFF2-40B4-BE49-F238E27FC236}">
                  <a16:creationId xmlns:a16="http://schemas.microsoft.com/office/drawing/2014/main" id="{BAFE9E44-F1B7-A1C2-1126-737B904D17F1}"/>
                </a:ext>
              </a:extLst>
            </p:cNvPr>
            <p:cNvGrpSpPr/>
            <p:nvPr/>
          </p:nvGrpSpPr>
          <p:grpSpPr>
            <a:xfrm>
              <a:off x="6371073" y="2998004"/>
              <a:ext cx="728729" cy="571049"/>
              <a:chOff x="5155850" y="3155058"/>
              <a:chExt cx="728729" cy="571049"/>
            </a:xfrm>
            <a:grpFill/>
          </p:grpSpPr>
          <p:grpSp>
            <p:nvGrpSpPr>
              <p:cNvPr id="182" name="Group 181">
                <a:extLst>
                  <a:ext uri="{FF2B5EF4-FFF2-40B4-BE49-F238E27FC236}">
                    <a16:creationId xmlns:a16="http://schemas.microsoft.com/office/drawing/2014/main" id="{A4087CD0-82BD-9844-40C4-4A3F4DEAEB5D}"/>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184" name="Freeform 24">
                  <a:extLst>
                    <a:ext uri="{FF2B5EF4-FFF2-40B4-BE49-F238E27FC236}">
                      <a16:creationId xmlns:a16="http://schemas.microsoft.com/office/drawing/2014/main" id="{28247A33-E4E9-DBD2-CA71-E1B96ED22E81}"/>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5" name="Freeform 25">
                  <a:extLst>
                    <a:ext uri="{FF2B5EF4-FFF2-40B4-BE49-F238E27FC236}">
                      <a16:creationId xmlns:a16="http://schemas.microsoft.com/office/drawing/2014/main" id="{AE6D40EB-CF0F-0D15-179C-41273BD23789}"/>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83" name="Text Placeholder 112">
                <a:extLst>
                  <a:ext uri="{FF2B5EF4-FFF2-40B4-BE49-F238E27FC236}">
                    <a16:creationId xmlns:a16="http://schemas.microsoft.com/office/drawing/2014/main" id="{C1F8AEE2-2F5F-8C22-048C-1030CFB56A73}"/>
                  </a:ext>
                </a:extLst>
              </p:cNvPr>
              <p:cNvSpPr txBox="1">
                <a:spLocks/>
              </p:cNvSpPr>
              <p:nvPr/>
            </p:nvSpPr>
            <p:spPr>
              <a:xfrm>
                <a:off x="5330972" y="3425161"/>
                <a:ext cx="469590" cy="246535"/>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Human </a:t>
                </a:r>
              </a:p>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Resources</a:t>
                </a:r>
              </a:p>
            </p:txBody>
          </p:sp>
        </p:grpSp>
        <p:grpSp>
          <p:nvGrpSpPr>
            <p:cNvPr id="167" name="Group 166">
              <a:extLst>
                <a:ext uri="{FF2B5EF4-FFF2-40B4-BE49-F238E27FC236}">
                  <a16:creationId xmlns:a16="http://schemas.microsoft.com/office/drawing/2014/main" id="{911086D5-08D9-2709-1B9F-DB4006CE1BFF}"/>
                </a:ext>
              </a:extLst>
            </p:cNvPr>
            <p:cNvGrpSpPr/>
            <p:nvPr/>
          </p:nvGrpSpPr>
          <p:grpSpPr>
            <a:xfrm>
              <a:off x="6684015" y="3544277"/>
              <a:ext cx="112289" cy="116842"/>
              <a:chOff x="3735764" y="4887712"/>
              <a:chExt cx="247650" cy="257690"/>
            </a:xfrm>
            <a:grpFill/>
          </p:grpSpPr>
          <p:sp>
            <p:nvSpPr>
              <p:cNvPr id="175" name="Freeform: Shape 174">
                <a:extLst>
                  <a:ext uri="{FF2B5EF4-FFF2-40B4-BE49-F238E27FC236}">
                    <a16:creationId xmlns:a16="http://schemas.microsoft.com/office/drawing/2014/main" id="{8BC3EDD9-E3D4-0ACD-91F5-D29B24A1B181}"/>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6" name="Freeform: Shape 175">
                <a:extLst>
                  <a:ext uri="{FF2B5EF4-FFF2-40B4-BE49-F238E27FC236}">
                    <a16:creationId xmlns:a16="http://schemas.microsoft.com/office/drawing/2014/main" id="{EE0A1C92-79B2-1D18-ECE2-5DB372181BE6}"/>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7" name="Freeform: Shape 176">
                <a:extLst>
                  <a:ext uri="{FF2B5EF4-FFF2-40B4-BE49-F238E27FC236}">
                    <a16:creationId xmlns:a16="http://schemas.microsoft.com/office/drawing/2014/main" id="{6FB31C24-F05A-D5E5-AC70-D984E1AAF2E4}"/>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8" name="Freeform: Shape 177">
                <a:extLst>
                  <a:ext uri="{FF2B5EF4-FFF2-40B4-BE49-F238E27FC236}">
                    <a16:creationId xmlns:a16="http://schemas.microsoft.com/office/drawing/2014/main" id="{127472DF-C620-2730-0CC2-EBC98089D20F}"/>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9" name="Freeform: Shape 178">
                <a:extLst>
                  <a:ext uri="{FF2B5EF4-FFF2-40B4-BE49-F238E27FC236}">
                    <a16:creationId xmlns:a16="http://schemas.microsoft.com/office/drawing/2014/main" id="{AA9EE8F9-30B9-3633-9991-D00F4694201C}"/>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80" name="Freeform: Shape 179">
                <a:extLst>
                  <a:ext uri="{FF2B5EF4-FFF2-40B4-BE49-F238E27FC236}">
                    <a16:creationId xmlns:a16="http://schemas.microsoft.com/office/drawing/2014/main" id="{1B693DAF-CC19-11B8-8F5E-F274BB043E0D}"/>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81" name="Freeform: Shape 180">
                <a:extLst>
                  <a:ext uri="{FF2B5EF4-FFF2-40B4-BE49-F238E27FC236}">
                    <a16:creationId xmlns:a16="http://schemas.microsoft.com/office/drawing/2014/main" id="{08BDE02C-7259-CC75-B0EF-FD32AFB8281D}"/>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68" name="Group 167">
              <a:extLst>
                <a:ext uri="{FF2B5EF4-FFF2-40B4-BE49-F238E27FC236}">
                  <a16:creationId xmlns:a16="http://schemas.microsoft.com/office/drawing/2014/main" id="{528E99A6-23DD-41B8-E3B8-9BF69E5BE7ED}"/>
                </a:ext>
              </a:extLst>
            </p:cNvPr>
            <p:cNvGrpSpPr/>
            <p:nvPr/>
          </p:nvGrpSpPr>
          <p:grpSpPr>
            <a:xfrm>
              <a:off x="6910808" y="3542234"/>
              <a:ext cx="95015" cy="120928"/>
              <a:chOff x="3878639" y="6897922"/>
              <a:chExt cx="209550" cy="266701"/>
            </a:xfrm>
            <a:grpFill/>
          </p:grpSpPr>
          <p:sp>
            <p:nvSpPr>
              <p:cNvPr id="173" name="Freeform: Shape 172">
                <a:extLst>
                  <a:ext uri="{FF2B5EF4-FFF2-40B4-BE49-F238E27FC236}">
                    <a16:creationId xmlns:a16="http://schemas.microsoft.com/office/drawing/2014/main" id="{90DC3EC9-B459-3FB0-D682-8FCAD28C4B6B}"/>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4" name="Freeform: Shape 173">
                <a:extLst>
                  <a:ext uri="{FF2B5EF4-FFF2-40B4-BE49-F238E27FC236}">
                    <a16:creationId xmlns:a16="http://schemas.microsoft.com/office/drawing/2014/main" id="{AF1706B2-B4F1-ED83-7241-8C4FDE8A38E6}"/>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69" name="Group 168">
              <a:extLst>
                <a:ext uri="{FF2B5EF4-FFF2-40B4-BE49-F238E27FC236}">
                  <a16:creationId xmlns:a16="http://schemas.microsoft.com/office/drawing/2014/main" id="{323B0CE8-B931-8A68-48AB-274D54861129}"/>
                </a:ext>
              </a:extLst>
            </p:cNvPr>
            <p:cNvGrpSpPr/>
            <p:nvPr/>
          </p:nvGrpSpPr>
          <p:grpSpPr>
            <a:xfrm>
              <a:off x="6451821" y="3544277"/>
              <a:ext cx="117689" cy="116843"/>
              <a:chOff x="5200133" y="3503044"/>
              <a:chExt cx="117689" cy="116843"/>
            </a:xfrm>
            <a:grpFill/>
          </p:grpSpPr>
          <p:sp>
            <p:nvSpPr>
              <p:cNvPr id="170" name="Freeform: Shape 169">
                <a:extLst>
                  <a:ext uri="{FF2B5EF4-FFF2-40B4-BE49-F238E27FC236}">
                    <a16:creationId xmlns:a16="http://schemas.microsoft.com/office/drawing/2014/main" id="{4188416A-FD76-D4DF-E246-FFAAD3AE74EB}"/>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1" name="Freeform: Shape 170">
                <a:extLst>
                  <a:ext uri="{FF2B5EF4-FFF2-40B4-BE49-F238E27FC236}">
                    <a16:creationId xmlns:a16="http://schemas.microsoft.com/office/drawing/2014/main" id="{AEEA7F8E-60EC-42A1-F62E-638DB606133D}"/>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2" name="Freeform: Shape 171">
                <a:extLst>
                  <a:ext uri="{FF2B5EF4-FFF2-40B4-BE49-F238E27FC236}">
                    <a16:creationId xmlns:a16="http://schemas.microsoft.com/office/drawing/2014/main" id="{64088F9D-538A-1A2E-07C3-336CD79DD84C}"/>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86" name="Group 185" descr="Diagram for: A federated practice paired with user-friendly tools">
            <a:extLst>
              <a:ext uri="{FF2B5EF4-FFF2-40B4-BE49-F238E27FC236}">
                <a16:creationId xmlns:a16="http://schemas.microsoft.com/office/drawing/2014/main" id="{96AB5E42-F264-64F9-28BE-BF2924EDB45D}"/>
              </a:ext>
              <a:ext uri="{C183D7F6-B498-43B3-948B-1728B52AA6E4}">
                <adec:decorative xmlns:adec="http://schemas.microsoft.com/office/drawing/2017/decorative" val="1"/>
              </a:ext>
            </a:extLst>
          </p:cNvPr>
          <p:cNvGrpSpPr/>
          <p:nvPr/>
        </p:nvGrpSpPr>
        <p:grpSpPr>
          <a:xfrm>
            <a:off x="10272023" y="2063408"/>
            <a:ext cx="604414" cy="581271"/>
            <a:chOff x="10405869" y="2998004"/>
            <a:chExt cx="728729" cy="665158"/>
          </a:xfrm>
          <a:solidFill>
            <a:srgbClr val="0078D3">
              <a:lumMod val="20000"/>
              <a:lumOff val="80000"/>
            </a:srgbClr>
          </a:solidFill>
        </p:grpSpPr>
        <p:grpSp>
          <p:nvGrpSpPr>
            <p:cNvPr id="187" name="Group 186" descr="Sales">
              <a:extLst>
                <a:ext uri="{FF2B5EF4-FFF2-40B4-BE49-F238E27FC236}">
                  <a16:creationId xmlns:a16="http://schemas.microsoft.com/office/drawing/2014/main" id="{409CA086-519A-1F94-F87B-337D02CF2A4E}"/>
                </a:ext>
              </a:extLst>
            </p:cNvPr>
            <p:cNvGrpSpPr/>
            <p:nvPr/>
          </p:nvGrpSpPr>
          <p:grpSpPr>
            <a:xfrm>
              <a:off x="10405869" y="2998004"/>
              <a:ext cx="728729" cy="571049"/>
              <a:chOff x="5155850" y="3155058"/>
              <a:chExt cx="728729" cy="571049"/>
            </a:xfrm>
            <a:grpFill/>
          </p:grpSpPr>
          <p:grpSp>
            <p:nvGrpSpPr>
              <p:cNvPr id="203" name="Group 202">
                <a:extLst>
                  <a:ext uri="{FF2B5EF4-FFF2-40B4-BE49-F238E27FC236}">
                    <a16:creationId xmlns:a16="http://schemas.microsoft.com/office/drawing/2014/main" id="{4DA30976-1AF2-2427-57AF-02F4AE6FB25C}"/>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205" name="Freeform 24">
                  <a:extLst>
                    <a:ext uri="{FF2B5EF4-FFF2-40B4-BE49-F238E27FC236}">
                      <a16:creationId xmlns:a16="http://schemas.microsoft.com/office/drawing/2014/main" id="{487C7558-8E29-6914-D696-4B820305874D}"/>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6" name="Freeform 25">
                  <a:extLst>
                    <a:ext uri="{FF2B5EF4-FFF2-40B4-BE49-F238E27FC236}">
                      <a16:creationId xmlns:a16="http://schemas.microsoft.com/office/drawing/2014/main" id="{8BDFE16F-261F-04EA-5FA4-211654CDB49E}"/>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204" name="Text Placeholder 112">
                <a:extLst>
                  <a:ext uri="{FF2B5EF4-FFF2-40B4-BE49-F238E27FC236}">
                    <a16:creationId xmlns:a16="http://schemas.microsoft.com/office/drawing/2014/main" id="{C3C546F3-65A6-78A4-4199-2983B061FC73}"/>
                  </a:ext>
                </a:extLst>
              </p:cNvPr>
              <p:cNvSpPr txBox="1">
                <a:spLocks/>
              </p:cNvSpPr>
              <p:nvPr/>
            </p:nvSpPr>
            <p:spPr>
              <a:xfrm>
                <a:off x="5253929" y="3486795"/>
                <a:ext cx="623673" cy="123267"/>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Sustainability</a:t>
                </a:r>
              </a:p>
            </p:txBody>
          </p:sp>
        </p:grpSp>
        <p:grpSp>
          <p:nvGrpSpPr>
            <p:cNvPr id="188" name="Group 187">
              <a:extLst>
                <a:ext uri="{FF2B5EF4-FFF2-40B4-BE49-F238E27FC236}">
                  <a16:creationId xmlns:a16="http://schemas.microsoft.com/office/drawing/2014/main" id="{64CA448D-C039-2440-A380-C8254A1A36B8}"/>
                </a:ext>
              </a:extLst>
            </p:cNvPr>
            <p:cNvGrpSpPr/>
            <p:nvPr/>
          </p:nvGrpSpPr>
          <p:grpSpPr>
            <a:xfrm>
              <a:off x="10705474" y="3544277"/>
              <a:ext cx="112289" cy="116842"/>
              <a:chOff x="3735764" y="4887712"/>
              <a:chExt cx="247650" cy="257690"/>
            </a:xfrm>
            <a:grpFill/>
          </p:grpSpPr>
          <p:sp>
            <p:nvSpPr>
              <p:cNvPr id="196" name="Freeform: Shape 195">
                <a:extLst>
                  <a:ext uri="{FF2B5EF4-FFF2-40B4-BE49-F238E27FC236}">
                    <a16:creationId xmlns:a16="http://schemas.microsoft.com/office/drawing/2014/main" id="{4C3AAB7A-747A-F987-3353-CB3F4BDD8447}"/>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7" name="Freeform: Shape 196">
                <a:extLst>
                  <a:ext uri="{FF2B5EF4-FFF2-40B4-BE49-F238E27FC236}">
                    <a16:creationId xmlns:a16="http://schemas.microsoft.com/office/drawing/2014/main" id="{BCAEA73D-BFFF-3E3F-1487-E240ADA86D59}"/>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8" name="Freeform: Shape 197">
                <a:extLst>
                  <a:ext uri="{FF2B5EF4-FFF2-40B4-BE49-F238E27FC236}">
                    <a16:creationId xmlns:a16="http://schemas.microsoft.com/office/drawing/2014/main" id="{2E6170B8-1DB6-3243-A08A-9A00AA25E80F}"/>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9" name="Freeform: Shape 198">
                <a:extLst>
                  <a:ext uri="{FF2B5EF4-FFF2-40B4-BE49-F238E27FC236}">
                    <a16:creationId xmlns:a16="http://schemas.microsoft.com/office/drawing/2014/main" id="{9FD96003-62D7-2E3D-A0D8-7064A2B2EB0F}"/>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200" name="Freeform: Shape 199">
                <a:extLst>
                  <a:ext uri="{FF2B5EF4-FFF2-40B4-BE49-F238E27FC236}">
                    <a16:creationId xmlns:a16="http://schemas.microsoft.com/office/drawing/2014/main" id="{E8626368-0098-7700-75DA-3378146A1D7F}"/>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201" name="Freeform: Shape 200">
                <a:extLst>
                  <a:ext uri="{FF2B5EF4-FFF2-40B4-BE49-F238E27FC236}">
                    <a16:creationId xmlns:a16="http://schemas.microsoft.com/office/drawing/2014/main" id="{57DF1810-C333-5A50-A3AB-61D21BB44568}"/>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202" name="Freeform: Shape 201">
                <a:extLst>
                  <a:ext uri="{FF2B5EF4-FFF2-40B4-BE49-F238E27FC236}">
                    <a16:creationId xmlns:a16="http://schemas.microsoft.com/office/drawing/2014/main" id="{16B02CB6-C87C-AECF-60AF-87C98A3A7E03}"/>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89" name="Group 188">
              <a:extLst>
                <a:ext uri="{FF2B5EF4-FFF2-40B4-BE49-F238E27FC236}">
                  <a16:creationId xmlns:a16="http://schemas.microsoft.com/office/drawing/2014/main" id="{F977CAB2-AA11-165A-E89E-BC1035789E1A}"/>
                </a:ext>
              </a:extLst>
            </p:cNvPr>
            <p:cNvGrpSpPr/>
            <p:nvPr/>
          </p:nvGrpSpPr>
          <p:grpSpPr>
            <a:xfrm>
              <a:off x="10932267" y="3542234"/>
              <a:ext cx="95015" cy="120928"/>
              <a:chOff x="3878639" y="6897922"/>
              <a:chExt cx="209550" cy="266701"/>
            </a:xfrm>
            <a:grpFill/>
          </p:grpSpPr>
          <p:sp>
            <p:nvSpPr>
              <p:cNvPr id="194" name="Freeform: Shape 193">
                <a:extLst>
                  <a:ext uri="{FF2B5EF4-FFF2-40B4-BE49-F238E27FC236}">
                    <a16:creationId xmlns:a16="http://schemas.microsoft.com/office/drawing/2014/main" id="{EAF19EE5-B0BB-8F69-32D9-188F07903641}"/>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5" name="Freeform: Shape 194">
                <a:extLst>
                  <a:ext uri="{FF2B5EF4-FFF2-40B4-BE49-F238E27FC236}">
                    <a16:creationId xmlns:a16="http://schemas.microsoft.com/office/drawing/2014/main" id="{0DADC43A-F5B1-96A0-EA31-466E2245B4BD}"/>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90" name="Group 189">
              <a:extLst>
                <a:ext uri="{FF2B5EF4-FFF2-40B4-BE49-F238E27FC236}">
                  <a16:creationId xmlns:a16="http://schemas.microsoft.com/office/drawing/2014/main" id="{900B6FE4-6217-A7F8-EC1A-7AB5C2B7B84B}"/>
                </a:ext>
              </a:extLst>
            </p:cNvPr>
            <p:cNvGrpSpPr/>
            <p:nvPr/>
          </p:nvGrpSpPr>
          <p:grpSpPr>
            <a:xfrm>
              <a:off x="10473280" y="3544277"/>
              <a:ext cx="117689" cy="116843"/>
              <a:chOff x="5200133" y="3503044"/>
              <a:chExt cx="117689" cy="116843"/>
            </a:xfrm>
            <a:grpFill/>
          </p:grpSpPr>
          <p:sp>
            <p:nvSpPr>
              <p:cNvPr id="191" name="Freeform: Shape 190">
                <a:extLst>
                  <a:ext uri="{FF2B5EF4-FFF2-40B4-BE49-F238E27FC236}">
                    <a16:creationId xmlns:a16="http://schemas.microsoft.com/office/drawing/2014/main" id="{B1BCE171-021E-94DF-90E4-2716D81A2D41}"/>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2" name="Freeform: Shape 191">
                <a:extLst>
                  <a:ext uri="{FF2B5EF4-FFF2-40B4-BE49-F238E27FC236}">
                    <a16:creationId xmlns:a16="http://schemas.microsoft.com/office/drawing/2014/main" id="{2166BC8C-9AE1-052E-4EC4-AFECB34F091E}"/>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3" name="Freeform: Shape 192">
                <a:extLst>
                  <a:ext uri="{FF2B5EF4-FFF2-40B4-BE49-F238E27FC236}">
                    <a16:creationId xmlns:a16="http://schemas.microsoft.com/office/drawing/2014/main" id="{74C88CF1-C52E-6C72-3445-52A8D1A9CDD9}"/>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pic>
        <p:nvPicPr>
          <p:cNvPr id="207" name="Picture 87" descr="Illustration for: A federated practice paired with user-friendly tools">
            <a:extLst>
              <a:ext uri="{FF2B5EF4-FFF2-40B4-BE49-F238E27FC236}">
                <a16:creationId xmlns:a16="http://schemas.microsoft.com/office/drawing/2014/main" id="{208387EA-E350-D780-5BF5-8F65E6AF7CC5}"/>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299827" y="5353223"/>
            <a:ext cx="342291" cy="372038"/>
          </a:xfrm>
          <a:prstGeom prst="rect">
            <a:avLst/>
          </a:prstGeom>
        </p:spPr>
      </p:pic>
      <p:pic>
        <p:nvPicPr>
          <p:cNvPr id="209" name="Picture 91" descr="Illustration for: A federated practice paired with user-friendly tools">
            <a:extLst>
              <a:ext uri="{FF2B5EF4-FFF2-40B4-BE49-F238E27FC236}">
                <a16:creationId xmlns:a16="http://schemas.microsoft.com/office/drawing/2014/main" id="{CC7EBFC2-CD7A-0205-DCBE-B5E686090487}"/>
              </a:ext>
              <a:ext uri="{C183D7F6-B498-43B3-948B-1728B52AA6E4}">
                <adec:decorative xmlns:adec="http://schemas.microsoft.com/office/drawing/2017/decorative" val="1"/>
              </a:ext>
            </a:extLst>
          </p:cNvPr>
          <p:cNvPicPr>
            <a:picLocks noChangeAspect="1"/>
          </p:cNvPicPr>
          <p:nvPr/>
        </p:nvPicPr>
        <p:blipFill rotWithShape="1">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27136" r="26607"/>
          <a:stretch/>
        </p:blipFill>
        <p:spPr>
          <a:xfrm>
            <a:off x="5754211" y="5393419"/>
            <a:ext cx="295424" cy="308465"/>
          </a:xfrm>
          <a:prstGeom prst="rect">
            <a:avLst/>
          </a:prstGeom>
        </p:spPr>
      </p:pic>
      <p:sp>
        <p:nvSpPr>
          <p:cNvPr id="210" name="TextBox 95">
            <a:extLst>
              <a:ext uri="{FF2B5EF4-FFF2-40B4-BE49-F238E27FC236}">
                <a16:creationId xmlns:a16="http://schemas.microsoft.com/office/drawing/2014/main" id="{7F3666F5-C4FD-130C-0330-389E867EAACB}"/>
              </a:ext>
              <a:ext uri="{C183D7F6-B498-43B3-948B-1728B52AA6E4}">
                <adec:decorative xmlns:adec="http://schemas.microsoft.com/office/drawing/2017/decorative" val="1"/>
              </a:ext>
            </a:extLst>
          </p:cNvPr>
          <p:cNvSpPr txBox="1"/>
          <p:nvPr/>
        </p:nvSpPr>
        <p:spPr>
          <a:xfrm>
            <a:off x="6752563" y="5889736"/>
            <a:ext cx="64406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Databricks</a:t>
            </a:r>
          </a:p>
        </p:txBody>
      </p:sp>
      <p:sp>
        <p:nvSpPr>
          <p:cNvPr id="211" name="TextBox 96">
            <a:extLst>
              <a:ext uri="{FF2B5EF4-FFF2-40B4-BE49-F238E27FC236}">
                <a16:creationId xmlns:a16="http://schemas.microsoft.com/office/drawing/2014/main" id="{EB399D32-CD47-C753-C687-6FFFA804F8DE}"/>
              </a:ext>
              <a:ext uri="{C183D7F6-B498-43B3-948B-1728B52AA6E4}">
                <adec:decorative xmlns:adec="http://schemas.microsoft.com/office/drawing/2017/decorative" val="1"/>
              </a:ext>
            </a:extLst>
          </p:cNvPr>
          <p:cNvSpPr txBox="1"/>
          <p:nvPr/>
        </p:nvSpPr>
        <p:spPr>
          <a:xfrm>
            <a:off x="6238607" y="5753976"/>
            <a:ext cx="464730"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Google Cloud Storage</a:t>
            </a:r>
          </a:p>
        </p:txBody>
      </p:sp>
      <p:sp>
        <p:nvSpPr>
          <p:cNvPr id="214" name="TextBox 98">
            <a:extLst>
              <a:ext uri="{FF2B5EF4-FFF2-40B4-BE49-F238E27FC236}">
                <a16:creationId xmlns:a16="http://schemas.microsoft.com/office/drawing/2014/main" id="{214AE280-1E3A-1B7E-C0C3-2FE32930407F}"/>
              </a:ext>
            </a:extLst>
          </p:cNvPr>
          <p:cNvSpPr txBox="1"/>
          <p:nvPr/>
        </p:nvSpPr>
        <p:spPr>
          <a:xfrm>
            <a:off x="7292044" y="5888440"/>
            <a:ext cx="651097"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Fabric</a:t>
            </a:r>
          </a:p>
        </p:txBody>
      </p:sp>
      <p:sp>
        <p:nvSpPr>
          <p:cNvPr id="215" name="Rounded Rectangle 155">
            <a:extLst>
              <a:ext uri="{FF2B5EF4-FFF2-40B4-BE49-F238E27FC236}">
                <a16:creationId xmlns:a16="http://schemas.microsoft.com/office/drawing/2014/main" id="{2064D697-1F5D-FEDE-C704-5F3F38D3EE52}"/>
              </a:ext>
              <a:ext uri="{C183D7F6-B498-43B3-948B-1728B52AA6E4}">
                <adec:decorative xmlns:adec="http://schemas.microsoft.com/office/drawing/2017/decorative" val="1"/>
              </a:ext>
            </a:extLst>
          </p:cNvPr>
          <p:cNvSpPr/>
          <p:nvPr/>
        </p:nvSpPr>
        <p:spPr bwMode="auto">
          <a:xfrm>
            <a:off x="5565006" y="5291180"/>
            <a:ext cx="2395771" cy="885966"/>
          </a:xfrm>
          <a:prstGeom prst="roundRect">
            <a:avLst>
              <a:gd name="adj" fmla="val 7450"/>
            </a:avLst>
          </a:prstGeom>
          <a:noFill/>
          <a:ln w="12700" cap="rnd" cmpd="sng" algn="ctr">
            <a:solidFill>
              <a:schemeClr val="accent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353" b="1"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16" name="TextBox 116">
            <a:extLst>
              <a:ext uri="{FF2B5EF4-FFF2-40B4-BE49-F238E27FC236}">
                <a16:creationId xmlns:a16="http://schemas.microsoft.com/office/drawing/2014/main" id="{52AE6016-F44E-81B4-CF10-CF61837C619A}"/>
              </a:ext>
              <a:ext uri="{C183D7F6-B498-43B3-948B-1728B52AA6E4}">
                <adec:decorative xmlns:adec="http://schemas.microsoft.com/office/drawing/2017/decorative" val="1"/>
              </a:ext>
            </a:extLst>
          </p:cNvPr>
          <p:cNvSpPr txBox="1"/>
          <p:nvPr/>
        </p:nvSpPr>
        <p:spPr>
          <a:xfrm>
            <a:off x="5615435" y="5768044"/>
            <a:ext cx="57297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Data Lake Storage </a:t>
            </a:r>
          </a:p>
        </p:txBody>
      </p:sp>
      <p:pic>
        <p:nvPicPr>
          <p:cNvPr id="217" name="Picture 2" descr="Illustration for: A federated practice paired with user-friendly tools">
            <a:extLst>
              <a:ext uri="{FF2B5EF4-FFF2-40B4-BE49-F238E27FC236}">
                <a16:creationId xmlns:a16="http://schemas.microsoft.com/office/drawing/2014/main" id="{0E4DA440-18AF-CCAC-8D4B-F9A5B862FE43}"/>
              </a:ext>
              <a:ext uri="{C183D7F6-B498-43B3-948B-1728B52AA6E4}">
                <adec:decorative xmlns:adec="http://schemas.microsoft.com/office/drawing/2017/decorative" val="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94596" y="5413284"/>
            <a:ext cx="311394" cy="308465"/>
          </a:xfrm>
          <a:prstGeom prst="rect">
            <a:avLst/>
          </a:prstGeom>
          <a:noFill/>
          <a:extLst>
            <a:ext uri="{909E8E84-426E-40DD-AFC4-6F175D3DCCD1}">
              <a14:hiddenFill xmlns:a14="http://schemas.microsoft.com/office/drawing/2010/main">
                <a:solidFill>
                  <a:srgbClr val="FFFFFF"/>
                </a:solidFill>
              </a14:hiddenFill>
            </a:ext>
          </a:extLst>
        </p:spPr>
      </p:pic>
      <p:pic>
        <p:nvPicPr>
          <p:cNvPr id="218" name="Picture 4" descr="Illustration for: A federated practice paired with user-friendly tools">
            <a:extLst>
              <a:ext uri="{FF2B5EF4-FFF2-40B4-BE49-F238E27FC236}">
                <a16:creationId xmlns:a16="http://schemas.microsoft.com/office/drawing/2014/main" id="{9425CB71-74CC-8335-E35A-FBDC3CD48998}"/>
              </a:ext>
              <a:ext uri="{C183D7F6-B498-43B3-948B-1728B52AA6E4}">
                <adec:decorative xmlns:adec="http://schemas.microsoft.com/office/drawing/2017/decorative" val="1"/>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8019" r="23696"/>
          <a:stretch/>
        </p:blipFill>
        <p:spPr bwMode="auto">
          <a:xfrm>
            <a:off x="8866979" y="5430563"/>
            <a:ext cx="321237" cy="273906"/>
          </a:xfrm>
          <a:prstGeom prst="rect">
            <a:avLst/>
          </a:prstGeom>
          <a:noFill/>
          <a:extLst>
            <a:ext uri="{909E8E84-426E-40DD-AFC4-6F175D3DCCD1}">
              <a14:hiddenFill xmlns:a14="http://schemas.microsoft.com/office/drawing/2010/main">
                <a:solidFill>
                  <a:srgbClr val="FFFFFF"/>
                </a:solidFill>
              </a14:hiddenFill>
            </a:ext>
          </a:extLst>
        </p:spPr>
      </p:pic>
      <p:sp>
        <p:nvSpPr>
          <p:cNvPr id="219" name="TextBox 97">
            <a:extLst>
              <a:ext uri="{FF2B5EF4-FFF2-40B4-BE49-F238E27FC236}">
                <a16:creationId xmlns:a16="http://schemas.microsoft.com/office/drawing/2014/main" id="{43D4974B-5EF7-BC14-7724-CDF7DD9EE7BC}"/>
              </a:ext>
              <a:ext uri="{C183D7F6-B498-43B3-948B-1728B52AA6E4}">
                <adec:decorative xmlns:adec="http://schemas.microsoft.com/office/drawing/2017/decorative" val="1"/>
              </a:ext>
            </a:extLst>
          </p:cNvPr>
          <p:cNvSpPr txBox="1"/>
          <p:nvPr/>
        </p:nvSpPr>
        <p:spPr>
          <a:xfrm>
            <a:off x="8753277" y="5825066"/>
            <a:ext cx="548640" cy="24622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Cosmos DB</a:t>
            </a:r>
          </a:p>
        </p:txBody>
      </p:sp>
      <p:sp>
        <p:nvSpPr>
          <p:cNvPr id="220" name="Rounded Rectangle 155">
            <a:extLst>
              <a:ext uri="{FF2B5EF4-FFF2-40B4-BE49-F238E27FC236}">
                <a16:creationId xmlns:a16="http://schemas.microsoft.com/office/drawing/2014/main" id="{5B94C091-ADE3-D8D9-944A-373ADC488BBC}"/>
              </a:ext>
              <a:ext uri="{C183D7F6-B498-43B3-948B-1728B52AA6E4}">
                <adec:decorative xmlns:adec="http://schemas.microsoft.com/office/drawing/2017/decorative" val="1"/>
              </a:ext>
            </a:extLst>
          </p:cNvPr>
          <p:cNvSpPr/>
          <p:nvPr/>
        </p:nvSpPr>
        <p:spPr bwMode="auto">
          <a:xfrm>
            <a:off x="8071042" y="5291180"/>
            <a:ext cx="2263163" cy="885966"/>
          </a:xfrm>
          <a:prstGeom prst="roundRect">
            <a:avLst>
              <a:gd name="adj" fmla="val 7450"/>
            </a:avLst>
          </a:prstGeom>
          <a:noFill/>
          <a:ln w="12700" cap="rnd" cmpd="sng" algn="ctr">
            <a:solidFill>
              <a:schemeClr val="accent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353" b="1"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21" name="TextBox 115">
            <a:extLst>
              <a:ext uri="{FF2B5EF4-FFF2-40B4-BE49-F238E27FC236}">
                <a16:creationId xmlns:a16="http://schemas.microsoft.com/office/drawing/2014/main" id="{32ABB7FD-60F6-C4A1-F3FC-A8D95D7E19D7}"/>
              </a:ext>
              <a:ext uri="{C183D7F6-B498-43B3-948B-1728B52AA6E4}">
                <adec:decorative xmlns:adec="http://schemas.microsoft.com/office/drawing/2017/decorative" val="1"/>
              </a:ext>
            </a:extLst>
          </p:cNvPr>
          <p:cNvSpPr txBox="1"/>
          <p:nvPr/>
        </p:nvSpPr>
        <p:spPr>
          <a:xfrm>
            <a:off x="9275973" y="5825066"/>
            <a:ext cx="54864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SQLDB</a:t>
            </a:r>
          </a:p>
        </p:txBody>
      </p:sp>
      <p:sp>
        <p:nvSpPr>
          <p:cNvPr id="222" name="TextBox 121">
            <a:extLst>
              <a:ext uri="{FF2B5EF4-FFF2-40B4-BE49-F238E27FC236}">
                <a16:creationId xmlns:a16="http://schemas.microsoft.com/office/drawing/2014/main" id="{FA1BE752-46BF-77CF-3AD8-1AC9423FDC88}"/>
              </a:ext>
              <a:ext uri="{C183D7F6-B498-43B3-948B-1728B52AA6E4}">
                <adec:decorative xmlns:adec="http://schemas.microsoft.com/office/drawing/2017/decorative" val="1"/>
              </a:ext>
            </a:extLst>
          </p:cNvPr>
          <p:cNvSpPr txBox="1"/>
          <p:nvPr/>
        </p:nvSpPr>
        <p:spPr>
          <a:xfrm>
            <a:off x="8165478" y="5886621"/>
            <a:ext cx="54864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Snowflake</a:t>
            </a:r>
          </a:p>
        </p:txBody>
      </p:sp>
      <p:pic>
        <p:nvPicPr>
          <p:cNvPr id="223" name="Imagen 2" descr="Illustration for: A federated practice paired with user-friendly tools">
            <a:extLst>
              <a:ext uri="{FF2B5EF4-FFF2-40B4-BE49-F238E27FC236}">
                <a16:creationId xmlns:a16="http://schemas.microsoft.com/office/drawing/2014/main" id="{A3F61988-BEF0-CF4E-E920-32F674D62E8B}"/>
              </a:ext>
              <a:ext uri="{C183D7F6-B498-43B3-948B-1728B52AA6E4}">
                <adec:decorative xmlns:adec="http://schemas.microsoft.com/office/drawing/2017/decorative" val="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71032" y="5399397"/>
            <a:ext cx="337532" cy="336238"/>
          </a:xfrm>
          <a:prstGeom prst="rect">
            <a:avLst/>
          </a:prstGeom>
        </p:spPr>
      </p:pic>
      <p:pic>
        <p:nvPicPr>
          <p:cNvPr id="224" name="Picture 223" descr="Illustration for: A federated practice paired with user-friendly tools">
            <a:extLst>
              <a:ext uri="{FF2B5EF4-FFF2-40B4-BE49-F238E27FC236}">
                <a16:creationId xmlns:a16="http://schemas.microsoft.com/office/drawing/2014/main" id="{D39EA4B8-8F51-69A4-776E-AB442DCEEE8D}"/>
              </a:ext>
              <a:ext uri="{C183D7F6-B498-43B3-948B-1728B52AA6E4}">
                <adec:decorative xmlns:adec="http://schemas.microsoft.com/office/drawing/2017/decorative" val="1"/>
              </a:ext>
            </a:extLst>
          </p:cNvPr>
          <p:cNvPicPr>
            <a:picLocks noChangeAspect="1"/>
          </p:cNvPicPr>
          <p:nvPr/>
        </p:nvPicPr>
        <p:blipFill>
          <a:blip r:embed="rId12" cstate="print">
            <a:extLst>
              <a:ext uri="{28A0092B-C50C-407E-A947-70E740481C1C}">
                <a14:useLocalDpi xmlns:a14="http://schemas.microsoft.com/office/drawing/2010/main" val="0"/>
              </a:ext>
            </a:extLst>
          </a:blip>
          <a:srcRect l="580" r="583"/>
          <a:stretch>
            <a:fillRect/>
          </a:stretch>
        </p:blipFill>
        <p:spPr>
          <a:xfrm>
            <a:off x="9924193" y="5354840"/>
            <a:ext cx="197838" cy="425352"/>
          </a:xfrm>
          <a:prstGeom prst="rect">
            <a:avLst/>
          </a:prstGeom>
        </p:spPr>
      </p:pic>
      <p:sp>
        <p:nvSpPr>
          <p:cNvPr id="225" name="TextBox 115">
            <a:extLst>
              <a:ext uri="{FF2B5EF4-FFF2-40B4-BE49-F238E27FC236}">
                <a16:creationId xmlns:a16="http://schemas.microsoft.com/office/drawing/2014/main" id="{47944545-864A-8D22-B7AA-45F74AFC39C0}"/>
              </a:ext>
              <a:ext uri="{C183D7F6-B498-43B3-948B-1728B52AA6E4}">
                <adec:decorative xmlns:adec="http://schemas.microsoft.com/office/drawing/2017/decorative" val="1"/>
              </a:ext>
            </a:extLst>
          </p:cNvPr>
          <p:cNvSpPr txBox="1"/>
          <p:nvPr/>
        </p:nvSpPr>
        <p:spPr>
          <a:xfrm>
            <a:off x="9748792" y="5825066"/>
            <a:ext cx="54864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Mongo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DB</a:t>
            </a:r>
          </a:p>
        </p:txBody>
      </p:sp>
      <p:pic>
        <p:nvPicPr>
          <p:cNvPr id="226" name="Picture 4" descr="Illustration for: A federated practice paired with user-friendly tools">
            <a:extLst>
              <a:ext uri="{FF2B5EF4-FFF2-40B4-BE49-F238E27FC236}">
                <a16:creationId xmlns:a16="http://schemas.microsoft.com/office/drawing/2014/main" id="{4F83F4F5-5180-B0FD-741D-DE5BC8BF2466}"/>
              </a:ext>
              <a:ext uri="{C183D7F6-B498-43B3-948B-1728B52AA6E4}">
                <adec:decorative xmlns:adec="http://schemas.microsoft.com/office/drawing/2017/decorative" val="1"/>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9089" r="80763" b="31796"/>
          <a:stretch/>
        </p:blipFill>
        <p:spPr bwMode="auto">
          <a:xfrm>
            <a:off x="10760536" y="5315688"/>
            <a:ext cx="599710" cy="836949"/>
          </a:xfrm>
          <a:prstGeom prst="roundRect">
            <a:avLst>
              <a:gd name="adj" fmla="val 8594"/>
            </a:avLst>
          </a:prstGeom>
          <a:solidFill>
            <a:srgbClr val="080808">
              <a:lumMod val="50000"/>
              <a:lumOff val="50000"/>
            </a:srgbClr>
          </a:solidFill>
          <a:ln>
            <a:noFill/>
          </a:ln>
          <a:effectLst/>
        </p:spPr>
      </p:pic>
      <p:sp>
        <p:nvSpPr>
          <p:cNvPr id="227" name="Rounded Rectangle 155">
            <a:extLst>
              <a:ext uri="{FF2B5EF4-FFF2-40B4-BE49-F238E27FC236}">
                <a16:creationId xmlns:a16="http://schemas.microsoft.com/office/drawing/2014/main" id="{1F43FEE0-2582-44BC-B828-7F0E382F249B}"/>
              </a:ext>
              <a:ext uri="{C183D7F6-B498-43B3-948B-1728B52AA6E4}">
                <adec:decorative xmlns:adec="http://schemas.microsoft.com/office/drawing/2017/decorative" val="1"/>
              </a:ext>
            </a:extLst>
          </p:cNvPr>
          <p:cNvSpPr/>
          <p:nvPr/>
        </p:nvSpPr>
        <p:spPr bwMode="auto">
          <a:xfrm>
            <a:off x="10444471" y="5291180"/>
            <a:ext cx="1231840" cy="885966"/>
          </a:xfrm>
          <a:prstGeom prst="roundRect">
            <a:avLst>
              <a:gd name="adj" fmla="val 7450"/>
            </a:avLst>
          </a:prstGeom>
          <a:noFill/>
          <a:ln w="12700" cap="rnd" cmpd="sng" algn="ctr">
            <a:solidFill>
              <a:schemeClr val="accent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353" b="1"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28" name="Text Placeholder 2">
            <a:extLst>
              <a:ext uri="{FF2B5EF4-FFF2-40B4-BE49-F238E27FC236}">
                <a16:creationId xmlns:a16="http://schemas.microsoft.com/office/drawing/2014/main" id="{EB388E1D-10FA-093B-F0CE-01DF79978FDF}"/>
              </a:ext>
              <a:ext uri="{C183D7F6-B498-43B3-948B-1728B52AA6E4}">
                <adec:decorative xmlns:adec="http://schemas.microsoft.com/office/drawing/2017/decorative" val="1"/>
              </a:ext>
            </a:extLst>
          </p:cNvPr>
          <p:cNvSpPr txBox="1">
            <a:spLocks/>
          </p:cNvSpPr>
          <p:nvPr/>
        </p:nvSpPr>
        <p:spPr>
          <a:xfrm>
            <a:off x="8521172" y="6203925"/>
            <a:ext cx="1362903" cy="153888"/>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Databases</a:t>
            </a:r>
          </a:p>
        </p:txBody>
      </p:sp>
      <p:sp>
        <p:nvSpPr>
          <p:cNvPr id="229" name="Text Placeholder 2">
            <a:extLst>
              <a:ext uri="{FF2B5EF4-FFF2-40B4-BE49-F238E27FC236}">
                <a16:creationId xmlns:a16="http://schemas.microsoft.com/office/drawing/2014/main" id="{A1BC52BE-F3CC-DB8B-E530-A4B13AC43DDB}"/>
              </a:ext>
              <a:ext uri="{C183D7F6-B498-43B3-948B-1728B52AA6E4}">
                <adec:decorative xmlns:adec="http://schemas.microsoft.com/office/drawing/2017/decorative" val="1"/>
              </a:ext>
            </a:extLst>
          </p:cNvPr>
          <p:cNvSpPr txBox="1">
            <a:spLocks/>
          </p:cNvSpPr>
          <p:nvPr/>
        </p:nvSpPr>
        <p:spPr>
          <a:xfrm>
            <a:off x="5947843" y="6222975"/>
            <a:ext cx="1630097" cy="153888"/>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Cloud stores and platforms</a:t>
            </a:r>
          </a:p>
        </p:txBody>
      </p:sp>
      <p:sp>
        <p:nvSpPr>
          <p:cNvPr id="230" name="Text Placeholder 2">
            <a:extLst>
              <a:ext uri="{FF2B5EF4-FFF2-40B4-BE49-F238E27FC236}">
                <a16:creationId xmlns:a16="http://schemas.microsoft.com/office/drawing/2014/main" id="{703DDB6A-B67E-AC47-645D-149DF335CB96}"/>
              </a:ext>
              <a:ext uri="{C183D7F6-B498-43B3-948B-1728B52AA6E4}">
                <adec:decorative xmlns:adec="http://schemas.microsoft.com/office/drawing/2017/decorative" val="1"/>
              </a:ext>
            </a:extLst>
          </p:cNvPr>
          <p:cNvSpPr txBox="1">
            <a:spLocks/>
          </p:cNvSpPr>
          <p:nvPr/>
        </p:nvSpPr>
        <p:spPr>
          <a:xfrm>
            <a:off x="10378940" y="6203925"/>
            <a:ext cx="1362903" cy="153888"/>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All other sources</a:t>
            </a:r>
          </a:p>
        </p:txBody>
      </p:sp>
      <p:sp>
        <p:nvSpPr>
          <p:cNvPr id="231" name="Text Placeholder 2">
            <a:extLst>
              <a:ext uri="{FF2B5EF4-FFF2-40B4-BE49-F238E27FC236}">
                <a16:creationId xmlns:a16="http://schemas.microsoft.com/office/drawing/2014/main" id="{E32723F0-78D7-EF88-D307-B2FDB6D34888}"/>
              </a:ext>
              <a:ext uri="{C183D7F6-B498-43B3-948B-1728B52AA6E4}">
                <adec:decorative xmlns:adec="http://schemas.microsoft.com/office/drawing/2017/decorative" val="1"/>
              </a:ext>
            </a:extLst>
          </p:cNvPr>
          <p:cNvSpPr txBox="1">
            <a:spLocks/>
          </p:cNvSpPr>
          <p:nvPr/>
        </p:nvSpPr>
        <p:spPr>
          <a:xfrm>
            <a:off x="7142186" y="1578368"/>
            <a:ext cx="2950011" cy="215444"/>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Domains</a:t>
            </a:r>
          </a:p>
        </p:txBody>
      </p:sp>
      <p:grpSp>
        <p:nvGrpSpPr>
          <p:cNvPr id="2" name="Group 1" descr="Diagram for: A federated practice paired with user-friendly tools">
            <a:extLst>
              <a:ext uri="{FF2B5EF4-FFF2-40B4-BE49-F238E27FC236}">
                <a16:creationId xmlns:a16="http://schemas.microsoft.com/office/drawing/2014/main" id="{25921506-3919-4EB0-249E-1F9CD14F02B4}"/>
              </a:ext>
            </a:extLst>
          </p:cNvPr>
          <p:cNvGrpSpPr/>
          <p:nvPr/>
        </p:nvGrpSpPr>
        <p:grpSpPr>
          <a:xfrm>
            <a:off x="5894343" y="3629404"/>
            <a:ext cx="5445696" cy="1031287"/>
            <a:chOff x="5929068" y="3316768"/>
            <a:chExt cx="5445696" cy="1031287"/>
          </a:xfrm>
        </p:grpSpPr>
        <p:sp>
          <p:nvSpPr>
            <p:cNvPr id="233" name="Rectangle: Rounded Corners 368">
              <a:extLst>
                <a:ext uri="{FF2B5EF4-FFF2-40B4-BE49-F238E27FC236}">
                  <a16:creationId xmlns:a16="http://schemas.microsoft.com/office/drawing/2014/main" id="{C2CE2E1E-1802-6D15-4A9E-35C3819E8E7D}"/>
                </a:ext>
                <a:ext uri="{C183D7F6-B498-43B3-948B-1728B52AA6E4}">
                  <adec:decorative xmlns:adec="http://schemas.microsoft.com/office/drawing/2017/decorative" val="1"/>
                </a:ext>
              </a:extLst>
            </p:cNvPr>
            <p:cNvSpPr/>
            <p:nvPr/>
          </p:nvSpPr>
          <p:spPr>
            <a:xfrm>
              <a:off x="5932266" y="3886367"/>
              <a:ext cx="5439301" cy="461688"/>
            </a:xfrm>
            <a:prstGeom prst="roundRect">
              <a:avLst>
                <a:gd name="adj" fmla="val 2723"/>
              </a:avLst>
            </a:prstGeom>
            <a:solidFill>
              <a:srgbClr val="FFFFFF"/>
            </a:solidFill>
            <a:ln w="15875">
              <a:solidFill>
                <a:schemeClr val="accent2"/>
              </a:soli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Health Management</a:t>
              </a:r>
            </a:p>
          </p:txBody>
        </p:sp>
        <p:sp>
          <p:nvSpPr>
            <p:cNvPr id="234" name="Rectangle: Rounded Corners 368">
              <a:extLst>
                <a:ext uri="{FF2B5EF4-FFF2-40B4-BE49-F238E27FC236}">
                  <a16:creationId xmlns:a16="http://schemas.microsoft.com/office/drawing/2014/main" id="{3854475C-A8D0-A66F-1B0D-3A5DAFECF771}"/>
                </a:ext>
                <a:ext uri="{C183D7F6-B498-43B3-948B-1728B52AA6E4}">
                  <adec:decorative xmlns:adec="http://schemas.microsoft.com/office/drawing/2017/decorative" val="1"/>
                </a:ext>
              </a:extLst>
            </p:cNvPr>
            <p:cNvSpPr/>
            <p:nvPr/>
          </p:nvSpPr>
          <p:spPr>
            <a:xfrm>
              <a:off x="5929068" y="3316768"/>
              <a:ext cx="5445696" cy="461688"/>
            </a:xfrm>
            <a:prstGeom prst="roundRect">
              <a:avLst>
                <a:gd name="adj" fmla="val 2723"/>
              </a:avLst>
            </a:prstGeom>
            <a:solidFill>
              <a:srgbClr val="FFFFFF"/>
            </a:solidFill>
            <a:ln w="15875">
              <a:solidFill>
                <a:schemeClr val="accent2"/>
              </a:soli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Unified Catalog</a:t>
              </a:r>
            </a:p>
          </p:txBody>
        </p:sp>
      </p:grpSp>
      <p:cxnSp>
        <p:nvCxnSpPr>
          <p:cNvPr id="244" name="Straight Connector 243">
            <a:extLst>
              <a:ext uri="{FF2B5EF4-FFF2-40B4-BE49-F238E27FC236}">
                <a16:creationId xmlns:a16="http://schemas.microsoft.com/office/drawing/2014/main" id="{F479E871-A28C-9958-CFE6-449309A5631F}"/>
              </a:ext>
            </a:extLst>
          </p:cNvPr>
          <p:cNvCxnSpPr>
            <a:cxnSpLocks/>
            <a:endCxn id="51" idx="2"/>
          </p:cNvCxnSpPr>
          <p:nvPr/>
        </p:nvCxnSpPr>
        <p:spPr>
          <a:xfrm flipV="1">
            <a:off x="8617192" y="4989720"/>
            <a:ext cx="0" cy="301460"/>
          </a:xfrm>
          <a:prstGeom prst="line">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DF6C1432-C32C-2BF4-2208-3FEDA8A553C7}"/>
              </a:ext>
            </a:extLst>
          </p:cNvPr>
          <p:cNvCxnSpPr>
            <a:cxnSpLocks/>
            <a:stCxn id="51" idx="0"/>
          </p:cNvCxnSpPr>
          <p:nvPr/>
        </p:nvCxnSpPr>
        <p:spPr>
          <a:xfrm flipH="1" flipV="1">
            <a:off x="8617191" y="2991076"/>
            <a:ext cx="1" cy="366388"/>
          </a:xfrm>
          <a:prstGeom prst="line">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2" name="Arrow: Right 251">
            <a:extLst>
              <a:ext uri="{FF2B5EF4-FFF2-40B4-BE49-F238E27FC236}">
                <a16:creationId xmlns:a16="http://schemas.microsoft.com/office/drawing/2014/main" id="{90764ED1-2A9C-D3E3-7AC2-D43CD93B5F47}"/>
              </a:ext>
              <a:ext uri="{C183D7F6-B498-43B3-948B-1728B52AA6E4}">
                <adec:decorative xmlns:adec="http://schemas.microsoft.com/office/drawing/2017/decorative" val="1"/>
              </a:ext>
            </a:extLst>
          </p:cNvPr>
          <p:cNvSpPr/>
          <p:nvPr/>
        </p:nvSpPr>
        <p:spPr bwMode="auto">
          <a:xfrm>
            <a:off x="4880450" y="3409854"/>
            <a:ext cx="345792" cy="201861"/>
          </a:xfrm>
          <a:prstGeom prst="rightArrow">
            <a:avLst/>
          </a:prstGeom>
          <a:solidFill>
            <a:schemeClr val="accent2"/>
          </a:solidFill>
          <a:ln w="15875">
            <a:noFill/>
            <a:headEnd type="none" w="lg" len="med"/>
            <a:tailEnd type="none" w="lg" len="med"/>
          </a:ln>
          <a:effectLst>
            <a:outerShdw blurRad="203200" dist="12700" sx="102000" sy="102000" algn="ctr" rotWithShape="0">
              <a:prstClr val="black">
                <a:alpha val="14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54" name="Arrow: Left 253">
            <a:extLst>
              <a:ext uri="{FF2B5EF4-FFF2-40B4-BE49-F238E27FC236}">
                <a16:creationId xmlns:a16="http://schemas.microsoft.com/office/drawing/2014/main" id="{83401F43-75B8-2E39-80CF-6D35C029FCD8}"/>
              </a:ext>
              <a:ext uri="{C183D7F6-B498-43B3-948B-1728B52AA6E4}">
                <adec:decorative xmlns:adec="http://schemas.microsoft.com/office/drawing/2017/decorative" val="1"/>
              </a:ext>
            </a:extLst>
          </p:cNvPr>
          <p:cNvSpPr/>
          <p:nvPr/>
        </p:nvSpPr>
        <p:spPr bwMode="auto">
          <a:xfrm>
            <a:off x="4870983" y="1592394"/>
            <a:ext cx="345792" cy="201861"/>
          </a:xfrm>
          <a:prstGeom prst="leftArrow">
            <a:avLst/>
          </a:prstGeom>
          <a:solidFill>
            <a:schemeClr val="bg2"/>
          </a:solidFill>
          <a:ln w="15875">
            <a:noFill/>
            <a:headEnd type="none" w="lg" len="med"/>
            <a:tailEnd type="none" w="lg" len="med"/>
          </a:ln>
          <a:effectLst>
            <a:outerShdw blurRad="203200" dist="12700" sx="102000" sy="102000" algn="ctr" rotWithShape="0">
              <a:prstClr val="black">
                <a:alpha val="14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reeform: Shape 86">
            <a:extLst>
              <a:ext uri="{FF2B5EF4-FFF2-40B4-BE49-F238E27FC236}">
                <a16:creationId xmlns:a16="http://schemas.microsoft.com/office/drawing/2014/main" id="{911AB00C-D39D-656A-B8BA-C801966DD5BC}"/>
              </a:ext>
              <a:ext uri="{C183D7F6-B498-43B3-948B-1728B52AA6E4}">
                <adec:decorative xmlns:adec="http://schemas.microsoft.com/office/drawing/2017/decorative" val="1"/>
              </a:ext>
            </a:extLst>
          </p:cNvPr>
          <p:cNvSpPr/>
          <p:nvPr/>
        </p:nvSpPr>
        <p:spPr>
          <a:xfrm>
            <a:off x="1072568" y="4770933"/>
            <a:ext cx="3493679" cy="1087366"/>
          </a:xfrm>
          <a:custGeom>
            <a:avLst/>
            <a:gdLst/>
            <a:ahLst/>
            <a:cxnLst/>
            <a:rect l="l" t="t" r="r" b="b"/>
            <a:pathLst>
              <a:path w="3493679" h="1087366">
                <a:moveTo>
                  <a:pt x="29609" y="0"/>
                </a:moveTo>
                <a:lnTo>
                  <a:pt x="3464070" y="0"/>
                </a:lnTo>
                <a:cubicBezTo>
                  <a:pt x="3480423" y="0"/>
                  <a:pt x="3493679" y="13256"/>
                  <a:pt x="3493679" y="29609"/>
                </a:cubicBezTo>
                <a:lnTo>
                  <a:pt x="3493679" y="1057757"/>
                </a:lnTo>
                <a:cubicBezTo>
                  <a:pt x="3493679" y="1074110"/>
                  <a:pt x="3480423" y="1087366"/>
                  <a:pt x="3464070" y="1087366"/>
                </a:cubicBezTo>
                <a:lnTo>
                  <a:pt x="29609" y="1087366"/>
                </a:lnTo>
                <a:cubicBezTo>
                  <a:pt x="13256" y="1087366"/>
                  <a:pt x="0" y="1074110"/>
                  <a:pt x="0" y="1057757"/>
                </a:cubicBezTo>
                <a:lnTo>
                  <a:pt x="0" y="925626"/>
                </a:lnTo>
                <a:lnTo>
                  <a:pt x="70764" y="918492"/>
                </a:lnTo>
                <a:cubicBezTo>
                  <a:pt x="246219" y="882589"/>
                  <a:pt x="378203" y="727347"/>
                  <a:pt x="378203" y="541277"/>
                </a:cubicBezTo>
                <a:cubicBezTo>
                  <a:pt x="378203" y="355207"/>
                  <a:pt x="246219" y="199965"/>
                  <a:pt x="70764" y="164062"/>
                </a:cubicBezTo>
                <a:lnTo>
                  <a:pt x="0" y="156928"/>
                </a:lnTo>
                <a:lnTo>
                  <a:pt x="0" y="29609"/>
                </a:lnTo>
                <a:cubicBezTo>
                  <a:pt x="0" y="13256"/>
                  <a:pt x="13256" y="0"/>
                  <a:pt x="29609" y="0"/>
                </a:cubicBezTo>
                <a:close/>
              </a:path>
            </a:pathLst>
          </a:custGeom>
          <a:solidFill>
            <a:srgbClr val="FFFFFF"/>
          </a:solidFill>
          <a:ln w="22225" cap="flat" cmpd="sng" algn="ctr">
            <a:solidFill>
              <a:schemeClr val="accent2"/>
            </a:soli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0" name="TextBox 9">
            <a:extLst>
              <a:ext uri="{FF2B5EF4-FFF2-40B4-BE49-F238E27FC236}">
                <a16:creationId xmlns:a16="http://schemas.microsoft.com/office/drawing/2014/main" id="{CC769AAC-DA4A-4790-4B95-1FB62A6462FE}"/>
              </a:ext>
            </a:extLst>
          </p:cNvPr>
          <p:cNvSpPr txBox="1"/>
          <p:nvPr/>
        </p:nvSpPr>
        <p:spPr>
          <a:xfrm>
            <a:off x="1779687" y="5168275"/>
            <a:ext cx="2563464"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rPr>
              <a:t>Establish and ensure governance policies, active metadata, compliance, and insights into overall governance health.</a:t>
            </a:r>
          </a:p>
        </p:txBody>
      </p:sp>
      <p:sp>
        <p:nvSpPr>
          <p:cNvPr id="4" name="TextBox 3">
            <a:extLst>
              <a:ext uri="{FF2B5EF4-FFF2-40B4-BE49-F238E27FC236}">
                <a16:creationId xmlns:a16="http://schemas.microsoft.com/office/drawing/2014/main" id="{713056ED-C8BA-1451-9B3C-0644467879B3}"/>
              </a:ext>
            </a:extLst>
          </p:cNvPr>
          <p:cNvSpPr txBox="1"/>
          <p:nvPr/>
        </p:nvSpPr>
        <p:spPr>
          <a:xfrm>
            <a:off x="1554791" y="4821206"/>
            <a:ext cx="2613207"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Central Data Office</a:t>
            </a:r>
          </a:p>
        </p:txBody>
      </p:sp>
      <p:sp>
        <p:nvSpPr>
          <p:cNvPr id="13" name="Oval 12">
            <a:extLst>
              <a:ext uri="{FF2B5EF4-FFF2-40B4-BE49-F238E27FC236}">
                <a16:creationId xmlns:a16="http://schemas.microsoft.com/office/drawing/2014/main" id="{6679BF31-055B-3192-9183-85344A526476}"/>
              </a:ext>
              <a:ext uri="{C183D7F6-B498-43B3-948B-1728B52AA6E4}">
                <adec:decorative xmlns:adec="http://schemas.microsoft.com/office/drawing/2017/decorative" val="1"/>
              </a:ext>
            </a:extLst>
          </p:cNvPr>
          <p:cNvSpPr/>
          <p:nvPr/>
        </p:nvSpPr>
        <p:spPr bwMode="auto">
          <a:xfrm>
            <a:off x="666295" y="3816360"/>
            <a:ext cx="661572" cy="636539"/>
          </a:xfrm>
          <a:prstGeom prst="ellipse">
            <a:avLst/>
          </a:prstGeom>
          <a:gradFill>
            <a:gsLst>
              <a:gs pos="80712">
                <a:srgbClr val="7A75C1"/>
              </a:gs>
              <a:gs pos="18000">
                <a:srgbClr val="005A9E"/>
              </a:gs>
              <a:gs pos="96000">
                <a:srgbClr val="00B0F0"/>
              </a:gs>
            </a:gsLst>
            <a:lin ang="2700000" scaled="1"/>
          </a:gradFill>
          <a:ln w="12700" cap="flat" cmpd="sng" algn="ctr">
            <a:solidFill>
              <a:srgbClr val="0078D4"/>
            </a:solidFill>
            <a:prstDash val="solid"/>
            <a:miter lim="800000"/>
          </a:ln>
          <a:effectLst>
            <a:outerShdw blurRad="101600" dist="50800" dir="2700000" algn="tl" rotWithShape="0">
              <a:srgbClr val="FFFFFF">
                <a:lumMod val="50000"/>
                <a:lumOff val="50000"/>
                <a:alpha val="20000"/>
              </a:srgbClr>
            </a:outerShdw>
          </a:effectLst>
        </p:spPr>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1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pic>
        <p:nvPicPr>
          <p:cNvPr id="15" name="Picture 14" descr="Illustration for: A federated practice paired with user-friendly tools">
            <a:extLst>
              <a:ext uri="{FF2B5EF4-FFF2-40B4-BE49-F238E27FC236}">
                <a16:creationId xmlns:a16="http://schemas.microsoft.com/office/drawing/2014/main" id="{E83E79D1-FDAC-F6F2-AD01-03680BE149A4}"/>
              </a:ext>
              <a:ext uri="{C183D7F6-B498-43B3-948B-1728B52AA6E4}">
                <adec:decorative xmlns:adec="http://schemas.microsoft.com/office/drawing/2017/decorative" val="1"/>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13871" t="15531" r="30506" b="47385"/>
          <a:stretch/>
        </p:blipFill>
        <p:spPr>
          <a:xfrm>
            <a:off x="709605" y="3852035"/>
            <a:ext cx="596840" cy="596840"/>
          </a:xfrm>
          <a:prstGeom prst="ellipse">
            <a:avLst/>
          </a:prstGeom>
          <a:gradFill>
            <a:gsLst>
              <a:gs pos="80712">
                <a:srgbClr val="7A75C1"/>
              </a:gs>
              <a:gs pos="18000">
                <a:srgbClr val="005A9E"/>
              </a:gs>
              <a:gs pos="96000">
                <a:srgbClr val="00B0F0"/>
              </a:gs>
            </a:gsLst>
            <a:lin ang="2700000" scaled="1"/>
          </a:gradFill>
          <a:ln>
            <a:noFill/>
          </a:ln>
          <a:effectLst>
            <a:outerShdw blurRad="101600" dist="50800" dir="2700000" algn="tl" rotWithShape="0">
              <a:srgbClr val="FFFFFF">
                <a:lumMod val="50000"/>
                <a:lumOff val="50000"/>
                <a:alpha val="20000"/>
              </a:srgbClr>
            </a:outerShdw>
          </a:effectLst>
        </p:spPr>
      </p:pic>
      <p:sp>
        <p:nvSpPr>
          <p:cNvPr id="20" name="Arrow: Right 19">
            <a:extLst>
              <a:ext uri="{FF2B5EF4-FFF2-40B4-BE49-F238E27FC236}">
                <a16:creationId xmlns:a16="http://schemas.microsoft.com/office/drawing/2014/main" id="{FC26D971-A733-0C3A-F9FC-4923012DEF1B}"/>
              </a:ext>
              <a:ext uri="{C183D7F6-B498-43B3-948B-1728B52AA6E4}">
                <adec:decorative xmlns:adec="http://schemas.microsoft.com/office/drawing/2017/decorative" val="1"/>
              </a:ext>
            </a:extLst>
          </p:cNvPr>
          <p:cNvSpPr/>
          <p:nvPr/>
        </p:nvSpPr>
        <p:spPr bwMode="auto">
          <a:xfrm>
            <a:off x="4881733" y="4757844"/>
            <a:ext cx="345792" cy="201861"/>
          </a:xfrm>
          <a:prstGeom prst="rightArrow">
            <a:avLst/>
          </a:prstGeom>
          <a:solidFill>
            <a:schemeClr val="accent2"/>
          </a:solidFill>
          <a:ln w="15875">
            <a:noFill/>
            <a:headEnd type="none" w="lg" len="med"/>
            <a:tailEnd type="none" w="lg" len="med"/>
          </a:ln>
          <a:effectLst>
            <a:outerShdw blurRad="203200" dist="12700" sx="102000" sy="102000" algn="ctr" rotWithShape="0">
              <a:prstClr val="black">
                <a:alpha val="14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Box 6">
            <a:extLst>
              <a:ext uri="{FF2B5EF4-FFF2-40B4-BE49-F238E27FC236}">
                <a16:creationId xmlns:a16="http://schemas.microsoft.com/office/drawing/2014/main" id="{3056B789-6C3E-0BC1-702E-008E1AAEB5DC}"/>
              </a:ext>
            </a:extLst>
          </p:cNvPr>
          <p:cNvSpPr txBox="1"/>
          <p:nvPr/>
        </p:nvSpPr>
        <p:spPr>
          <a:xfrm>
            <a:off x="1583762" y="3733840"/>
            <a:ext cx="261956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Data Stewards</a:t>
            </a:r>
          </a:p>
        </p:txBody>
      </p:sp>
      <p:pic>
        <p:nvPicPr>
          <p:cNvPr id="8" name="Picture 7" descr="Icon  Description automatically generated">
            <a:extLst>
              <a:ext uri="{FF2B5EF4-FFF2-40B4-BE49-F238E27FC236}">
                <a16:creationId xmlns:a16="http://schemas.microsoft.com/office/drawing/2014/main" id="{2ABF395F-F823-B66B-C420-14F3FA438D3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453390" y="5413284"/>
            <a:ext cx="382153" cy="382153"/>
          </a:xfrm>
          <a:prstGeom prst="rect">
            <a:avLst/>
          </a:prstGeom>
        </p:spPr>
      </p:pic>
      <p:pic>
        <p:nvPicPr>
          <p:cNvPr id="16" name="Picture 15" descr="Illustration for: A federated practice paired with user-friendly tools">
            <a:extLst>
              <a:ext uri="{FF2B5EF4-FFF2-40B4-BE49-F238E27FC236}">
                <a16:creationId xmlns:a16="http://schemas.microsoft.com/office/drawing/2014/main" id="{28C7582F-3B95-C0BF-289B-00FDF3792EFA}"/>
              </a:ext>
            </a:extLst>
          </p:cNvPr>
          <p:cNvPicPr>
            <a:picLocks noChangeAspect="1"/>
          </p:cNvPicPr>
          <p:nvPr/>
        </p:nvPicPr>
        <p:blipFill>
          <a:blip r:embed="rId16"/>
          <a:stretch>
            <a:fillRect/>
          </a:stretch>
        </p:blipFill>
        <p:spPr>
          <a:xfrm>
            <a:off x="6846346" y="5373022"/>
            <a:ext cx="433919" cy="476653"/>
          </a:xfrm>
          <a:prstGeom prst="rect">
            <a:avLst/>
          </a:prstGeom>
        </p:spPr>
      </p:pic>
    </p:spTree>
    <p:extLst>
      <p:ext uri="{BB962C8B-B14F-4D97-AF65-F5344CB8AC3E}">
        <p14:creationId xmlns:p14="http://schemas.microsoft.com/office/powerpoint/2010/main" val="349252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path" presetSubtype="0" decel="50000" fill="hold" nodeType="withEffect">
                                  <p:stCondLst>
                                    <p:cond delay="0"/>
                                  </p:stCondLst>
                                  <p:childTnLst>
                                    <p:animMotion origin="layout" path="M -0.01744 0.00093 L 0.00092 0.00093 " pathEditMode="relative" rAng="0" ptsTypes="AA">
                                      <p:cBhvr>
                                        <p:cTn id="9" dur="500" fill="hold"/>
                                        <p:tgtEl>
                                          <p:spTgt spid="8"/>
                                        </p:tgtEl>
                                        <p:attrNameLst>
                                          <p:attrName>ppt_x</p:attrName>
                                          <p:attrName>ppt_y</p:attrName>
                                        </p:attrNameLst>
                                      </p:cBhvr>
                                      <p:rCtr x="9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55A11-C884-076F-8356-4DCD9F9BD9CC}"/>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B796424-0846-6D5A-7D12-1AAC098E351A}"/>
              </a:ext>
              <a:ext uri="{C183D7F6-B498-43B3-948B-1728B52AA6E4}">
                <adec:decorative xmlns:adec="http://schemas.microsoft.com/office/drawing/2017/decorative" val="1"/>
              </a:ext>
            </a:extLst>
          </p:cNvPr>
          <p:cNvSpPr/>
          <p:nvPr/>
        </p:nvSpPr>
        <p:spPr bwMode="auto">
          <a:xfrm>
            <a:off x="502027" y="1808489"/>
            <a:ext cx="11018837" cy="4102524"/>
          </a:xfrm>
          <a:prstGeom prst="roundRect">
            <a:avLst>
              <a:gd name="adj" fmla="val 7748"/>
            </a:avLst>
          </a:prstGeom>
          <a:gradFill>
            <a:gsLst>
              <a:gs pos="100000">
                <a:srgbClr val="D6EEFF"/>
              </a:gs>
              <a:gs pos="50000">
                <a:schemeClr val="bg1"/>
              </a:gs>
            </a:gsLst>
            <a:lin ang="2400000" scaled="0"/>
          </a:gradFill>
          <a:ln w="0" cap="flat">
            <a:noFill/>
            <a:prstDash val="solid"/>
            <a:miter/>
          </a:ln>
          <a:effectLst>
            <a:outerShdw blurRad="63500" algn="ctr"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2" name="Title 21">
            <a:extLst>
              <a:ext uri="{FF2B5EF4-FFF2-40B4-BE49-F238E27FC236}">
                <a16:creationId xmlns:a16="http://schemas.microsoft.com/office/drawing/2014/main" id="{1663C756-E4CF-F695-0EBA-A45D371D379B}"/>
              </a:ext>
            </a:extLst>
          </p:cNvPr>
          <p:cNvSpPr>
            <a:spLocks noGrp="1"/>
          </p:cNvSpPr>
          <p:nvPr>
            <p:ph type="title"/>
          </p:nvPr>
        </p:nvSpPr>
        <p:spPr>
          <a:xfrm>
            <a:off x="719545" y="617375"/>
            <a:ext cx="11064240" cy="724535"/>
          </a:xfrm>
        </p:spPr>
        <p:txBody>
          <a:bodyPr>
            <a:noAutofit/>
          </a:bodyPr>
          <a:lstStyle/>
          <a:p>
            <a:pPr marL="0" marR="0" lvl="0" indent="0" defTabSz="914400" rtl="0" eaLnBrk="1" fontAlgn="auto" latinLnBrk="0" hangingPunct="1">
              <a:lnSpc>
                <a:spcPct val="90000"/>
              </a:lnSpc>
              <a:spcBef>
                <a:spcPts val="1000"/>
              </a:spcBef>
              <a:spcAft>
                <a:spcPts val="0"/>
              </a:spcAft>
              <a:buClrTx/>
              <a:buSzTx/>
              <a:buFontTx/>
              <a:buNone/>
              <a:tabLst/>
              <a:defRPr/>
            </a:pPr>
            <a:r>
              <a:rPr kumimoji="0" lang="en-US" sz="3600" b="0" i="0" u="none" strike="noStrike" kern="1200" cap="none" spc="-50" normalizeH="0" baseline="0" noProof="0">
                <a:ln w="3175">
                  <a:noFill/>
                </a:ln>
                <a:solidFill>
                  <a:srgbClr val="071731"/>
                </a:solidFill>
                <a:effectLst/>
                <a:uLnTx/>
                <a:uFillTx/>
                <a:latin typeface="Segoe UI Semibold" panose="020B0702040204020203" pitchFamily="34" charset="0"/>
                <a:ea typeface="+mn-ea"/>
                <a:cs typeface="Segoe UI Semibold" panose="020B0702040204020203" pitchFamily="34" charset="0"/>
              </a:rPr>
              <a:t>Microsoft Purview Unified Catalog </a:t>
            </a:r>
          </a:p>
        </p:txBody>
      </p:sp>
      <p:sp>
        <p:nvSpPr>
          <p:cNvPr id="3" name="Slide Number Placeholder 2">
            <a:extLst>
              <a:ext uri="{FF2B5EF4-FFF2-40B4-BE49-F238E27FC236}">
                <a16:creationId xmlns:a16="http://schemas.microsoft.com/office/drawing/2014/main" id="{73F3E819-0B37-67B3-3EED-609F59003736}"/>
              </a:ext>
            </a:extLst>
          </p:cNvPr>
          <p:cNvSpPr>
            <a:spLocks noGrp="1"/>
          </p:cNvSpPr>
          <p:nvPr>
            <p:ph type="sldNum" sz="quarter" idx="11"/>
          </p:nvPr>
        </p:nvSpPr>
        <p:spPr>
          <a:xfrm>
            <a:off x="563563"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lang="en-US" smtClean="0"/>
              <a:pPr marL="0" marR="0" lvl="0" indent="0" algn="l" defTabSz="914367"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8" name="Text Box 3" descr="This is a copyright notice that should be included on the final slide.">
            <a:extLst>
              <a:ext uri="{FF2B5EF4-FFF2-40B4-BE49-F238E27FC236}">
                <a16:creationId xmlns:a16="http://schemas.microsoft.com/office/drawing/2014/main" id="{7F987BEB-4210-5C34-359B-E563E039BF7D}"/>
              </a:ext>
            </a:extLst>
          </p:cNvPr>
          <p:cNvSpPr txBox="1">
            <a:spLocks noChangeArrowheads="1"/>
          </p:cNvSpPr>
          <p:nvPr/>
        </p:nvSpPr>
        <p:spPr bwMode="blackWhite">
          <a:xfrm>
            <a:off x="181663" y="6610373"/>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Segoe Sans Text" panose="020F0502020204030204"/>
                <a:ea typeface="+mn-ea"/>
                <a:cs typeface="Segoe UI" pitchFamily="34" charset="0"/>
              </a:rPr>
              <a:t>© Copyright Microsoft Corporation. All rights reserved. </a:t>
            </a:r>
          </a:p>
        </p:txBody>
      </p:sp>
      <p:grpSp>
        <p:nvGrpSpPr>
          <p:cNvPr id="13" name="Group 12" descr="Diagram for: Microsoft Purview Unified Catalog">
            <a:extLst>
              <a:ext uri="{FF2B5EF4-FFF2-40B4-BE49-F238E27FC236}">
                <a16:creationId xmlns:a16="http://schemas.microsoft.com/office/drawing/2014/main" id="{CA781110-2C78-5C7C-3E4A-902DF934ABF9}"/>
              </a:ext>
            </a:extLst>
          </p:cNvPr>
          <p:cNvGrpSpPr/>
          <p:nvPr/>
        </p:nvGrpSpPr>
        <p:grpSpPr>
          <a:xfrm>
            <a:off x="921471" y="2126590"/>
            <a:ext cx="10180088" cy="3466924"/>
            <a:chOff x="1029419" y="2527477"/>
            <a:chExt cx="10180088" cy="3466924"/>
          </a:xfrm>
        </p:grpSpPr>
        <p:sp>
          <p:nvSpPr>
            <p:cNvPr id="6" name="Rectangle: Rounded Corners 5" descr="Microsoft Cloud">
              <a:extLst>
                <a:ext uri="{FF2B5EF4-FFF2-40B4-BE49-F238E27FC236}">
                  <a16:creationId xmlns:a16="http://schemas.microsoft.com/office/drawing/2014/main" id="{996DBFC2-3033-94B7-FBE8-73C1CD1FF3E2}"/>
                </a:ext>
              </a:extLst>
            </p:cNvPr>
            <p:cNvSpPr/>
            <p:nvPr/>
          </p:nvSpPr>
          <p:spPr bwMode="auto">
            <a:xfrm>
              <a:off x="4602395" y="2532383"/>
              <a:ext cx="3036636" cy="3462018"/>
            </a:xfrm>
            <a:prstGeom prst="roundRect">
              <a:avLst>
                <a:gd name="adj" fmla="val 4168"/>
              </a:avLst>
            </a:prstGeom>
            <a:solidFill>
              <a:srgbClr val="FFFFFF"/>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Rectangle: Rounded Corners 5" descr="Microsoft Cloud">
              <a:extLst>
                <a:ext uri="{FF2B5EF4-FFF2-40B4-BE49-F238E27FC236}">
                  <a16:creationId xmlns:a16="http://schemas.microsoft.com/office/drawing/2014/main" id="{14548D6A-FD66-6732-91C4-B2075622C75B}"/>
                </a:ext>
              </a:extLst>
            </p:cNvPr>
            <p:cNvSpPr/>
            <p:nvPr/>
          </p:nvSpPr>
          <p:spPr bwMode="auto">
            <a:xfrm>
              <a:off x="1030670" y="2532383"/>
              <a:ext cx="3036636" cy="3462018"/>
            </a:xfrm>
            <a:prstGeom prst="roundRect">
              <a:avLst>
                <a:gd name="adj" fmla="val 4168"/>
              </a:avLst>
            </a:prstGeom>
            <a:solidFill>
              <a:srgbClr val="FFFFFF"/>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6" name="Rectangle: Rounded Corners 5" descr="Microsoft Cloud">
              <a:extLst>
                <a:ext uri="{FF2B5EF4-FFF2-40B4-BE49-F238E27FC236}">
                  <a16:creationId xmlns:a16="http://schemas.microsoft.com/office/drawing/2014/main" id="{220D664E-FC09-F876-D452-F98D2E7B6702}"/>
                </a:ext>
              </a:extLst>
            </p:cNvPr>
            <p:cNvSpPr/>
            <p:nvPr/>
          </p:nvSpPr>
          <p:spPr bwMode="auto">
            <a:xfrm>
              <a:off x="8172871" y="2532383"/>
              <a:ext cx="3036636" cy="3462018"/>
            </a:xfrm>
            <a:prstGeom prst="roundRect">
              <a:avLst>
                <a:gd name="adj" fmla="val 4168"/>
              </a:avLst>
            </a:prstGeom>
            <a:solidFill>
              <a:srgbClr val="FFFFFF"/>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 name="TextBox 1">
              <a:extLst>
                <a:ext uri="{FF2B5EF4-FFF2-40B4-BE49-F238E27FC236}">
                  <a16:creationId xmlns:a16="http://schemas.microsoft.com/office/drawing/2014/main" id="{0AD4542E-6CFC-A6BD-A8C9-828120976794}"/>
                </a:ext>
              </a:extLst>
            </p:cNvPr>
            <p:cNvSpPr txBox="1"/>
            <p:nvPr/>
          </p:nvSpPr>
          <p:spPr>
            <a:xfrm>
              <a:off x="1199662" y="4598103"/>
              <a:ext cx="2618816"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1731"/>
                  </a:solidFill>
                  <a:effectLst/>
                  <a:uLnTx/>
                  <a:uFillTx/>
                  <a:latin typeface="Segoe Sans Text"/>
                  <a:ea typeface="+mn-ea"/>
                  <a:cs typeface="Arial"/>
                </a:rPr>
                <a:t>Across the data estate with a global catalog of catalogs </a:t>
              </a:r>
            </a:p>
          </p:txBody>
        </p:sp>
        <p:sp>
          <p:nvSpPr>
            <p:cNvPr id="4" name="TextBox 3">
              <a:extLst>
                <a:ext uri="{FF2B5EF4-FFF2-40B4-BE49-F238E27FC236}">
                  <a16:creationId xmlns:a16="http://schemas.microsoft.com/office/drawing/2014/main" id="{287A66B6-D33D-4021-147D-16BACFCEC369}"/>
                </a:ext>
              </a:extLst>
            </p:cNvPr>
            <p:cNvSpPr txBox="1"/>
            <p:nvPr/>
          </p:nvSpPr>
          <p:spPr>
            <a:xfrm>
              <a:off x="4816107" y="4598103"/>
              <a:ext cx="2606571" cy="92333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71731"/>
                  </a:solidFill>
                  <a:effectLst/>
                  <a:uLnTx/>
                  <a:uFillTx/>
                  <a:latin typeface="Segoe Sans Text" panose="020F0502020204030204"/>
                  <a:ea typeface="+mn-ea"/>
                  <a:cs typeface="Segoe Sans Text Semibold" pitchFamily="2" charset="0"/>
                </a:rPr>
                <a:t>Via built-in data quality</a:t>
              </a:r>
              <a:r>
                <a:rPr lang="en-US" sz="1200" dirty="0">
                  <a:solidFill>
                    <a:srgbClr val="071731"/>
                  </a:solidFill>
                  <a:latin typeface="Segoe Sans Text" panose="020F0502020204030204"/>
                  <a:cs typeface="Segoe Sans Text Semibold" pitchFamily="2" charset="0"/>
                </a:rPr>
                <a:t> and </a:t>
              </a:r>
              <a:r>
                <a:rPr kumimoji="0" lang="en-US" sz="1200" b="0" i="0" u="none" strike="noStrike" kern="1200" cap="none" spc="0" normalizeH="0" baseline="0" noProof="0" dirty="0">
                  <a:ln>
                    <a:noFill/>
                  </a:ln>
                  <a:solidFill>
                    <a:srgbClr val="071731"/>
                  </a:solidFill>
                  <a:effectLst/>
                  <a:uLnTx/>
                  <a:uFillTx/>
                  <a:latin typeface="Segoe Sans Text" panose="020F0502020204030204"/>
                  <a:ea typeface="+mn-ea"/>
                  <a:cs typeface="Segoe Sans Text Semibold" pitchFamily="2" charset="0"/>
                </a:rPr>
                <a:t>data lineage (depending on data source),</a:t>
              </a:r>
              <a:r>
                <a:rPr lang="en-US" sz="1200" dirty="0">
                  <a:solidFill>
                    <a:srgbClr val="071731"/>
                  </a:solidFill>
                  <a:latin typeface="Segoe Sans Text" panose="020F0502020204030204"/>
                  <a:cs typeface="Segoe Sans Text Semibold" pitchFamily="2" charset="0"/>
                </a:rPr>
                <a:t> observability, data estate health</a:t>
              </a:r>
              <a:r>
                <a:rPr kumimoji="0" lang="en-US" sz="1200" b="0" i="0" u="none" strike="noStrike" kern="1200" cap="none" spc="0" normalizeH="0" baseline="0" noProof="0" dirty="0">
                  <a:ln>
                    <a:noFill/>
                  </a:ln>
                  <a:solidFill>
                    <a:srgbClr val="071731"/>
                  </a:solidFill>
                  <a:effectLst/>
                  <a:uLnTx/>
                  <a:uFillTx/>
                  <a:latin typeface="Segoe Sans Text" panose="020F0502020204030204"/>
                  <a:ea typeface="+mn-ea"/>
                  <a:cs typeface="Segoe Sans Text Semibold" pitchFamily="2" charset="0"/>
                </a:rPr>
                <a:t> and master data management (via </a:t>
              </a:r>
              <a:r>
                <a:rPr kumimoji="0" lang="en-US" sz="1200" b="0" i="0" u="none" strike="noStrike" kern="1200" cap="none" spc="0" normalizeH="0" baseline="0" noProof="0" dirty="0" err="1">
                  <a:ln>
                    <a:noFill/>
                  </a:ln>
                  <a:solidFill>
                    <a:srgbClr val="071731"/>
                  </a:solidFill>
                  <a:effectLst/>
                  <a:uLnTx/>
                  <a:uFillTx/>
                  <a:latin typeface="Segoe Sans Text" panose="020F0502020204030204"/>
                  <a:ea typeface="+mn-ea"/>
                  <a:cs typeface="Segoe Sans Text Semibold" pitchFamily="2" charset="0"/>
                </a:rPr>
                <a:t>partne</a:t>
              </a:r>
              <a:r>
                <a:rPr lang="en-US" sz="1200" dirty="0">
                  <a:solidFill>
                    <a:srgbClr val="071731"/>
                  </a:solidFill>
                  <a:latin typeface="Segoe Sans Text" panose="020F0502020204030204"/>
                  <a:cs typeface="Segoe Sans Text Semibold" pitchFamily="2" charset="0"/>
                </a:rPr>
                <a:t>r solution)</a:t>
              </a:r>
              <a:endParaRPr kumimoji="0" lang="en-US" sz="1200" b="0" i="0" u="none" strike="noStrike" kern="1200" cap="none" spc="0" normalizeH="0" baseline="0" noProof="0" dirty="0">
                <a:ln>
                  <a:noFill/>
                </a:ln>
                <a:solidFill>
                  <a:srgbClr val="071731"/>
                </a:solidFill>
                <a:effectLst/>
                <a:uLnTx/>
                <a:uFillTx/>
                <a:latin typeface="Segoe Sans Text" panose="020F0502020204030204"/>
                <a:ea typeface="+mn-ea"/>
                <a:cs typeface="Segoe Sans Text Semibold" pitchFamily="2" charset="0"/>
              </a:endParaRPr>
            </a:p>
          </p:txBody>
        </p:sp>
        <p:sp>
          <p:nvSpPr>
            <p:cNvPr id="7" name="TextBox 6">
              <a:extLst>
                <a:ext uri="{FF2B5EF4-FFF2-40B4-BE49-F238E27FC236}">
                  <a16:creationId xmlns:a16="http://schemas.microsoft.com/office/drawing/2014/main" id="{D8693ECA-1D78-3BAA-772F-73FE88488F61}"/>
                </a:ext>
              </a:extLst>
            </p:cNvPr>
            <p:cNvSpPr txBox="1"/>
            <p:nvPr/>
          </p:nvSpPr>
          <p:spPr>
            <a:xfrm>
              <a:off x="8383597" y="4598103"/>
              <a:ext cx="2615184"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With easy discovery of trusted data and access controls</a:t>
              </a:r>
            </a:p>
          </p:txBody>
        </p:sp>
        <p:sp>
          <p:nvSpPr>
            <p:cNvPr id="18" name="Trackers_EADF" title="Icon of a clipboard with a checklist on it">
              <a:extLst>
                <a:ext uri="{FF2B5EF4-FFF2-40B4-BE49-F238E27FC236}">
                  <a16:creationId xmlns:a16="http://schemas.microsoft.com/office/drawing/2014/main" id="{137D7B90-3512-DB98-7C87-EFD1B6E49571}"/>
                </a:ext>
              </a:extLst>
            </p:cNvPr>
            <p:cNvSpPr>
              <a:spLocks noChangeAspect="1" noEditPoints="1"/>
            </p:cNvSpPr>
            <p:nvPr/>
          </p:nvSpPr>
          <p:spPr bwMode="auto">
            <a:xfrm>
              <a:off x="9543103" y="3595296"/>
              <a:ext cx="367327" cy="500867"/>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0" name="Rectangle: Single Corner Rounded 19">
              <a:extLst>
                <a:ext uri="{FF2B5EF4-FFF2-40B4-BE49-F238E27FC236}">
                  <a16:creationId xmlns:a16="http://schemas.microsoft.com/office/drawing/2014/main" id="{6171759E-4FD6-114D-DB5C-2FC1268FE736}"/>
                </a:ext>
                <a:ext uri="{C183D7F6-B498-43B3-948B-1728B52AA6E4}">
                  <adec:decorative xmlns:adec="http://schemas.microsoft.com/office/drawing/2017/decorative" val="1"/>
                </a:ext>
              </a:extLst>
            </p:cNvPr>
            <p:cNvSpPr>
              <a:spLocks/>
            </p:cNvSpPr>
            <p:nvPr/>
          </p:nvSpPr>
          <p:spPr bwMode="auto">
            <a:xfrm flipH="1">
              <a:off x="1029419" y="2528951"/>
              <a:ext cx="3037885" cy="637118"/>
            </a:xfrm>
            <a:prstGeom prst="round1Rect">
              <a:avLst>
                <a:gd name="adj" fmla="val 2134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 name="Rectangle: Single Corner Rounded 20">
              <a:extLst>
                <a:ext uri="{FF2B5EF4-FFF2-40B4-BE49-F238E27FC236}">
                  <a16:creationId xmlns:a16="http://schemas.microsoft.com/office/drawing/2014/main" id="{6CB8518B-B5F2-487B-C2A4-820C44EED2FB}"/>
                </a:ext>
                <a:ext uri="{C183D7F6-B498-43B3-948B-1728B52AA6E4}">
                  <adec:decorative xmlns:adec="http://schemas.microsoft.com/office/drawing/2017/decorative" val="1"/>
                </a:ext>
              </a:extLst>
            </p:cNvPr>
            <p:cNvSpPr>
              <a:spLocks/>
            </p:cNvSpPr>
            <p:nvPr/>
          </p:nvSpPr>
          <p:spPr bwMode="auto">
            <a:xfrm flipH="1">
              <a:off x="4601144" y="2532383"/>
              <a:ext cx="3037885" cy="640821"/>
            </a:xfrm>
            <a:prstGeom prst="round1Rect">
              <a:avLst>
                <a:gd name="adj" fmla="val 2134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 name="Rectangle: Single Corner Rounded 22">
              <a:extLst>
                <a:ext uri="{FF2B5EF4-FFF2-40B4-BE49-F238E27FC236}">
                  <a16:creationId xmlns:a16="http://schemas.microsoft.com/office/drawing/2014/main" id="{C674767D-BC9B-DF3D-6558-B79BAA91A922}"/>
                </a:ext>
                <a:ext uri="{C183D7F6-B498-43B3-948B-1728B52AA6E4}">
                  <adec:decorative xmlns:adec="http://schemas.microsoft.com/office/drawing/2017/decorative" val="1"/>
                </a:ext>
              </a:extLst>
            </p:cNvPr>
            <p:cNvSpPr>
              <a:spLocks/>
            </p:cNvSpPr>
            <p:nvPr/>
          </p:nvSpPr>
          <p:spPr bwMode="auto">
            <a:xfrm flipH="1">
              <a:off x="8172871" y="2527477"/>
              <a:ext cx="3036636" cy="640429"/>
            </a:xfrm>
            <a:prstGeom prst="round1Rect">
              <a:avLst>
                <a:gd name="adj" fmla="val 2134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E4C63CDF-76BB-DEEB-18B9-6243AD4DC8F1}"/>
                </a:ext>
              </a:extLst>
            </p:cNvPr>
            <p:cNvSpPr txBox="1"/>
            <p:nvPr/>
          </p:nvSpPr>
          <p:spPr>
            <a:xfrm>
              <a:off x="1678933" y="2581227"/>
              <a:ext cx="1660274" cy="492443"/>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Comprehensive visibility</a:t>
              </a:r>
            </a:p>
          </p:txBody>
        </p:sp>
        <p:sp>
          <p:nvSpPr>
            <p:cNvPr id="30" name="Oval 29">
              <a:extLst>
                <a:ext uri="{FF2B5EF4-FFF2-40B4-BE49-F238E27FC236}">
                  <a16:creationId xmlns:a16="http://schemas.microsoft.com/office/drawing/2014/main" id="{6BEE360F-FDD0-8C58-3E01-6DB4FBD791A4}"/>
                </a:ext>
              </a:extLst>
            </p:cNvPr>
            <p:cNvSpPr/>
            <p:nvPr/>
          </p:nvSpPr>
          <p:spPr bwMode="auto">
            <a:xfrm>
              <a:off x="2028825" y="3554638"/>
              <a:ext cx="823045" cy="823045"/>
            </a:xfrm>
            <a:prstGeom prst="ellipse">
              <a:avLst/>
            </a:prstGeom>
            <a:solidFill>
              <a:schemeClr val="accent1"/>
            </a:solidFill>
            <a:ln w="15875">
              <a:noFill/>
            </a:ln>
            <a:effectLst>
              <a:outerShdw blurRad="190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9" name="Data &amp; AI" title="Icon of several circles connected to eachother by lines">
              <a:extLst>
                <a:ext uri="{FF2B5EF4-FFF2-40B4-BE49-F238E27FC236}">
                  <a16:creationId xmlns:a16="http://schemas.microsoft.com/office/drawing/2014/main" id="{B94DD759-AD1F-3F11-9880-1A73539B9923}"/>
                </a:ext>
              </a:extLst>
            </p:cNvPr>
            <p:cNvSpPr>
              <a:spLocks noChangeAspect="1" noEditPoints="1"/>
            </p:cNvSpPr>
            <p:nvPr/>
          </p:nvSpPr>
          <p:spPr bwMode="auto">
            <a:xfrm>
              <a:off x="2177813" y="3777663"/>
              <a:ext cx="516483" cy="412983"/>
            </a:xfrm>
            <a:custGeom>
              <a:avLst/>
              <a:gdLst>
                <a:gd name="T0" fmla="*/ 465 w 706"/>
                <a:gd name="T1" fmla="*/ 76 h 564"/>
                <a:gd name="T2" fmla="*/ 465 w 706"/>
                <a:gd name="T3" fmla="*/ 0 h 564"/>
                <a:gd name="T4" fmla="*/ 668 w 706"/>
                <a:gd name="T5" fmla="*/ 138 h 564"/>
                <a:gd name="T6" fmla="*/ 668 w 706"/>
                <a:gd name="T7" fmla="*/ 214 h 564"/>
                <a:gd name="T8" fmla="*/ 668 w 706"/>
                <a:gd name="T9" fmla="*/ 138 h 564"/>
                <a:gd name="T10" fmla="*/ 454 w 706"/>
                <a:gd name="T11" fmla="*/ 314 h 564"/>
                <a:gd name="T12" fmla="*/ 530 w 706"/>
                <a:gd name="T13" fmla="*/ 314 h 564"/>
                <a:gd name="T14" fmla="*/ 637 w 706"/>
                <a:gd name="T15" fmla="*/ 422 h 564"/>
                <a:gd name="T16" fmla="*/ 637 w 706"/>
                <a:gd name="T17" fmla="*/ 499 h 564"/>
                <a:gd name="T18" fmla="*/ 637 w 706"/>
                <a:gd name="T19" fmla="*/ 422 h 564"/>
                <a:gd name="T20" fmla="*/ 282 w 706"/>
                <a:gd name="T21" fmla="*/ 526 h 564"/>
                <a:gd name="T22" fmla="*/ 358 w 706"/>
                <a:gd name="T23" fmla="*/ 526 h 564"/>
                <a:gd name="T24" fmla="*/ 38 w 706"/>
                <a:gd name="T25" fmla="*/ 338 h 564"/>
                <a:gd name="T26" fmla="*/ 38 w 706"/>
                <a:gd name="T27" fmla="*/ 415 h 564"/>
                <a:gd name="T28" fmla="*/ 38 w 706"/>
                <a:gd name="T29" fmla="*/ 338 h 564"/>
                <a:gd name="T30" fmla="*/ 258 w 706"/>
                <a:gd name="T31" fmla="*/ 205 h 564"/>
                <a:gd name="T32" fmla="*/ 334 w 706"/>
                <a:gd name="T33" fmla="*/ 205 h 564"/>
                <a:gd name="T34" fmla="*/ 120 w 706"/>
                <a:gd name="T35" fmla="*/ 75 h 564"/>
                <a:gd name="T36" fmla="*/ 120 w 706"/>
                <a:gd name="T37" fmla="*/ 152 h 564"/>
                <a:gd name="T38" fmla="*/ 120 w 706"/>
                <a:gd name="T39" fmla="*/ 75 h 564"/>
                <a:gd name="T40" fmla="*/ 258 w 706"/>
                <a:gd name="T41" fmla="*/ 188 h 564"/>
                <a:gd name="T42" fmla="*/ 460 w 706"/>
                <a:gd name="T43" fmla="*/ 294 h 564"/>
                <a:gd name="T44" fmla="*/ 76 w 706"/>
                <a:gd name="T45" fmla="*/ 376 h 564"/>
                <a:gd name="T46" fmla="*/ 288 w 706"/>
                <a:gd name="T47" fmla="*/ 505 h 564"/>
                <a:gd name="T48" fmla="*/ 603 w 706"/>
                <a:gd name="T49" fmla="*/ 479 h 564"/>
                <a:gd name="T50" fmla="*/ 159 w 706"/>
                <a:gd name="T51" fmla="*/ 104 h 564"/>
                <a:gd name="T52" fmla="*/ 637 w 706"/>
                <a:gd name="T53" fmla="*/ 151 h 564"/>
                <a:gd name="T54" fmla="*/ 523 w 706"/>
                <a:gd name="T55" fmla="*/ 291 h 564"/>
                <a:gd name="T56" fmla="*/ 465 w 706"/>
                <a:gd name="T57" fmla="*/ 347 h 564"/>
                <a:gd name="T58" fmla="*/ 334 w 706"/>
                <a:gd name="T59" fmla="*/ 490 h 564"/>
                <a:gd name="T60" fmla="*/ 320 w 706"/>
                <a:gd name="T61" fmla="*/ 488 h 564"/>
                <a:gd name="T62" fmla="*/ 134 w 706"/>
                <a:gd name="T63" fmla="*/ 149 h 564"/>
                <a:gd name="T64" fmla="*/ 438 w 706"/>
                <a:gd name="T65" fmla="*/ 65 h 564"/>
                <a:gd name="T66" fmla="*/ 624 w 706"/>
                <a:gd name="T67" fmla="*/ 425 h 564"/>
                <a:gd name="T68" fmla="*/ 603 w 706"/>
                <a:gd name="T69" fmla="*/ 434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6" h="564">
                  <a:moveTo>
                    <a:pt x="503" y="38"/>
                  </a:moveTo>
                  <a:cubicBezTo>
                    <a:pt x="503" y="59"/>
                    <a:pt x="486" y="76"/>
                    <a:pt x="465" y="76"/>
                  </a:cubicBezTo>
                  <a:cubicBezTo>
                    <a:pt x="444" y="76"/>
                    <a:pt x="427" y="59"/>
                    <a:pt x="427" y="38"/>
                  </a:cubicBezTo>
                  <a:cubicBezTo>
                    <a:pt x="427" y="17"/>
                    <a:pt x="444" y="0"/>
                    <a:pt x="465" y="0"/>
                  </a:cubicBezTo>
                  <a:cubicBezTo>
                    <a:pt x="486" y="0"/>
                    <a:pt x="503" y="17"/>
                    <a:pt x="503" y="38"/>
                  </a:cubicBezTo>
                  <a:close/>
                  <a:moveTo>
                    <a:pt x="668" y="138"/>
                  </a:moveTo>
                  <a:cubicBezTo>
                    <a:pt x="647" y="138"/>
                    <a:pt x="630" y="155"/>
                    <a:pt x="630" y="176"/>
                  </a:cubicBezTo>
                  <a:cubicBezTo>
                    <a:pt x="630" y="197"/>
                    <a:pt x="647" y="214"/>
                    <a:pt x="668" y="214"/>
                  </a:cubicBezTo>
                  <a:cubicBezTo>
                    <a:pt x="689" y="214"/>
                    <a:pt x="706" y="197"/>
                    <a:pt x="706" y="176"/>
                  </a:cubicBezTo>
                  <a:cubicBezTo>
                    <a:pt x="706" y="155"/>
                    <a:pt x="689" y="138"/>
                    <a:pt x="668" y="138"/>
                  </a:cubicBezTo>
                  <a:close/>
                  <a:moveTo>
                    <a:pt x="492" y="276"/>
                  </a:moveTo>
                  <a:cubicBezTo>
                    <a:pt x="471" y="276"/>
                    <a:pt x="454" y="293"/>
                    <a:pt x="454" y="314"/>
                  </a:cubicBezTo>
                  <a:cubicBezTo>
                    <a:pt x="454" y="335"/>
                    <a:pt x="471" y="352"/>
                    <a:pt x="492" y="352"/>
                  </a:cubicBezTo>
                  <a:cubicBezTo>
                    <a:pt x="513" y="352"/>
                    <a:pt x="530" y="335"/>
                    <a:pt x="530" y="314"/>
                  </a:cubicBezTo>
                  <a:cubicBezTo>
                    <a:pt x="530" y="293"/>
                    <a:pt x="513" y="276"/>
                    <a:pt x="492" y="276"/>
                  </a:cubicBezTo>
                  <a:close/>
                  <a:moveTo>
                    <a:pt x="637" y="422"/>
                  </a:moveTo>
                  <a:cubicBezTo>
                    <a:pt x="616" y="422"/>
                    <a:pt x="599" y="440"/>
                    <a:pt x="599" y="461"/>
                  </a:cubicBezTo>
                  <a:cubicBezTo>
                    <a:pt x="599" y="482"/>
                    <a:pt x="616" y="499"/>
                    <a:pt x="637" y="499"/>
                  </a:cubicBezTo>
                  <a:cubicBezTo>
                    <a:pt x="658" y="499"/>
                    <a:pt x="675" y="482"/>
                    <a:pt x="675" y="461"/>
                  </a:cubicBezTo>
                  <a:cubicBezTo>
                    <a:pt x="675" y="440"/>
                    <a:pt x="658" y="422"/>
                    <a:pt x="637" y="422"/>
                  </a:cubicBezTo>
                  <a:close/>
                  <a:moveTo>
                    <a:pt x="320" y="488"/>
                  </a:moveTo>
                  <a:cubicBezTo>
                    <a:pt x="299" y="488"/>
                    <a:pt x="282" y="505"/>
                    <a:pt x="282" y="526"/>
                  </a:cubicBezTo>
                  <a:cubicBezTo>
                    <a:pt x="282" y="547"/>
                    <a:pt x="299" y="564"/>
                    <a:pt x="320" y="564"/>
                  </a:cubicBezTo>
                  <a:cubicBezTo>
                    <a:pt x="341" y="564"/>
                    <a:pt x="358" y="547"/>
                    <a:pt x="358" y="526"/>
                  </a:cubicBezTo>
                  <a:cubicBezTo>
                    <a:pt x="358" y="505"/>
                    <a:pt x="341" y="488"/>
                    <a:pt x="320" y="488"/>
                  </a:cubicBezTo>
                  <a:close/>
                  <a:moveTo>
                    <a:pt x="38" y="338"/>
                  </a:moveTo>
                  <a:cubicBezTo>
                    <a:pt x="17" y="338"/>
                    <a:pt x="0" y="355"/>
                    <a:pt x="0" y="376"/>
                  </a:cubicBezTo>
                  <a:cubicBezTo>
                    <a:pt x="0" y="398"/>
                    <a:pt x="17" y="415"/>
                    <a:pt x="38" y="415"/>
                  </a:cubicBezTo>
                  <a:cubicBezTo>
                    <a:pt x="59" y="415"/>
                    <a:pt x="76" y="398"/>
                    <a:pt x="76" y="376"/>
                  </a:cubicBezTo>
                  <a:cubicBezTo>
                    <a:pt x="76" y="355"/>
                    <a:pt x="59" y="338"/>
                    <a:pt x="38" y="338"/>
                  </a:cubicBezTo>
                  <a:close/>
                  <a:moveTo>
                    <a:pt x="296" y="167"/>
                  </a:moveTo>
                  <a:cubicBezTo>
                    <a:pt x="275" y="167"/>
                    <a:pt x="258" y="184"/>
                    <a:pt x="258" y="205"/>
                  </a:cubicBezTo>
                  <a:cubicBezTo>
                    <a:pt x="258" y="226"/>
                    <a:pt x="275" y="243"/>
                    <a:pt x="296" y="243"/>
                  </a:cubicBezTo>
                  <a:cubicBezTo>
                    <a:pt x="317" y="243"/>
                    <a:pt x="334" y="226"/>
                    <a:pt x="334" y="205"/>
                  </a:cubicBezTo>
                  <a:cubicBezTo>
                    <a:pt x="334" y="184"/>
                    <a:pt x="317" y="167"/>
                    <a:pt x="296" y="167"/>
                  </a:cubicBezTo>
                  <a:close/>
                  <a:moveTo>
                    <a:pt x="120" y="75"/>
                  </a:moveTo>
                  <a:cubicBezTo>
                    <a:pt x="99" y="75"/>
                    <a:pt x="82" y="93"/>
                    <a:pt x="82" y="114"/>
                  </a:cubicBezTo>
                  <a:cubicBezTo>
                    <a:pt x="82" y="135"/>
                    <a:pt x="99" y="152"/>
                    <a:pt x="120" y="152"/>
                  </a:cubicBezTo>
                  <a:cubicBezTo>
                    <a:pt x="142" y="152"/>
                    <a:pt x="159" y="135"/>
                    <a:pt x="159" y="114"/>
                  </a:cubicBezTo>
                  <a:cubicBezTo>
                    <a:pt x="159" y="93"/>
                    <a:pt x="142" y="75"/>
                    <a:pt x="120" y="75"/>
                  </a:cubicBezTo>
                  <a:close/>
                  <a:moveTo>
                    <a:pt x="153" y="133"/>
                  </a:moveTo>
                  <a:cubicBezTo>
                    <a:pt x="258" y="188"/>
                    <a:pt x="258" y="188"/>
                    <a:pt x="258" y="188"/>
                  </a:cubicBezTo>
                  <a:moveTo>
                    <a:pt x="328" y="225"/>
                  </a:moveTo>
                  <a:cubicBezTo>
                    <a:pt x="460" y="294"/>
                    <a:pt x="460" y="294"/>
                    <a:pt x="460" y="294"/>
                  </a:cubicBezTo>
                  <a:moveTo>
                    <a:pt x="454" y="314"/>
                  </a:moveTo>
                  <a:cubicBezTo>
                    <a:pt x="76" y="376"/>
                    <a:pt x="76" y="376"/>
                    <a:pt x="76" y="376"/>
                  </a:cubicBezTo>
                  <a:moveTo>
                    <a:pt x="71" y="395"/>
                  </a:moveTo>
                  <a:cubicBezTo>
                    <a:pt x="288" y="505"/>
                    <a:pt x="288" y="505"/>
                    <a:pt x="288" y="505"/>
                  </a:cubicBezTo>
                  <a:moveTo>
                    <a:pt x="358" y="526"/>
                  </a:moveTo>
                  <a:cubicBezTo>
                    <a:pt x="603" y="479"/>
                    <a:pt x="603" y="479"/>
                    <a:pt x="603" y="479"/>
                  </a:cubicBezTo>
                  <a:moveTo>
                    <a:pt x="427" y="38"/>
                  </a:moveTo>
                  <a:cubicBezTo>
                    <a:pt x="159" y="104"/>
                    <a:pt x="159" y="104"/>
                    <a:pt x="159" y="104"/>
                  </a:cubicBezTo>
                  <a:moveTo>
                    <a:pt x="497" y="59"/>
                  </a:moveTo>
                  <a:cubicBezTo>
                    <a:pt x="637" y="151"/>
                    <a:pt x="637" y="151"/>
                    <a:pt x="637" y="151"/>
                  </a:cubicBezTo>
                  <a:moveTo>
                    <a:pt x="637" y="198"/>
                  </a:moveTo>
                  <a:cubicBezTo>
                    <a:pt x="523" y="291"/>
                    <a:pt x="523" y="291"/>
                    <a:pt x="523" y="291"/>
                  </a:cubicBezTo>
                  <a:moveTo>
                    <a:pt x="346" y="497"/>
                  </a:moveTo>
                  <a:cubicBezTo>
                    <a:pt x="465" y="347"/>
                    <a:pt x="465" y="347"/>
                    <a:pt x="465" y="347"/>
                  </a:cubicBezTo>
                  <a:moveTo>
                    <a:pt x="447" y="76"/>
                  </a:moveTo>
                  <a:cubicBezTo>
                    <a:pt x="334" y="490"/>
                    <a:pt x="334" y="490"/>
                    <a:pt x="334" y="490"/>
                  </a:cubicBezTo>
                  <a:moveTo>
                    <a:pt x="296" y="243"/>
                  </a:moveTo>
                  <a:cubicBezTo>
                    <a:pt x="320" y="488"/>
                    <a:pt x="320" y="488"/>
                    <a:pt x="320" y="488"/>
                  </a:cubicBezTo>
                  <a:moveTo>
                    <a:pt x="305" y="488"/>
                  </a:moveTo>
                  <a:cubicBezTo>
                    <a:pt x="134" y="149"/>
                    <a:pt x="134" y="149"/>
                    <a:pt x="134" y="149"/>
                  </a:cubicBezTo>
                  <a:moveTo>
                    <a:pt x="323" y="179"/>
                  </a:moveTo>
                  <a:cubicBezTo>
                    <a:pt x="438" y="65"/>
                    <a:pt x="438" y="65"/>
                    <a:pt x="438" y="65"/>
                  </a:cubicBezTo>
                  <a:moveTo>
                    <a:pt x="481" y="76"/>
                  </a:moveTo>
                  <a:cubicBezTo>
                    <a:pt x="624" y="425"/>
                    <a:pt x="624" y="425"/>
                    <a:pt x="624" y="425"/>
                  </a:cubicBezTo>
                  <a:moveTo>
                    <a:pt x="514" y="347"/>
                  </a:moveTo>
                  <a:cubicBezTo>
                    <a:pt x="603" y="434"/>
                    <a:pt x="603" y="434"/>
                    <a:pt x="603" y="434"/>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Sans Text" panose="020F0502020204030204"/>
                <a:ea typeface="+mn-ea"/>
                <a:cs typeface="+mn-cs"/>
              </a:endParaRPr>
            </a:p>
          </p:txBody>
        </p:sp>
        <p:sp>
          <p:nvSpPr>
            <p:cNvPr id="32" name="TextBox 31">
              <a:extLst>
                <a:ext uri="{FF2B5EF4-FFF2-40B4-BE49-F238E27FC236}">
                  <a16:creationId xmlns:a16="http://schemas.microsoft.com/office/drawing/2014/main" id="{92345ED4-B9F3-373E-9619-D9A85CCB38A3}"/>
                </a:ext>
              </a:extLst>
            </p:cNvPr>
            <p:cNvSpPr txBox="1"/>
            <p:nvPr/>
          </p:nvSpPr>
          <p:spPr>
            <a:xfrm>
              <a:off x="5221067" y="2604855"/>
              <a:ext cx="1660274" cy="492443"/>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Data    confidence </a:t>
              </a:r>
            </a:p>
          </p:txBody>
        </p:sp>
        <p:sp>
          <p:nvSpPr>
            <p:cNvPr id="38" name="TextBox 37">
              <a:extLst>
                <a:ext uri="{FF2B5EF4-FFF2-40B4-BE49-F238E27FC236}">
                  <a16:creationId xmlns:a16="http://schemas.microsoft.com/office/drawing/2014/main" id="{70873032-8B70-2D86-72CB-C1E647F4CED7}"/>
                </a:ext>
              </a:extLst>
            </p:cNvPr>
            <p:cNvSpPr txBox="1"/>
            <p:nvPr/>
          </p:nvSpPr>
          <p:spPr>
            <a:xfrm>
              <a:off x="8725620" y="2595034"/>
              <a:ext cx="2003343" cy="492443"/>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Responsible innovation</a:t>
              </a:r>
            </a:p>
          </p:txBody>
        </p:sp>
        <p:sp>
          <p:nvSpPr>
            <p:cNvPr id="40" name="Trackers_EADF" title="Icon of a clipboard with a checklist on it">
              <a:extLst>
                <a:ext uri="{FF2B5EF4-FFF2-40B4-BE49-F238E27FC236}">
                  <a16:creationId xmlns:a16="http://schemas.microsoft.com/office/drawing/2014/main" id="{1AF4A6CB-BB4B-7AE8-141C-03F6396B684B}"/>
                </a:ext>
              </a:extLst>
            </p:cNvPr>
            <p:cNvSpPr>
              <a:spLocks noChangeAspect="1" noEditPoints="1"/>
            </p:cNvSpPr>
            <p:nvPr/>
          </p:nvSpPr>
          <p:spPr bwMode="auto">
            <a:xfrm>
              <a:off x="9543103" y="3632962"/>
              <a:ext cx="238242" cy="324854"/>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grpSp>
      <p:sp>
        <p:nvSpPr>
          <p:cNvPr id="19" name="Trackers_EADF" title="Icon of a clipboard with a checklist on it">
            <a:extLst>
              <a:ext uri="{FF2B5EF4-FFF2-40B4-BE49-F238E27FC236}">
                <a16:creationId xmlns:a16="http://schemas.microsoft.com/office/drawing/2014/main" id="{54005C85-149D-53C4-07E5-9C791648B5E9}"/>
              </a:ext>
            </a:extLst>
          </p:cNvPr>
          <p:cNvSpPr>
            <a:spLocks noChangeAspect="1" noEditPoints="1"/>
          </p:cNvSpPr>
          <p:nvPr/>
        </p:nvSpPr>
        <p:spPr bwMode="auto">
          <a:xfrm>
            <a:off x="9367546" y="3120884"/>
            <a:ext cx="367327" cy="500867"/>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7" name="Teamwork_EA12" title="Icon of three people with an award or ribbon to the lower right">
            <a:extLst>
              <a:ext uri="{FF2B5EF4-FFF2-40B4-BE49-F238E27FC236}">
                <a16:creationId xmlns:a16="http://schemas.microsoft.com/office/drawing/2014/main" id="{BEB300AB-1CD3-401A-F499-27AD4BC29FC0}"/>
              </a:ext>
            </a:extLst>
          </p:cNvPr>
          <p:cNvSpPr>
            <a:spLocks noChangeAspect="1" noEditPoints="1"/>
          </p:cNvSpPr>
          <p:nvPr/>
        </p:nvSpPr>
        <p:spPr bwMode="auto">
          <a:xfrm>
            <a:off x="5720625" y="3210082"/>
            <a:ext cx="472775" cy="457200"/>
          </a:xfrm>
          <a:custGeom>
            <a:avLst/>
            <a:gdLst>
              <a:gd name="T0" fmla="*/ 3621 w 3746"/>
              <a:gd name="T1" fmla="*/ 2622 h 3621"/>
              <a:gd name="T2" fmla="*/ 3122 w 3746"/>
              <a:gd name="T3" fmla="*/ 3122 h 3621"/>
              <a:gd name="T4" fmla="*/ 2622 w 3746"/>
              <a:gd name="T5" fmla="*/ 2622 h 3621"/>
              <a:gd name="T6" fmla="*/ 3122 w 3746"/>
              <a:gd name="T7" fmla="*/ 2123 h 3621"/>
              <a:gd name="T8" fmla="*/ 3621 w 3746"/>
              <a:gd name="T9" fmla="*/ 2622 h 3621"/>
              <a:gd name="T10" fmla="*/ 2747 w 3746"/>
              <a:gd name="T11" fmla="*/ 2997 h 3621"/>
              <a:gd name="T12" fmla="*/ 2747 w 3746"/>
              <a:gd name="T13" fmla="*/ 3621 h 3621"/>
              <a:gd name="T14" fmla="*/ 3122 w 3746"/>
              <a:gd name="T15" fmla="*/ 3434 h 3621"/>
              <a:gd name="T16" fmla="*/ 3496 w 3746"/>
              <a:gd name="T17" fmla="*/ 3621 h 3621"/>
              <a:gd name="T18" fmla="*/ 3496 w 3746"/>
              <a:gd name="T19" fmla="*/ 2997 h 3621"/>
              <a:gd name="T20" fmla="*/ 1873 w 3746"/>
              <a:gd name="T21" fmla="*/ 749 h 3621"/>
              <a:gd name="T22" fmla="*/ 1249 w 3746"/>
              <a:gd name="T23" fmla="*/ 1374 h 3621"/>
              <a:gd name="T24" fmla="*/ 1873 w 3746"/>
              <a:gd name="T25" fmla="*/ 1998 h 3621"/>
              <a:gd name="T26" fmla="*/ 2497 w 3746"/>
              <a:gd name="T27" fmla="*/ 1374 h 3621"/>
              <a:gd name="T28" fmla="*/ 1873 w 3746"/>
              <a:gd name="T29" fmla="*/ 749 h 3621"/>
              <a:gd name="T30" fmla="*/ 1873 w 3746"/>
              <a:gd name="T31" fmla="*/ 1998 h 3621"/>
              <a:gd name="T32" fmla="*/ 999 w 3746"/>
              <a:gd name="T33" fmla="*/ 2872 h 3621"/>
              <a:gd name="T34" fmla="*/ 624 w 3746"/>
              <a:gd name="T35" fmla="*/ 0 h 3621"/>
              <a:gd name="T36" fmla="*/ 250 w 3746"/>
              <a:gd name="T37" fmla="*/ 375 h 3621"/>
              <a:gd name="T38" fmla="*/ 624 w 3746"/>
              <a:gd name="T39" fmla="*/ 749 h 3621"/>
              <a:gd name="T40" fmla="*/ 999 w 3746"/>
              <a:gd name="T41" fmla="*/ 375 h 3621"/>
              <a:gd name="T42" fmla="*/ 624 w 3746"/>
              <a:gd name="T43" fmla="*/ 0 h 3621"/>
              <a:gd name="T44" fmla="*/ 1249 w 3746"/>
              <a:gd name="T45" fmla="*/ 1374 h 3621"/>
              <a:gd name="T46" fmla="*/ 624 w 3746"/>
              <a:gd name="T47" fmla="*/ 749 h 3621"/>
              <a:gd name="T48" fmla="*/ 0 w 3746"/>
              <a:gd name="T49" fmla="*/ 1374 h 3621"/>
              <a:gd name="T50" fmla="*/ 3122 w 3746"/>
              <a:gd name="T51" fmla="*/ 0 h 3621"/>
              <a:gd name="T52" fmla="*/ 2747 w 3746"/>
              <a:gd name="T53" fmla="*/ 375 h 3621"/>
              <a:gd name="T54" fmla="*/ 3122 w 3746"/>
              <a:gd name="T55" fmla="*/ 749 h 3621"/>
              <a:gd name="T56" fmla="*/ 3496 w 3746"/>
              <a:gd name="T57" fmla="*/ 375 h 3621"/>
              <a:gd name="T58" fmla="*/ 3122 w 3746"/>
              <a:gd name="T59" fmla="*/ 0 h 3621"/>
              <a:gd name="T60" fmla="*/ 3746 w 3746"/>
              <a:gd name="T61" fmla="*/ 1374 h 3621"/>
              <a:gd name="T62" fmla="*/ 3122 w 3746"/>
              <a:gd name="T63" fmla="*/ 749 h 3621"/>
              <a:gd name="T64" fmla="*/ 2497 w 3746"/>
              <a:gd name="T65" fmla="*/ 1374 h 3621"/>
              <a:gd name="T66" fmla="*/ 2381 w 3746"/>
              <a:gd name="T67" fmla="*/ 2163 h 3621"/>
              <a:gd name="T68" fmla="*/ 1873 w 3746"/>
              <a:gd name="T69" fmla="*/ 1998 h 3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46" h="3621">
                <a:moveTo>
                  <a:pt x="3621" y="2622"/>
                </a:moveTo>
                <a:cubicBezTo>
                  <a:pt x="3621" y="2898"/>
                  <a:pt x="3398" y="3122"/>
                  <a:pt x="3122" y="3122"/>
                </a:cubicBezTo>
                <a:cubicBezTo>
                  <a:pt x="2846" y="3122"/>
                  <a:pt x="2622" y="2898"/>
                  <a:pt x="2622" y="2622"/>
                </a:cubicBezTo>
                <a:cubicBezTo>
                  <a:pt x="2622" y="2346"/>
                  <a:pt x="2846" y="2123"/>
                  <a:pt x="3122" y="2123"/>
                </a:cubicBezTo>
                <a:cubicBezTo>
                  <a:pt x="3398" y="2123"/>
                  <a:pt x="3621" y="2346"/>
                  <a:pt x="3621" y="2622"/>
                </a:cubicBezTo>
                <a:close/>
                <a:moveTo>
                  <a:pt x="2747" y="2997"/>
                </a:moveTo>
                <a:cubicBezTo>
                  <a:pt x="2747" y="3621"/>
                  <a:pt x="2747" y="3621"/>
                  <a:pt x="2747" y="3621"/>
                </a:cubicBezTo>
                <a:cubicBezTo>
                  <a:pt x="3122" y="3434"/>
                  <a:pt x="3122" y="3434"/>
                  <a:pt x="3122" y="3434"/>
                </a:cubicBezTo>
                <a:cubicBezTo>
                  <a:pt x="3496" y="3621"/>
                  <a:pt x="3496" y="3621"/>
                  <a:pt x="3496" y="3621"/>
                </a:cubicBezTo>
                <a:cubicBezTo>
                  <a:pt x="3496" y="2997"/>
                  <a:pt x="3496" y="2997"/>
                  <a:pt x="3496" y="2997"/>
                </a:cubicBezTo>
                <a:moveTo>
                  <a:pt x="1873" y="749"/>
                </a:moveTo>
                <a:cubicBezTo>
                  <a:pt x="1528" y="749"/>
                  <a:pt x="1249" y="1029"/>
                  <a:pt x="1249" y="1374"/>
                </a:cubicBezTo>
                <a:cubicBezTo>
                  <a:pt x="1249" y="1718"/>
                  <a:pt x="1528" y="1998"/>
                  <a:pt x="1873" y="1998"/>
                </a:cubicBezTo>
                <a:cubicBezTo>
                  <a:pt x="2218" y="1998"/>
                  <a:pt x="2497" y="1718"/>
                  <a:pt x="2497" y="1374"/>
                </a:cubicBezTo>
                <a:cubicBezTo>
                  <a:pt x="2497" y="1029"/>
                  <a:pt x="2218" y="749"/>
                  <a:pt x="1873" y="749"/>
                </a:cubicBezTo>
                <a:close/>
                <a:moveTo>
                  <a:pt x="1873" y="1998"/>
                </a:moveTo>
                <a:cubicBezTo>
                  <a:pt x="1390" y="1998"/>
                  <a:pt x="999" y="2389"/>
                  <a:pt x="999" y="2872"/>
                </a:cubicBezTo>
                <a:moveTo>
                  <a:pt x="624" y="0"/>
                </a:moveTo>
                <a:cubicBezTo>
                  <a:pt x="417" y="0"/>
                  <a:pt x="250" y="168"/>
                  <a:pt x="250" y="375"/>
                </a:cubicBezTo>
                <a:cubicBezTo>
                  <a:pt x="250" y="581"/>
                  <a:pt x="417" y="749"/>
                  <a:pt x="624" y="749"/>
                </a:cubicBezTo>
                <a:cubicBezTo>
                  <a:pt x="831" y="749"/>
                  <a:pt x="999" y="581"/>
                  <a:pt x="999" y="375"/>
                </a:cubicBezTo>
                <a:cubicBezTo>
                  <a:pt x="999" y="168"/>
                  <a:pt x="831" y="0"/>
                  <a:pt x="624" y="0"/>
                </a:cubicBezTo>
                <a:close/>
                <a:moveTo>
                  <a:pt x="1249" y="1374"/>
                </a:moveTo>
                <a:cubicBezTo>
                  <a:pt x="1249" y="1029"/>
                  <a:pt x="969" y="749"/>
                  <a:pt x="624" y="749"/>
                </a:cubicBezTo>
                <a:cubicBezTo>
                  <a:pt x="279" y="749"/>
                  <a:pt x="0" y="1029"/>
                  <a:pt x="0" y="1374"/>
                </a:cubicBezTo>
                <a:moveTo>
                  <a:pt x="3122" y="0"/>
                </a:moveTo>
                <a:cubicBezTo>
                  <a:pt x="2915" y="0"/>
                  <a:pt x="2747" y="168"/>
                  <a:pt x="2747" y="375"/>
                </a:cubicBezTo>
                <a:cubicBezTo>
                  <a:pt x="2747" y="581"/>
                  <a:pt x="2915" y="749"/>
                  <a:pt x="3122" y="749"/>
                </a:cubicBezTo>
                <a:cubicBezTo>
                  <a:pt x="3329" y="749"/>
                  <a:pt x="3496" y="581"/>
                  <a:pt x="3496" y="375"/>
                </a:cubicBezTo>
                <a:cubicBezTo>
                  <a:pt x="3496" y="168"/>
                  <a:pt x="3329" y="0"/>
                  <a:pt x="3122" y="0"/>
                </a:cubicBezTo>
                <a:close/>
                <a:moveTo>
                  <a:pt x="3746" y="1374"/>
                </a:moveTo>
                <a:cubicBezTo>
                  <a:pt x="3746" y="1029"/>
                  <a:pt x="3467" y="749"/>
                  <a:pt x="3122" y="749"/>
                </a:cubicBezTo>
                <a:cubicBezTo>
                  <a:pt x="2777" y="749"/>
                  <a:pt x="2497" y="1029"/>
                  <a:pt x="2497" y="1374"/>
                </a:cubicBezTo>
                <a:moveTo>
                  <a:pt x="2381" y="2163"/>
                </a:moveTo>
                <a:cubicBezTo>
                  <a:pt x="2238" y="2060"/>
                  <a:pt x="2063" y="1998"/>
                  <a:pt x="1873" y="1998"/>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8" name="Oval 27">
            <a:extLst>
              <a:ext uri="{FF2B5EF4-FFF2-40B4-BE49-F238E27FC236}">
                <a16:creationId xmlns:a16="http://schemas.microsoft.com/office/drawing/2014/main" id="{8279FA48-4C2A-4ACE-1BE6-9E8E965B3E07}"/>
              </a:ext>
            </a:extLst>
          </p:cNvPr>
          <p:cNvSpPr/>
          <p:nvPr/>
        </p:nvSpPr>
        <p:spPr bwMode="auto">
          <a:xfrm>
            <a:off x="5538199" y="3091892"/>
            <a:ext cx="823045" cy="823045"/>
          </a:xfrm>
          <a:prstGeom prst="ellipse">
            <a:avLst/>
          </a:prstGeom>
          <a:solidFill>
            <a:schemeClr val="accent1"/>
          </a:solidFill>
          <a:ln w="15875">
            <a:noFill/>
          </a:ln>
          <a:effectLst>
            <a:outerShdw blurRad="190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44" name="Oval 43">
            <a:extLst>
              <a:ext uri="{FF2B5EF4-FFF2-40B4-BE49-F238E27FC236}">
                <a16:creationId xmlns:a16="http://schemas.microsoft.com/office/drawing/2014/main" id="{EC8CB9DD-4772-B849-76B1-EDDBAA0636E4}"/>
              </a:ext>
            </a:extLst>
          </p:cNvPr>
          <p:cNvSpPr/>
          <p:nvPr/>
        </p:nvSpPr>
        <p:spPr bwMode="auto">
          <a:xfrm>
            <a:off x="9193066" y="3016169"/>
            <a:ext cx="823045" cy="823045"/>
          </a:xfrm>
          <a:prstGeom prst="ellipse">
            <a:avLst/>
          </a:prstGeom>
          <a:solidFill>
            <a:schemeClr val="accent1"/>
          </a:solidFill>
          <a:ln w="15875">
            <a:noFill/>
          </a:ln>
          <a:effectLst>
            <a:outerShdw blurRad="190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45" name="Teamwork_EA12" title="Icon of three people with an award or ribbon to the lower right">
            <a:extLst>
              <a:ext uri="{FF2B5EF4-FFF2-40B4-BE49-F238E27FC236}">
                <a16:creationId xmlns:a16="http://schemas.microsoft.com/office/drawing/2014/main" id="{BD43EAFC-1E9D-AC07-4529-6DC5A7493FA2}"/>
              </a:ext>
            </a:extLst>
          </p:cNvPr>
          <p:cNvSpPr>
            <a:spLocks noChangeAspect="1" noEditPoints="1"/>
          </p:cNvSpPr>
          <p:nvPr/>
        </p:nvSpPr>
        <p:spPr bwMode="auto">
          <a:xfrm>
            <a:off x="5706869" y="3300515"/>
            <a:ext cx="472775" cy="457200"/>
          </a:xfrm>
          <a:custGeom>
            <a:avLst/>
            <a:gdLst>
              <a:gd name="T0" fmla="*/ 3621 w 3746"/>
              <a:gd name="T1" fmla="*/ 2622 h 3621"/>
              <a:gd name="T2" fmla="*/ 3122 w 3746"/>
              <a:gd name="T3" fmla="*/ 3122 h 3621"/>
              <a:gd name="T4" fmla="*/ 2622 w 3746"/>
              <a:gd name="T5" fmla="*/ 2622 h 3621"/>
              <a:gd name="T6" fmla="*/ 3122 w 3746"/>
              <a:gd name="T7" fmla="*/ 2123 h 3621"/>
              <a:gd name="T8" fmla="*/ 3621 w 3746"/>
              <a:gd name="T9" fmla="*/ 2622 h 3621"/>
              <a:gd name="T10" fmla="*/ 2747 w 3746"/>
              <a:gd name="T11" fmla="*/ 2997 h 3621"/>
              <a:gd name="T12" fmla="*/ 2747 w 3746"/>
              <a:gd name="T13" fmla="*/ 3621 h 3621"/>
              <a:gd name="T14" fmla="*/ 3122 w 3746"/>
              <a:gd name="T15" fmla="*/ 3434 h 3621"/>
              <a:gd name="T16" fmla="*/ 3496 w 3746"/>
              <a:gd name="T17" fmla="*/ 3621 h 3621"/>
              <a:gd name="T18" fmla="*/ 3496 w 3746"/>
              <a:gd name="T19" fmla="*/ 2997 h 3621"/>
              <a:gd name="T20" fmla="*/ 1873 w 3746"/>
              <a:gd name="T21" fmla="*/ 749 h 3621"/>
              <a:gd name="T22" fmla="*/ 1249 w 3746"/>
              <a:gd name="T23" fmla="*/ 1374 h 3621"/>
              <a:gd name="T24" fmla="*/ 1873 w 3746"/>
              <a:gd name="T25" fmla="*/ 1998 h 3621"/>
              <a:gd name="T26" fmla="*/ 2497 w 3746"/>
              <a:gd name="T27" fmla="*/ 1374 h 3621"/>
              <a:gd name="T28" fmla="*/ 1873 w 3746"/>
              <a:gd name="T29" fmla="*/ 749 h 3621"/>
              <a:gd name="T30" fmla="*/ 1873 w 3746"/>
              <a:gd name="T31" fmla="*/ 1998 h 3621"/>
              <a:gd name="T32" fmla="*/ 999 w 3746"/>
              <a:gd name="T33" fmla="*/ 2872 h 3621"/>
              <a:gd name="T34" fmla="*/ 624 w 3746"/>
              <a:gd name="T35" fmla="*/ 0 h 3621"/>
              <a:gd name="T36" fmla="*/ 250 w 3746"/>
              <a:gd name="T37" fmla="*/ 375 h 3621"/>
              <a:gd name="T38" fmla="*/ 624 w 3746"/>
              <a:gd name="T39" fmla="*/ 749 h 3621"/>
              <a:gd name="T40" fmla="*/ 999 w 3746"/>
              <a:gd name="T41" fmla="*/ 375 h 3621"/>
              <a:gd name="T42" fmla="*/ 624 w 3746"/>
              <a:gd name="T43" fmla="*/ 0 h 3621"/>
              <a:gd name="T44" fmla="*/ 1249 w 3746"/>
              <a:gd name="T45" fmla="*/ 1374 h 3621"/>
              <a:gd name="T46" fmla="*/ 624 w 3746"/>
              <a:gd name="T47" fmla="*/ 749 h 3621"/>
              <a:gd name="T48" fmla="*/ 0 w 3746"/>
              <a:gd name="T49" fmla="*/ 1374 h 3621"/>
              <a:gd name="T50" fmla="*/ 3122 w 3746"/>
              <a:gd name="T51" fmla="*/ 0 h 3621"/>
              <a:gd name="T52" fmla="*/ 2747 w 3746"/>
              <a:gd name="T53" fmla="*/ 375 h 3621"/>
              <a:gd name="T54" fmla="*/ 3122 w 3746"/>
              <a:gd name="T55" fmla="*/ 749 h 3621"/>
              <a:gd name="T56" fmla="*/ 3496 w 3746"/>
              <a:gd name="T57" fmla="*/ 375 h 3621"/>
              <a:gd name="T58" fmla="*/ 3122 w 3746"/>
              <a:gd name="T59" fmla="*/ 0 h 3621"/>
              <a:gd name="T60" fmla="*/ 3746 w 3746"/>
              <a:gd name="T61" fmla="*/ 1374 h 3621"/>
              <a:gd name="T62" fmla="*/ 3122 w 3746"/>
              <a:gd name="T63" fmla="*/ 749 h 3621"/>
              <a:gd name="T64" fmla="*/ 2497 w 3746"/>
              <a:gd name="T65" fmla="*/ 1374 h 3621"/>
              <a:gd name="T66" fmla="*/ 2381 w 3746"/>
              <a:gd name="T67" fmla="*/ 2163 h 3621"/>
              <a:gd name="T68" fmla="*/ 1873 w 3746"/>
              <a:gd name="T69" fmla="*/ 1998 h 3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46" h="3621">
                <a:moveTo>
                  <a:pt x="3621" y="2622"/>
                </a:moveTo>
                <a:cubicBezTo>
                  <a:pt x="3621" y="2898"/>
                  <a:pt x="3398" y="3122"/>
                  <a:pt x="3122" y="3122"/>
                </a:cubicBezTo>
                <a:cubicBezTo>
                  <a:pt x="2846" y="3122"/>
                  <a:pt x="2622" y="2898"/>
                  <a:pt x="2622" y="2622"/>
                </a:cubicBezTo>
                <a:cubicBezTo>
                  <a:pt x="2622" y="2346"/>
                  <a:pt x="2846" y="2123"/>
                  <a:pt x="3122" y="2123"/>
                </a:cubicBezTo>
                <a:cubicBezTo>
                  <a:pt x="3398" y="2123"/>
                  <a:pt x="3621" y="2346"/>
                  <a:pt x="3621" y="2622"/>
                </a:cubicBezTo>
                <a:close/>
                <a:moveTo>
                  <a:pt x="2747" y="2997"/>
                </a:moveTo>
                <a:cubicBezTo>
                  <a:pt x="2747" y="3621"/>
                  <a:pt x="2747" y="3621"/>
                  <a:pt x="2747" y="3621"/>
                </a:cubicBezTo>
                <a:cubicBezTo>
                  <a:pt x="3122" y="3434"/>
                  <a:pt x="3122" y="3434"/>
                  <a:pt x="3122" y="3434"/>
                </a:cubicBezTo>
                <a:cubicBezTo>
                  <a:pt x="3496" y="3621"/>
                  <a:pt x="3496" y="3621"/>
                  <a:pt x="3496" y="3621"/>
                </a:cubicBezTo>
                <a:cubicBezTo>
                  <a:pt x="3496" y="2997"/>
                  <a:pt x="3496" y="2997"/>
                  <a:pt x="3496" y="2997"/>
                </a:cubicBezTo>
                <a:moveTo>
                  <a:pt x="1873" y="749"/>
                </a:moveTo>
                <a:cubicBezTo>
                  <a:pt x="1528" y="749"/>
                  <a:pt x="1249" y="1029"/>
                  <a:pt x="1249" y="1374"/>
                </a:cubicBezTo>
                <a:cubicBezTo>
                  <a:pt x="1249" y="1718"/>
                  <a:pt x="1528" y="1998"/>
                  <a:pt x="1873" y="1998"/>
                </a:cubicBezTo>
                <a:cubicBezTo>
                  <a:pt x="2218" y="1998"/>
                  <a:pt x="2497" y="1718"/>
                  <a:pt x="2497" y="1374"/>
                </a:cubicBezTo>
                <a:cubicBezTo>
                  <a:pt x="2497" y="1029"/>
                  <a:pt x="2218" y="749"/>
                  <a:pt x="1873" y="749"/>
                </a:cubicBezTo>
                <a:close/>
                <a:moveTo>
                  <a:pt x="1873" y="1998"/>
                </a:moveTo>
                <a:cubicBezTo>
                  <a:pt x="1390" y="1998"/>
                  <a:pt x="999" y="2389"/>
                  <a:pt x="999" y="2872"/>
                </a:cubicBezTo>
                <a:moveTo>
                  <a:pt x="624" y="0"/>
                </a:moveTo>
                <a:cubicBezTo>
                  <a:pt x="417" y="0"/>
                  <a:pt x="250" y="168"/>
                  <a:pt x="250" y="375"/>
                </a:cubicBezTo>
                <a:cubicBezTo>
                  <a:pt x="250" y="581"/>
                  <a:pt x="417" y="749"/>
                  <a:pt x="624" y="749"/>
                </a:cubicBezTo>
                <a:cubicBezTo>
                  <a:pt x="831" y="749"/>
                  <a:pt x="999" y="581"/>
                  <a:pt x="999" y="375"/>
                </a:cubicBezTo>
                <a:cubicBezTo>
                  <a:pt x="999" y="168"/>
                  <a:pt x="831" y="0"/>
                  <a:pt x="624" y="0"/>
                </a:cubicBezTo>
                <a:close/>
                <a:moveTo>
                  <a:pt x="1249" y="1374"/>
                </a:moveTo>
                <a:cubicBezTo>
                  <a:pt x="1249" y="1029"/>
                  <a:pt x="969" y="749"/>
                  <a:pt x="624" y="749"/>
                </a:cubicBezTo>
                <a:cubicBezTo>
                  <a:pt x="279" y="749"/>
                  <a:pt x="0" y="1029"/>
                  <a:pt x="0" y="1374"/>
                </a:cubicBezTo>
                <a:moveTo>
                  <a:pt x="3122" y="0"/>
                </a:moveTo>
                <a:cubicBezTo>
                  <a:pt x="2915" y="0"/>
                  <a:pt x="2747" y="168"/>
                  <a:pt x="2747" y="375"/>
                </a:cubicBezTo>
                <a:cubicBezTo>
                  <a:pt x="2747" y="581"/>
                  <a:pt x="2915" y="749"/>
                  <a:pt x="3122" y="749"/>
                </a:cubicBezTo>
                <a:cubicBezTo>
                  <a:pt x="3329" y="749"/>
                  <a:pt x="3496" y="581"/>
                  <a:pt x="3496" y="375"/>
                </a:cubicBezTo>
                <a:cubicBezTo>
                  <a:pt x="3496" y="168"/>
                  <a:pt x="3329" y="0"/>
                  <a:pt x="3122" y="0"/>
                </a:cubicBezTo>
                <a:close/>
                <a:moveTo>
                  <a:pt x="3746" y="1374"/>
                </a:moveTo>
                <a:cubicBezTo>
                  <a:pt x="3746" y="1029"/>
                  <a:pt x="3467" y="749"/>
                  <a:pt x="3122" y="749"/>
                </a:cubicBezTo>
                <a:cubicBezTo>
                  <a:pt x="2777" y="749"/>
                  <a:pt x="2497" y="1029"/>
                  <a:pt x="2497" y="1374"/>
                </a:cubicBezTo>
                <a:moveTo>
                  <a:pt x="2381" y="2163"/>
                </a:moveTo>
                <a:cubicBezTo>
                  <a:pt x="2238" y="2060"/>
                  <a:pt x="2063" y="1998"/>
                  <a:pt x="1873" y="1998"/>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49" name="Trackers_EADF" title="Icon of a clipboard with a checklist on it">
            <a:extLst>
              <a:ext uri="{FF2B5EF4-FFF2-40B4-BE49-F238E27FC236}">
                <a16:creationId xmlns:a16="http://schemas.microsoft.com/office/drawing/2014/main" id="{128C3AA1-B9F0-A776-F0C1-99F3CF257FB2}"/>
              </a:ext>
            </a:extLst>
          </p:cNvPr>
          <p:cNvSpPr>
            <a:spLocks noChangeAspect="1" noEditPoints="1"/>
          </p:cNvSpPr>
          <p:nvPr/>
        </p:nvSpPr>
        <p:spPr bwMode="auto">
          <a:xfrm>
            <a:off x="9431115" y="3199315"/>
            <a:ext cx="343199" cy="467967"/>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10" name="TextBox 9">
            <a:extLst>
              <a:ext uri="{FF2B5EF4-FFF2-40B4-BE49-F238E27FC236}">
                <a16:creationId xmlns:a16="http://schemas.microsoft.com/office/drawing/2014/main" id="{DA0DEBB5-18FF-09D6-B1E4-969986B5E8DA}"/>
              </a:ext>
            </a:extLst>
          </p:cNvPr>
          <p:cNvSpPr txBox="1"/>
          <p:nvPr/>
        </p:nvSpPr>
        <p:spPr>
          <a:xfrm>
            <a:off x="719545" y="1155344"/>
            <a:ext cx="11017250" cy="276999"/>
          </a:xfrm>
          <a:prstGeom prst="rect">
            <a:avLst/>
          </a:prstGeom>
          <a:noFill/>
          <a:ln>
            <a:noFill/>
          </a:ln>
        </p:spPr>
        <p:txBody>
          <a:bodyPr vert="horz" wrap="square" lIns="0" tIns="0" rIns="0" bIns="0" rtlCol="0">
            <a:spAutoFit/>
          </a:bodyPr>
          <a:lstStyle>
            <a:defPPr>
              <a:defRPr lang="en-US"/>
            </a:defPPr>
            <a:lvl1pPr marR="0" lvl="0" indent="0" defTabSz="932742" fontAlgn="auto">
              <a:lnSpc>
                <a:spcPct val="100000"/>
              </a:lnSpc>
              <a:spcBef>
                <a:spcPct val="20000"/>
              </a:spcBef>
              <a:spcAft>
                <a:spcPts val="0"/>
              </a:spcAft>
              <a:buClrTx/>
              <a:buSzPct val="90000"/>
              <a:buFont typeface="Wingdings" panose="05000000000000000000" pitchFamily="2" charset="2"/>
              <a:buNone/>
              <a:tabLst/>
              <a:defRPr kumimoji="0" b="0" i="0" u="none" strike="noStrike" cap="none" spc="0" normalizeH="0" baseline="0">
                <a:ln>
                  <a:noFill/>
                </a:ln>
                <a:solidFill>
                  <a:schemeClr val="accent6"/>
                </a:solidFill>
                <a:effectLst/>
                <a:uLnTx/>
                <a:uFillTx/>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rPr>
              <a:t>A modern data governance solution that delivers greater business outcomes in the era of AI</a:t>
            </a:r>
          </a:p>
        </p:txBody>
      </p:sp>
    </p:spTree>
    <p:extLst>
      <p:ext uri="{BB962C8B-B14F-4D97-AF65-F5344CB8AC3E}">
        <p14:creationId xmlns:p14="http://schemas.microsoft.com/office/powerpoint/2010/main" val="2328580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4C798-F981-5BE5-03FF-5860B297E56C}"/>
            </a:ext>
          </a:extLst>
        </p:cNvPr>
        <p:cNvGrpSpPr/>
        <p:nvPr/>
      </p:nvGrpSpPr>
      <p:grpSpPr>
        <a:xfrm>
          <a:off x="0" y="0"/>
          <a:ext cx="0" cy="0"/>
          <a:chOff x="0" y="0"/>
          <a:chExt cx="0" cy="0"/>
        </a:xfrm>
      </p:grpSpPr>
      <p:sp>
        <p:nvSpPr>
          <p:cNvPr id="26" name="Rounded Rectangle 7">
            <a:extLst>
              <a:ext uri="{FF2B5EF4-FFF2-40B4-BE49-F238E27FC236}">
                <a16:creationId xmlns:a16="http://schemas.microsoft.com/office/drawing/2014/main" id="{FB488A9D-04C4-51E5-EDD9-2D473CCDA9E4}"/>
              </a:ext>
            </a:extLst>
          </p:cNvPr>
          <p:cNvSpPr/>
          <p:nvPr/>
        </p:nvSpPr>
        <p:spPr>
          <a:xfrm rot="10800000">
            <a:off x="5267515" y="1124913"/>
            <a:ext cx="7173857" cy="4608174"/>
          </a:xfrm>
          <a:prstGeom prst="roundRect">
            <a:avLst>
              <a:gd name="adj" fmla="val 2795"/>
            </a:avLst>
          </a:prstGeom>
          <a:solidFill>
            <a:schemeClr val="bg1"/>
          </a:solidFill>
          <a:ln w="19050" cap="rnd">
            <a:gradFill>
              <a:gsLst>
                <a:gs pos="0">
                  <a:schemeClr val="accent1"/>
                </a:gs>
                <a:gs pos="100000">
                  <a:schemeClr val="accent1">
                    <a:lumMod val="30000"/>
                    <a:lumOff val="70000"/>
                  </a:schemeClr>
                </a:gs>
              </a:gsLst>
              <a:lin ang="5400000" scaled="1"/>
            </a:gradFill>
          </a:ln>
          <a:effectLst>
            <a:outerShdw blurRad="254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17" name="Text Placeholder 16">
            <a:extLst>
              <a:ext uri="{FF2B5EF4-FFF2-40B4-BE49-F238E27FC236}">
                <a16:creationId xmlns:a16="http://schemas.microsoft.com/office/drawing/2014/main" id="{E05C236A-F678-828D-6392-44F8F6547945}"/>
              </a:ext>
            </a:extLst>
          </p:cNvPr>
          <p:cNvSpPr>
            <a:spLocks noGrp="1"/>
          </p:cNvSpPr>
          <p:nvPr>
            <p:ph type="body" sz="quarter" idx="4294967295"/>
          </p:nvPr>
        </p:nvSpPr>
        <p:spPr>
          <a:xfrm>
            <a:off x="470959" y="736093"/>
            <a:ext cx="4906584" cy="552380"/>
          </a:xfrm>
        </p:spPr>
        <p:txBody>
          <a:bodyPr>
            <a:noAutofit/>
          </a:bodyPr>
          <a:lstStyle/>
          <a:p>
            <a:pPr marL="0" indent="0">
              <a:buNone/>
            </a:pPr>
            <a:r>
              <a:rPr lang="en-US" sz="3200">
                <a:latin typeface="Segoe UI Semibold" panose="020B0702040204020203" pitchFamily="34" charset="0"/>
                <a:cs typeface="Segoe UI Semibold" panose="020B0702040204020203" pitchFamily="34" charset="0"/>
              </a:rPr>
              <a:t>Comprehensive visibility</a:t>
            </a:r>
          </a:p>
        </p:txBody>
      </p:sp>
      <p:sp>
        <p:nvSpPr>
          <p:cNvPr id="27" name="Slide Number Placeholder 2">
            <a:extLst>
              <a:ext uri="{FF2B5EF4-FFF2-40B4-BE49-F238E27FC236}">
                <a16:creationId xmlns:a16="http://schemas.microsoft.com/office/drawing/2014/main" id="{F8E9C7A6-CCA6-AF7F-ED29-F0B21563FD13}"/>
              </a:ext>
            </a:extLst>
          </p:cNvPr>
          <p:cNvSpPr txBox="1">
            <a:spLocks/>
          </p:cNvSpPr>
          <p:nvPr/>
        </p:nvSpPr>
        <p:spPr>
          <a:xfrm>
            <a:off x="563563" y="6311900"/>
            <a:ext cx="399288"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FFF"/>
                </a:solidFill>
                <a:effectLst/>
                <a:uLnTx/>
                <a:uFillTx/>
                <a:latin typeface="Segoe Sans Text"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pic>
        <p:nvPicPr>
          <p:cNvPr id="3" name="Picture 2" descr="Illustration for: Comprehensive visibility">
            <a:extLst>
              <a:ext uri="{FF2B5EF4-FFF2-40B4-BE49-F238E27FC236}">
                <a16:creationId xmlns:a16="http://schemas.microsoft.com/office/drawing/2014/main" id="{DAC65981-240B-02BF-7AB2-0D8F62302EC1}"/>
              </a:ext>
            </a:extLst>
          </p:cNvPr>
          <p:cNvPicPr>
            <a:picLocks noChangeAspect="1"/>
          </p:cNvPicPr>
          <p:nvPr/>
        </p:nvPicPr>
        <p:blipFill>
          <a:blip r:embed="rId3">
            <a:extLst>
              <a:ext uri="{28A0092B-C50C-407E-A947-70E740481C1C}">
                <a14:useLocalDpi xmlns:a14="http://schemas.microsoft.com/office/drawing/2010/main" val="0"/>
              </a:ext>
            </a:extLst>
          </a:blip>
          <a:srcRect t="9822"/>
          <a:stretch/>
        </p:blipFill>
        <p:spPr>
          <a:xfrm>
            <a:off x="5506036" y="1432737"/>
            <a:ext cx="8426518" cy="4036872"/>
          </a:xfrm>
          <a:prstGeom prst="rect">
            <a:avLst/>
          </a:prstGeom>
        </p:spPr>
      </p:pic>
      <p:sp>
        <p:nvSpPr>
          <p:cNvPr id="5" name="Text Placeholder 16">
            <a:extLst>
              <a:ext uri="{FF2B5EF4-FFF2-40B4-BE49-F238E27FC236}">
                <a16:creationId xmlns:a16="http://schemas.microsoft.com/office/drawing/2014/main" id="{E067C871-2F6F-0EA6-C60B-F043C160A400}"/>
              </a:ext>
            </a:extLst>
          </p:cNvPr>
          <p:cNvSpPr txBox="1">
            <a:spLocks/>
          </p:cNvSpPr>
          <p:nvPr/>
        </p:nvSpPr>
        <p:spPr>
          <a:xfrm>
            <a:off x="470958" y="1317984"/>
            <a:ext cx="4601785" cy="12687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mn-ea"/>
                <a:cs typeface="Segoe UI" panose="020B0502040204020203" pitchFamily="34" charset="0"/>
              </a:defRPr>
            </a:lvl1pPr>
            <a:lvl2pPr marL="450850" indent="-179388"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mn-lt"/>
                <a:ea typeface="+mn-ea"/>
                <a:cs typeface="Segoe UI" panose="020B0502040204020203" pitchFamily="34" charset="0"/>
              </a:defRPr>
            </a:lvl2pPr>
            <a:lvl3pPr marL="673100" indent="-179388"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mn-lt"/>
                <a:ea typeface="+mn-ea"/>
                <a:cs typeface="Segoe UI" panose="020B0502040204020203" pitchFamily="34" charset="0"/>
              </a:defRPr>
            </a:lvl3pPr>
            <a:lvl4pPr marL="893763" indent="-177800" algn="l" defTabSz="914400" rtl="0" eaLnBrk="1" latinLnBrk="0" hangingPunct="1">
              <a:lnSpc>
                <a:spcPct val="90000"/>
              </a:lnSpc>
              <a:spcBef>
                <a:spcPts val="500"/>
              </a:spcBef>
              <a:buFont typeface="Arial" panose="020B0604020202020204" pitchFamily="34" charset="0"/>
              <a:buChar char="•"/>
              <a:tabLst/>
              <a:defRPr sz="1400" b="0" i="0" kern="1200">
                <a:solidFill>
                  <a:schemeClr val="tx1"/>
                </a:solidFill>
                <a:latin typeface="+mn-lt"/>
                <a:ea typeface="+mn-ea"/>
                <a:cs typeface="Segoe UI" panose="020B0502040204020203" pitchFamily="34" charset="0"/>
              </a:defRPr>
            </a:lvl4pPr>
            <a:lvl5pPr marL="1116013" indent="-17938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0078D4"/>
                </a:solidFill>
                <a:effectLst/>
                <a:uLnTx/>
                <a:uFillTx/>
                <a:latin typeface="Segoe UI"/>
                <a:ea typeface="+mn-ea"/>
                <a:cs typeface="Segoe Sans Display" pitchFamily="2" charset="0"/>
              </a:rPr>
              <a:t>Simplify visibility across disparate catalogs, hybrid and multi-cloud environments </a:t>
            </a:r>
            <a:r>
              <a:rPr lang="en-US" sz="1800">
                <a:solidFill>
                  <a:srgbClr val="0078D4"/>
                </a:solidFill>
                <a:latin typeface="Segoe UI"/>
                <a:cs typeface="Segoe Sans Display" pitchFamily="2" charset="0"/>
              </a:rPr>
              <a:t>and</a:t>
            </a:r>
            <a:r>
              <a:rPr kumimoji="0" lang="en-US" sz="1800" b="0" i="0" u="none" strike="noStrike" kern="1200" cap="none" spc="0" normalizeH="0" baseline="0" noProof="0">
                <a:ln>
                  <a:noFill/>
                </a:ln>
                <a:solidFill>
                  <a:srgbClr val="0078D4"/>
                </a:solidFill>
                <a:effectLst/>
                <a:uLnTx/>
                <a:uFillTx/>
                <a:latin typeface="Segoe UI"/>
                <a:ea typeface="+mn-ea"/>
                <a:cs typeface="Segoe Sans Display" pitchFamily="2" charset="0"/>
              </a:rPr>
              <a:t> data management</a:t>
            </a:r>
            <a:r>
              <a:rPr lang="en-US" sz="1800">
                <a:solidFill>
                  <a:srgbClr val="0078D4"/>
                </a:solidFill>
                <a:latin typeface="Segoe UI"/>
                <a:cs typeface="Segoe Sans Display" pitchFamily="2" charset="0"/>
              </a:rPr>
              <a:t> </a:t>
            </a:r>
            <a:r>
              <a:rPr kumimoji="0" lang="en-US" sz="1800" b="0" i="0" u="none" strike="noStrike" kern="1200" cap="none" spc="0" normalizeH="0" baseline="0" noProof="0">
                <a:ln>
                  <a:noFill/>
                </a:ln>
                <a:solidFill>
                  <a:srgbClr val="0078D4"/>
                </a:solidFill>
                <a:effectLst/>
                <a:uLnTx/>
                <a:uFillTx/>
                <a:latin typeface="Segoe UI"/>
                <a:ea typeface="+mn-ea"/>
                <a:cs typeface="Segoe Sans Display" pitchFamily="2" charset="0"/>
              </a:rPr>
              <a:t>through a unified experience.</a:t>
            </a:r>
          </a:p>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endParaRPr kumimoji="0" lang="en-US" sz="1800" b="0" i="0" u="none" strike="noStrike" kern="1200" cap="none" spc="0" normalizeH="0" baseline="0" noProof="0">
              <a:ln>
                <a:noFill/>
              </a:ln>
              <a:solidFill>
                <a:srgbClr val="1C1C1C"/>
              </a:solidFill>
              <a:effectLst/>
              <a:uLnTx/>
              <a:uFillTx/>
              <a:latin typeface="Segoe UI"/>
              <a:ea typeface="+mn-ea"/>
              <a:cs typeface="Segoe Sans Display" pitchFamily="2" charset="0"/>
            </a:endParaRPr>
          </a:p>
        </p:txBody>
      </p:sp>
      <p:sp>
        <p:nvSpPr>
          <p:cNvPr id="7" name="TextBox 6">
            <a:extLst>
              <a:ext uri="{FF2B5EF4-FFF2-40B4-BE49-F238E27FC236}">
                <a16:creationId xmlns:a16="http://schemas.microsoft.com/office/drawing/2014/main" id="{7E4282EE-9290-3EC3-7A13-8DF79D7A5BD0}"/>
              </a:ext>
            </a:extLst>
          </p:cNvPr>
          <p:cNvSpPr txBox="1"/>
          <p:nvPr/>
        </p:nvSpPr>
        <p:spPr>
          <a:xfrm>
            <a:off x="5267515" y="5838730"/>
            <a:ext cx="6351064"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1919"/>
                </a:solidFill>
                <a:effectLst/>
                <a:uLnTx/>
                <a:uFillTx/>
                <a:latin typeface="Segoe UI" panose="020B0502040204020203" pitchFamily="34" charset="0"/>
                <a:ea typeface="+mn-ea"/>
                <a:cs typeface="Segoe UI" panose="020B0502040204020203" pitchFamily="34" charset="0"/>
              </a:rPr>
              <a:t>Getting started experience in Microsoft Unified Catalog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001919"/>
              </a:solidFill>
              <a:effectLst/>
              <a:uLnTx/>
              <a:uFillTx/>
              <a:latin typeface="Segoe UI" panose="020B0502040204020203" pitchFamily="34" charset="0"/>
              <a:ea typeface="+mn-ea"/>
              <a:cs typeface="Segoe UI" panose="020B0502040204020203" pitchFamily="34" charset="0"/>
            </a:endParaRPr>
          </a:p>
        </p:txBody>
      </p:sp>
      <p:grpSp>
        <p:nvGrpSpPr>
          <p:cNvPr id="10" name="Group 9" descr="Diagram for: Comprehensive visibility">
            <a:extLst>
              <a:ext uri="{FF2B5EF4-FFF2-40B4-BE49-F238E27FC236}">
                <a16:creationId xmlns:a16="http://schemas.microsoft.com/office/drawing/2014/main" id="{91477952-59E7-DFEF-639E-46361B477326}"/>
              </a:ext>
            </a:extLst>
          </p:cNvPr>
          <p:cNvGrpSpPr/>
          <p:nvPr/>
        </p:nvGrpSpPr>
        <p:grpSpPr>
          <a:xfrm>
            <a:off x="470958" y="3892992"/>
            <a:ext cx="3929972" cy="1292662"/>
            <a:chOff x="563564" y="1628574"/>
            <a:chExt cx="4400930" cy="1292662"/>
          </a:xfrm>
        </p:grpSpPr>
        <p:sp>
          <p:nvSpPr>
            <p:cNvPr id="11" name="Text Placeholder 2">
              <a:extLst>
                <a:ext uri="{FF2B5EF4-FFF2-40B4-BE49-F238E27FC236}">
                  <a16:creationId xmlns:a16="http://schemas.microsoft.com/office/drawing/2014/main" id="{D0401807-E124-CFD7-041B-DABF190CEFFD}"/>
                </a:ext>
              </a:extLst>
            </p:cNvPr>
            <p:cNvSpPr txBox="1">
              <a:spLocks/>
            </p:cNvSpPr>
            <p:nvPr/>
          </p:nvSpPr>
          <p:spPr>
            <a:xfrm>
              <a:off x="563564" y="2005087"/>
              <a:ext cx="1287526"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a:rPr>
                <a:t>Unified Catalog</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12" name="Text Placeholder 2">
              <a:extLst>
                <a:ext uri="{FF2B5EF4-FFF2-40B4-BE49-F238E27FC236}">
                  <a16:creationId xmlns:a16="http://schemas.microsoft.com/office/drawing/2014/main" id="{387D5769-DC39-D40C-2390-3297847745D8}"/>
                </a:ext>
              </a:extLst>
            </p:cNvPr>
            <p:cNvSpPr txBox="1">
              <a:spLocks/>
            </p:cNvSpPr>
            <p:nvPr/>
          </p:nvSpPr>
          <p:spPr>
            <a:xfrm>
              <a:off x="2271979" y="1628574"/>
              <a:ext cx="2692515" cy="1292662"/>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a:ea typeface="+mn-ea"/>
                  <a:cs typeface="Segoe UI"/>
                </a:rPr>
                <a:t>Bring together data discovery, data curation, and data health experiences into one single-pane of glass to enable a culture of federated data governance </a:t>
              </a:r>
            </a:p>
          </p:txBody>
        </p:sp>
        <p:cxnSp>
          <p:nvCxnSpPr>
            <p:cNvPr id="13" name="Straight Connector 12">
              <a:extLst>
                <a:ext uri="{FF2B5EF4-FFF2-40B4-BE49-F238E27FC236}">
                  <a16:creationId xmlns:a16="http://schemas.microsoft.com/office/drawing/2014/main" id="{A94B9B48-CEA2-9380-577C-305BF652B072}"/>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4" name="Group 13" descr="Diagram for: Comprehensive visibility">
            <a:extLst>
              <a:ext uri="{FF2B5EF4-FFF2-40B4-BE49-F238E27FC236}">
                <a16:creationId xmlns:a16="http://schemas.microsoft.com/office/drawing/2014/main" id="{00408A19-31EE-66B3-4066-16C4F98BD79D}"/>
              </a:ext>
            </a:extLst>
          </p:cNvPr>
          <p:cNvGrpSpPr/>
          <p:nvPr/>
        </p:nvGrpSpPr>
        <p:grpSpPr>
          <a:xfrm>
            <a:off x="636594" y="2882369"/>
            <a:ext cx="4174376" cy="861774"/>
            <a:chOff x="-4120050" y="1190903"/>
            <a:chExt cx="4455261" cy="861774"/>
          </a:xfrm>
        </p:grpSpPr>
        <p:sp>
          <p:nvSpPr>
            <p:cNvPr id="15" name="Text Placeholder 2">
              <a:extLst>
                <a:ext uri="{FF2B5EF4-FFF2-40B4-BE49-F238E27FC236}">
                  <a16:creationId xmlns:a16="http://schemas.microsoft.com/office/drawing/2014/main" id="{E63FE7A5-F5E6-2CB6-D83F-6DF125379506}"/>
                </a:ext>
              </a:extLst>
            </p:cNvPr>
            <p:cNvSpPr txBox="1">
              <a:spLocks/>
            </p:cNvSpPr>
            <p:nvPr/>
          </p:nvSpPr>
          <p:spPr>
            <a:xfrm>
              <a:off x="-4120050" y="1425276"/>
              <a:ext cx="1034662" cy="246221"/>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a:rPr>
                <a:t>Data Map</a:t>
              </a:r>
              <a:endParaRPr kumimoji="0" lang="en-US" sz="2800" b="0" i="0" u="none" strike="noStrike" kern="1200" cap="none" spc="0" normalizeH="0" baseline="0" noProof="0">
                <a:ln>
                  <a:noFill/>
                </a:ln>
                <a:solidFill>
                  <a:srgbClr val="1C1C1C"/>
                </a:solidFill>
                <a:effectLst/>
                <a:uLnTx/>
                <a:uFillTx/>
                <a:latin typeface="Segoe Sans Text" panose="020F0502020204030204"/>
                <a:ea typeface="+mn-ea"/>
                <a:cs typeface="Segoe UI" panose="020B0502040204020203" pitchFamily="34" charset="0"/>
              </a:endParaRPr>
            </a:p>
          </p:txBody>
        </p:sp>
        <p:sp>
          <p:nvSpPr>
            <p:cNvPr id="16" name="Text Placeholder 2">
              <a:extLst>
                <a:ext uri="{FF2B5EF4-FFF2-40B4-BE49-F238E27FC236}">
                  <a16:creationId xmlns:a16="http://schemas.microsoft.com/office/drawing/2014/main" id="{D5DD9FB0-71C6-2AE2-42C2-4C8B8FC8B286}"/>
                </a:ext>
              </a:extLst>
            </p:cNvPr>
            <p:cNvSpPr txBox="1">
              <a:spLocks/>
            </p:cNvSpPr>
            <p:nvPr/>
          </p:nvSpPr>
          <p:spPr>
            <a:xfrm>
              <a:off x="-2672295" y="1190903"/>
              <a:ext cx="3007506" cy="861774"/>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a:ea typeface="+mn-ea"/>
                  <a:cs typeface="Segoe UI"/>
                </a:rPr>
                <a:t>Scan metadata from more than 70 sources across your heterogeneous data estate to enable Data Governance </a:t>
              </a:r>
              <a:endParaRPr kumimoji="0" lang="en-US" sz="3200" b="0" i="0" u="none" strike="noStrike" kern="1200" cap="none" spc="0" normalizeH="0" baseline="0" noProof="0">
                <a:ln>
                  <a:noFill/>
                </a:ln>
                <a:solidFill>
                  <a:srgbClr val="1C1C1C"/>
                </a:solidFill>
                <a:effectLst/>
                <a:uLnTx/>
                <a:uFillTx/>
                <a:latin typeface="Segoe Sans Text" panose="020F0502020204030204"/>
                <a:ea typeface="+mn-ea"/>
                <a:cs typeface="Segoe UI" panose="020B0502040204020203" pitchFamily="34" charset="0"/>
              </a:endParaRPr>
            </a:p>
          </p:txBody>
        </p:sp>
        <p:cxnSp>
          <p:nvCxnSpPr>
            <p:cNvPr id="18" name="Straight Connector 17">
              <a:extLst>
                <a:ext uri="{FF2B5EF4-FFF2-40B4-BE49-F238E27FC236}">
                  <a16:creationId xmlns:a16="http://schemas.microsoft.com/office/drawing/2014/main" id="{110627A4-D6BC-1BCB-624C-AC360184DC5F}"/>
                </a:ext>
              </a:extLst>
            </p:cNvPr>
            <p:cNvCxnSpPr>
              <a:cxnSpLocks/>
            </p:cNvCxnSpPr>
            <p:nvPr/>
          </p:nvCxnSpPr>
          <p:spPr>
            <a:xfrm>
              <a:off x="-2919459" y="1315571"/>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 name="Group 1" descr="Diagram for: Comprehensive visibility">
            <a:extLst>
              <a:ext uri="{FF2B5EF4-FFF2-40B4-BE49-F238E27FC236}">
                <a16:creationId xmlns:a16="http://schemas.microsoft.com/office/drawing/2014/main" id="{BA207760-F61F-8108-EF3A-96498AB98513}"/>
              </a:ext>
            </a:extLst>
          </p:cNvPr>
          <p:cNvGrpSpPr/>
          <p:nvPr/>
        </p:nvGrpSpPr>
        <p:grpSpPr>
          <a:xfrm>
            <a:off x="470958" y="5300121"/>
            <a:ext cx="3892393" cy="1077218"/>
            <a:chOff x="398254" y="1747049"/>
            <a:chExt cx="4882011" cy="1077218"/>
          </a:xfrm>
        </p:grpSpPr>
        <p:sp>
          <p:nvSpPr>
            <p:cNvPr id="4" name="Text Placeholder 2">
              <a:extLst>
                <a:ext uri="{FF2B5EF4-FFF2-40B4-BE49-F238E27FC236}">
                  <a16:creationId xmlns:a16="http://schemas.microsoft.com/office/drawing/2014/main" id="{A6F65FA6-5DA7-1268-EBCF-E887596569BD}"/>
                </a:ext>
              </a:extLst>
            </p:cNvPr>
            <p:cNvSpPr txBox="1">
              <a:spLocks/>
            </p:cNvSpPr>
            <p:nvPr/>
          </p:nvSpPr>
          <p:spPr>
            <a:xfrm>
              <a:off x="398254" y="2092586"/>
              <a:ext cx="1434851" cy="246221"/>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a:rPr>
                <a:t>Data Products</a:t>
              </a:r>
              <a:endParaRPr kumimoji="0" lang="en-US" sz="2800" b="0" i="0" u="none" strike="noStrike" kern="1200" cap="none" spc="0" normalizeH="0" baseline="0" noProof="0">
                <a:ln>
                  <a:noFill/>
                </a:ln>
                <a:solidFill>
                  <a:srgbClr val="1C1C1C"/>
                </a:solidFill>
                <a:effectLst/>
                <a:uLnTx/>
                <a:uFillTx/>
                <a:latin typeface="Segoe Sans Text" panose="020F0502020204030204"/>
                <a:ea typeface="+mn-ea"/>
                <a:cs typeface="Segoe UI" panose="020B0502040204020203" pitchFamily="34" charset="0"/>
              </a:endParaRPr>
            </a:p>
          </p:txBody>
        </p:sp>
        <p:sp>
          <p:nvSpPr>
            <p:cNvPr id="6" name="Text Placeholder 2">
              <a:extLst>
                <a:ext uri="{FF2B5EF4-FFF2-40B4-BE49-F238E27FC236}">
                  <a16:creationId xmlns:a16="http://schemas.microsoft.com/office/drawing/2014/main" id="{07C7E226-4027-9BC3-95D8-8C19AA5DF056}"/>
                </a:ext>
              </a:extLst>
            </p:cNvPr>
            <p:cNvSpPr txBox="1">
              <a:spLocks/>
            </p:cNvSpPr>
            <p:nvPr/>
          </p:nvSpPr>
          <p:spPr>
            <a:xfrm>
              <a:off x="2272758" y="1747049"/>
              <a:ext cx="3007507" cy="1077218"/>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1C1C1C"/>
                  </a:solidFill>
                  <a:effectLst/>
                  <a:uLnTx/>
                  <a:uFillTx/>
                  <a:latin typeface="Segoe UI"/>
                  <a:ea typeface="+mn-ea"/>
                  <a:cs typeface="Segoe UI"/>
                </a:rPr>
                <a:t>Enable a responsible marketplace of business-friendly, high quality, and curated assets ready for responsible use.</a:t>
              </a:r>
              <a:endParaRPr kumimoji="0" lang="en-US" sz="3200" b="0" i="0" u="none" strike="noStrike" kern="1200" cap="none" spc="0" normalizeH="0" baseline="0" noProof="0">
                <a:ln>
                  <a:noFill/>
                </a:ln>
                <a:solidFill>
                  <a:srgbClr val="1C1C1C"/>
                </a:solidFill>
                <a:effectLst/>
                <a:uLnTx/>
                <a:uFillTx/>
                <a:latin typeface="Segoe Sans Text" panose="020F0502020204030204"/>
                <a:ea typeface="+mn-ea"/>
                <a:cs typeface="Segoe UI" panose="020B0502040204020203" pitchFamily="34" charset="0"/>
              </a:endParaRPr>
            </a:p>
          </p:txBody>
        </p:sp>
        <p:cxnSp>
          <p:nvCxnSpPr>
            <p:cNvPr id="8" name="Straight Connector 7">
              <a:extLst>
                <a:ext uri="{FF2B5EF4-FFF2-40B4-BE49-F238E27FC236}">
                  <a16:creationId xmlns:a16="http://schemas.microsoft.com/office/drawing/2014/main" id="{8761A933-20DB-7E02-48E3-5917750F23A0}"/>
                </a:ext>
              </a:extLst>
            </p:cNvPr>
            <p:cNvCxnSpPr>
              <a:cxnSpLocks/>
            </p:cNvCxnSpPr>
            <p:nvPr/>
          </p:nvCxnSpPr>
          <p:spPr>
            <a:xfrm>
              <a:off x="2025596"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8" name="Hidden Title 28" descr="Slide title: Comprehensive visibility"/>
          <p:cNvSpPr>
            <a:spLocks noGrp="1"/>
          </p:cNvSpPr>
          <p:nvPr>
            <p:ph type="title"/>
          </p:nvPr>
        </p:nvSpPr>
        <p:spPr>
          <a:xfrm>
            <a:off x="0" y="-457200"/>
            <a:ext cx="9144000" cy="457200"/>
          </a:xfrm>
        </p:spPr>
        <p:txBody>
          <a:bodyPr/>
          <a:lstStyle/>
          <a:p>
            <a:r>
              <a:rPr lang="en-US" sz="100" dirty="0"/>
              <a:t>Comprehensive visibility</a:t>
            </a:r>
          </a:p>
        </p:txBody>
      </p:sp>
    </p:spTree>
    <p:extLst>
      <p:ext uri="{BB962C8B-B14F-4D97-AF65-F5344CB8AC3E}">
        <p14:creationId xmlns:p14="http://schemas.microsoft.com/office/powerpoint/2010/main" val="221976189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E3EA6-C9ED-C028-3A7C-3362A127028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7B1828-FD3B-B9B7-8DE8-27A667D464E3}"/>
              </a:ext>
            </a:extLst>
          </p:cNvPr>
          <p:cNvSpPr>
            <a:spLocks noGrp="1"/>
          </p:cNvSpPr>
          <p:nvPr>
            <p:ph type="title" idx="4294967295"/>
          </p:nvPr>
        </p:nvSpPr>
        <p:spPr bwMode="auto">
          <a:xfrm>
            <a:off x="0" y="6350696"/>
            <a:ext cx="12188250" cy="477101"/>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600" spc="0">
                <a:ln>
                  <a:noFill/>
                </a:ln>
                <a:solidFill>
                  <a:schemeClr val="bg1"/>
                </a:solidFill>
                <a:cs typeface="Segoe UI" pitchFamily="34" charset="0"/>
              </a:rPr>
              <a:t>Ingest metadata from 70+ sources into </a:t>
            </a:r>
            <a:r>
              <a:rPr lang="en-US" sz="1600" b="1" spc="0">
                <a:ln>
                  <a:noFill/>
                </a:ln>
                <a:solidFill>
                  <a:schemeClr val="bg1"/>
                </a:solidFill>
                <a:cs typeface="Segoe UI" pitchFamily="34" charset="0"/>
              </a:rPr>
              <a:t>Data Map </a:t>
            </a:r>
            <a:r>
              <a:rPr lang="en-US" sz="1600" spc="0">
                <a:ln>
                  <a:noFill/>
                </a:ln>
                <a:solidFill>
                  <a:schemeClr val="bg1"/>
                </a:solidFill>
                <a:cs typeface="Segoe UI" pitchFamily="34" charset="0"/>
              </a:rPr>
              <a:t>to build out your </a:t>
            </a:r>
            <a:r>
              <a:rPr lang="en-US" sz="1600" b="1" spc="0">
                <a:ln>
                  <a:noFill/>
                </a:ln>
                <a:solidFill>
                  <a:schemeClr val="bg1"/>
                </a:solidFill>
                <a:cs typeface="Segoe UI" pitchFamily="34" charset="0"/>
              </a:rPr>
              <a:t>Unified Catalog </a:t>
            </a:r>
            <a:endParaRPr kumimoji="0" lang="en-US" sz="1600" b="1" i="0" u="none" strike="noStrike" kern="1200" cap="none" spc="0" normalizeH="0" baseline="0" noProof="0">
              <a:ln>
                <a:noFill/>
              </a:ln>
              <a:solidFill>
                <a:schemeClr val="bg1"/>
              </a:solidFill>
              <a:effectLst/>
              <a:uLnTx/>
              <a:uFillTx/>
              <a:latin typeface="+mn-lt"/>
              <a:ea typeface="+mn-ea"/>
              <a:cs typeface="Segoe UI" pitchFamily="34" charset="0"/>
            </a:endParaRPr>
          </a:p>
        </p:txBody>
      </p:sp>
      <p:pic>
        <p:nvPicPr>
          <p:cNvPr id="5" name="Picture 4" descr="Illustration for: Ingest metadata from 70+ sources into Data Map to build out ">
            <a:extLst>
              <a:ext uri="{FF2B5EF4-FFF2-40B4-BE49-F238E27FC236}">
                <a16:creationId xmlns:a16="http://schemas.microsoft.com/office/drawing/2014/main" id="{50FA60CF-CF28-FAEB-175B-0320065C3A6C}"/>
              </a:ext>
            </a:extLst>
          </p:cNvPr>
          <p:cNvPicPr>
            <a:picLocks noChangeAspect="1"/>
          </p:cNvPicPr>
          <p:nvPr/>
        </p:nvPicPr>
        <p:blipFill>
          <a:blip r:embed="rId3"/>
          <a:srcRect t="4916" b="4916"/>
          <a:stretch>
            <a:fillRect/>
          </a:stretch>
        </p:blipFill>
        <p:spPr>
          <a:xfrm>
            <a:off x="-1" y="0"/>
            <a:ext cx="12096427" cy="6390870"/>
          </a:xfrm>
          <a:prstGeom prst="rect">
            <a:avLst/>
          </a:prstGeom>
        </p:spPr>
      </p:pic>
      <p:sp>
        <p:nvSpPr>
          <p:cNvPr id="6" name="Hidden Title 6" descr="Slide title: Ingest metadata from 70+ sources into Data Map to build out your Unified Catalog"/>
          <p:cNvSpPr>
            <a:spLocks noGrp="1"/>
          </p:cNvSpPr>
          <p:nvPr>
            <p:ph type="title"/>
          </p:nvPr>
        </p:nvSpPr>
        <p:spPr>
          <a:xfrm>
            <a:off x="0" y="-457200"/>
            <a:ext cx="9144000" cy="457200"/>
          </a:xfrm>
        </p:spPr>
        <p:txBody>
          <a:bodyPr/>
          <a:lstStyle/>
          <a:p>
            <a:r>
              <a:rPr lang="en-US" sz="100" dirty="0"/>
              <a:t>Ingest metadata from </a:t>
            </a:r>
            <a:r>
              <a:rPr lang="en-US" sz="100"/>
              <a:t>70</a:t>
            </a:r>
            <a:r>
              <a:rPr lang="en-US" sz="100" dirty="0"/>
              <a:t>+ sources into Data Map to build out your Unified Catalog</a:t>
            </a:r>
          </a:p>
        </p:txBody>
      </p:sp>
    </p:spTree>
    <p:extLst>
      <p:ext uri="{BB962C8B-B14F-4D97-AF65-F5344CB8AC3E}">
        <p14:creationId xmlns:p14="http://schemas.microsoft.com/office/powerpoint/2010/main" val="21418310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B088-91B6-680E-2FA1-2CB33B20D4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790B99-7412-2E7A-FA3D-885A10AFE6B9}"/>
              </a:ext>
            </a:extLst>
          </p:cNvPr>
          <p:cNvSpPr>
            <a:spLocks noGrp="1"/>
          </p:cNvSpPr>
          <p:nvPr>
            <p:ph type="title" idx="4294967295"/>
          </p:nvPr>
        </p:nvSpPr>
        <p:spPr bwMode="auto">
          <a:xfrm>
            <a:off x="0" y="6350696"/>
            <a:ext cx="12188250" cy="477101"/>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Users see high-level information about each </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data product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as well as individual assets that make up the data product across the data estate</a:t>
            </a:r>
          </a:p>
        </p:txBody>
      </p:sp>
      <p:pic>
        <p:nvPicPr>
          <p:cNvPr id="4" name="Picture 3" descr="Illustration for: Users see high-level information about each data product as ">
            <a:extLst>
              <a:ext uri="{FF2B5EF4-FFF2-40B4-BE49-F238E27FC236}">
                <a16:creationId xmlns:a16="http://schemas.microsoft.com/office/drawing/2014/main" id="{78F95216-6B8B-1C29-982A-7E6FC119452F}"/>
              </a:ext>
            </a:extLst>
          </p:cNvPr>
          <p:cNvPicPr>
            <a:picLocks noChangeAspect="1"/>
          </p:cNvPicPr>
          <p:nvPr/>
        </p:nvPicPr>
        <p:blipFill>
          <a:blip r:embed="rId3">
            <a:extLst>
              <a:ext uri="{28A0092B-C50C-407E-A947-70E740481C1C}">
                <a14:useLocalDpi xmlns:a14="http://schemas.microsoft.com/office/drawing/2010/main" val="0"/>
              </a:ext>
            </a:extLst>
          </a:blip>
          <a:srcRect l="-31" r="31" b="9814"/>
          <a:stretch/>
        </p:blipFill>
        <p:spPr>
          <a:xfrm>
            <a:off x="0" y="30203"/>
            <a:ext cx="12188250" cy="6320493"/>
          </a:xfrm>
          <a:prstGeom prst="rect">
            <a:avLst/>
          </a:prstGeom>
        </p:spPr>
      </p:pic>
      <p:sp>
        <p:nvSpPr>
          <p:cNvPr id="5" name="Hidden Title 5" descr="Slide title: Users see high-level information about each data product as well as individual a"/>
          <p:cNvSpPr>
            <a:spLocks noGrp="1"/>
          </p:cNvSpPr>
          <p:nvPr>
            <p:ph type="title"/>
          </p:nvPr>
        </p:nvSpPr>
        <p:spPr>
          <a:xfrm>
            <a:off x="0" y="-457200"/>
            <a:ext cx="9144000" cy="457200"/>
          </a:xfrm>
        </p:spPr>
        <p:txBody>
          <a:bodyPr/>
          <a:lstStyle/>
          <a:p>
            <a:r>
              <a:rPr lang="en-US" sz="100" dirty="0"/>
              <a:t>Users see high-level information about each data product as well as individual a</a:t>
            </a:r>
          </a:p>
        </p:txBody>
      </p:sp>
    </p:spTree>
    <p:extLst>
      <p:ext uri="{BB962C8B-B14F-4D97-AF65-F5344CB8AC3E}">
        <p14:creationId xmlns:p14="http://schemas.microsoft.com/office/powerpoint/2010/main" val="10401950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3F08-1A34-6DDD-BDE1-AB48AB7610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222C51-12EA-9F9A-F4F2-D9F35763E025}"/>
              </a:ext>
            </a:extLst>
          </p:cNvPr>
          <p:cNvSpPr>
            <a:spLocks noGrp="1"/>
          </p:cNvSpPr>
          <p:nvPr>
            <p:ph type="title" idx="4294967295"/>
          </p:nvPr>
        </p:nvSpPr>
        <p:spPr bwMode="auto">
          <a:xfrm>
            <a:off x="0" y="6379740"/>
            <a:ext cx="12192000" cy="478259"/>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R="0" lvl="0" algn="l" defTabSz="932472" rtl="0" eaLnBrk="1" fontAlgn="base" latinLnBrk="0" hangingPunct="1">
              <a:lnSpc>
                <a:spcPct val="100000"/>
              </a:lnSpc>
              <a:spcBef>
                <a:spcPct val="0"/>
              </a:spcBef>
              <a:spcAft>
                <a:spcPct val="0"/>
              </a:spcAft>
              <a:buClrTx/>
              <a:buSzTx/>
              <a:tabLst/>
              <a:defRPr/>
            </a:pP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Access Policies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streamline the access request process for the business user while ensuring oversight</a:t>
            </a:r>
          </a:p>
        </p:txBody>
      </p:sp>
      <p:sp>
        <p:nvSpPr>
          <p:cNvPr id="22" name="Rectangle: Top Corners Rounded 21">
            <a:extLst>
              <a:ext uri="{FF2B5EF4-FFF2-40B4-BE49-F238E27FC236}">
                <a16:creationId xmlns:a16="http://schemas.microsoft.com/office/drawing/2014/main" id="{55DF8554-4AD6-A915-F8DB-5497E1140460}"/>
              </a:ext>
              <a:ext uri="{C183D7F6-B498-43B3-948B-1728B52AA6E4}">
                <adec:decorative xmlns:adec="http://schemas.microsoft.com/office/drawing/2017/decorative" val="1"/>
              </a:ext>
            </a:extLst>
          </p:cNvPr>
          <p:cNvSpPr/>
          <p:nvPr/>
        </p:nvSpPr>
        <p:spPr bwMode="auto">
          <a:xfrm rot="5400000">
            <a:off x="10850906" y="6153596"/>
            <a:ext cx="448056" cy="204267"/>
          </a:xfrm>
          <a:prstGeom prst="round2SameRect">
            <a:avLst>
              <a:gd name="adj1" fmla="val 50000"/>
              <a:gd name="adj2" fmla="val 0"/>
            </a:avLst>
          </a:prstGeom>
          <a:gradFill flip="none" rotWithShape="1">
            <a:gsLst>
              <a:gs pos="0">
                <a:schemeClr val="tx1"/>
              </a:gs>
              <a:gs pos="100000">
                <a:srgbClr val="243A5E"/>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 name="Picture 3" descr="Illustration for: Access Policies streamline the access request process for th">
            <a:extLst>
              <a:ext uri="{FF2B5EF4-FFF2-40B4-BE49-F238E27FC236}">
                <a16:creationId xmlns:a16="http://schemas.microsoft.com/office/drawing/2014/main" id="{7C9D10BF-BF02-AFC2-0BB6-D9A7270CE9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9611" y="2757"/>
            <a:ext cx="11812778" cy="6477000"/>
          </a:xfrm>
          <a:prstGeom prst="rect">
            <a:avLst/>
          </a:prstGeom>
        </p:spPr>
      </p:pic>
      <p:sp>
        <p:nvSpPr>
          <p:cNvPr id="23" name="Hidden Title 23" descr="Slide title: Access Policies streamline the access request process for the business user whil"/>
          <p:cNvSpPr>
            <a:spLocks noGrp="1"/>
          </p:cNvSpPr>
          <p:nvPr>
            <p:ph type="title"/>
          </p:nvPr>
        </p:nvSpPr>
        <p:spPr>
          <a:xfrm>
            <a:off x="0" y="-457200"/>
            <a:ext cx="9144000" cy="457200"/>
          </a:xfrm>
        </p:spPr>
        <p:txBody>
          <a:bodyPr/>
          <a:lstStyle/>
          <a:p>
            <a:r>
              <a:rPr lang="en-US" sz="100" dirty="0"/>
              <a:t>Access Policies streamline the access request process for the business user whil</a:t>
            </a:r>
          </a:p>
        </p:txBody>
      </p:sp>
    </p:spTree>
    <p:extLst>
      <p:ext uri="{BB962C8B-B14F-4D97-AF65-F5344CB8AC3E}">
        <p14:creationId xmlns:p14="http://schemas.microsoft.com/office/powerpoint/2010/main" val="29453518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60C37-454C-7F57-4A61-F1DAEDEDD264}"/>
              </a:ext>
            </a:extLst>
          </p:cNvPr>
          <p:cNvSpPr>
            <a:spLocks noGrp="1"/>
          </p:cNvSpPr>
          <p:nvPr>
            <p:ph type="title" idx="4294967295"/>
          </p:nvPr>
        </p:nvSpPr>
        <p:spPr bwMode="auto">
          <a:xfrm>
            <a:off x="0" y="6409943"/>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defTabSz="932472" fontAlgn="base">
              <a:spcAft>
                <a:spcPct val="0"/>
              </a:spcAft>
              <a:defRPr/>
            </a:pPr>
            <a:r>
              <a:rPr kumimoji="0" lang="en-US" sz="1600" b="1" i="0" u="none" strike="noStrike" kern="1200" cap="none" spc="0" normalizeH="0" baseline="0" noProof="0">
                <a:ln>
                  <a:noFill/>
                </a:ln>
                <a:solidFill>
                  <a:schemeClr val="bg1"/>
                </a:solidFill>
                <a:effectLst/>
                <a:uLnTx/>
                <a:uFillTx/>
                <a:latin typeface="+mn-lt"/>
                <a:ea typeface="+mn-ea"/>
                <a:cs typeface="Segoe UI"/>
              </a:rPr>
              <a:t>Custom metadata </a:t>
            </a:r>
            <a:r>
              <a:rPr kumimoji="0" lang="en-US" sz="1600" i="0" u="none" strike="noStrike" kern="1200" cap="none" spc="0" normalizeH="0" baseline="0" noProof="0">
                <a:ln>
                  <a:noFill/>
                </a:ln>
                <a:solidFill>
                  <a:schemeClr val="bg1"/>
                </a:solidFill>
                <a:effectLst/>
                <a:uLnTx/>
                <a:uFillTx/>
                <a:latin typeface="+mn-lt"/>
                <a:ea typeface="+mn-ea"/>
                <a:cs typeface="Segoe UI"/>
              </a:rPr>
              <a:t>applied</a:t>
            </a:r>
            <a:r>
              <a:rPr kumimoji="0" lang="en-US" sz="1600" b="1" i="0" u="none" strike="noStrike" kern="1200" cap="none" spc="0" normalizeH="0" baseline="0" noProof="0">
                <a:ln>
                  <a:noFill/>
                </a:ln>
                <a:solidFill>
                  <a:schemeClr val="bg1"/>
                </a:solidFill>
                <a:effectLst/>
                <a:uLnTx/>
                <a:uFillTx/>
                <a:latin typeface="+mn-lt"/>
                <a:ea typeface="+mn-ea"/>
                <a:cs typeface="Segoe UI"/>
              </a:rPr>
              <a:t> </a:t>
            </a:r>
            <a:r>
              <a:rPr kumimoji="0" lang="en-US" sz="1600" b="0" i="0" u="none" strike="noStrike" kern="1200" cap="none" spc="0" normalizeH="0" baseline="0" noProof="0">
                <a:ln>
                  <a:noFill/>
                </a:ln>
                <a:solidFill>
                  <a:schemeClr val="bg1"/>
                </a:solidFill>
                <a:effectLst/>
                <a:uLnTx/>
                <a:uFillTx/>
                <a:latin typeface="+mn-lt"/>
                <a:ea typeface="+mn-ea"/>
                <a:cs typeface="Segoe UI"/>
              </a:rPr>
              <a:t>to a business concept (data product) that enhances discoverability of assets.</a:t>
            </a:r>
            <a:endParaRPr lang="en-US">
              <a:ea typeface="+mn-ea"/>
            </a:endParaRPr>
          </a:p>
        </p:txBody>
      </p:sp>
      <p:pic>
        <p:nvPicPr>
          <p:cNvPr id="3" name="drawing" descr="A screenshot of a computer  AI-generated content may be incorrect.">
            <a:extLst>
              <a:ext uri="{FF2B5EF4-FFF2-40B4-BE49-F238E27FC236}">
                <a16:creationId xmlns:a16="http://schemas.microsoft.com/office/drawing/2014/main" id="{94D15295-81C4-2536-864C-18BE750FE70A}"/>
              </a:ext>
            </a:extLst>
          </p:cNvPr>
          <p:cNvPicPr>
            <a:picLocks noChangeAspect="1"/>
          </p:cNvPicPr>
          <p:nvPr/>
        </p:nvPicPr>
        <p:blipFill>
          <a:blip r:embed="rId3" cstate="print">
            <a:extLst>
              <a:ext uri="{28A0092B-C50C-407E-A947-70E740481C1C}">
                <a14:useLocalDpi xmlns:a14="http://schemas.microsoft.com/office/drawing/2010/main" val="0"/>
              </a:ext>
            </a:extLst>
          </a:blip>
          <a:srcRect t="2803" b="5000"/>
          <a:stretch>
            <a:fillRect/>
          </a:stretch>
        </p:blipFill>
        <p:spPr>
          <a:xfrm>
            <a:off x="0" y="-1"/>
            <a:ext cx="12192000" cy="6498493"/>
          </a:xfrm>
          <a:prstGeom prst="rect">
            <a:avLst/>
          </a:prstGeom>
        </p:spPr>
      </p:pic>
      <p:sp>
        <p:nvSpPr>
          <p:cNvPr id="4" name="Hidden Title 4" descr="Slide title: Custom metadata applied to a business concept (data product) that enhances disco"/>
          <p:cNvSpPr>
            <a:spLocks noGrp="1"/>
          </p:cNvSpPr>
          <p:nvPr>
            <p:ph type="title"/>
          </p:nvPr>
        </p:nvSpPr>
        <p:spPr>
          <a:xfrm>
            <a:off x="0" y="-457200"/>
            <a:ext cx="9144000" cy="457200"/>
          </a:xfrm>
        </p:spPr>
        <p:txBody>
          <a:bodyPr/>
          <a:lstStyle/>
          <a:p>
            <a:r>
              <a:rPr lang="en-US" sz="100" dirty="0"/>
              <a:t>Custom metadata applied to a business concept (data product) that enhances disco</a:t>
            </a:r>
          </a:p>
        </p:txBody>
      </p:sp>
    </p:spTree>
    <p:extLst>
      <p:ext uri="{BB962C8B-B14F-4D97-AF65-F5344CB8AC3E}">
        <p14:creationId xmlns:p14="http://schemas.microsoft.com/office/powerpoint/2010/main" val="97342500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69AB3F10-5A5B-4D38-5DE0-4A31E8F22393}"/>
              </a:ext>
            </a:extLst>
          </p:cNvPr>
          <p:cNvSpPr>
            <a:spLocks noGrp="1"/>
          </p:cNvSpPr>
          <p:nvPr>
            <p:ph type="body" sz="quarter" idx="4294967295"/>
          </p:nvPr>
        </p:nvSpPr>
        <p:spPr>
          <a:xfrm>
            <a:off x="470959" y="736093"/>
            <a:ext cx="3983397" cy="552380"/>
          </a:xfrm>
        </p:spPr>
        <p:txBody>
          <a:bodyPr>
            <a:noAutofit/>
          </a:bodyPr>
          <a:lstStyle/>
          <a:p>
            <a:pPr marL="0" indent="0">
              <a:buNone/>
            </a:pPr>
            <a:r>
              <a:rPr lang="en-US" sz="3200">
                <a:latin typeface="Segoe UI Semibold" panose="020B0702040204020203" pitchFamily="34" charset="0"/>
                <a:cs typeface="Segoe UI Semibold" panose="020B0702040204020203" pitchFamily="34" charset="0"/>
              </a:rPr>
              <a:t>Data confidence</a:t>
            </a:r>
          </a:p>
        </p:txBody>
      </p:sp>
      <p:sp>
        <p:nvSpPr>
          <p:cNvPr id="27" name="Slide Number Placeholder 2">
            <a:extLst>
              <a:ext uri="{FF2B5EF4-FFF2-40B4-BE49-F238E27FC236}">
                <a16:creationId xmlns:a16="http://schemas.microsoft.com/office/drawing/2014/main" id="{CADDBD93-D32F-35E9-77BC-AA18F1F2709E}"/>
              </a:ext>
            </a:extLst>
          </p:cNvPr>
          <p:cNvSpPr txBox="1">
            <a:spLocks/>
          </p:cNvSpPr>
          <p:nvPr/>
        </p:nvSpPr>
        <p:spPr>
          <a:xfrm>
            <a:off x="563563" y="6311900"/>
            <a:ext cx="399288"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FFF"/>
                </a:solidFill>
                <a:effectLst/>
                <a:uLnTx/>
                <a:uFillTx/>
                <a:latin typeface="Segoe Sans Text"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8" name="Rounded Rectangle 7">
            <a:extLst>
              <a:ext uri="{FF2B5EF4-FFF2-40B4-BE49-F238E27FC236}">
                <a16:creationId xmlns:a16="http://schemas.microsoft.com/office/drawing/2014/main" id="{1300367A-CD6E-9719-5211-739ED874D532}"/>
              </a:ext>
            </a:extLst>
          </p:cNvPr>
          <p:cNvSpPr/>
          <p:nvPr/>
        </p:nvSpPr>
        <p:spPr>
          <a:xfrm rot="10800000">
            <a:off x="5267515" y="1124913"/>
            <a:ext cx="7173857" cy="4608174"/>
          </a:xfrm>
          <a:prstGeom prst="roundRect">
            <a:avLst>
              <a:gd name="adj" fmla="val 2795"/>
            </a:avLst>
          </a:prstGeom>
          <a:solidFill>
            <a:schemeClr val="bg1"/>
          </a:solidFill>
          <a:ln w="19050" cap="rnd">
            <a:gradFill>
              <a:gsLst>
                <a:gs pos="0">
                  <a:schemeClr val="accent1"/>
                </a:gs>
                <a:gs pos="100000">
                  <a:schemeClr val="accent1">
                    <a:lumMod val="30000"/>
                    <a:lumOff val="70000"/>
                  </a:schemeClr>
                </a:gs>
              </a:gsLst>
              <a:lin ang="5400000" scaled="1"/>
            </a:gradFill>
          </a:ln>
          <a:effectLst>
            <a:outerShdw blurRad="254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5" name="Text Placeholder 16">
            <a:extLst>
              <a:ext uri="{FF2B5EF4-FFF2-40B4-BE49-F238E27FC236}">
                <a16:creationId xmlns:a16="http://schemas.microsoft.com/office/drawing/2014/main" id="{1E0FEFC4-5EF9-1DBD-0DEB-489A848BA6DD}"/>
              </a:ext>
            </a:extLst>
          </p:cNvPr>
          <p:cNvSpPr txBox="1">
            <a:spLocks/>
          </p:cNvSpPr>
          <p:nvPr/>
        </p:nvSpPr>
        <p:spPr>
          <a:xfrm>
            <a:off x="470959" y="1317984"/>
            <a:ext cx="4184160" cy="1462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mn-ea"/>
                <a:cs typeface="Segoe UI" panose="020B0502040204020203" pitchFamily="34" charset="0"/>
              </a:defRPr>
            </a:lvl1pPr>
            <a:lvl2pPr marL="450850" indent="-179388"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mn-lt"/>
                <a:ea typeface="+mn-ea"/>
                <a:cs typeface="Segoe UI" panose="020B0502040204020203" pitchFamily="34" charset="0"/>
              </a:defRPr>
            </a:lvl2pPr>
            <a:lvl3pPr marL="673100" indent="-179388"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mn-lt"/>
                <a:ea typeface="+mn-ea"/>
                <a:cs typeface="Segoe UI" panose="020B0502040204020203" pitchFamily="34" charset="0"/>
              </a:defRPr>
            </a:lvl3pPr>
            <a:lvl4pPr marL="893763" indent="-177800" algn="l" defTabSz="914400" rtl="0" eaLnBrk="1" latinLnBrk="0" hangingPunct="1">
              <a:lnSpc>
                <a:spcPct val="90000"/>
              </a:lnSpc>
              <a:spcBef>
                <a:spcPts val="500"/>
              </a:spcBef>
              <a:buFont typeface="Arial" panose="020B0604020202020204" pitchFamily="34" charset="0"/>
              <a:buChar char="•"/>
              <a:tabLst/>
              <a:defRPr sz="1400" b="0" i="0" kern="1200">
                <a:solidFill>
                  <a:schemeClr val="tx1"/>
                </a:solidFill>
                <a:latin typeface="+mn-lt"/>
                <a:ea typeface="+mn-ea"/>
                <a:cs typeface="Segoe UI" panose="020B0502040204020203" pitchFamily="34" charset="0"/>
              </a:defRPr>
            </a:lvl4pPr>
            <a:lvl5pPr marL="1116013" indent="-17938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0078D4"/>
                </a:solidFill>
                <a:effectLst/>
                <a:uLnTx/>
                <a:uFillTx/>
                <a:latin typeface="Segoe UI"/>
                <a:ea typeface="+mn-ea"/>
                <a:cs typeface="Segoe Sans Display" pitchFamily="2" charset="0"/>
              </a:rPr>
              <a:t>Drive data confidence with built-in data quality and data lineage capabilities aligned to industry standards and policies</a:t>
            </a:r>
            <a:r>
              <a:rPr kumimoji="0" lang="en-US" sz="1800" b="0" i="0" u="none" strike="noStrike" kern="1200" cap="none" spc="0" normalizeH="0" baseline="0" noProof="0">
                <a:ln>
                  <a:noFill/>
                </a:ln>
                <a:solidFill>
                  <a:srgbClr val="1C1C1C"/>
                </a:solidFill>
                <a:effectLst/>
                <a:uLnTx/>
                <a:uFillTx/>
                <a:latin typeface="Segoe UI"/>
                <a:ea typeface="+mn-ea"/>
                <a:cs typeface="Segoe Sans Display" pitchFamily="2" charset="0"/>
              </a:rPr>
              <a:t> </a:t>
            </a:r>
          </a:p>
        </p:txBody>
      </p:sp>
      <p:grpSp>
        <p:nvGrpSpPr>
          <p:cNvPr id="10" name="Group 9" descr="Diagram for: Data confidence">
            <a:extLst>
              <a:ext uri="{FF2B5EF4-FFF2-40B4-BE49-F238E27FC236}">
                <a16:creationId xmlns:a16="http://schemas.microsoft.com/office/drawing/2014/main" id="{81D33A9E-06ED-5E23-8050-572AC9089EEF}"/>
              </a:ext>
            </a:extLst>
          </p:cNvPr>
          <p:cNvGrpSpPr/>
          <p:nvPr/>
        </p:nvGrpSpPr>
        <p:grpSpPr>
          <a:xfrm>
            <a:off x="391773" y="3912586"/>
            <a:ext cx="4527039" cy="1107996"/>
            <a:chOff x="718774" y="1697310"/>
            <a:chExt cx="4261194" cy="1107996"/>
          </a:xfrm>
        </p:grpSpPr>
        <p:sp>
          <p:nvSpPr>
            <p:cNvPr id="11" name="Text Placeholder 2">
              <a:extLst>
                <a:ext uri="{FF2B5EF4-FFF2-40B4-BE49-F238E27FC236}">
                  <a16:creationId xmlns:a16="http://schemas.microsoft.com/office/drawing/2014/main" id="{490F5F85-1BCF-4B7B-BAC7-405EC8BAC7C8}"/>
                </a:ext>
              </a:extLst>
            </p:cNvPr>
            <p:cNvSpPr txBox="1">
              <a:spLocks/>
            </p:cNvSpPr>
            <p:nvPr/>
          </p:nvSpPr>
          <p:spPr>
            <a:xfrm>
              <a:off x="718774" y="2005087"/>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a:rPr>
                <a:t>Data </a:t>
              </a:r>
              <a:r>
                <a:rPr lang="en-US" sz="1600">
                  <a:solidFill>
                    <a:srgbClr val="1C1C1C"/>
                  </a:solidFill>
                  <a:latin typeface="Segoe UI"/>
                  <a:cs typeface="Segoe UI"/>
                </a:rPr>
                <a:t>Observability</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12" name="Text Placeholder 2">
              <a:extLst>
                <a:ext uri="{FF2B5EF4-FFF2-40B4-BE49-F238E27FC236}">
                  <a16:creationId xmlns:a16="http://schemas.microsoft.com/office/drawing/2014/main" id="{F57ABC1F-91E1-23E9-DF80-A07923FFC4BD}"/>
                </a:ext>
              </a:extLst>
            </p:cNvPr>
            <p:cNvSpPr txBox="1">
              <a:spLocks/>
            </p:cNvSpPr>
            <p:nvPr/>
          </p:nvSpPr>
          <p:spPr>
            <a:xfrm>
              <a:off x="2255306" y="1697310"/>
              <a:ext cx="2724662" cy="1107996"/>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a:solidFill>
                    <a:srgbClr val="1C1C1C"/>
                  </a:solidFill>
                  <a:latin typeface="Segoe UI"/>
                  <a:cs typeface="Segoe UI"/>
                </a:rPr>
                <a:t>Understand</a:t>
              </a:r>
              <a:r>
                <a:rPr kumimoji="0" lang="en-US" sz="1200" b="0" i="0" u="none" strike="noStrike" kern="1200" cap="none" spc="0" normalizeH="0" baseline="0" noProof="0">
                  <a:ln>
                    <a:noFill/>
                  </a:ln>
                  <a:solidFill>
                    <a:srgbClr val="1C1C1C"/>
                  </a:solidFill>
                  <a:effectLst/>
                  <a:uLnTx/>
                  <a:uFillTx/>
                  <a:latin typeface="Segoe UI"/>
                  <a:ea typeface="+mn-ea"/>
                  <a:cs typeface="Segoe UI"/>
                </a:rPr>
                <a:t> the relationship between governance concepts and assets in the form of lineage (for a subset of sources) to understand the business impact of data as it is used. Use lineage for auditing and regulation compliance purposes.</a:t>
              </a:r>
            </a:p>
          </p:txBody>
        </p:sp>
        <p:cxnSp>
          <p:nvCxnSpPr>
            <p:cNvPr id="13" name="Straight Connector 12">
              <a:extLst>
                <a:ext uri="{FF2B5EF4-FFF2-40B4-BE49-F238E27FC236}">
                  <a16:creationId xmlns:a16="http://schemas.microsoft.com/office/drawing/2014/main" id="{1F0498A6-B0E7-D740-97C7-E215CCD0DB85}"/>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4" name="Group 13" descr="Diagram for: Data confidence">
            <a:extLst>
              <a:ext uri="{FF2B5EF4-FFF2-40B4-BE49-F238E27FC236}">
                <a16:creationId xmlns:a16="http://schemas.microsoft.com/office/drawing/2014/main" id="{CF9F5F3A-D812-6691-431A-2536186502AA}"/>
              </a:ext>
            </a:extLst>
          </p:cNvPr>
          <p:cNvGrpSpPr/>
          <p:nvPr/>
        </p:nvGrpSpPr>
        <p:grpSpPr>
          <a:xfrm>
            <a:off x="144308" y="5204804"/>
            <a:ext cx="4445245" cy="738664"/>
            <a:chOff x="416238" y="1916326"/>
            <a:chExt cx="4445245" cy="738664"/>
          </a:xfrm>
        </p:grpSpPr>
        <p:sp>
          <p:nvSpPr>
            <p:cNvPr id="15" name="Text Placeholder 2">
              <a:extLst>
                <a:ext uri="{FF2B5EF4-FFF2-40B4-BE49-F238E27FC236}">
                  <a16:creationId xmlns:a16="http://schemas.microsoft.com/office/drawing/2014/main" id="{C55B9361-049C-52CE-243F-F345DA800F6D}"/>
                </a:ext>
              </a:extLst>
            </p:cNvPr>
            <p:cNvSpPr txBox="1">
              <a:spLocks/>
            </p:cNvSpPr>
            <p:nvPr/>
          </p:nvSpPr>
          <p:spPr>
            <a:xfrm>
              <a:off x="416238" y="2128202"/>
              <a:ext cx="1434852" cy="246221"/>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rPr>
                <a:t>Data Quality</a:t>
              </a:r>
            </a:p>
          </p:txBody>
        </p:sp>
        <p:sp>
          <p:nvSpPr>
            <p:cNvPr id="16" name="Text Placeholder 2">
              <a:extLst>
                <a:ext uri="{FF2B5EF4-FFF2-40B4-BE49-F238E27FC236}">
                  <a16:creationId xmlns:a16="http://schemas.microsoft.com/office/drawing/2014/main" id="{F22A5C38-9AE9-D273-D62B-7E1232721976}"/>
                </a:ext>
              </a:extLst>
            </p:cNvPr>
            <p:cNvSpPr txBox="1">
              <a:spLocks/>
            </p:cNvSpPr>
            <p:nvPr/>
          </p:nvSpPr>
          <p:spPr>
            <a:xfrm>
              <a:off x="2272759" y="1916326"/>
              <a:ext cx="2588724" cy="738664"/>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defRPr/>
              </a:pPr>
              <a:r>
                <a:rPr lang="en-US" sz="1200">
                  <a:solidFill>
                    <a:srgbClr val="1C1C1C"/>
                  </a:solidFill>
                  <a:latin typeface="Segoe UI"/>
                  <a:cs typeface="Segoe UI"/>
                </a:rPr>
                <a:t>O</a:t>
              </a:r>
              <a:r>
                <a:rPr kumimoji="0" lang="en-US" sz="1200" b="0" i="0" u="none" strike="noStrike" kern="1200" cap="none" spc="0" normalizeH="0" baseline="0" noProof="0" err="1">
                  <a:ln>
                    <a:noFill/>
                  </a:ln>
                  <a:solidFill>
                    <a:srgbClr val="1C1C1C"/>
                  </a:solidFill>
                  <a:effectLst/>
                  <a:uLnTx/>
                  <a:uFillTx/>
                  <a:latin typeface="Segoe UI"/>
                  <a:ea typeface="+mn-ea"/>
                  <a:cs typeface="Segoe UI"/>
                </a:rPr>
                <a:t>versee</a:t>
              </a:r>
              <a:r>
                <a:rPr kumimoji="0" lang="en-US" sz="1200" b="0" i="0" u="none" strike="noStrike" kern="1200" cap="none" spc="0" normalizeH="0" baseline="0" noProof="0">
                  <a:ln>
                    <a:noFill/>
                  </a:ln>
                  <a:solidFill>
                    <a:srgbClr val="1C1C1C"/>
                  </a:solidFill>
                  <a:effectLst/>
                  <a:uLnTx/>
                  <a:uFillTx/>
                  <a:latin typeface="Segoe UI"/>
                  <a:ea typeface="+mn-ea"/>
                  <a:cs typeface="Segoe UI"/>
                </a:rPr>
                <a:t> the quality of </a:t>
              </a:r>
              <a:r>
                <a:rPr lang="en-US" sz="1200">
                  <a:solidFill>
                    <a:srgbClr val="1C1C1C"/>
                  </a:solidFill>
                  <a:latin typeface="Segoe UI"/>
                  <a:cs typeface="Segoe UI"/>
                </a:rPr>
                <a:t>your</a:t>
              </a:r>
              <a:r>
                <a:rPr kumimoji="0" lang="en-US" sz="1200" b="0" i="0" u="none" strike="noStrike" kern="1200" cap="none" spc="0" normalizeH="0" baseline="0" noProof="0">
                  <a:ln>
                    <a:noFill/>
                  </a:ln>
                  <a:solidFill>
                    <a:srgbClr val="1C1C1C"/>
                  </a:solidFill>
                  <a:effectLst/>
                  <a:uLnTx/>
                  <a:uFillTx/>
                  <a:latin typeface="Segoe UI"/>
                  <a:ea typeface="+mn-ea"/>
                  <a:cs typeface="Segoe UI"/>
                </a:rPr>
                <a:t> data ecosystem (depending on the source), and facilitate targeted actions for improvement</a:t>
              </a:r>
            </a:p>
          </p:txBody>
        </p:sp>
        <p:cxnSp>
          <p:nvCxnSpPr>
            <p:cNvPr id="18" name="Straight Connector 17">
              <a:extLst>
                <a:ext uri="{FF2B5EF4-FFF2-40B4-BE49-F238E27FC236}">
                  <a16:creationId xmlns:a16="http://schemas.microsoft.com/office/drawing/2014/main" id="{AD491627-2499-D599-06EB-BBF09ACD5191}"/>
                </a:ext>
              </a:extLst>
            </p:cNvPr>
            <p:cNvCxnSpPr>
              <a:cxnSpLocks/>
            </p:cNvCxnSpPr>
            <p:nvPr/>
          </p:nvCxnSpPr>
          <p:spPr>
            <a:xfrm>
              <a:off x="2025596"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pic>
        <p:nvPicPr>
          <p:cNvPr id="2" name="Picture 1" descr="Illustration for: Data confidence">
            <a:extLst>
              <a:ext uri="{FF2B5EF4-FFF2-40B4-BE49-F238E27FC236}">
                <a16:creationId xmlns:a16="http://schemas.microsoft.com/office/drawing/2014/main" id="{59F190EB-D253-785B-164F-A3FB79494F5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18101" y="1440597"/>
            <a:ext cx="7353073" cy="3976806"/>
          </a:xfrm>
          <a:prstGeom prst="rect">
            <a:avLst/>
          </a:prstGeom>
          <a:gradFill>
            <a:gsLst>
              <a:gs pos="100000">
                <a:srgbClr val="C3E5FF"/>
              </a:gs>
              <a:gs pos="0">
                <a:schemeClr val="bg1"/>
              </a:gs>
            </a:gsLst>
            <a:lin ang="0" scaled="0"/>
          </a:gradFill>
        </p:spPr>
      </p:pic>
      <p:grpSp>
        <p:nvGrpSpPr>
          <p:cNvPr id="3" name="Group 2" descr="Diagram for: Data confidence">
            <a:extLst>
              <a:ext uri="{FF2B5EF4-FFF2-40B4-BE49-F238E27FC236}">
                <a16:creationId xmlns:a16="http://schemas.microsoft.com/office/drawing/2014/main" id="{1EBB2986-AEDF-5F24-DBBB-DBF2FAD1BEF5}"/>
              </a:ext>
            </a:extLst>
          </p:cNvPr>
          <p:cNvGrpSpPr/>
          <p:nvPr/>
        </p:nvGrpSpPr>
        <p:grpSpPr>
          <a:xfrm>
            <a:off x="470959" y="3056877"/>
            <a:ext cx="4277868" cy="738664"/>
            <a:chOff x="718774" y="1905573"/>
            <a:chExt cx="4277868" cy="738664"/>
          </a:xfrm>
        </p:grpSpPr>
        <p:sp>
          <p:nvSpPr>
            <p:cNvPr id="4" name="Text Placeholder 2">
              <a:extLst>
                <a:ext uri="{FF2B5EF4-FFF2-40B4-BE49-F238E27FC236}">
                  <a16:creationId xmlns:a16="http://schemas.microsoft.com/office/drawing/2014/main" id="{E492992F-DA5D-9754-0C87-6CBB9DA7AF3C}"/>
                </a:ext>
              </a:extLst>
            </p:cNvPr>
            <p:cNvSpPr txBox="1">
              <a:spLocks/>
            </p:cNvSpPr>
            <p:nvPr/>
          </p:nvSpPr>
          <p:spPr>
            <a:xfrm>
              <a:off x="718774" y="2005087"/>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a:rPr>
                <a:t>Governance domains</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6" name="Text Placeholder 2">
              <a:extLst>
                <a:ext uri="{FF2B5EF4-FFF2-40B4-BE49-F238E27FC236}">
                  <a16:creationId xmlns:a16="http://schemas.microsoft.com/office/drawing/2014/main" id="{233D0CE2-B1D8-B77B-6077-93972CB5FAE6}"/>
                </a:ext>
              </a:extLst>
            </p:cNvPr>
            <p:cNvSpPr txBox="1">
              <a:spLocks/>
            </p:cNvSpPr>
            <p:nvPr/>
          </p:nvSpPr>
          <p:spPr>
            <a:xfrm>
              <a:off x="2271980" y="1905573"/>
              <a:ext cx="2724662" cy="738664"/>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1C1C1C"/>
                  </a:solidFill>
                  <a:effectLst/>
                  <a:uLnTx/>
                  <a:uFillTx/>
                  <a:latin typeface="Segoe UI"/>
                  <a:ea typeface="+mn-ea"/>
                  <a:cs typeface="Segoe UI"/>
                </a:rPr>
                <a:t>Organize your catalog in </a:t>
              </a:r>
              <a:r>
                <a:rPr lang="en-US" sz="1200">
                  <a:solidFill>
                    <a:srgbClr val="1C1C1C"/>
                  </a:solidFill>
                  <a:latin typeface="Segoe UI"/>
                  <a:cs typeface="Segoe UI"/>
                </a:rPr>
                <a:t>the way that your organization is set up. </a:t>
              </a:r>
              <a:r>
                <a:rPr kumimoji="0" lang="en-US" sz="1200" b="0" i="0" u="none" strike="noStrike" kern="1200" cap="none" spc="0" normalizeH="0" baseline="0" noProof="0">
                  <a:ln>
                    <a:noFill/>
                  </a:ln>
                  <a:solidFill>
                    <a:srgbClr val="1C1C1C"/>
                  </a:solidFill>
                  <a:effectLst/>
                  <a:uLnTx/>
                  <a:uFillTx/>
                  <a:latin typeface="Segoe UI"/>
                  <a:ea typeface="+mn-ea"/>
                  <a:cs typeface="Segoe UI"/>
                </a:rPr>
                <a:t>Owners can easily </a:t>
              </a:r>
              <a:r>
                <a:rPr lang="en-US" sz="1200">
                  <a:solidFill>
                    <a:srgbClr val="1C1C1C"/>
                  </a:solidFill>
                  <a:latin typeface="Segoe UI"/>
                  <a:cs typeface="Segoe UI"/>
                </a:rPr>
                <a:t>manage business concepts at scale within their domains</a:t>
              </a:r>
              <a:endParaRPr kumimoji="0" lang="en-US" sz="1200" b="0" i="0" u="none" strike="noStrike" kern="1200" cap="none" spc="0" normalizeH="0" baseline="0" noProof="0">
                <a:ln>
                  <a:noFill/>
                </a:ln>
                <a:solidFill>
                  <a:srgbClr val="1C1C1C"/>
                </a:solidFill>
                <a:effectLst/>
                <a:uLnTx/>
                <a:uFillTx/>
                <a:latin typeface="Segoe UI"/>
                <a:ea typeface="+mn-ea"/>
                <a:cs typeface="Segoe UI"/>
              </a:endParaRPr>
            </a:p>
          </p:txBody>
        </p:sp>
        <p:cxnSp>
          <p:nvCxnSpPr>
            <p:cNvPr id="7" name="Straight Connector 6">
              <a:extLst>
                <a:ext uri="{FF2B5EF4-FFF2-40B4-BE49-F238E27FC236}">
                  <a16:creationId xmlns:a16="http://schemas.microsoft.com/office/drawing/2014/main" id="{E1030BA0-4358-52D1-FE2C-FE2359075417}"/>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9" name="Group 8" descr="Diagram for: Data confidence">
            <a:extLst>
              <a:ext uri="{FF2B5EF4-FFF2-40B4-BE49-F238E27FC236}">
                <a16:creationId xmlns:a16="http://schemas.microsoft.com/office/drawing/2014/main" id="{035B740E-CDA1-8C50-D6D4-AE5703332B6A}"/>
              </a:ext>
            </a:extLst>
          </p:cNvPr>
          <p:cNvGrpSpPr/>
          <p:nvPr/>
        </p:nvGrpSpPr>
        <p:grpSpPr>
          <a:xfrm>
            <a:off x="-116996" y="6043342"/>
            <a:ext cx="4728390" cy="738664"/>
            <a:chOff x="416238" y="1916326"/>
            <a:chExt cx="4102677" cy="738664"/>
          </a:xfrm>
        </p:grpSpPr>
        <p:sp>
          <p:nvSpPr>
            <p:cNvPr id="19" name="Text Placeholder 2">
              <a:extLst>
                <a:ext uri="{FF2B5EF4-FFF2-40B4-BE49-F238E27FC236}">
                  <a16:creationId xmlns:a16="http://schemas.microsoft.com/office/drawing/2014/main" id="{C959CADF-05B7-9940-92FB-E7F66D4B482C}"/>
                </a:ext>
              </a:extLst>
            </p:cNvPr>
            <p:cNvSpPr txBox="1">
              <a:spLocks/>
            </p:cNvSpPr>
            <p:nvPr/>
          </p:nvSpPr>
          <p:spPr>
            <a:xfrm>
              <a:off x="416238" y="2005091"/>
              <a:ext cx="135245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600">
                  <a:solidFill>
                    <a:srgbClr val="1C1C1C"/>
                  </a:solidFill>
                  <a:latin typeface="Segoe UI"/>
                </a:rPr>
                <a:t>Custom Metadata</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20" name="Text Placeholder 2">
              <a:extLst>
                <a:ext uri="{FF2B5EF4-FFF2-40B4-BE49-F238E27FC236}">
                  <a16:creationId xmlns:a16="http://schemas.microsoft.com/office/drawing/2014/main" id="{BD363CB6-C909-B997-EEF9-C60E471293B5}"/>
                </a:ext>
              </a:extLst>
            </p:cNvPr>
            <p:cNvSpPr txBox="1">
              <a:spLocks/>
            </p:cNvSpPr>
            <p:nvPr/>
          </p:nvSpPr>
          <p:spPr>
            <a:xfrm>
              <a:off x="2272760" y="1916326"/>
              <a:ext cx="2246155" cy="738664"/>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defRPr/>
              </a:pPr>
              <a:r>
                <a:rPr kumimoji="0" lang="en-US" sz="1200" b="0" i="0" u="none" strike="noStrike" kern="1200" cap="none" spc="0" normalizeH="0" baseline="0" noProof="0">
                  <a:ln>
                    <a:noFill/>
                  </a:ln>
                  <a:solidFill>
                    <a:srgbClr val="1C1C1C"/>
                  </a:solidFill>
                  <a:effectLst/>
                  <a:uLnTx/>
                  <a:uFillTx/>
                  <a:latin typeface="Segoe UI"/>
                  <a:ea typeface="+mn-ea"/>
                  <a:cs typeface="Segoe UI"/>
                </a:rPr>
                <a:t>Apply attributes to business concepts—such as data products, glossary terms, CDEs-- for enhanced discovery and curation purposes </a:t>
              </a:r>
            </a:p>
          </p:txBody>
        </p:sp>
        <p:cxnSp>
          <p:nvCxnSpPr>
            <p:cNvPr id="21" name="Straight Connector 20">
              <a:extLst>
                <a:ext uri="{FF2B5EF4-FFF2-40B4-BE49-F238E27FC236}">
                  <a16:creationId xmlns:a16="http://schemas.microsoft.com/office/drawing/2014/main" id="{85906192-455E-8FF7-5CDC-B1E4642BCFDB}"/>
                </a:ext>
              </a:extLst>
            </p:cNvPr>
            <p:cNvCxnSpPr>
              <a:cxnSpLocks/>
            </p:cNvCxnSpPr>
            <p:nvPr/>
          </p:nvCxnSpPr>
          <p:spPr>
            <a:xfrm>
              <a:off x="2025596"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8" name="Hidden Title 28" descr="Slide title: Data confidence"/>
          <p:cNvSpPr>
            <a:spLocks noGrp="1"/>
          </p:cNvSpPr>
          <p:nvPr>
            <p:ph type="title"/>
          </p:nvPr>
        </p:nvSpPr>
        <p:spPr>
          <a:xfrm>
            <a:off x="0" y="-457200"/>
            <a:ext cx="9144000" cy="457200"/>
          </a:xfrm>
        </p:spPr>
        <p:txBody>
          <a:bodyPr/>
          <a:lstStyle/>
          <a:p>
            <a:r>
              <a:rPr lang="en-US" sz="100" dirty="0"/>
              <a:t>Data confidence</a:t>
            </a:r>
          </a:p>
        </p:txBody>
      </p:sp>
    </p:spTree>
    <p:extLst>
      <p:ext uri="{BB962C8B-B14F-4D97-AF65-F5344CB8AC3E}">
        <p14:creationId xmlns:p14="http://schemas.microsoft.com/office/powerpoint/2010/main" val="414891381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D989E1-31F1-E642-05BA-3F960904C91A}"/>
              </a:ext>
            </a:extLst>
          </p:cNvPr>
          <p:cNvSpPr>
            <a:spLocks noGrp="1"/>
          </p:cNvSpPr>
          <p:nvPr>
            <p:ph type="title" idx="4294967295"/>
          </p:nvPr>
        </p:nvSpPr>
        <p:spPr bwMode="auto">
          <a:xfrm>
            <a:off x="0" y="6379740"/>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600" spc="0">
                <a:ln>
                  <a:noFill/>
                </a:ln>
                <a:solidFill>
                  <a:schemeClr val="bg1"/>
                </a:solidFill>
                <a:cs typeface="Segoe UI" pitchFamily="34" charset="0"/>
              </a:rPr>
              <a:t>S</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et up your </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governance domains</a:t>
            </a:r>
            <a:r>
              <a:rPr lang="en-US" sz="1600" spc="0">
                <a:ln>
                  <a:noFill/>
                </a:ln>
                <a:solidFill>
                  <a:schemeClr val="bg1"/>
                </a:solidFill>
                <a:cs typeface="Segoe UI" pitchFamily="34" charset="0"/>
              </a:rPr>
              <a:t> to reflect how your organization is structured</a:t>
            </a:r>
            <a:endParaRPr kumimoji="0" lang="en-US" sz="1600" b="0" i="0" u="none" strike="noStrike" kern="1200" cap="none" spc="0" normalizeH="0" baseline="0" noProof="0">
              <a:ln>
                <a:noFill/>
              </a:ln>
              <a:solidFill>
                <a:schemeClr val="bg1"/>
              </a:solidFill>
              <a:effectLst/>
              <a:uLnTx/>
              <a:uFillTx/>
              <a:latin typeface="+mn-lt"/>
              <a:ea typeface="+mn-ea"/>
              <a:cs typeface="Segoe UI" pitchFamily="34" charset="0"/>
            </a:endParaRPr>
          </a:p>
        </p:txBody>
      </p:sp>
      <p:sp>
        <p:nvSpPr>
          <p:cNvPr id="22" name="Rectangle: Top Corners Rounded 21">
            <a:extLst>
              <a:ext uri="{FF2B5EF4-FFF2-40B4-BE49-F238E27FC236}">
                <a16:creationId xmlns:a16="http://schemas.microsoft.com/office/drawing/2014/main" id="{9241C4F1-1DC9-2C2B-72B0-C25A6DFC2636}"/>
              </a:ext>
              <a:ext uri="{C183D7F6-B498-43B3-948B-1728B52AA6E4}">
                <adec:decorative xmlns:adec="http://schemas.microsoft.com/office/drawing/2017/decorative" val="1"/>
              </a:ext>
            </a:extLst>
          </p:cNvPr>
          <p:cNvSpPr/>
          <p:nvPr/>
        </p:nvSpPr>
        <p:spPr bwMode="auto">
          <a:xfrm rot="5400000">
            <a:off x="10850906" y="6153596"/>
            <a:ext cx="448056" cy="204267"/>
          </a:xfrm>
          <a:prstGeom prst="round2SameRect">
            <a:avLst>
              <a:gd name="adj1" fmla="val 50000"/>
              <a:gd name="adj2" fmla="val 0"/>
            </a:avLst>
          </a:prstGeom>
          <a:gradFill flip="none" rotWithShape="1">
            <a:gsLst>
              <a:gs pos="0">
                <a:schemeClr val="tx1"/>
              </a:gs>
              <a:gs pos="100000">
                <a:srgbClr val="243A5E"/>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5" name="Picture 4" descr="Illustration for: Set up your governance domains to reflect how your organizat">
            <a:extLst>
              <a:ext uri="{FF2B5EF4-FFF2-40B4-BE49-F238E27FC236}">
                <a16:creationId xmlns:a16="http://schemas.microsoft.com/office/drawing/2014/main" id="{A6D285AB-3BB9-0B47-777C-219C6D41C5CC}"/>
              </a:ext>
            </a:extLst>
          </p:cNvPr>
          <p:cNvPicPr>
            <a:picLocks noChangeAspect="1"/>
          </p:cNvPicPr>
          <p:nvPr/>
        </p:nvPicPr>
        <p:blipFill>
          <a:blip r:embed="rId3"/>
          <a:srcRect l="6687"/>
          <a:stretch>
            <a:fillRect/>
          </a:stretch>
        </p:blipFill>
        <p:spPr>
          <a:xfrm>
            <a:off x="0" y="0"/>
            <a:ext cx="12192000" cy="6379740"/>
          </a:xfrm>
          <a:prstGeom prst="rect">
            <a:avLst/>
          </a:prstGeom>
        </p:spPr>
      </p:pic>
      <p:sp>
        <p:nvSpPr>
          <p:cNvPr id="23" name="Hidden Title 23" descr="Slide title: Set up your governance domains to reflect how your organization is structured"/>
          <p:cNvSpPr>
            <a:spLocks noGrp="1"/>
          </p:cNvSpPr>
          <p:nvPr>
            <p:ph type="title"/>
          </p:nvPr>
        </p:nvSpPr>
        <p:spPr>
          <a:xfrm>
            <a:off x="0" y="-457200"/>
            <a:ext cx="9144000" cy="457200"/>
          </a:xfrm>
        </p:spPr>
        <p:txBody>
          <a:bodyPr/>
          <a:lstStyle/>
          <a:p>
            <a:r>
              <a:rPr lang="en-US" sz="100" dirty="0"/>
              <a:t>Set up your governance domains to reflect how your organization is structured</a:t>
            </a:r>
          </a:p>
        </p:txBody>
      </p:sp>
    </p:spTree>
    <p:extLst>
      <p:ext uri="{BB962C8B-B14F-4D97-AF65-F5344CB8AC3E}">
        <p14:creationId xmlns:p14="http://schemas.microsoft.com/office/powerpoint/2010/main" val="37539161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9FCFAB-E6B1-C2C8-DFA7-ECE9D3A0E180}"/>
              </a:ext>
            </a:extLst>
          </p:cNvPr>
          <p:cNvSpPr>
            <a:spLocks noGrp="1"/>
          </p:cNvSpPr>
          <p:nvPr>
            <p:ph type="title" idx="4294967295"/>
          </p:nvPr>
        </p:nvSpPr>
        <p:spPr bwMode="auto">
          <a:xfrm>
            <a:off x="0" y="6409944"/>
            <a:ext cx="12192000" cy="448056"/>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i="0" u="none" strike="noStrike" kern="1200" cap="none" spc="0" normalizeH="0" baseline="0" noProof="0">
                <a:ln>
                  <a:noFill/>
                </a:ln>
                <a:solidFill>
                  <a:schemeClr val="bg1"/>
                </a:solidFill>
                <a:effectLst/>
                <a:uLnTx/>
                <a:uFillTx/>
                <a:latin typeface="+mn-lt"/>
                <a:ea typeface="+mn-ea"/>
                <a:cs typeface="Segoe UI" pitchFamily="34" charset="0"/>
              </a:rPr>
              <a:t>Curated</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 Data products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within the catalog drive trust for use by your data consumers</a:t>
            </a:r>
          </a:p>
        </p:txBody>
      </p:sp>
      <p:sp>
        <p:nvSpPr>
          <p:cNvPr id="15" name="Rectangle: Top Corners Rounded 14">
            <a:extLst>
              <a:ext uri="{FF2B5EF4-FFF2-40B4-BE49-F238E27FC236}">
                <a16:creationId xmlns:a16="http://schemas.microsoft.com/office/drawing/2014/main" id="{E08C7F77-4AC1-2034-77B0-09E02894F586}"/>
              </a:ext>
              <a:ext uri="{C183D7F6-B498-43B3-948B-1728B52AA6E4}">
                <adec:decorative xmlns:adec="http://schemas.microsoft.com/office/drawing/2017/decorative" val="1"/>
              </a:ext>
            </a:extLst>
          </p:cNvPr>
          <p:cNvSpPr/>
          <p:nvPr/>
        </p:nvSpPr>
        <p:spPr bwMode="auto">
          <a:xfrm rot="5400000">
            <a:off x="10850906" y="6153596"/>
            <a:ext cx="448056" cy="204267"/>
          </a:xfrm>
          <a:prstGeom prst="round2SameRect">
            <a:avLst>
              <a:gd name="adj1" fmla="val 50000"/>
              <a:gd name="adj2" fmla="val 0"/>
            </a:avLst>
          </a:prstGeom>
          <a:gradFill flip="none" rotWithShape="1">
            <a:gsLst>
              <a:gs pos="0">
                <a:schemeClr val="tx1"/>
              </a:gs>
              <a:gs pos="100000">
                <a:srgbClr val="243A5E"/>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 name="Picture 3" descr="Illustration for: Curated Data products within the catalog drive trust for use">
            <a:extLst>
              <a:ext uri="{FF2B5EF4-FFF2-40B4-BE49-F238E27FC236}">
                <a16:creationId xmlns:a16="http://schemas.microsoft.com/office/drawing/2014/main" id="{2455CDDD-1560-627B-9793-2C9744D71B73}"/>
              </a:ext>
            </a:extLst>
          </p:cNvPr>
          <p:cNvPicPr>
            <a:picLocks noChangeAspect="1"/>
          </p:cNvPicPr>
          <p:nvPr/>
        </p:nvPicPr>
        <p:blipFill>
          <a:blip r:embed="rId3"/>
          <a:srcRect l="4429" r="4429"/>
          <a:stretch>
            <a:fillRect/>
          </a:stretch>
        </p:blipFill>
        <p:spPr>
          <a:xfrm>
            <a:off x="44471" y="0"/>
            <a:ext cx="12103058" cy="6535972"/>
          </a:xfrm>
          <a:prstGeom prst="rect">
            <a:avLst/>
          </a:prstGeom>
        </p:spPr>
      </p:pic>
      <p:sp>
        <p:nvSpPr>
          <p:cNvPr id="16" name="Hidden Title 16" descr="Slide title: Curated Data products within the catalog drive trust for use by your data consum"/>
          <p:cNvSpPr>
            <a:spLocks noGrp="1"/>
          </p:cNvSpPr>
          <p:nvPr>
            <p:ph type="title"/>
          </p:nvPr>
        </p:nvSpPr>
        <p:spPr>
          <a:xfrm>
            <a:off x="0" y="-457200"/>
            <a:ext cx="9144000" cy="457200"/>
          </a:xfrm>
        </p:spPr>
        <p:txBody>
          <a:bodyPr/>
          <a:lstStyle/>
          <a:p>
            <a:r>
              <a:rPr lang="en-US" sz="100" dirty="0"/>
              <a:t>Curated Data products within the catalog drive trust for use by your data consum</a:t>
            </a:r>
          </a:p>
        </p:txBody>
      </p:sp>
    </p:spTree>
    <p:extLst>
      <p:ext uri="{BB962C8B-B14F-4D97-AF65-F5344CB8AC3E}">
        <p14:creationId xmlns:p14="http://schemas.microsoft.com/office/powerpoint/2010/main" val="64627491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E765AC-FED8-9777-C5DC-1A0146A327C4}"/>
              </a:ext>
              <a:ext uri="{C183D7F6-B498-43B3-948B-1728B52AA6E4}">
                <adec:decorative xmlns:adec="http://schemas.microsoft.com/office/drawing/2017/decorative" val="0"/>
              </a:ext>
            </a:extLst>
          </p:cNvPr>
          <p:cNvSpPr>
            <a:spLocks noGrp="1"/>
          </p:cNvSpPr>
          <p:nvPr>
            <p:ph type="title" idx="4294967295"/>
          </p:nvPr>
        </p:nvSpPr>
        <p:spPr bwMode="auto">
          <a:xfrm>
            <a:off x="0" y="6409942"/>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600" spc="0">
                <a:ln>
                  <a:noFill/>
                </a:ln>
                <a:solidFill>
                  <a:schemeClr val="bg1"/>
                </a:solidFill>
                <a:cs typeface="Segoe UI" pitchFamily="34" charset="0"/>
              </a:rPr>
              <a:t>Leverage</a:t>
            </a:r>
            <a:r>
              <a:rPr lang="en-US" sz="1600" b="1" spc="0">
                <a:ln>
                  <a:noFill/>
                </a:ln>
                <a:solidFill>
                  <a:schemeClr val="bg1"/>
                </a:solidFill>
                <a:cs typeface="Segoe UI" pitchFamily="34" charset="0"/>
              </a:rPr>
              <a:t> Data quality </a:t>
            </a:r>
            <a:r>
              <a:rPr lang="en-US" sz="1600" spc="0">
                <a:ln>
                  <a:noFill/>
                </a:ln>
                <a:solidFill>
                  <a:schemeClr val="bg1"/>
                </a:solidFill>
                <a:cs typeface="Segoe UI" pitchFamily="34" charset="0"/>
              </a:rPr>
              <a:t>to ensure the assets (available for a subset of sources) and associated governance concepts are trustworthy to use</a:t>
            </a:r>
            <a:endParaRPr kumimoji="0" lang="en-US" sz="1600" i="0" u="none" strike="noStrike" kern="1200" cap="none" spc="0" normalizeH="0" baseline="0" noProof="0">
              <a:ln>
                <a:noFill/>
              </a:ln>
              <a:solidFill>
                <a:schemeClr val="bg1"/>
              </a:solidFill>
              <a:effectLst/>
              <a:uLnTx/>
              <a:uFillTx/>
              <a:latin typeface="+mn-lt"/>
              <a:ea typeface="+mn-ea"/>
              <a:cs typeface="Segoe UI" pitchFamily="34" charset="0"/>
            </a:endParaRPr>
          </a:p>
        </p:txBody>
      </p:sp>
      <p:pic>
        <p:nvPicPr>
          <p:cNvPr id="7" name="Picture 6" descr="Illustration for: Leverage Data quality to ensure the assets (available for a ">
            <a:extLst>
              <a:ext uri="{FF2B5EF4-FFF2-40B4-BE49-F238E27FC236}">
                <a16:creationId xmlns:a16="http://schemas.microsoft.com/office/drawing/2014/main" id="{E291D532-C3E7-63CD-A121-2224F22B11FA}"/>
              </a:ext>
            </a:extLst>
          </p:cNvPr>
          <p:cNvPicPr>
            <a:picLocks noChangeAspect="1"/>
          </p:cNvPicPr>
          <p:nvPr/>
        </p:nvPicPr>
        <p:blipFill>
          <a:blip r:embed="rId3">
            <a:extLst>
              <a:ext uri="{28A0092B-C50C-407E-A947-70E740481C1C}">
                <a14:useLocalDpi xmlns:a14="http://schemas.microsoft.com/office/drawing/2010/main" val="0"/>
              </a:ext>
            </a:extLst>
          </a:blip>
          <a:srcRect b="6470"/>
          <a:stretch/>
        </p:blipFill>
        <p:spPr>
          <a:xfrm>
            <a:off x="0" y="-67059"/>
            <a:ext cx="12268368" cy="6477001"/>
          </a:xfrm>
          <a:prstGeom prst="rect">
            <a:avLst/>
          </a:prstGeom>
        </p:spPr>
      </p:pic>
      <p:sp>
        <p:nvSpPr>
          <p:cNvPr id="8" name="Hidden Title 8" descr="Slide title: Leverage Data quality to ensure the assets (available for a subset of sources) a"/>
          <p:cNvSpPr>
            <a:spLocks noGrp="1"/>
          </p:cNvSpPr>
          <p:nvPr>
            <p:ph type="title"/>
          </p:nvPr>
        </p:nvSpPr>
        <p:spPr>
          <a:xfrm>
            <a:off x="0" y="-457200"/>
            <a:ext cx="9144000" cy="457200"/>
          </a:xfrm>
        </p:spPr>
        <p:txBody>
          <a:bodyPr/>
          <a:lstStyle/>
          <a:p>
            <a:r>
              <a:rPr lang="en-US" sz="100" dirty="0"/>
              <a:t>Leverage Data quality to ensure the assets (available for a subset of sources) a</a:t>
            </a:r>
          </a:p>
        </p:txBody>
      </p:sp>
    </p:spTree>
    <p:extLst>
      <p:ext uri="{BB962C8B-B14F-4D97-AF65-F5344CB8AC3E}">
        <p14:creationId xmlns:p14="http://schemas.microsoft.com/office/powerpoint/2010/main" val="116510249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E765AC-FED8-9777-C5DC-1A0146A327C4}"/>
              </a:ext>
            </a:extLst>
          </p:cNvPr>
          <p:cNvSpPr>
            <a:spLocks noGrp="1"/>
          </p:cNvSpPr>
          <p:nvPr>
            <p:ph type="title" idx="4294967295"/>
          </p:nvPr>
        </p:nvSpPr>
        <p:spPr bwMode="auto">
          <a:xfrm>
            <a:off x="0" y="6409942"/>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 </a:t>
            </a:r>
            <a:r>
              <a:rPr kumimoji="0" lang="en-US" sz="1600" i="0" u="none" strike="noStrike" kern="1200" cap="none" spc="0" normalizeH="0" baseline="0" noProof="0">
                <a:ln>
                  <a:noFill/>
                </a:ln>
                <a:solidFill>
                  <a:schemeClr val="bg1"/>
                </a:solidFill>
                <a:effectLst/>
                <a:uLnTx/>
                <a:uFillTx/>
                <a:latin typeface="+mn-lt"/>
                <a:ea typeface="+mn-ea"/>
                <a:cs typeface="Segoe UI" pitchFamily="34" charset="0"/>
              </a:rPr>
              <a:t>Know where your </a:t>
            </a:r>
            <a:r>
              <a:rPr lang="en-US" sz="1600" spc="0">
                <a:ln>
                  <a:noFill/>
                </a:ln>
                <a:solidFill>
                  <a:schemeClr val="bg1"/>
                </a:solidFill>
                <a:cs typeface="Segoe UI" pitchFamily="34" charset="0"/>
              </a:rPr>
              <a:t>data goes with </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Data lineage </a:t>
            </a:r>
            <a:r>
              <a:rPr kumimoji="0" lang="en-US" sz="1600" i="0" u="none" strike="noStrike" kern="1200" cap="none" spc="0" normalizeH="0" baseline="0" noProof="0">
                <a:ln>
                  <a:noFill/>
                </a:ln>
                <a:solidFill>
                  <a:schemeClr val="bg1"/>
                </a:solidFill>
                <a:effectLst/>
                <a:uLnTx/>
                <a:uFillTx/>
                <a:latin typeface="+mn-lt"/>
                <a:ea typeface="+mn-ea"/>
                <a:cs typeface="Segoe UI" pitchFamily="34" charset="0"/>
              </a:rPr>
              <a:t>(available for a subset of sources) and how it is consumed </a:t>
            </a:r>
          </a:p>
        </p:txBody>
      </p:sp>
      <p:pic>
        <p:nvPicPr>
          <p:cNvPr id="6" name="Picture 5" descr="Illustration for: Know where your data goes with Data lineage (available for a">
            <a:extLst>
              <a:ext uri="{FF2B5EF4-FFF2-40B4-BE49-F238E27FC236}">
                <a16:creationId xmlns:a16="http://schemas.microsoft.com/office/drawing/2014/main" id="{C416D439-88CD-9FCE-48DC-36B21C7A8758}"/>
              </a:ext>
            </a:extLst>
          </p:cNvPr>
          <p:cNvPicPr>
            <a:picLocks noChangeAspect="1"/>
          </p:cNvPicPr>
          <p:nvPr/>
        </p:nvPicPr>
        <p:blipFill>
          <a:blip r:embed="rId3">
            <a:extLst>
              <a:ext uri="{28A0092B-C50C-407E-A947-70E740481C1C}">
                <a14:useLocalDpi xmlns:a14="http://schemas.microsoft.com/office/drawing/2010/main" val="0"/>
              </a:ext>
            </a:extLst>
          </a:blip>
          <a:srcRect b="7653"/>
          <a:stretch/>
        </p:blipFill>
        <p:spPr>
          <a:xfrm>
            <a:off x="0" y="-1"/>
            <a:ext cx="12192000" cy="6409943"/>
          </a:xfrm>
          <a:prstGeom prst="rect">
            <a:avLst/>
          </a:prstGeom>
        </p:spPr>
      </p:pic>
      <p:sp>
        <p:nvSpPr>
          <p:cNvPr id="7" name="Hidden Title 7" descr="Slide title: Know where your data goes with Data lineage (available for a subset of sources) "/>
          <p:cNvSpPr>
            <a:spLocks noGrp="1"/>
          </p:cNvSpPr>
          <p:nvPr>
            <p:ph type="title"/>
          </p:nvPr>
        </p:nvSpPr>
        <p:spPr>
          <a:xfrm>
            <a:off x="0" y="-457200"/>
            <a:ext cx="9144000" cy="457200"/>
          </a:xfrm>
        </p:spPr>
        <p:txBody>
          <a:bodyPr/>
          <a:lstStyle/>
          <a:p>
            <a:r>
              <a:rPr lang="en-US" sz="100" dirty="0"/>
              <a:t>Know where your data goes with Data lineage (available for a subset of sources) </a:t>
            </a:r>
          </a:p>
        </p:txBody>
      </p:sp>
    </p:spTree>
    <p:extLst>
      <p:ext uri="{BB962C8B-B14F-4D97-AF65-F5344CB8AC3E}">
        <p14:creationId xmlns:p14="http://schemas.microsoft.com/office/powerpoint/2010/main" val="105161139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B810-39F1-49F6-16AE-A442296712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841FF5-6BA5-E65E-CDD0-7F77592DBD02}"/>
              </a:ext>
            </a:extLst>
          </p:cNvPr>
          <p:cNvSpPr>
            <a:spLocks noGrp="1"/>
          </p:cNvSpPr>
          <p:nvPr>
            <p:ph type="title" idx="4294967295"/>
          </p:nvPr>
        </p:nvSpPr>
        <p:spPr bwMode="auto">
          <a:xfrm>
            <a:off x="0" y="6409942"/>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i="0" u="none" strike="noStrike" kern="1200" cap="none" spc="0" normalizeH="0" baseline="0" noProof="0">
                <a:ln>
                  <a:noFill/>
                </a:ln>
                <a:solidFill>
                  <a:schemeClr val="bg1"/>
                </a:solidFill>
                <a:effectLst/>
                <a:uLnTx/>
                <a:uFillTx/>
                <a:latin typeface="+mn-lt"/>
                <a:ea typeface="+mn-ea"/>
                <a:cs typeface="Segoe UI" pitchFamily="34" charset="0"/>
              </a:rPr>
              <a:t>Use</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 Data </a:t>
            </a:r>
            <a:r>
              <a:rPr lang="en-US" sz="1600" b="1" spc="0">
                <a:ln>
                  <a:noFill/>
                </a:ln>
                <a:solidFill>
                  <a:schemeClr val="bg1"/>
                </a:solidFill>
                <a:cs typeface="Segoe UI" pitchFamily="34" charset="0"/>
              </a:rPr>
              <a:t>observability</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 </a:t>
            </a:r>
            <a:r>
              <a:rPr kumimoji="0" lang="en-US" sz="1600" i="0" u="none" strike="noStrike" kern="1200" cap="none" spc="0" normalizeH="0" baseline="0" noProof="0">
                <a:ln>
                  <a:noFill/>
                </a:ln>
                <a:solidFill>
                  <a:schemeClr val="bg1"/>
                </a:solidFill>
                <a:effectLst/>
                <a:uLnTx/>
                <a:uFillTx/>
                <a:latin typeface="+mn-lt"/>
                <a:ea typeface="+mn-ea"/>
                <a:cs typeface="Segoe UI" pitchFamily="34" charset="0"/>
              </a:rPr>
              <a:t>to see the relationship between assets and business concepts and how it flows throughout your estate</a:t>
            </a:r>
          </a:p>
        </p:txBody>
      </p:sp>
      <p:pic>
        <p:nvPicPr>
          <p:cNvPr id="8" name="Picture 7" descr="Illustration for: Use Data observability to see the relationship between asset">
            <a:extLst>
              <a:ext uri="{FF2B5EF4-FFF2-40B4-BE49-F238E27FC236}">
                <a16:creationId xmlns:a16="http://schemas.microsoft.com/office/drawing/2014/main" id="{6E361E7E-4933-E82B-7F95-8A40293B9721}"/>
              </a:ext>
            </a:extLst>
          </p:cNvPr>
          <p:cNvPicPr>
            <a:picLocks noChangeAspect="1"/>
          </p:cNvPicPr>
          <p:nvPr/>
        </p:nvPicPr>
        <p:blipFill>
          <a:blip r:embed="rId3"/>
          <a:srcRect t="2613" b="4648"/>
          <a:stretch>
            <a:fillRect/>
          </a:stretch>
        </p:blipFill>
        <p:spPr>
          <a:xfrm>
            <a:off x="0" y="-369681"/>
            <a:ext cx="12192000" cy="6779623"/>
          </a:xfrm>
          <a:prstGeom prst="rect">
            <a:avLst/>
          </a:prstGeom>
        </p:spPr>
      </p:pic>
      <p:sp>
        <p:nvSpPr>
          <p:cNvPr id="9" name="Hidden Title 9" descr="Slide title: Use Data observability to see the relationship between assets and business conce"/>
          <p:cNvSpPr>
            <a:spLocks noGrp="1"/>
          </p:cNvSpPr>
          <p:nvPr>
            <p:ph type="title"/>
          </p:nvPr>
        </p:nvSpPr>
        <p:spPr>
          <a:xfrm>
            <a:off x="0" y="-457200"/>
            <a:ext cx="9144000" cy="457200"/>
          </a:xfrm>
        </p:spPr>
        <p:txBody>
          <a:bodyPr/>
          <a:lstStyle/>
          <a:p>
            <a:r>
              <a:rPr lang="en-US" sz="100" dirty="0"/>
              <a:t>Use Data observability to see the relationship between assets and business conce</a:t>
            </a:r>
          </a:p>
        </p:txBody>
      </p:sp>
    </p:spTree>
    <p:extLst>
      <p:ext uri="{BB962C8B-B14F-4D97-AF65-F5344CB8AC3E}">
        <p14:creationId xmlns:p14="http://schemas.microsoft.com/office/powerpoint/2010/main" val="112406341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EF206-CDDE-1848-6F47-0D80E994D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EE19B-E30B-00A8-F388-6C9AE47BBABD}"/>
              </a:ext>
            </a:extLst>
          </p:cNvPr>
          <p:cNvSpPr>
            <a:spLocks noGrp="1"/>
          </p:cNvSpPr>
          <p:nvPr>
            <p:ph type="title" idx="4294967295"/>
          </p:nvPr>
        </p:nvSpPr>
        <p:spPr bwMode="auto">
          <a:xfrm>
            <a:off x="0" y="6409944"/>
            <a:ext cx="12192000" cy="448056"/>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600" spc="0" dirty="0">
                <a:ln>
                  <a:noFill/>
                </a:ln>
                <a:solidFill>
                  <a:schemeClr val="bg1"/>
                </a:solidFill>
                <a:cs typeface="Segoe UI" pitchFamily="34" charset="0"/>
              </a:rPr>
              <a:t>As a data steward, export your metadata with </a:t>
            </a:r>
            <a:r>
              <a:rPr lang="en-US" sz="1600" b="1" spc="0" dirty="0">
                <a:ln>
                  <a:noFill/>
                </a:ln>
                <a:solidFill>
                  <a:schemeClr val="bg1"/>
                </a:solidFill>
                <a:cs typeface="Segoe UI" pitchFamily="34" charset="0"/>
              </a:rPr>
              <a:t>Self-serve analytics </a:t>
            </a:r>
            <a:r>
              <a:rPr lang="en-US" sz="1600" spc="0" dirty="0">
                <a:ln>
                  <a:noFill/>
                </a:ln>
                <a:solidFill>
                  <a:schemeClr val="bg1"/>
                </a:solidFill>
                <a:cs typeface="Segoe UI" pitchFamily="34" charset="0"/>
              </a:rPr>
              <a:t>into Fabric and use for analytics use cases.</a:t>
            </a:r>
            <a:endParaRPr kumimoji="0" lang="en-US" sz="1600" b="0" i="0" u="none" strike="noStrike" kern="1200" cap="none" spc="0" normalizeH="0" baseline="0" noProof="0" dirty="0">
              <a:ln>
                <a:noFill/>
              </a:ln>
              <a:solidFill>
                <a:schemeClr val="bg1"/>
              </a:solidFill>
              <a:effectLst/>
              <a:uLnTx/>
              <a:uFillTx/>
              <a:latin typeface="+mn-lt"/>
              <a:ea typeface="+mn-ea"/>
              <a:cs typeface="Segoe UI" pitchFamily="34" charset="0"/>
            </a:endParaRPr>
          </a:p>
        </p:txBody>
      </p:sp>
      <p:pic>
        <p:nvPicPr>
          <p:cNvPr id="4" name="Picture 3" descr="A screenshot of a computer  AI-generated content may be incorrect.">
            <a:extLst>
              <a:ext uri="{FF2B5EF4-FFF2-40B4-BE49-F238E27FC236}">
                <a16:creationId xmlns:a16="http://schemas.microsoft.com/office/drawing/2014/main" id="{38C2F422-A53F-39FA-88D0-5D2975681495}"/>
              </a:ext>
            </a:extLst>
          </p:cNvPr>
          <p:cNvPicPr>
            <a:picLocks noChangeAspect="1"/>
          </p:cNvPicPr>
          <p:nvPr/>
        </p:nvPicPr>
        <p:blipFill>
          <a:blip r:embed="rId3">
            <a:extLst>
              <a:ext uri="{28A0092B-C50C-407E-A947-70E740481C1C}">
                <a14:useLocalDpi xmlns:a14="http://schemas.microsoft.com/office/drawing/2010/main" val="0"/>
              </a:ext>
            </a:extLst>
          </a:blip>
          <a:srcRect t="4395" b="4394"/>
          <a:stretch>
            <a:fillRect/>
          </a:stretch>
        </p:blipFill>
        <p:spPr>
          <a:xfrm>
            <a:off x="85241" y="0"/>
            <a:ext cx="12106759" cy="6470299"/>
          </a:xfrm>
          <a:prstGeom prst="rect">
            <a:avLst/>
          </a:prstGeom>
        </p:spPr>
      </p:pic>
      <p:sp>
        <p:nvSpPr>
          <p:cNvPr id="5" name="Hidden Title 5" descr="Slide title: As a data steward, export your metadata with Self-serve analytics into Fabric an"/>
          <p:cNvSpPr>
            <a:spLocks noGrp="1"/>
          </p:cNvSpPr>
          <p:nvPr>
            <p:ph type="title"/>
          </p:nvPr>
        </p:nvSpPr>
        <p:spPr>
          <a:xfrm>
            <a:off x="0" y="-457200"/>
            <a:ext cx="9144000" cy="457200"/>
          </a:xfrm>
        </p:spPr>
        <p:txBody>
          <a:bodyPr/>
          <a:lstStyle/>
          <a:p>
            <a:r>
              <a:rPr lang="en-US" sz="100" dirty="0"/>
              <a:t>As a data steward, export your metadata with Self-serve analytics into Fabric an</a:t>
            </a:r>
          </a:p>
        </p:txBody>
      </p:sp>
    </p:spTree>
    <p:extLst>
      <p:ext uri="{BB962C8B-B14F-4D97-AF65-F5344CB8AC3E}">
        <p14:creationId xmlns:p14="http://schemas.microsoft.com/office/powerpoint/2010/main" val="147694138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4394-41AD-6532-3E2F-35D31326B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97353-E67F-FC67-D876-CE847B036120}"/>
              </a:ext>
            </a:extLst>
          </p:cNvPr>
          <p:cNvSpPr>
            <a:spLocks noGrp="1"/>
          </p:cNvSpPr>
          <p:nvPr>
            <p:ph type="title" idx="4294967295"/>
          </p:nvPr>
        </p:nvSpPr>
        <p:spPr bwMode="auto">
          <a:xfrm>
            <a:off x="0" y="6409944"/>
            <a:ext cx="12192000" cy="448056"/>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600" b="1" spc="0">
                <a:ln>
                  <a:noFill/>
                </a:ln>
                <a:solidFill>
                  <a:schemeClr val="bg1"/>
                </a:solidFill>
                <a:cs typeface="Segoe UI" pitchFamily="34" charset="0"/>
              </a:rPr>
              <a:t>R</a:t>
            </a:r>
            <a:r>
              <a:rPr kumimoji="0" lang="en-US" sz="1600" b="1" i="0" u="none" strike="noStrike" kern="1200" cap="none" spc="0" normalizeH="0" baseline="0" noProof="0" err="1">
                <a:ln>
                  <a:noFill/>
                </a:ln>
                <a:solidFill>
                  <a:schemeClr val="bg1"/>
                </a:solidFill>
                <a:effectLst/>
                <a:uLnTx/>
                <a:uFillTx/>
                <a:latin typeface="+mn-lt"/>
                <a:ea typeface="+mn-ea"/>
                <a:cs typeface="Segoe UI" pitchFamily="34" charset="0"/>
              </a:rPr>
              <a:t>eports</a:t>
            </a: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enable Central Data Office to monitor </a:t>
            </a:r>
            <a:r>
              <a:rPr lang="en-US" sz="1600" spc="0">
                <a:ln>
                  <a:noFill/>
                </a:ln>
                <a:solidFill>
                  <a:schemeClr val="bg1"/>
                </a:solidFill>
                <a:cs typeface="Segoe UI" pitchFamily="34" charset="0"/>
              </a:rPr>
              <a:t>key areas of your</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 data governance practice. </a:t>
            </a:r>
          </a:p>
        </p:txBody>
      </p:sp>
      <p:pic>
        <p:nvPicPr>
          <p:cNvPr id="5" name="Picture 4" descr="Illustration for: Reports enable Central Data Office to monitor key areas of y">
            <a:extLst>
              <a:ext uri="{FF2B5EF4-FFF2-40B4-BE49-F238E27FC236}">
                <a16:creationId xmlns:a16="http://schemas.microsoft.com/office/drawing/2014/main" id="{7E9ECBB5-692D-B845-3314-AE46A62C4050}"/>
              </a:ext>
            </a:extLst>
          </p:cNvPr>
          <p:cNvPicPr>
            <a:picLocks noChangeAspect="1"/>
          </p:cNvPicPr>
          <p:nvPr/>
        </p:nvPicPr>
        <p:blipFill>
          <a:blip r:embed="rId3">
            <a:extLst>
              <a:ext uri="{28A0092B-C50C-407E-A947-70E740481C1C}">
                <a14:useLocalDpi xmlns:a14="http://schemas.microsoft.com/office/drawing/2010/main" val="0"/>
              </a:ext>
            </a:extLst>
          </a:blip>
          <a:srcRect b="5134"/>
          <a:stretch/>
        </p:blipFill>
        <p:spPr>
          <a:xfrm>
            <a:off x="0" y="0"/>
            <a:ext cx="12192000" cy="6409944"/>
          </a:xfrm>
          <a:prstGeom prst="rect">
            <a:avLst/>
          </a:prstGeom>
        </p:spPr>
      </p:pic>
      <p:sp>
        <p:nvSpPr>
          <p:cNvPr id="6" name="Hidden Title 6" descr="Slide title: Reports enable Central Data Office to monitor key areas of your data governance "/>
          <p:cNvSpPr>
            <a:spLocks noGrp="1"/>
          </p:cNvSpPr>
          <p:nvPr>
            <p:ph type="title"/>
          </p:nvPr>
        </p:nvSpPr>
        <p:spPr>
          <a:xfrm>
            <a:off x="0" y="-457200"/>
            <a:ext cx="9144000" cy="457200"/>
          </a:xfrm>
        </p:spPr>
        <p:txBody>
          <a:bodyPr/>
          <a:lstStyle/>
          <a:p>
            <a:r>
              <a:rPr lang="en-US" sz="100" dirty="0"/>
              <a:t>Reports enable Central Data Office to monitor key areas of your data governance </a:t>
            </a:r>
          </a:p>
        </p:txBody>
      </p:sp>
    </p:spTree>
    <p:extLst>
      <p:ext uri="{BB962C8B-B14F-4D97-AF65-F5344CB8AC3E}">
        <p14:creationId xmlns:p14="http://schemas.microsoft.com/office/powerpoint/2010/main" val="346736376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69AB3F10-5A5B-4D38-5DE0-4A31E8F22393}"/>
              </a:ext>
            </a:extLst>
          </p:cNvPr>
          <p:cNvSpPr>
            <a:spLocks noGrp="1"/>
          </p:cNvSpPr>
          <p:nvPr>
            <p:ph type="body" sz="quarter" idx="4294967295"/>
          </p:nvPr>
        </p:nvSpPr>
        <p:spPr>
          <a:xfrm>
            <a:off x="470959" y="736093"/>
            <a:ext cx="4474020" cy="552380"/>
          </a:xfrm>
        </p:spPr>
        <p:txBody>
          <a:bodyPr>
            <a:noAutofit/>
          </a:bodyPr>
          <a:lstStyle/>
          <a:p>
            <a:pPr marL="0" indent="0">
              <a:buNone/>
            </a:pPr>
            <a:r>
              <a:rPr lang="en-US" sz="3200">
                <a:latin typeface="Segoe UI Semibold" panose="020B0702040204020203" pitchFamily="34" charset="0"/>
                <a:cs typeface="Segoe UI Semibold" panose="020B0702040204020203" pitchFamily="34" charset="0"/>
              </a:rPr>
              <a:t>Responsible innovation </a:t>
            </a:r>
          </a:p>
        </p:txBody>
      </p:sp>
      <p:sp>
        <p:nvSpPr>
          <p:cNvPr id="27" name="Slide Number Placeholder 2">
            <a:extLst>
              <a:ext uri="{FF2B5EF4-FFF2-40B4-BE49-F238E27FC236}">
                <a16:creationId xmlns:a16="http://schemas.microsoft.com/office/drawing/2014/main" id="{CADDBD93-D32F-35E9-77BC-AA18F1F2709E}"/>
              </a:ext>
            </a:extLst>
          </p:cNvPr>
          <p:cNvSpPr txBox="1">
            <a:spLocks/>
          </p:cNvSpPr>
          <p:nvPr/>
        </p:nvSpPr>
        <p:spPr>
          <a:xfrm>
            <a:off x="563563" y="6311900"/>
            <a:ext cx="399288"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FFF"/>
                </a:solidFill>
                <a:effectLst/>
                <a:uLnTx/>
                <a:uFillTx/>
                <a:latin typeface="Segoe Sans Text"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8" name="Rounded Rectangle 7">
            <a:extLst>
              <a:ext uri="{FF2B5EF4-FFF2-40B4-BE49-F238E27FC236}">
                <a16:creationId xmlns:a16="http://schemas.microsoft.com/office/drawing/2014/main" id="{1300367A-CD6E-9719-5211-739ED874D532}"/>
              </a:ext>
            </a:extLst>
          </p:cNvPr>
          <p:cNvSpPr/>
          <p:nvPr/>
        </p:nvSpPr>
        <p:spPr>
          <a:xfrm rot="10800000">
            <a:off x="5267515" y="1124913"/>
            <a:ext cx="7173857" cy="4608174"/>
          </a:xfrm>
          <a:prstGeom prst="roundRect">
            <a:avLst>
              <a:gd name="adj" fmla="val 2795"/>
            </a:avLst>
          </a:prstGeom>
          <a:solidFill>
            <a:schemeClr val="bg1"/>
          </a:solidFill>
          <a:ln w="19050" cap="rnd">
            <a:gradFill>
              <a:gsLst>
                <a:gs pos="0">
                  <a:schemeClr val="accent1"/>
                </a:gs>
                <a:gs pos="100000">
                  <a:schemeClr val="accent1">
                    <a:lumMod val="30000"/>
                    <a:lumOff val="70000"/>
                  </a:schemeClr>
                </a:gs>
              </a:gsLst>
              <a:lin ang="5400000" scaled="1"/>
            </a:gradFill>
          </a:ln>
          <a:effectLst>
            <a:outerShdw blurRad="254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5" name="Text Placeholder 16">
            <a:extLst>
              <a:ext uri="{FF2B5EF4-FFF2-40B4-BE49-F238E27FC236}">
                <a16:creationId xmlns:a16="http://schemas.microsoft.com/office/drawing/2014/main" id="{1E0FEFC4-5EF9-1DBD-0DEB-489A848BA6DD}"/>
              </a:ext>
            </a:extLst>
          </p:cNvPr>
          <p:cNvSpPr txBox="1">
            <a:spLocks/>
          </p:cNvSpPr>
          <p:nvPr/>
        </p:nvSpPr>
        <p:spPr>
          <a:xfrm>
            <a:off x="470959" y="1317984"/>
            <a:ext cx="4184160" cy="10522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mn-ea"/>
                <a:cs typeface="Segoe UI" panose="020B0502040204020203" pitchFamily="34" charset="0"/>
              </a:defRPr>
            </a:lvl1pPr>
            <a:lvl2pPr marL="450850" indent="-179388"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mn-lt"/>
                <a:ea typeface="+mn-ea"/>
                <a:cs typeface="Segoe UI" panose="020B0502040204020203" pitchFamily="34" charset="0"/>
              </a:defRPr>
            </a:lvl2pPr>
            <a:lvl3pPr marL="673100" indent="-179388"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mn-lt"/>
                <a:ea typeface="+mn-ea"/>
                <a:cs typeface="Segoe UI" panose="020B0502040204020203" pitchFamily="34" charset="0"/>
              </a:defRPr>
            </a:lvl3pPr>
            <a:lvl4pPr marL="893763" indent="-177800" algn="l" defTabSz="914400" rtl="0" eaLnBrk="1" latinLnBrk="0" hangingPunct="1">
              <a:lnSpc>
                <a:spcPct val="90000"/>
              </a:lnSpc>
              <a:spcBef>
                <a:spcPts val="500"/>
              </a:spcBef>
              <a:buFont typeface="Arial" panose="020B0604020202020204" pitchFamily="34" charset="0"/>
              <a:buChar char="•"/>
              <a:tabLst/>
              <a:defRPr sz="1400" b="0" i="0" kern="1200">
                <a:solidFill>
                  <a:schemeClr val="tx1"/>
                </a:solidFill>
                <a:latin typeface="+mn-lt"/>
                <a:ea typeface="+mn-ea"/>
                <a:cs typeface="Segoe UI" panose="020B0502040204020203" pitchFamily="34" charset="0"/>
              </a:defRPr>
            </a:lvl4pPr>
            <a:lvl5pPr marL="1116013" indent="-17938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800" b="0" i="0" u="none" strike="noStrike" kern="1200" cap="none" spc="0" normalizeH="0" baseline="0" noProof="0">
                <a:ln>
                  <a:noFill/>
                </a:ln>
                <a:solidFill>
                  <a:srgbClr val="0078D4"/>
                </a:solidFill>
                <a:effectLst/>
                <a:uLnTx/>
                <a:uFillTx/>
                <a:latin typeface="Segoe UI"/>
                <a:ea typeface="+mn-ea"/>
                <a:cs typeface="Segoe Sans Display" pitchFamily="2" charset="0"/>
              </a:rPr>
              <a:t>Responsibly unlock business value with easy data discovery and actionable insights</a:t>
            </a:r>
            <a:endParaRPr kumimoji="0" lang="en-US" sz="1800" b="0" i="0" u="none" strike="noStrike" kern="1200" cap="none" spc="0" normalizeH="0" baseline="0" noProof="0">
              <a:ln>
                <a:noFill/>
              </a:ln>
              <a:solidFill>
                <a:srgbClr val="1C1C1C"/>
              </a:solidFill>
              <a:effectLst/>
              <a:uLnTx/>
              <a:uFillTx/>
              <a:latin typeface="Segoe UI"/>
              <a:ea typeface="+mn-ea"/>
              <a:cs typeface="Segoe Sans Display" pitchFamily="2" charset="0"/>
            </a:endParaRPr>
          </a:p>
        </p:txBody>
      </p:sp>
      <p:grpSp>
        <p:nvGrpSpPr>
          <p:cNvPr id="10" name="Group 9" descr="Diagram for: Responsible innovation">
            <a:extLst>
              <a:ext uri="{FF2B5EF4-FFF2-40B4-BE49-F238E27FC236}">
                <a16:creationId xmlns:a16="http://schemas.microsoft.com/office/drawing/2014/main" id="{81D33A9E-06ED-5E23-8050-572AC9089EEF}"/>
              </a:ext>
            </a:extLst>
          </p:cNvPr>
          <p:cNvGrpSpPr/>
          <p:nvPr/>
        </p:nvGrpSpPr>
        <p:grpSpPr>
          <a:xfrm>
            <a:off x="312420" y="2950505"/>
            <a:ext cx="4057696" cy="553998"/>
            <a:chOff x="718774" y="1969180"/>
            <a:chExt cx="4057696" cy="553998"/>
          </a:xfrm>
        </p:grpSpPr>
        <p:sp>
          <p:nvSpPr>
            <p:cNvPr id="11" name="Text Placeholder 2">
              <a:extLst>
                <a:ext uri="{FF2B5EF4-FFF2-40B4-BE49-F238E27FC236}">
                  <a16:creationId xmlns:a16="http://schemas.microsoft.com/office/drawing/2014/main" id="{490F5F85-1BCF-4B7B-BAC7-405EC8BAC7C8}"/>
                </a:ext>
              </a:extLst>
            </p:cNvPr>
            <p:cNvSpPr txBox="1">
              <a:spLocks/>
            </p:cNvSpPr>
            <p:nvPr/>
          </p:nvSpPr>
          <p:spPr>
            <a:xfrm>
              <a:off x="718774" y="2005088"/>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1C1C1C"/>
                  </a:solidFill>
                  <a:effectLst/>
                  <a:uLnTx/>
                  <a:uFillTx/>
                  <a:latin typeface="Segoe UI"/>
                  <a:ea typeface="+mn-ea"/>
                  <a:cs typeface="Segoe UI"/>
                </a:rPr>
                <a:t>Simplified discovery</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12" name="Text Placeholder 2">
              <a:extLst>
                <a:ext uri="{FF2B5EF4-FFF2-40B4-BE49-F238E27FC236}">
                  <a16:creationId xmlns:a16="http://schemas.microsoft.com/office/drawing/2014/main" id="{F57ABC1F-91E1-23E9-DF80-A07923FFC4BD}"/>
                </a:ext>
              </a:extLst>
            </p:cNvPr>
            <p:cNvSpPr txBox="1">
              <a:spLocks/>
            </p:cNvSpPr>
            <p:nvPr/>
          </p:nvSpPr>
          <p:spPr>
            <a:xfrm>
              <a:off x="2271980" y="1969180"/>
              <a:ext cx="2504490" cy="553998"/>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1C1C1C"/>
                  </a:solidFill>
                  <a:effectLst/>
                  <a:uLnTx/>
                  <a:uFillTx/>
                  <a:latin typeface="Segoe UI"/>
                  <a:ea typeface="+mn-ea"/>
                  <a:cs typeface="Segoe UI"/>
                </a:rPr>
                <a:t>Search using business context and natural language </a:t>
              </a:r>
              <a:r>
                <a:rPr lang="en-US" sz="1200">
                  <a:solidFill>
                    <a:srgbClr val="1C1C1C"/>
                  </a:solidFill>
                  <a:latin typeface="Segoe UI"/>
                  <a:cs typeface="Segoe UI"/>
                </a:rPr>
                <a:t>to find data products</a:t>
              </a:r>
              <a:r>
                <a:rPr kumimoji="0" lang="en-US" sz="1200" b="0" i="0" u="none" strike="noStrike" kern="1200" cap="none" spc="0" normalizeH="0" baseline="0" noProof="0">
                  <a:ln>
                    <a:noFill/>
                  </a:ln>
                  <a:solidFill>
                    <a:srgbClr val="1C1C1C"/>
                  </a:solidFill>
                  <a:effectLst/>
                  <a:uLnTx/>
                  <a:uFillTx/>
                  <a:latin typeface="Segoe UI"/>
                  <a:ea typeface="+mn-ea"/>
                  <a:cs typeface="Segoe UI"/>
                </a:rPr>
                <a:t> </a:t>
              </a:r>
            </a:p>
          </p:txBody>
        </p:sp>
        <p:cxnSp>
          <p:nvCxnSpPr>
            <p:cNvPr id="13" name="Straight Connector 12">
              <a:extLst>
                <a:ext uri="{FF2B5EF4-FFF2-40B4-BE49-F238E27FC236}">
                  <a16:creationId xmlns:a16="http://schemas.microsoft.com/office/drawing/2014/main" id="{1F0498A6-B0E7-D740-97C7-E215CCD0DB85}"/>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 name="Group 1" descr="Diagram for: Responsible innovation">
            <a:extLst>
              <a:ext uri="{FF2B5EF4-FFF2-40B4-BE49-F238E27FC236}">
                <a16:creationId xmlns:a16="http://schemas.microsoft.com/office/drawing/2014/main" id="{8D57D64B-005E-ED37-583E-1CD98C7328A1}"/>
              </a:ext>
            </a:extLst>
          </p:cNvPr>
          <p:cNvGrpSpPr/>
          <p:nvPr/>
        </p:nvGrpSpPr>
        <p:grpSpPr>
          <a:xfrm>
            <a:off x="312420" y="3905454"/>
            <a:ext cx="4057696" cy="572465"/>
            <a:chOff x="718774" y="1979439"/>
            <a:chExt cx="4057696" cy="572465"/>
          </a:xfrm>
        </p:grpSpPr>
        <p:sp>
          <p:nvSpPr>
            <p:cNvPr id="4" name="Text Placeholder 2">
              <a:extLst>
                <a:ext uri="{FF2B5EF4-FFF2-40B4-BE49-F238E27FC236}">
                  <a16:creationId xmlns:a16="http://schemas.microsoft.com/office/drawing/2014/main" id="{BA89927D-CFAB-CBE6-A5F7-234488D0C5A2}"/>
                </a:ext>
              </a:extLst>
            </p:cNvPr>
            <p:cNvSpPr txBox="1">
              <a:spLocks/>
            </p:cNvSpPr>
            <p:nvPr/>
          </p:nvSpPr>
          <p:spPr>
            <a:xfrm>
              <a:off x="718774" y="2005087"/>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600">
                  <a:solidFill>
                    <a:srgbClr val="1C1C1C"/>
                  </a:solidFill>
                  <a:latin typeface="Segoe UI"/>
                  <a:cs typeface="Segoe UI"/>
                </a:rPr>
                <a:t>Requesting access</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6" name="Text Placeholder 2">
              <a:extLst>
                <a:ext uri="{FF2B5EF4-FFF2-40B4-BE49-F238E27FC236}">
                  <a16:creationId xmlns:a16="http://schemas.microsoft.com/office/drawing/2014/main" id="{5B4FD461-7CD2-EFA5-F59C-D319FC63D6E9}"/>
                </a:ext>
              </a:extLst>
            </p:cNvPr>
            <p:cNvSpPr txBox="1">
              <a:spLocks/>
            </p:cNvSpPr>
            <p:nvPr/>
          </p:nvSpPr>
          <p:spPr>
            <a:xfrm>
              <a:off x="2271980" y="1997906"/>
              <a:ext cx="2504490" cy="553998"/>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1C1C1C"/>
                  </a:solidFill>
                  <a:effectLst/>
                  <a:uLnTx/>
                  <a:uFillTx/>
                  <a:latin typeface="Segoe UI"/>
                  <a:ea typeface="+mn-ea"/>
                  <a:cs typeface="Segoe UI"/>
                </a:rPr>
                <a:t>Ensure the right people have access to the right data with a flexible permissions model</a:t>
              </a:r>
            </a:p>
          </p:txBody>
        </p:sp>
        <p:cxnSp>
          <p:nvCxnSpPr>
            <p:cNvPr id="7" name="Straight Connector 6">
              <a:extLst>
                <a:ext uri="{FF2B5EF4-FFF2-40B4-BE49-F238E27FC236}">
                  <a16:creationId xmlns:a16="http://schemas.microsoft.com/office/drawing/2014/main" id="{EFA0CE30-71F1-3CE0-DA88-B781282B1898}"/>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9" name="Group 8" descr="Diagram for: Responsible innovation">
            <a:extLst>
              <a:ext uri="{FF2B5EF4-FFF2-40B4-BE49-F238E27FC236}">
                <a16:creationId xmlns:a16="http://schemas.microsoft.com/office/drawing/2014/main" id="{08A9872C-7AAE-25FA-6CDA-B928FCD5136F}"/>
              </a:ext>
            </a:extLst>
          </p:cNvPr>
          <p:cNvGrpSpPr/>
          <p:nvPr/>
        </p:nvGrpSpPr>
        <p:grpSpPr>
          <a:xfrm>
            <a:off x="312420" y="4873740"/>
            <a:ext cx="4057696" cy="572465"/>
            <a:chOff x="718774" y="1979439"/>
            <a:chExt cx="4057696" cy="572465"/>
          </a:xfrm>
        </p:grpSpPr>
        <p:sp>
          <p:nvSpPr>
            <p:cNvPr id="19" name="Text Placeholder 2">
              <a:extLst>
                <a:ext uri="{FF2B5EF4-FFF2-40B4-BE49-F238E27FC236}">
                  <a16:creationId xmlns:a16="http://schemas.microsoft.com/office/drawing/2014/main" id="{68F3758F-ABB6-1790-5557-CAE4F9705C4B}"/>
                </a:ext>
              </a:extLst>
            </p:cNvPr>
            <p:cNvSpPr txBox="1">
              <a:spLocks/>
            </p:cNvSpPr>
            <p:nvPr/>
          </p:nvSpPr>
          <p:spPr>
            <a:xfrm>
              <a:off x="718774" y="2005088"/>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600">
                  <a:solidFill>
                    <a:srgbClr val="1C1C1C"/>
                  </a:solidFill>
                  <a:latin typeface="Segoe UI"/>
                  <a:cs typeface="Segoe UI"/>
                </a:rPr>
                <a:t>Self service</a:t>
              </a:r>
              <a:r>
                <a:rPr kumimoji="0" lang="en-US" sz="1600" b="0" i="0" u="none" strike="noStrike" kern="1200" cap="none" spc="0" normalizeH="0" baseline="0" noProof="0">
                  <a:ln>
                    <a:noFill/>
                  </a:ln>
                  <a:solidFill>
                    <a:srgbClr val="1C1C1C"/>
                  </a:solidFill>
                  <a:effectLst/>
                  <a:uLnTx/>
                  <a:uFillTx/>
                  <a:latin typeface="Segoe UI"/>
                  <a:ea typeface="+mn-ea"/>
                  <a:cs typeface="Segoe UI"/>
                </a:rPr>
                <a:t> analytics</a:t>
              </a:r>
              <a:endParaRPr kumimoji="0" lang="en-US" sz="1600" b="0" i="0" u="none" strike="noStrike" kern="1200" cap="none" spc="0" normalizeH="0" baseline="0" noProof="0">
                <a:ln>
                  <a:noFill/>
                </a:ln>
                <a:solidFill>
                  <a:srgbClr val="1C1C1C"/>
                </a:solidFill>
                <a:effectLst/>
                <a:uLnTx/>
                <a:uFillTx/>
                <a:latin typeface="Segoe UI"/>
                <a:ea typeface="+mn-ea"/>
                <a:cs typeface="Segoe UI" panose="020B0502040204020203" pitchFamily="34" charset="0"/>
              </a:endParaRPr>
            </a:p>
          </p:txBody>
        </p:sp>
        <p:sp>
          <p:nvSpPr>
            <p:cNvPr id="20" name="Text Placeholder 2">
              <a:extLst>
                <a:ext uri="{FF2B5EF4-FFF2-40B4-BE49-F238E27FC236}">
                  <a16:creationId xmlns:a16="http://schemas.microsoft.com/office/drawing/2014/main" id="{3E0B32A7-C8C9-3036-66E2-1578A63EB5A3}"/>
                </a:ext>
              </a:extLst>
            </p:cNvPr>
            <p:cNvSpPr txBox="1">
              <a:spLocks/>
            </p:cNvSpPr>
            <p:nvPr/>
          </p:nvSpPr>
          <p:spPr>
            <a:xfrm>
              <a:off x="2271980" y="1997906"/>
              <a:ext cx="2504490" cy="553998"/>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a:solidFill>
                    <a:srgbClr val="1C1C1C"/>
                  </a:solidFill>
                  <a:latin typeface="Segoe UI"/>
                  <a:cs typeface="Segoe UI"/>
                </a:rPr>
                <a:t>A</a:t>
              </a:r>
              <a:r>
                <a:rPr kumimoji="0" lang="en-US" sz="1200" b="0" i="0" u="none" strike="noStrike" kern="1200" cap="none" spc="0" normalizeH="0" baseline="0" noProof="0" err="1">
                  <a:ln>
                    <a:noFill/>
                  </a:ln>
                  <a:solidFill>
                    <a:srgbClr val="1C1C1C"/>
                  </a:solidFill>
                  <a:effectLst/>
                  <a:uLnTx/>
                  <a:uFillTx/>
                  <a:latin typeface="Segoe UI"/>
                  <a:ea typeface="+mn-ea"/>
                  <a:cs typeface="Segoe UI"/>
                </a:rPr>
                <a:t>llow</a:t>
              </a:r>
              <a:r>
                <a:rPr kumimoji="0" lang="en-US" sz="1200" b="0" i="0" u="none" strike="noStrike" kern="1200" cap="none" spc="0" normalizeH="0" baseline="0" noProof="0">
                  <a:ln>
                    <a:noFill/>
                  </a:ln>
                  <a:solidFill>
                    <a:srgbClr val="1C1C1C"/>
                  </a:solidFill>
                  <a:effectLst/>
                  <a:uLnTx/>
                  <a:uFillTx/>
                  <a:latin typeface="Segoe UI"/>
                  <a:ea typeface="+mn-ea"/>
                  <a:cs typeface="Segoe UI"/>
                </a:rPr>
                <a:t> organization to take metadata from the Purview Unified Catalog and analyze it in Fabric or Databricks</a:t>
              </a:r>
            </a:p>
          </p:txBody>
        </p:sp>
        <p:cxnSp>
          <p:nvCxnSpPr>
            <p:cNvPr id="21" name="Straight Connector 20">
              <a:extLst>
                <a:ext uri="{FF2B5EF4-FFF2-40B4-BE49-F238E27FC236}">
                  <a16:creationId xmlns:a16="http://schemas.microsoft.com/office/drawing/2014/main" id="{844E7CC3-0BC7-F2CD-0CAA-07C58B7F80A2}"/>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pic>
        <p:nvPicPr>
          <p:cNvPr id="3" name="Picture 2" descr="Illustration for: Responsible innovation">
            <a:extLst>
              <a:ext uri="{FF2B5EF4-FFF2-40B4-BE49-F238E27FC236}">
                <a16:creationId xmlns:a16="http://schemas.microsoft.com/office/drawing/2014/main" id="{727C807F-5598-1C59-6B0B-378C40BA8CB7}"/>
              </a:ext>
            </a:extLst>
          </p:cNvPr>
          <p:cNvPicPr>
            <a:picLocks noChangeAspect="1"/>
          </p:cNvPicPr>
          <p:nvPr/>
        </p:nvPicPr>
        <p:blipFill>
          <a:blip r:embed="rId3">
            <a:extLst>
              <a:ext uri="{28A0092B-C50C-407E-A947-70E740481C1C}">
                <a14:useLocalDpi xmlns:a14="http://schemas.microsoft.com/office/drawing/2010/main" val="0"/>
              </a:ext>
            </a:extLst>
          </a:blip>
          <a:srcRect l="10169" r="10169"/>
          <a:stretch/>
        </p:blipFill>
        <p:spPr>
          <a:xfrm>
            <a:off x="5275982" y="1124911"/>
            <a:ext cx="7173857" cy="4608175"/>
          </a:xfrm>
          <a:prstGeom prst="rect">
            <a:avLst/>
          </a:prstGeom>
        </p:spPr>
      </p:pic>
      <p:sp>
        <p:nvSpPr>
          <p:cNvPr id="28" name="Hidden Title 28" descr="Slide title: Responsible innovation"/>
          <p:cNvSpPr>
            <a:spLocks noGrp="1"/>
          </p:cNvSpPr>
          <p:nvPr>
            <p:ph type="title"/>
          </p:nvPr>
        </p:nvSpPr>
        <p:spPr>
          <a:xfrm>
            <a:off x="0" y="-457200"/>
            <a:ext cx="9144000" cy="457200"/>
          </a:xfrm>
        </p:spPr>
        <p:txBody>
          <a:bodyPr/>
          <a:lstStyle/>
          <a:p>
            <a:r>
              <a:rPr lang="en-US" sz="100" dirty="0"/>
              <a:t>Responsible innovation</a:t>
            </a:r>
          </a:p>
        </p:txBody>
      </p:sp>
    </p:spTree>
    <p:extLst>
      <p:ext uri="{BB962C8B-B14F-4D97-AF65-F5344CB8AC3E}">
        <p14:creationId xmlns:p14="http://schemas.microsoft.com/office/powerpoint/2010/main" val="331052079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920180-3C76-3F20-BE56-3462E3A5DBD5}"/>
              </a:ext>
              <a:ext uri="{C183D7F6-B498-43B3-948B-1728B52AA6E4}">
                <adec:decorative xmlns:adec="http://schemas.microsoft.com/office/drawing/2017/decorative" val="0"/>
              </a:ext>
            </a:extLst>
          </p:cNvPr>
          <p:cNvSpPr>
            <a:spLocks noGrp="1"/>
          </p:cNvSpPr>
          <p:nvPr>
            <p:ph type="title" idx="4294967295"/>
          </p:nvPr>
        </p:nvSpPr>
        <p:spPr bwMode="auto">
          <a:xfrm>
            <a:off x="0" y="6379740"/>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Users can easily </a:t>
            </a:r>
            <a:r>
              <a:rPr lang="en-US" sz="1600" b="1" spc="0">
                <a:ln>
                  <a:noFill/>
                </a:ln>
                <a:solidFill>
                  <a:schemeClr val="bg1"/>
                </a:solidFill>
                <a:cs typeface="Segoe UI" pitchFamily="34" charset="0"/>
              </a:rPr>
              <a:t>search</a:t>
            </a:r>
            <a:r>
              <a:rPr lang="en-US" sz="1600" spc="0">
                <a:ln>
                  <a:noFill/>
                </a:ln>
                <a:solidFill>
                  <a:schemeClr val="bg1"/>
                </a:solidFill>
                <a:cs typeface="Segoe UI" pitchFamily="34" charset="0"/>
              </a:rPr>
              <a:t> for</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 the data they need to unlock business value </a:t>
            </a:r>
            <a:endParaRPr kumimoji="0" lang="en-US" sz="1600" i="0" u="none" strike="noStrike" kern="1200" cap="none" spc="0" normalizeH="0" baseline="0" noProof="0">
              <a:ln>
                <a:noFill/>
              </a:ln>
              <a:solidFill>
                <a:schemeClr val="bg1"/>
              </a:solidFill>
              <a:effectLst/>
              <a:uLnTx/>
              <a:uFillTx/>
              <a:latin typeface="+mn-lt"/>
              <a:ea typeface="+mn-ea"/>
              <a:cs typeface="Segoe UI" pitchFamily="34" charset="0"/>
            </a:endParaRPr>
          </a:p>
        </p:txBody>
      </p:sp>
      <p:pic>
        <p:nvPicPr>
          <p:cNvPr id="3" name="Picture 2" descr="Illustration for: Users can easily search for the data they need to unlock bus">
            <a:extLst>
              <a:ext uri="{FF2B5EF4-FFF2-40B4-BE49-F238E27FC236}">
                <a16:creationId xmlns:a16="http://schemas.microsoft.com/office/drawing/2014/main" id="{4BC2071E-07CB-C52A-DCA1-8F4AD4C7096B}"/>
              </a:ext>
            </a:extLst>
          </p:cNvPr>
          <p:cNvPicPr>
            <a:picLocks noChangeAspect="1"/>
          </p:cNvPicPr>
          <p:nvPr/>
        </p:nvPicPr>
        <p:blipFill>
          <a:blip r:embed="rId3"/>
          <a:srcRect t="4500" b="6786"/>
          <a:stretch>
            <a:fillRect/>
          </a:stretch>
        </p:blipFill>
        <p:spPr>
          <a:xfrm>
            <a:off x="0" y="0"/>
            <a:ext cx="12192000" cy="6379740"/>
          </a:xfrm>
          <a:prstGeom prst="rect">
            <a:avLst/>
          </a:prstGeom>
        </p:spPr>
      </p:pic>
      <p:sp>
        <p:nvSpPr>
          <p:cNvPr id="5" name="Hidden Title 5" descr="Slide title: Users can easily search for the data they need to unlock business value"/>
          <p:cNvSpPr>
            <a:spLocks noGrp="1"/>
          </p:cNvSpPr>
          <p:nvPr>
            <p:ph type="title"/>
          </p:nvPr>
        </p:nvSpPr>
        <p:spPr>
          <a:xfrm>
            <a:off x="0" y="-457200"/>
            <a:ext cx="9144000" cy="457200"/>
          </a:xfrm>
        </p:spPr>
        <p:txBody>
          <a:bodyPr/>
          <a:lstStyle/>
          <a:p>
            <a:r>
              <a:rPr lang="en-US" sz="100" dirty="0"/>
              <a:t>Users can easily search for the data they need to unlock business value</a:t>
            </a:r>
          </a:p>
        </p:txBody>
      </p:sp>
    </p:spTree>
    <p:extLst>
      <p:ext uri="{BB962C8B-B14F-4D97-AF65-F5344CB8AC3E}">
        <p14:creationId xmlns:p14="http://schemas.microsoft.com/office/powerpoint/2010/main" val="421475367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D502F-548E-272E-7BAF-BDF236138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1F7EF-8AD3-B0ED-95A6-16444E4105F7}"/>
              </a:ext>
            </a:extLst>
          </p:cNvPr>
          <p:cNvSpPr>
            <a:spLocks noGrp="1"/>
          </p:cNvSpPr>
          <p:nvPr>
            <p:ph type="title" idx="4294967295"/>
          </p:nvPr>
        </p:nvSpPr>
        <p:spPr bwMode="auto">
          <a:xfrm>
            <a:off x="0" y="6409944"/>
            <a:ext cx="12192000" cy="448056"/>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Requesting access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is simple and standardized for data users</a:t>
            </a:r>
          </a:p>
        </p:txBody>
      </p:sp>
      <p:pic>
        <p:nvPicPr>
          <p:cNvPr id="5" name="Picture 4" descr="Illustration for: Requesting access is simple and standardized for data users">
            <a:extLst>
              <a:ext uri="{FF2B5EF4-FFF2-40B4-BE49-F238E27FC236}">
                <a16:creationId xmlns:a16="http://schemas.microsoft.com/office/drawing/2014/main" id="{5AA80C1A-BC13-9945-5B53-98CE4E2AEC04}"/>
              </a:ext>
            </a:extLst>
          </p:cNvPr>
          <p:cNvPicPr>
            <a:picLocks noChangeAspect="1"/>
          </p:cNvPicPr>
          <p:nvPr/>
        </p:nvPicPr>
        <p:blipFill>
          <a:blip r:embed="rId3">
            <a:extLst>
              <a:ext uri="{28A0092B-C50C-407E-A947-70E740481C1C}">
                <a14:useLocalDpi xmlns:a14="http://schemas.microsoft.com/office/drawing/2010/main" val="0"/>
              </a:ext>
            </a:extLst>
          </a:blip>
          <a:srcRect b="2852"/>
          <a:stretch/>
        </p:blipFill>
        <p:spPr>
          <a:xfrm>
            <a:off x="0" y="0"/>
            <a:ext cx="12192000" cy="6409944"/>
          </a:xfrm>
          <a:prstGeom prst="rect">
            <a:avLst/>
          </a:prstGeom>
        </p:spPr>
      </p:pic>
      <p:sp>
        <p:nvSpPr>
          <p:cNvPr id="6" name="Hidden Title 6" descr="Slide title: Requesting access is simple and standardized for data users"/>
          <p:cNvSpPr>
            <a:spLocks noGrp="1"/>
          </p:cNvSpPr>
          <p:nvPr>
            <p:ph type="title"/>
          </p:nvPr>
        </p:nvSpPr>
        <p:spPr>
          <a:xfrm>
            <a:off x="0" y="-457200"/>
            <a:ext cx="9144000" cy="457200"/>
          </a:xfrm>
        </p:spPr>
        <p:txBody>
          <a:bodyPr/>
          <a:lstStyle/>
          <a:p>
            <a:r>
              <a:rPr lang="en-US" sz="100" dirty="0"/>
              <a:t>Requesting access is simple and standardized for data users</a:t>
            </a:r>
          </a:p>
        </p:txBody>
      </p:sp>
    </p:spTree>
    <p:extLst>
      <p:ext uri="{BB962C8B-B14F-4D97-AF65-F5344CB8AC3E}">
        <p14:creationId xmlns:p14="http://schemas.microsoft.com/office/powerpoint/2010/main" val="284998253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2D296-8036-E92C-0A93-9CB27C05745C}"/>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1AEA72BF-762D-5493-DFC5-4D8ECA3C4298}"/>
              </a:ext>
              <a:ext uri="{C183D7F6-B498-43B3-948B-1728B52AA6E4}">
                <adec:decorative xmlns:adec="http://schemas.microsoft.com/office/drawing/2017/decorative" val="1"/>
              </a:ext>
            </a:extLst>
          </p:cNvPr>
          <p:cNvSpPr/>
          <p:nvPr/>
        </p:nvSpPr>
        <p:spPr bwMode="auto">
          <a:xfrm>
            <a:off x="502027" y="1808489"/>
            <a:ext cx="11018837" cy="4102524"/>
          </a:xfrm>
          <a:prstGeom prst="roundRect">
            <a:avLst>
              <a:gd name="adj" fmla="val 7748"/>
            </a:avLst>
          </a:prstGeom>
          <a:gradFill>
            <a:gsLst>
              <a:gs pos="100000">
                <a:srgbClr val="D6EEFF"/>
              </a:gs>
              <a:gs pos="50000">
                <a:schemeClr val="bg1"/>
              </a:gs>
            </a:gsLst>
            <a:lin ang="2400000" scaled="0"/>
          </a:gradFill>
          <a:ln w="0" cap="flat">
            <a:noFill/>
            <a:prstDash val="solid"/>
            <a:miter/>
          </a:ln>
          <a:effectLst>
            <a:outerShdw blurRad="63500" algn="ctr"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2" name="Title 21">
            <a:extLst>
              <a:ext uri="{FF2B5EF4-FFF2-40B4-BE49-F238E27FC236}">
                <a16:creationId xmlns:a16="http://schemas.microsoft.com/office/drawing/2014/main" id="{C43A586F-40F6-9EEA-FC48-4DC6EB6498D9}"/>
              </a:ext>
            </a:extLst>
          </p:cNvPr>
          <p:cNvSpPr>
            <a:spLocks noGrp="1"/>
          </p:cNvSpPr>
          <p:nvPr>
            <p:ph type="title"/>
          </p:nvPr>
        </p:nvSpPr>
        <p:spPr>
          <a:xfrm>
            <a:off x="719545" y="617375"/>
            <a:ext cx="11064240" cy="724535"/>
          </a:xfrm>
        </p:spPr>
        <p:txBody>
          <a:bodyPr>
            <a:noAutofit/>
          </a:bodyPr>
          <a:lstStyle/>
          <a:p>
            <a:pPr marL="0" marR="0" lvl="0" indent="0" defTabSz="914400" rtl="0" eaLnBrk="1" fontAlgn="auto" latinLnBrk="0" hangingPunct="1">
              <a:lnSpc>
                <a:spcPct val="90000"/>
              </a:lnSpc>
              <a:spcBef>
                <a:spcPts val="1000"/>
              </a:spcBef>
              <a:spcAft>
                <a:spcPts val="0"/>
              </a:spcAft>
              <a:buClrTx/>
              <a:buSzTx/>
              <a:buFontTx/>
              <a:buNone/>
              <a:tabLst/>
              <a:defRPr/>
            </a:pPr>
            <a:r>
              <a:rPr kumimoji="0" lang="en-US" sz="3600" b="0" i="0" u="none" strike="noStrike" kern="1200" cap="none" spc="-50" normalizeH="0" baseline="0" noProof="0">
                <a:ln w="3175">
                  <a:noFill/>
                </a:ln>
                <a:solidFill>
                  <a:srgbClr val="071731"/>
                </a:solidFill>
                <a:effectLst/>
                <a:uLnTx/>
                <a:uFillTx/>
                <a:latin typeface="Segoe UI Semibold" panose="020B0702040204020203" pitchFamily="34" charset="0"/>
                <a:ea typeface="+mn-ea"/>
                <a:cs typeface="Segoe UI Semibold" panose="020B0702040204020203" pitchFamily="34" charset="0"/>
              </a:rPr>
              <a:t>Microsoft Purview Unified Catalog for AI </a:t>
            </a:r>
          </a:p>
        </p:txBody>
      </p:sp>
      <p:sp>
        <p:nvSpPr>
          <p:cNvPr id="3" name="Slide Number Placeholder 2">
            <a:extLst>
              <a:ext uri="{FF2B5EF4-FFF2-40B4-BE49-F238E27FC236}">
                <a16:creationId xmlns:a16="http://schemas.microsoft.com/office/drawing/2014/main" id="{DCA872C5-DE29-DB52-078A-4C6BD5FB1434}"/>
              </a:ext>
            </a:extLst>
          </p:cNvPr>
          <p:cNvSpPr>
            <a:spLocks noGrp="1"/>
          </p:cNvSpPr>
          <p:nvPr>
            <p:ph type="sldNum" sz="quarter" idx="11"/>
          </p:nvPr>
        </p:nvSpPr>
        <p:spPr>
          <a:xfrm>
            <a:off x="563563"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lang="en-US" smtClean="0"/>
              <a:pPr marL="0" marR="0" lvl="0" indent="0" algn="l" defTabSz="914367"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8" name="Text Box 3" descr="This is a copyright notice that should be included on the final slide.">
            <a:extLst>
              <a:ext uri="{FF2B5EF4-FFF2-40B4-BE49-F238E27FC236}">
                <a16:creationId xmlns:a16="http://schemas.microsoft.com/office/drawing/2014/main" id="{31EF9AF2-3990-554D-00AC-9D54D6AA5F6E}"/>
              </a:ext>
            </a:extLst>
          </p:cNvPr>
          <p:cNvSpPr txBox="1">
            <a:spLocks noChangeArrowheads="1"/>
          </p:cNvSpPr>
          <p:nvPr/>
        </p:nvSpPr>
        <p:spPr bwMode="blackWhite">
          <a:xfrm>
            <a:off x="181663" y="6610373"/>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Segoe Sans Text" panose="020F0502020204030204"/>
                <a:ea typeface="+mn-ea"/>
                <a:cs typeface="Segoe UI" pitchFamily="34" charset="0"/>
              </a:rPr>
              <a:t>© Copyright Microsoft Corporation. All rights reserved. </a:t>
            </a:r>
          </a:p>
        </p:txBody>
      </p:sp>
      <p:grpSp>
        <p:nvGrpSpPr>
          <p:cNvPr id="13" name="Group 12" descr="Diagram for: Microsoft Purview Unified Catalog for AI">
            <a:extLst>
              <a:ext uri="{FF2B5EF4-FFF2-40B4-BE49-F238E27FC236}">
                <a16:creationId xmlns:a16="http://schemas.microsoft.com/office/drawing/2014/main" id="{001C7839-1918-A2DA-0585-8D80F88B070A}"/>
              </a:ext>
            </a:extLst>
          </p:cNvPr>
          <p:cNvGrpSpPr/>
          <p:nvPr/>
        </p:nvGrpSpPr>
        <p:grpSpPr>
          <a:xfrm>
            <a:off x="921471" y="2126590"/>
            <a:ext cx="10180088" cy="3466924"/>
            <a:chOff x="1029419" y="2527477"/>
            <a:chExt cx="10180088" cy="3466924"/>
          </a:xfrm>
        </p:grpSpPr>
        <p:sp>
          <p:nvSpPr>
            <p:cNvPr id="6" name="Rectangle: Rounded Corners 5" descr="Microsoft Cloud">
              <a:extLst>
                <a:ext uri="{FF2B5EF4-FFF2-40B4-BE49-F238E27FC236}">
                  <a16:creationId xmlns:a16="http://schemas.microsoft.com/office/drawing/2014/main" id="{ADE2AA6A-CE99-FAE8-1CCF-CE1A0726735A}"/>
                </a:ext>
              </a:extLst>
            </p:cNvPr>
            <p:cNvSpPr/>
            <p:nvPr/>
          </p:nvSpPr>
          <p:spPr bwMode="auto">
            <a:xfrm>
              <a:off x="4602395" y="2532383"/>
              <a:ext cx="3036636" cy="3462018"/>
            </a:xfrm>
            <a:prstGeom prst="roundRect">
              <a:avLst>
                <a:gd name="adj" fmla="val 4168"/>
              </a:avLst>
            </a:prstGeom>
            <a:solidFill>
              <a:srgbClr val="FFFFFF"/>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Rectangle: Rounded Corners 5" descr="Microsoft Cloud">
              <a:extLst>
                <a:ext uri="{FF2B5EF4-FFF2-40B4-BE49-F238E27FC236}">
                  <a16:creationId xmlns:a16="http://schemas.microsoft.com/office/drawing/2014/main" id="{906EA490-CB4F-949B-D064-5AB7A2A2DC62}"/>
                </a:ext>
              </a:extLst>
            </p:cNvPr>
            <p:cNvSpPr/>
            <p:nvPr/>
          </p:nvSpPr>
          <p:spPr bwMode="auto">
            <a:xfrm>
              <a:off x="1030670" y="2532383"/>
              <a:ext cx="3036636" cy="3462018"/>
            </a:xfrm>
            <a:prstGeom prst="roundRect">
              <a:avLst>
                <a:gd name="adj" fmla="val 4168"/>
              </a:avLst>
            </a:prstGeom>
            <a:solidFill>
              <a:srgbClr val="FFFFFF"/>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6" name="Rectangle: Rounded Corners 5" descr="Microsoft Cloud">
              <a:extLst>
                <a:ext uri="{FF2B5EF4-FFF2-40B4-BE49-F238E27FC236}">
                  <a16:creationId xmlns:a16="http://schemas.microsoft.com/office/drawing/2014/main" id="{18190E71-4A8B-67CE-606D-9840B495C65F}"/>
                </a:ext>
              </a:extLst>
            </p:cNvPr>
            <p:cNvSpPr/>
            <p:nvPr/>
          </p:nvSpPr>
          <p:spPr bwMode="auto">
            <a:xfrm>
              <a:off x="8172871" y="2532383"/>
              <a:ext cx="3036636" cy="3462018"/>
            </a:xfrm>
            <a:prstGeom prst="roundRect">
              <a:avLst>
                <a:gd name="adj" fmla="val 4168"/>
              </a:avLst>
            </a:prstGeom>
            <a:solidFill>
              <a:srgbClr val="FFFFFF"/>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 name="TextBox 1">
              <a:extLst>
                <a:ext uri="{FF2B5EF4-FFF2-40B4-BE49-F238E27FC236}">
                  <a16:creationId xmlns:a16="http://schemas.microsoft.com/office/drawing/2014/main" id="{809E5995-5CD7-B98B-BFE4-74CF77619DAB}"/>
                </a:ext>
              </a:extLst>
            </p:cNvPr>
            <p:cNvSpPr txBox="1"/>
            <p:nvPr/>
          </p:nvSpPr>
          <p:spPr>
            <a:xfrm>
              <a:off x="1199662" y="4598103"/>
              <a:ext cx="2618816" cy="1107996"/>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1731"/>
                  </a:solidFill>
                  <a:effectLst/>
                  <a:uLnTx/>
                  <a:uFillTx/>
                  <a:latin typeface="Segoe Sans Text"/>
                  <a:ea typeface="+mn-ea"/>
                  <a:cs typeface="Arial"/>
                </a:rPr>
                <a:t>Data consumers need to: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solidFill>
                  <a:srgbClr val="071731"/>
                </a:solidFill>
                <a:latin typeface="Segoe Sans Text"/>
                <a:cs typeface="Arial"/>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a:ea typeface="+mn-ea"/>
                  <a:cs typeface="Arial"/>
                </a:rPr>
                <a:t>Discover AI ready data.</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a:ea typeface="+mn-ea"/>
                  <a:cs typeface="Arial"/>
                </a:rPr>
                <a:t>Understand data products and use cases </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a:ea typeface="+mn-ea"/>
                  <a:cs typeface="Arial"/>
                </a:rPr>
                <a:t>Have access to AI ready data. </a:t>
              </a:r>
            </a:p>
          </p:txBody>
        </p:sp>
        <p:sp>
          <p:nvSpPr>
            <p:cNvPr id="4" name="TextBox 3">
              <a:extLst>
                <a:ext uri="{FF2B5EF4-FFF2-40B4-BE49-F238E27FC236}">
                  <a16:creationId xmlns:a16="http://schemas.microsoft.com/office/drawing/2014/main" id="{1CE10ADC-C4FE-026A-5378-816B846DFA95}"/>
                </a:ext>
              </a:extLst>
            </p:cNvPr>
            <p:cNvSpPr txBox="1"/>
            <p:nvPr/>
          </p:nvSpPr>
          <p:spPr>
            <a:xfrm>
              <a:off x="4816107" y="4598103"/>
              <a:ext cx="2606571" cy="129266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Data owners need to: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Ensure the data that is used in AI is high quality. </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Detect data quality issues </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071731"/>
                  </a:solidFill>
                  <a:latin typeface="Segoe Sans Text" panose="020F0502020204030204"/>
                  <a:cs typeface="Segoe Sans Text Semibold" pitchFamily="2" charset="0"/>
                </a:rPr>
                <a:t>Understand data origins </a:t>
              </a: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and lineage.</a:t>
              </a:r>
            </a:p>
          </p:txBody>
        </p:sp>
        <p:sp>
          <p:nvSpPr>
            <p:cNvPr id="7" name="TextBox 6">
              <a:extLst>
                <a:ext uri="{FF2B5EF4-FFF2-40B4-BE49-F238E27FC236}">
                  <a16:creationId xmlns:a16="http://schemas.microsoft.com/office/drawing/2014/main" id="{E1F05D43-88F5-6DC5-3F14-E0F90C4B1C6B}"/>
                </a:ext>
              </a:extLst>
            </p:cNvPr>
            <p:cNvSpPr txBox="1"/>
            <p:nvPr/>
          </p:nvSpPr>
          <p:spPr>
            <a:xfrm>
              <a:off x="8383597" y="4598103"/>
              <a:ext cx="2615184" cy="129266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Data owners need to: </a:t>
              </a:r>
              <a:endParaRPr lang="en-US" sz="1200">
                <a:solidFill>
                  <a:srgbClr val="071731"/>
                </a:solidFill>
                <a:latin typeface="Segoe Sans Text" panose="020F0502020204030204"/>
                <a:cs typeface="Segoe Sans Text Semibold" pitchFamily="2" charset="0"/>
              </a:endParaRP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Manage who has access to AI ready data</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Apply terms of use policies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71731"/>
                  </a:solidFill>
                  <a:effectLst/>
                  <a:uLnTx/>
                  <a:uFillTx/>
                  <a:latin typeface="Segoe Sans Text" panose="020F0502020204030204"/>
                  <a:ea typeface="+mn-ea"/>
                  <a:cs typeface="Segoe Sans Text Semibold" pitchFamily="2" charset="0"/>
                </a:rPr>
                <a:t>See who has access to data products</a:t>
              </a:r>
            </a:p>
          </p:txBody>
        </p:sp>
        <p:sp>
          <p:nvSpPr>
            <p:cNvPr id="18" name="Trackers_EADF" title="Icon of a clipboard with a checklist on it">
              <a:extLst>
                <a:ext uri="{FF2B5EF4-FFF2-40B4-BE49-F238E27FC236}">
                  <a16:creationId xmlns:a16="http://schemas.microsoft.com/office/drawing/2014/main" id="{D3FDD77B-B837-2E9C-E980-D65FA2604EB2}"/>
                </a:ext>
              </a:extLst>
            </p:cNvPr>
            <p:cNvSpPr>
              <a:spLocks noChangeAspect="1" noEditPoints="1"/>
            </p:cNvSpPr>
            <p:nvPr/>
          </p:nvSpPr>
          <p:spPr bwMode="auto">
            <a:xfrm>
              <a:off x="9543103" y="3595296"/>
              <a:ext cx="367327" cy="500867"/>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0" name="Rectangle: Single Corner Rounded 19">
              <a:extLst>
                <a:ext uri="{FF2B5EF4-FFF2-40B4-BE49-F238E27FC236}">
                  <a16:creationId xmlns:a16="http://schemas.microsoft.com/office/drawing/2014/main" id="{49958455-063A-6340-8CDE-5A9E3557EF6B}"/>
                </a:ext>
                <a:ext uri="{C183D7F6-B498-43B3-948B-1728B52AA6E4}">
                  <adec:decorative xmlns:adec="http://schemas.microsoft.com/office/drawing/2017/decorative" val="1"/>
                </a:ext>
              </a:extLst>
            </p:cNvPr>
            <p:cNvSpPr>
              <a:spLocks/>
            </p:cNvSpPr>
            <p:nvPr/>
          </p:nvSpPr>
          <p:spPr bwMode="auto">
            <a:xfrm flipH="1">
              <a:off x="1029419" y="2528951"/>
              <a:ext cx="3037885" cy="637118"/>
            </a:xfrm>
            <a:prstGeom prst="round1Rect">
              <a:avLst>
                <a:gd name="adj" fmla="val 2134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 name="Rectangle: Single Corner Rounded 20">
              <a:extLst>
                <a:ext uri="{FF2B5EF4-FFF2-40B4-BE49-F238E27FC236}">
                  <a16:creationId xmlns:a16="http://schemas.microsoft.com/office/drawing/2014/main" id="{A0AA8A23-EC7A-700C-5488-E01645C5E408}"/>
                </a:ext>
                <a:ext uri="{C183D7F6-B498-43B3-948B-1728B52AA6E4}">
                  <adec:decorative xmlns:adec="http://schemas.microsoft.com/office/drawing/2017/decorative" val="1"/>
                </a:ext>
              </a:extLst>
            </p:cNvPr>
            <p:cNvSpPr>
              <a:spLocks/>
            </p:cNvSpPr>
            <p:nvPr/>
          </p:nvSpPr>
          <p:spPr bwMode="auto">
            <a:xfrm flipH="1">
              <a:off x="4601144" y="2532383"/>
              <a:ext cx="3037885" cy="640821"/>
            </a:xfrm>
            <a:prstGeom prst="round1Rect">
              <a:avLst>
                <a:gd name="adj" fmla="val 2134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 name="Rectangle: Single Corner Rounded 22">
              <a:extLst>
                <a:ext uri="{FF2B5EF4-FFF2-40B4-BE49-F238E27FC236}">
                  <a16:creationId xmlns:a16="http://schemas.microsoft.com/office/drawing/2014/main" id="{8D24DCCB-DD3C-43A5-2089-390BE3F15C47}"/>
                </a:ext>
                <a:ext uri="{C183D7F6-B498-43B3-948B-1728B52AA6E4}">
                  <adec:decorative xmlns:adec="http://schemas.microsoft.com/office/drawing/2017/decorative" val="1"/>
                </a:ext>
              </a:extLst>
            </p:cNvPr>
            <p:cNvSpPr>
              <a:spLocks/>
            </p:cNvSpPr>
            <p:nvPr/>
          </p:nvSpPr>
          <p:spPr bwMode="auto">
            <a:xfrm flipH="1">
              <a:off x="8172871" y="2527477"/>
              <a:ext cx="3036636" cy="640429"/>
            </a:xfrm>
            <a:prstGeom prst="round1Rect">
              <a:avLst>
                <a:gd name="adj" fmla="val 2134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A4390E83-EC9F-5B65-C354-7EED839BA980}"/>
                </a:ext>
              </a:extLst>
            </p:cNvPr>
            <p:cNvSpPr txBox="1"/>
            <p:nvPr/>
          </p:nvSpPr>
          <p:spPr>
            <a:xfrm>
              <a:off x="1198390" y="2581228"/>
              <a:ext cx="2620088" cy="492443"/>
            </a:xfrm>
            <a:prstGeom prst="rect">
              <a:avLst/>
            </a:prstGeom>
            <a:noFill/>
          </p:spPr>
          <p:txBody>
            <a:bodyPr wrap="square" lIns="0" tIns="0" rIns="0" bIns="0" anchor="ctr">
              <a:spAutoFit/>
            </a:bodyPr>
            <a:lstStyle/>
            <a:p>
              <a:pPr lvl="0" algn="ctr">
                <a:spcBef>
                  <a:spcPts val="400"/>
                </a:spcBef>
                <a:spcAft>
                  <a:spcPts val="1200"/>
                </a:spcAft>
                <a:defRPr/>
              </a:pPr>
              <a:r>
                <a:rPr lang="en-US" sz="1600">
                  <a:solidFill>
                    <a:srgbClr val="FFFFFF"/>
                  </a:solidFill>
                  <a:latin typeface="Segoe UI Semibold"/>
                </a:rPr>
                <a:t>Discover, understand and access data for AI</a:t>
              </a:r>
            </a:p>
          </p:txBody>
        </p:sp>
        <p:sp>
          <p:nvSpPr>
            <p:cNvPr id="30" name="Oval 29">
              <a:extLst>
                <a:ext uri="{FF2B5EF4-FFF2-40B4-BE49-F238E27FC236}">
                  <a16:creationId xmlns:a16="http://schemas.microsoft.com/office/drawing/2014/main" id="{8A190E99-D97F-D2A8-D97C-22A3D0772A2E}"/>
                </a:ext>
              </a:extLst>
            </p:cNvPr>
            <p:cNvSpPr/>
            <p:nvPr/>
          </p:nvSpPr>
          <p:spPr bwMode="auto">
            <a:xfrm>
              <a:off x="2028825" y="3554638"/>
              <a:ext cx="823045" cy="823045"/>
            </a:xfrm>
            <a:prstGeom prst="ellipse">
              <a:avLst/>
            </a:prstGeom>
            <a:solidFill>
              <a:schemeClr val="accent1"/>
            </a:solidFill>
            <a:ln w="15875">
              <a:noFill/>
            </a:ln>
            <a:effectLst>
              <a:outerShdw blurRad="190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9" name="Data &amp; AI" title="Icon of several circles connected to eachother by lines">
              <a:extLst>
                <a:ext uri="{FF2B5EF4-FFF2-40B4-BE49-F238E27FC236}">
                  <a16:creationId xmlns:a16="http://schemas.microsoft.com/office/drawing/2014/main" id="{18878DEC-6180-C58B-71BD-680E917537CD}"/>
                </a:ext>
              </a:extLst>
            </p:cNvPr>
            <p:cNvSpPr>
              <a:spLocks noChangeAspect="1" noEditPoints="1"/>
            </p:cNvSpPr>
            <p:nvPr/>
          </p:nvSpPr>
          <p:spPr bwMode="auto">
            <a:xfrm>
              <a:off x="2177813" y="3777663"/>
              <a:ext cx="516483" cy="412983"/>
            </a:xfrm>
            <a:custGeom>
              <a:avLst/>
              <a:gdLst>
                <a:gd name="T0" fmla="*/ 465 w 706"/>
                <a:gd name="T1" fmla="*/ 76 h 564"/>
                <a:gd name="T2" fmla="*/ 465 w 706"/>
                <a:gd name="T3" fmla="*/ 0 h 564"/>
                <a:gd name="T4" fmla="*/ 668 w 706"/>
                <a:gd name="T5" fmla="*/ 138 h 564"/>
                <a:gd name="T6" fmla="*/ 668 w 706"/>
                <a:gd name="T7" fmla="*/ 214 h 564"/>
                <a:gd name="T8" fmla="*/ 668 w 706"/>
                <a:gd name="T9" fmla="*/ 138 h 564"/>
                <a:gd name="T10" fmla="*/ 454 w 706"/>
                <a:gd name="T11" fmla="*/ 314 h 564"/>
                <a:gd name="T12" fmla="*/ 530 w 706"/>
                <a:gd name="T13" fmla="*/ 314 h 564"/>
                <a:gd name="T14" fmla="*/ 637 w 706"/>
                <a:gd name="T15" fmla="*/ 422 h 564"/>
                <a:gd name="T16" fmla="*/ 637 w 706"/>
                <a:gd name="T17" fmla="*/ 499 h 564"/>
                <a:gd name="T18" fmla="*/ 637 w 706"/>
                <a:gd name="T19" fmla="*/ 422 h 564"/>
                <a:gd name="T20" fmla="*/ 282 w 706"/>
                <a:gd name="T21" fmla="*/ 526 h 564"/>
                <a:gd name="T22" fmla="*/ 358 w 706"/>
                <a:gd name="T23" fmla="*/ 526 h 564"/>
                <a:gd name="T24" fmla="*/ 38 w 706"/>
                <a:gd name="T25" fmla="*/ 338 h 564"/>
                <a:gd name="T26" fmla="*/ 38 w 706"/>
                <a:gd name="T27" fmla="*/ 415 h 564"/>
                <a:gd name="T28" fmla="*/ 38 w 706"/>
                <a:gd name="T29" fmla="*/ 338 h 564"/>
                <a:gd name="T30" fmla="*/ 258 w 706"/>
                <a:gd name="T31" fmla="*/ 205 h 564"/>
                <a:gd name="T32" fmla="*/ 334 w 706"/>
                <a:gd name="T33" fmla="*/ 205 h 564"/>
                <a:gd name="T34" fmla="*/ 120 w 706"/>
                <a:gd name="T35" fmla="*/ 75 h 564"/>
                <a:gd name="T36" fmla="*/ 120 w 706"/>
                <a:gd name="T37" fmla="*/ 152 h 564"/>
                <a:gd name="T38" fmla="*/ 120 w 706"/>
                <a:gd name="T39" fmla="*/ 75 h 564"/>
                <a:gd name="T40" fmla="*/ 258 w 706"/>
                <a:gd name="T41" fmla="*/ 188 h 564"/>
                <a:gd name="T42" fmla="*/ 460 w 706"/>
                <a:gd name="T43" fmla="*/ 294 h 564"/>
                <a:gd name="T44" fmla="*/ 76 w 706"/>
                <a:gd name="T45" fmla="*/ 376 h 564"/>
                <a:gd name="T46" fmla="*/ 288 w 706"/>
                <a:gd name="T47" fmla="*/ 505 h 564"/>
                <a:gd name="T48" fmla="*/ 603 w 706"/>
                <a:gd name="T49" fmla="*/ 479 h 564"/>
                <a:gd name="T50" fmla="*/ 159 w 706"/>
                <a:gd name="T51" fmla="*/ 104 h 564"/>
                <a:gd name="T52" fmla="*/ 637 w 706"/>
                <a:gd name="T53" fmla="*/ 151 h 564"/>
                <a:gd name="T54" fmla="*/ 523 w 706"/>
                <a:gd name="T55" fmla="*/ 291 h 564"/>
                <a:gd name="T56" fmla="*/ 465 w 706"/>
                <a:gd name="T57" fmla="*/ 347 h 564"/>
                <a:gd name="T58" fmla="*/ 334 w 706"/>
                <a:gd name="T59" fmla="*/ 490 h 564"/>
                <a:gd name="T60" fmla="*/ 320 w 706"/>
                <a:gd name="T61" fmla="*/ 488 h 564"/>
                <a:gd name="T62" fmla="*/ 134 w 706"/>
                <a:gd name="T63" fmla="*/ 149 h 564"/>
                <a:gd name="T64" fmla="*/ 438 w 706"/>
                <a:gd name="T65" fmla="*/ 65 h 564"/>
                <a:gd name="T66" fmla="*/ 624 w 706"/>
                <a:gd name="T67" fmla="*/ 425 h 564"/>
                <a:gd name="T68" fmla="*/ 603 w 706"/>
                <a:gd name="T69" fmla="*/ 434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6" h="564">
                  <a:moveTo>
                    <a:pt x="503" y="38"/>
                  </a:moveTo>
                  <a:cubicBezTo>
                    <a:pt x="503" y="59"/>
                    <a:pt x="486" y="76"/>
                    <a:pt x="465" y="76"/>
                  </a:cubicBezTo>
                  <a:cubicBezTo>
                    <a:pt x="444" y="76"/>
                    <a:pt x="427" y="59"/>
                    <a:pt x="427" y="38"/>
                  </a:cubicBezTo>
                  <a:cubicBezTo>
                    <a:pt x="427" y="17"/>
                    <a:pt x="444" y="0"/>
                    <a:pt x="465" y="0"/>
                  </a:cubicBezTo>
                  <a:cubicBezTo>
                    <a:pt x="486" y="0"/>
                    <a:pt x="503" y="17"/>
                    <a:pt x="503" y="38"/>
                  </a:cubicBezTo>
                  <a:close/>
                  <a:moveTo>
                    <a:pt x="668" y="138"/>
                  </a:moveTo>
                  <a:cubicBezTo>
                    <a:pt x="647" y="138"/>
                    <a:pt x="630" y="155"/>
                    <a:pt x="630" y="176"/>
                  </a:cubicBezTo>
                  <a:cubicBezTo>
                    <a:pt x="630" y="197"/>
                    <a:pt x="647" y="214"/>
                    <a:pt x="668" y="214"/>
                  </a:cubicBezTo>
                  <a:cubicBezTo>
                    <a:pt x="689" y="214"/>
                    <a:pt x="706" y="197"/>
                    <a:pt x="706" y="176"/>
                  </a:cubicBezTo>
                  <a:cubicBezTo>
                    <a:pt x="706" y="155"/>
                    <a:pt x="689" y="138"/>
                    <a:pt x="668" y="138"/>
                  </a:cubicBezTo>
                  <a:close/>
                  <a:moveTo>
                    <a:pt x="492" y="276"/>
                  </a:moveTo>
                  <a:cubicBezTo>
                    <a:pt x="471" y="276"/>
                    <a:pt x="454" y="293"/>
                    <a:pt x="454" y="314"/>
                  </a:cubicBezTo>
                  <a:cubicBezTo>
                    <a:pt x="454" y="335"/>
                    <a:pt x="471" y="352"/>
                    <a:pt x="492" y="352"/>
                  </a:cubicBezTo>
                  <a:cubicBezTo>
                    <a:pt x="513" y="352"/>
                    <a:pt x="530" y="335"/>
                    <a:pt x="530" y="314"/>
                  </a:cubicBezTo>
                  <a:cubicBezTo>
                    <a:pt x="530" y="293"/>
                    <a:pt x="513" y="276"/>
                    <a:pt x="492" y="276"/>
                  </a:cubicBezTo>
                  <a:close/>
                  <a:moveTo>
                    <a:pt x="637" y="422"/>
                  </a:moveTo>
                  <a:cubicBezTo>
                    <a:pt x="616" y="422"/>
                    <a:pt x="599" y="440"/>
                    <a:pt x="599" y="461"/>
                  </a:cubicBezTo>
                  <a:cubicBezTo>
                    <a:pt x="599" y="482"/>
                    <a:pt x="616" y="499"/>
                    <a:pt x="637" y="499"/>
                  </a:cubicBezTo>
                  <a:cubicBezTo>
                    <a:pt x="658" y="499"/>
                    <a:pt x="675" y="482"/>
                    <a:pt x="675" y="461"/>
                  </a:cubicBezTo>
                  <a:cubicBezTo>
                    <a:pt x="675" y="440"/>
                    <a:pt x="658" y="422"/>
                    <a:pt x="637" y="422"/>
                  </a:cubicBezTo>
                  <a:close/>
                  <a:moveTo>
                    <a:pt x="320" y="488"/>
                  </a:moveTo>
                  <a:cubicBezTo>
                    <a:pt x="299" y="488"/>
                    <a:pt x="282" y="505"/>
                    <a:pt x="282" y="526"/>
                  </a:cubicBezTo>
                  <a:cubicBezTo>
                    <a:pt x="282" y="547"/>
                    <a:pt x="299" y="564"/>
                    <a:pt x="320" y="564"/>
                  </a:cubicBezTo>
                  <a:cubicBezTo>
                    <a:pt x="341" y="564"/>
                    <a:pt x="358" y="547"/>
                    <a:pt x="358" y="526"/>
                  </a:cubicBezTo>
                  <a:cubicBezTo>
                    <a:pt x="358" y="505"/>
                    <a:pt x="341" y="488"/>
                    <a:pt x="320" y="488"/>
                  </a:cubicBezTo>
                  <a:close/>
                  <a:moveTo>
                    <a:pt x="38" y="338"/>
                  </a:moveTo>
                  <a:cubicBezTo>
                    <a:pt x="17" y="338"/>
                    <a:pt x="0" y="355"/>
                    <a:pt x="0" y="376"/>
                  </a:cubicBezTo>
                  <a:cubicBezTo>
                    <a:pt x="0" y="398"/>
                    <a:pt x="17" y="415"/>
                    <a:pt x="38" y="415"/>
                  </a:cubicBezTo>
                  <a:cubicBezTo>
                    <a:pt x="59" y="415"/>
                    <a:pt x="76" y="398"/>
                    <a:pt x="76" y="376"/>
                  </a:cubicBezTo>
                  <a:cubicBezTo>
                    <a:pt x="76" y="355"/>
                    <a:pt x="59" y="338"/>
                    <a:pt x="38" y="338"/>
                  </a:cubicBezTo>
                  <a:close/>
                  <a:moveTo>
                    <a:pt x="296" y="167"/>
                  </a:moveTo>
                  <a:cubicBezTo>
                    <a:pt x="275" y="167"/>
                    <a:pt x="258" y="184"/>
                    <a:pt x="258" y="205"/>
                  </a:cubicBezTo>
                  <a:cubicBezTo>
                    <a:pt x="258" y="226"/>
                    <a:pt x="275" y="243"/>
                    <a:pt x="296" y="243"/>
                  </a:cubicBezTo>
                  <a:cubicBezTo>
                    <a:pt x="317" y="243"/>
                    <a:pt x="334" y="226"/>
                    <a:pt x="334" y="205"/>
                  </a:cubicBezTo>
                  <a:cubicBezTo>
                    <a:pt x="334" y="184"/>
                    <a:pt x="317" y="167"/>
                    <a:pt x="296" y="167"/>
                  </a:cubicBezTo>
                  <a:close/>
                  <a:moveTo>
                    <a:pt x="120" y="75"/>
                  </a:moveTo>
                  <a:cubicBezTo>
                    <a:pt x="99" y="75"/>
                    <a:pt x="82" y="93"/>
                    <a:pt x="82" y="114"/>
                  </a:cubicBezTo>
                  <a:cubicBezTo>
                    <a:pt x="82" y="135"/>
                    <a:pt x="99" y="152"/>
                    <a:pt x="120" y="152"/>
                  </a:cubicBezTo>
                  <a:cubicBezTo>
                    <a:pt x="142" y="152"/>
                    <a:pt x="159" y="135"/>
                    <a:pt x="159" y="114"/>
                  </a:cubicBezTo>
                  <a:cubicBezTo>
                    <a:pt x="159" y="93"/>
                    <a:pt x="142" y="75"/>
                    <a:pt x="120" y="75"/>
                  </a:cubicBezTo>
                  <a:close/>
                  <a:moveTo>
                    <a:pt x="153" y="133"/>
                  </a:moveTo>
                  <a:cubicBezTo>
                    <a:pt x="258" y="188"/>
                    <a:pt x="258" y="188"/>
                    <a:pt x="258" y="188"/>
                  </a:cubicBezTo>
                  <a:moveTo>
                    <a:pt x="328" y="225"/>
                  </a:moveTo>
                  <a:cubicBezTo>
                    <a:pt x="460" y="294"/>
                    <a:pt x="460" y="294"/>
                    <a:pt x="460" y="294"/>
                  </a:cubicBezTo>
                  <a:moveTo>
                    <a:pt x="454" y="314"/>
                  </a:moveTo>
                  <a:cubicBezTo>
                    <a:pt x="76" y="376"/>
                    <a:pt x="76" y="376"/>
                    <a:pt x="76" y="376"/>
                  </a:cubicBezTo>
                  <a:moveTo>
                    <a:pt x="71" y="395"/>
                  </a:moveTo>
                  <a:cubicBezTo>
                    <a:pt x="288" y="505"/>
                    <a:pt x="288" y="505"/>
                    <a:pt x="288" y="505"/>
                  </a:cubicBezTo>
                  <a:moveTo>
                    <a:pt x="358" y="526"/>
                  </a:moveTo>
                  <a:cubicBezTo>
                    <a:pt x="603" y="479"/>
                    <a:pt x="603" y="479"/>
                    <a:pt x="603" y="479"/>
                  </a:cubicBezTo>
                  <a:moveTo>
                    <a:pt x="427" y="38"/>
                  </a:moveTo>
                  <a:cubicBezTo>
                    <a:pt x="159" y="104"/>
                    <a:pt x="159" y="104"/>
                    <a:pt x="159" y="104"/>
                  </a:cubicBezTo>
                  <a:moveTo>
                    <a:pt x="497" y="59"/>
                  </a:moveTo>
                  <a:cubicBezTo>
                    <a:pt x="637" y="151"/>
                    <a:pt x="637" y="151"/>
                    <a:pt x="637" y="151"/>
                  </a:cubicBezTo>
                  <a:moveTo>
                    <a:pt x="637" y="198"/>
                  </a:moveTo>
                  <a:cubicBezTo>
                    <a:pt x="523" y="291"/>
                    <a:pt x="523" y="291"/>
                    <a:pt x="523" y="291"/>
                  </a:cubicBezTo>
                  <a:moveTo>
                    <a:pt x="346" y="497"/>
                  </a:moveTo>
                  <a:cubicBezTo>
                    <a:pt x="465" y="347"/>
                    <a:pt x="465" y="347"/>
                    <a:pt x="465" y="347"/>
                  </a:cubicBezTo>
                  <a:moveTo>
                    <a:pt x="447" y="76"/>
                  </a:moveTo>
                  <a:cubicBezTo>
                    <a:pt x="334" y="490"/>
                    <a:pt x="334" y="490"/>
                    <a:pt x="334" y="490"/>
                  </a:cubicBezTo>
                  <a:moveTo>
                    <a:pt x="296" y="243"/>
                  </a:moveTo>
                  <a:cubicBezTo>
                    <a:pt x="320" y="488"/>
                    <a:pt x="320" y="488"/>
                    <a:pt x="320" y="488"/>
                  </a:cubicBezTo>
                  <a:moveTo>
                    <a:pt x="305" y="488"/>
                  </a:moveTo>
                  <a:cubicBezTo>
                    <a:pt x="134" y="149"/>
                    <a:pt x="134" y="149"/>
                    <a:pt x="134" y="149"/>
                  </a:cubicBezTo>
                  <a:moveTo>
                    <a:pt x="323" y="179"/>
                  </a:moveTo>
                  <a:cubicBezTo>
                    <a:pt x="438" y="65"/>
                    <a:pt x="438" y="65"/>
                    <a:pt x="438" y="65"/>
                  </a:cubicBezTo>
                  <a:moveTo>
                    <a:pt x="481" y="76"/>
                  </a:moveTo>
                  <a:cubicBezTo>
                    <a:pt x="624" y="425"/>
                    <a:pt x="624" y="425"/>
                    <a:pt x="624" y="425"/>
                  </a:cubicBezTo>
                  <a:moveTo>
                    <a:pt x="514" y="347"/>
                  </a:moveTo>
                  <a:cubicBezTo>
                    <a:pt x="603" y="434"/>
                    <a:pt x="603" y="434"/>
                    <a:pt x="603" y="434"/>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Sans Text" panose="020F0502020204030204"/>
                <a:ea typeface="+mn-ea"/>
                <a:cs typeface="+mn-cs"/>
              </a:endParaRPr>
            </a:p>
          </p:txBody>
        </p:sp>
        <p:sp>
          <p:nvSpPr>
            <p:cNvPr id="32" name="TextBox 31">
              <a:extLst>
                <a:ext uri="{FF2B5EF4-FFF2-40B4-BE49-F238E27FC236}">
                  <a16:creationId xmlns:a16="http://schemas.microsoft.com/office/drawing/2014/main" id="{77AA15A4-EB24-7EAE-EE95-18549A415B2F}"/>
                </a:ext>
              </a:extLst>
            </p:cNvPr>
            <p:cNvSpPr txBox="1"/>
            <p:nvPr/>
          </p:nvSpPr>
          <p:spPr>
            <a:xfrm>
              <a:off x="5221067" y="2604855"/>
              <a:ext cx="1660274" cy="492443"/>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Ensure data quality for AI </a:t>
              </a:r>
            </a:p>
          </p:txBody>
        </p:sp>
        <p:sp>
          <p:nvSpPr>
            <p:cNvPr id="38" name="TextBox 37">
              <a:extLst>
                <a:ext uri="{FF2B5EF4-FFF2-40B4-BE49-F238E27FC236}">
                  <a16:creationId xmlns:a16="http://schemas.microsoft.com/office/drawing/2014/main" id="{808999D4-445A-D25A-2166-8DC3E148998B}"/>
                </a:ext>
              </a:extLst>
            </p:cNvPr>
            <p:cNvSpPr txBox="1"/>
            <p:nvPr/>
          </p:nvSpPr>
          <p:spPr>
            <a:xfrm>
              <a:off x="8725620" y="2718145"/>
              <a:ext cx="2003343"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Manage data for AI </a:t>
              </a:r>
            </a:p>
          </p:txBody>
        </p:sp>
        <p:sp>
          <p:nvSpPr>
            <p:cNvPr id="40" name="Trackers_EADF" title="Icon of a clipboard with a checklist on it">
              <a:extLst>
                <a:ext uri="{FF2B5EF4-FFF2-40B4-BE49-F238E27FC236}">
                  <a16:creationId xmlns:a16="http://schemas.microsoft.com/office/drawing/2014/main" id="{A6AA6254-3BA3-BA89-BA34-A42BB1B1C8B1}"/>
                </a:ext>
              </a:extLst>
            </p:cNvPr>
            <p:cNvSpPr>
              <a:spLocks noChangeAspect="1" noEditPoints="1"/>
            </p:cNvSpPr>
            <p:nvPr/>
          </p:nvSpPr>
          <p:spPr bwMode="auto">
            <a:xfrm>
              <a:off x="9543103" y="3632962"/>
              <a:ext cx="238242" cy="324854"/>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grpSp>
      <p:sp>
        <p:nvSpPr>
          <p:cNvPr id="19" name="Trackers_EADF" title="Icon of a clipboard with a checklist on it">
            <a:extLst>
              <a:ext uri="{FF2B5EF4-FFF2-40B4-BE49-F238E27FC236}">
                <a16:creationId xmlns:a16="http://schemas.microsoft.com/office/drawing/2014/main" id="{E2449DBA-3CD3-528E-3D5F-81686611BEDE}"/>
              </a:ext>
            </a:extLst>
          </p:cNvPr>
          <p:cNvSpPr>
            <a:spLocks noChangeAspect="1" noEditPoints="1"/>
          </p:cNvSpPr>
          <p:nvPr/>
        </p:nvSpPr>
        <p:spPr bwMode="auto">
          <a:xfrm>
            <a:off x="9367546" y="3120884"/>
            <a:ext cx="367327" cy="500867"/>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7" name="Teamwork_EA12" title="Icon of three people with an award or ribbon to the lower right">
            <a:extLst>
              <a:ext uri="{FF2B5EF4-FFF2-40B4-BE49-F238E27FC236}">
                <a16:creationId xmlns:a16="http://schemas.microsoft.com/office/drawing/2014/main" id="{C51B7065-28D5-46FC-7D0C-9F80BBF0C022}"/>
              </a:ext>
            </a:extLst>
          </p:cNvPr>
          <p:cNvSpPr>
            <a:spLocks noChangeAspect="1" noEditPoints="1"/>
          </p:cNvSpPr>
          <p:nvPr/>
        </p:nvSpPr>
        <p:spPr bwMode="auto">
          <a:xfrm>
            <a:off x="5720625" y="3210082"/>
            <a:ext cx="472775" cy="457200"/>
          </a:xfrm>
          <a:custGeom>
            <a:avLst/>
            <a:gdLst>
              <a:gd name="T0" fmla="*/ 3621 w 3746"/>
              <a:gd name="T1" fmla="*/ 2622 h 3621"/>
              <a:gd name="T2" fmla="*/ 3122 w 3746"/>
              <a:gd name="T3" fmla="*/ 3122 h 3621"/>
              <a:gd name="T4" fmla="*/ 2622 w 3746"/>
              <a:gd name="T5" fmla="*/ 2622 h 3621"/>
              <a:gd name="T6" fmla="*/ 3122 w 3746"/>
              <a:gd name="T7" fmla="*/ 2123 h 3621"/>
              <a:gd name="T8" fmla="*/ 3621 w 3746"/>
              <a:gd name="T9" fmla="*/ 2622 h 3621"/>
              <a:gd name="T10" fmla="*/ 2747 w 3746"/>
              <a:gd name="T11" fmla="*/ 2997 h 3621"/>
              <a:gd name="T12" fmla="*/ 2747 w 3746"/>
              <a:gd name="T13" fmla="*/ 3621 h 3621"/>
              <a:gd name="T14" fmla="*/ 3122 w 3746"/>
              <a:gd name="T15" fmla="*/ 3434 h 3621"/>
              <a:gd name="T16" fmla="*/ 3496 w 3746"/>
              <a:gd name="T17" fmla="*/ 3621 h 3621"/>
              <a:gd name="T18" fmla="*/ 3496 w 3746"/>
              <a:gd name="T19" fmla="*/ 2997 h 3621"/>
              <a:gd name="T20" fmla="*/ 1873 w 3746"/>
              <a:gd name="T21" fmla="*/ 749 h 3621"/>
              <a:gd name="T22" fmla="*/ 1249 w 3746"/>
              <a:gd name="T23" fmla="*/ 1374 h 3621"/>
              <a:gd name="T24" fmla="*/ 1873 w 3746"/>
              <a:gd name="T25" fmla="*/ 1998 h 3621"/>
              <a:gd name="T26" fmla="*/ 2497 w 3746"/>
              <a:gd name="T27" fmla="*/ 1374 h 3621"/>
              <a:gd name="T28" fmla="*/ 1873 w 3746"/>
              <a:gd name="T29" fmla="*/ 749 h 3621"/>
              <a:gd name="T30" fmla="*/ 1873 w 3746"/>
              <a:gd name="T31" fmla="*/ 1998 h 3621"/>
              <a:gd name="T32" fmla="*/ 999 w 3746"/>
              <a:gd name="T33" fmla="*/ 2872 h 3621"/>
              <a:gd name="T34" fmla="*/ 624 w 3746"/>
              <a:gd name="T35" fmla="*/ 0 h 3621"/>
              <a:gd name="T36" fmla="*/ 250 w 3746"/>
              <a:gd name="T37" fmla="*/ 375 h 3621"/>
              <a:gd name="T38" fmla="*/ 624 w 3746"/>
              <a:gd name="T39" fmla="*/ 749 h 3621"/>
              <a:gd name="T40" fmla="*/ 999 w 3746"/>
              <a:gd name="T41" fmla="*/ 375 h 3621"/>
              <a:gd name="T42" fmla="*/ 624 w 3746"/>
              <a:gd name="T43" fmla="*/ 0 h 3621"/>
              <a:gd name="T44" fmla="*/ 1249 w 3746"/>
              <a:gd name="T45" fmla="*/ 1374 h 3621"/>
              <a:gd name="T46" fmla="*/ 624 w 3746"/>
              <a:gd name="T47" fmla="*/ 749 h 3621"/>
              <a:gd name="T48" fmla="*/ 0 w 3746"/>
              <a:gd name="T49" fmla="*/ 1374 h 3621"/>
              <a:gd name="T50" fmla="*/ 3122 w 3746"/>
              <a:gd name="T51" fmla="*/ 0 h 3621"/>
              <a:gd name="T52" fmla="*/ 2747 w 3746"/>
              <a:gd name="T53" fmla="*/ 375 h 3621"/>
              <a:gd name="T54" fmla="*/ 3122 w 3746"/>
              <a:gd name="T55" fmla="*/ 749 h 3621"/>
              <a:gd name="T56" fmla="*/ 3496 w 3746"/>
              <a:gd name="T57" fmla="*/ 375 h 3621"/>
              <a:gd name="T58" fmla="*/ 3122 w 3746"/>
              <a:gd name="T59" fmla="*/ 0 h 3621"/>
              <a:gd name="T60" fmla="*/ 3746 w 3746"/>
              <a:gd name="T61" fmla="*/ 1374 h 3621"/>
              <a:gd name="T62" fmla="*/ 3122 w 3746"/>
              <a:gd name="T63" fmla="*/ 749 h 3621"/>
              <a:gd name="T64" fmla="*/ 2497 w 3746"/>
              <a:gd name="T65" fmla="*/ 1374 h 3621"/>
              <a:gd name="T66" fmla="*/ 2381 w 3746"/>
              <a:gd name="T67" fmla="*/ 2163 h 3621"/>
              <a:gd name="T68" fmla="*/ 1873 w 3746"/>
              <a:gd name="T69" fmla="*/ 1998 h 3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46" h="3621">
                <a:moveTo>
                  <a:pt x="3621" y="2622"/>
                </a:moveTo>
                <a:cubicBezTo>
                  <a:pt x="3621" y="2898"/>
                  <a:pt x="3398" y="3122"/>
                  <a:pt x="3122" y="3122"/>
                </a:cubicBezTo>
                <a:cubicBezTo>
                  <a:pt x="2846" y="3122"/>
                  <a:pt x="2622" y="2898"/>
                  <a:pt x="2622" y="2622"/>
                </a:cubicBezTo>
                <a:cubicBezTo>
                  <a:pt x="2622" y="2346"/>
                  <a:pt x="2846" y="2123"/>
                  <a:pt x="3122" y="2123"/>
                </a:cubicBezTo>
                <a:cubicBezTo>
                  <a:pt x="3398" y="2123"/>
                  <a:pt x="3621" y="2346"/>
                  <a:pt x="3621" y="2622"/>
                </a:cubicBezTo>
                <a:close/>
                <a:moveTo>
                  <a:pt x="2747" y="2997"/>
                </a:moveTo>
                <a:cubicBezTo>
                  <a:pt x="2747" y="3621"/>
                  <a:pt x="2747" y="3621"/>
                  <a:pt x="2747" y="3621"/>
                </a:cubicBezTo>
                <a:cubicBezTo>
                  <a:pt x="3122" y="3434"/>
                  <a:pt x="3122" y="3434"/>
                  <a:pt x="3122" y="3434"/>
                </a:cubicBezTo>
                <a:cubicBezTo>
                  <a:pt x="3496" y="3621"/>
                  <a:pt x="3496" y="3621"/>
                  <a:pt x="3496" y="3621"/>
                </a:cubicBezTo>
                <a:cubicBezTo>
                  <a:pt x="3496" y="2997"/>
                  <a:pt x="3496" y="2997"/>
                  <a:pt x="3496" y="2997"/>
                </a:cubicBezTo>
                <a:moveTo>
                  <a:pt x="1873" y="749"/>
                </a:moveTo>
                <a:cubicBezTo>
                  <a:pt x="1528" y="749"/>
                  <a:pt x="1249" y="1029"/>
                  <a:pt x="1249" y="1374"/>
                </a:cubicBezTo>
                <a:cubicBezTo>
                  <a:pt x="1249" y="1718"/>
                  <a:pt x="1528" y="1998"/>
                  <a:pt x="1873" y="1998"/>
                </a:cubicBezTo>
                <a:cubicBezTo>
                  <a:pt x="2218" y="1998"/>
                  <a:pt x="2497" y="1718"/>
                  <a:pt x="2497" y="1374"/>
                </a:cubicBezTo>
                <a:cubicBezTo>
                  <a:pt x="2497" y="1029"/>
                  <a:pt x="2218" y="749"/>
                  <a:pt x="1873" y="749"/>
                </a:cubicBezTo>
                <a:close/>
                <a:moveTo>
                  <a:pt x="1873" y="1998"/>
                </a:moveTo>
                <a:cubicBezTo>
                  <a:pt x="1390" y="1998"/>
                  <a:pt x="999" y="2389"/>
                  <a:pt x="999" y="2872"/>
                </a:cubicBezTo>
                <a:moveTo>
                  <a:pt x="624" y="0"/>
                </a:moveTo>
                <a:cubicBezTo>
                  <a:pt x="417" y="0"/>
                  <a:pt x="250" y="168"/>
                  <a:pt x="250" y="375"/>
                </a:cubicBezTo>
                <a:cubicBezTo>
                  <a:pt x="250" y="581"/>
                  <a:pt x="417" y="749"/>
                  <a:pt x="624" y="749"/>
                </a:cubicBezTo>
                <a:cubicBezTo>
                  <a:pt x="831" y="749"/>
                  <a:pt x="999" y="581"/>
                  <a:pt x="999" y="375"/>
                </a:cubicBezTo>
                <a:cubicBezTo>
                  <a:pt x="999" y="168"/>
                  <a:pt x="831" y="0"/>
                  <a:pt x="624" y="0"/>
                </a:cubicBezTo>
                <a:close/>
                <a:moveTo>
                  <a:pt x="1249" y="1374"/>
                </a:moveTo>
                <a:cubicBezTo>
                  <a:pt x="1249" y="1029"/>
                  <a:pt x="969" y="749"/>
                  <a:pt x="624" y="749"/>
                </a:cubicBezTo>
                <a:cubicBezTo>
                  <a:pt x="279" y="749"/>
                  <a:pt x="0" y="1029"/>
                  <a:pt x="0" y="1374"/>
                </a:cubicBezTo>
                <a:moveTo>
                  <a:pt x="3122" y="0"/>
                </a:moveTo>
                <a:cubicBezTo>
                  <a:pt x="2915" y="0"/>
                  <a:pt x="2747" y="168"/>
                  <a:pt x="2747" y="375"/>
                </a:cubicBezTo>
                <a:cubicBezTo>
                  <a:pt x="2747" y="581"/>
                  <a:pt x="2915" y="749"/>
                  <a:pt x="3122" y="749"/>
                </a:cubicBezTo>
                <a:cubicBezTo>
                  <a:pt x="3329" y="749"/>
                  <a:pt x="3496" y="581"/>
                  <a:pt x="3496" y="375"/>
                </a:cubicBezTo>
                <a:cubicBezTo>
                  <a:pt x="3496" y="168"/>
                  <a:pt x="3329" y="0"/>
                  <a:pt x="3122" y="0"/>
                </a:cubicBezTo>
                <a:close/>
                <a:moveTo>
                  <a:pt x="3746" y="1374"/>
                </a:moveTo>
                <a:cubicBezTo>
                  <a:pt x="3746" y="1029"/>
                  <a:pt x="3467" y="749"/>
                  <a:pt x="3122" y="749"/>
                </a:cubicBezTo>
                <a:cubicBezTo>
                  <a:pt x="2777" y="749"/>
                  <a:pt x="2497" y="1029"/>
                  <a:pt x="2497" y="1374"/>
                </a:cubicBezTo>
                <a:moveTo>
                  <a:pt x="2381" y="2163"/>
                </a:moveTo>
                <a:cubicBezTo>
                  <a:pt x="2238" y="2060"/>
                  <a:pt x="2063" y="1998"/>
                  <a:pt x="1873" y="1998"/>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8" name="Oval 27">
            <a:extLst>
              <a:ext uri="{FF2B5EF4-FFF2-40B4-BE49-F238E27FC236}">
                <a16:creationId xmlns:a16="http://schemas.microsoft.com/office/drawing/2014/main" id="{7A31DDD6-2FC4-4E61-7AE0-D075332D114D}"/>
              </a:ext>
            </a:extLst>
          </p:cNvPr>
          <p:cNvSpPr/>
          <p:nvPr/>
        </p:nvSpPr>
        <p:spPr bwMode="auto">
          <a:xfrm>
            <a:off x="5538199" y="3091892"/>
            <a:ext cx="823045" cy="823045"/>
          </a:xfrm>
          <a:prstGeom prst="ellipse">
            <a:avLst/>
          </a:prstGeom>
          <a:solidFill>
            <a:schemeClr val="accent1"/>
          </a:solidFill>
          <a:ln w="15875">
            <a:noFill/>
          </a:ln>
          <a:effectLst>
            <a:outerShdw blurRad="190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44" name="Oval 43">
            <a:extLst>
              <a:ext uri="{FF2B5EF4-FFF2-40B4-BE49-F238E27FC236}">
                <a16:creationId xmlns:a16="http://schemas.microsoft.com/office/drawing/2014/main" id="{DBF1397A-5B3A-C75C-E3D0-3BC4391CB9AC}"/>
              </a:ext>
            </a:extLst>
          </p:cNvPr>
          <p:cNvSpPr/>
          <p:nvPr/>
        </p:nvSpPr>
        <p:spPr bwMode="auto">
          <a:xfrm>
            <a:off x="9193066" y="3016169"/>
            <a:ext cx="823045" cy="823045"/>
          </a:xfrm>
          <a:prstGeom prst="ellipse">
            <a:avLst/>
          </a:prstGeom>
          <a:solidFill>
            <a:schemeClr val="accent1"/>
          </a:solidFill>
          <a:ln w="15875">
            <a:noFill/>
          </a:ln>
          <a:effectLst>
            <a:outerShdw blurRad="190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45" name="Teamwork_EA12" title="Icon of three people with an award or ribbon to the lower right">
            <a:extLst>
              <a:ext uri="{FF2B5EF4-FFF2-40B4-BE49-F238E27FC236}">
                <a16:creationId xmlns:a16="http://schemas.microsoft.com/office/drawing/2014/main" id="{2C95D88C-03CD-0AFA-0C81-F9A37683B88C}"/>
              </a:ext>
            </a:extLst>
          </p:cNvPr>
          <p:cNvSpPr>
            <a:spLocks noChangeAspect="1" noEditPoints="1"/>
          </p:cNvSpPr>
          <p:nvPr/>
        </p:nvSpPr>
        <p:spPr bwMode="auto">
          <a:xfrm>
            <a:off x="5706869" y="3300515"/>
            <a:ext cx="472775" cy="457200"/>
          </a:xfrm>
          <a:custGeom>
            <a:avLst/>
            <a:gdLst>
              <a:gd name="T0" fmla="*/ 3621 w 3746"/>
              <a:gd name="T1" fmla="*/ 2622 h 3621"/>
              <a:gd name="T2" fmla="*/ 3122 w 3746"/>
              <a:gd name="T3" fmla="*/ 3122 h 3621"/>
              <a:gd name="T4" fmla="*/ 2622 w 3746"/>
              <a:gd name="T5" fmla="*/ 2622 h 3621"/>
              <a:gd name="T6" fmla="*/ 3122 w 3746"/>
              <a:gd name="T7" fmla="*/ 2123 h 3621"/>
              <a:gd name="T8" fmla="*/ 3621 w 3746"/>
              <a:gd name="T9" fmla="*/ 2622 h 3621"/>
              <a:gd name="T10" fmla="*/ 2747 w 3746"/>
              <a:gd name="T11" fmla="*/ 2997 h 3621"/>
              <a:gd name="T12" fmla="*/ 2747 w 3746"/>
              <a:gd name="T13" fmla="*/ 3621 h 3621"/>
              <a:gd name="T14" fmla="*/ 3122 w 3746"/>
              <a:gd name="T15" fmla="*/ 3434 h 3621"/>
              <a:gd name="T16" fmla="*/ 3496 w 3746"/>
              <a:gd name="T17" fmla="*/ 3621 h 3621"/>
              <a:gd name="T18" fmla="*/ 3496 w 3746"/>
              <a:gd name="T19" fmla="*/ 2997 h 3621"/>
              <a:gd name="T20" fmla="*/ 1873 w 3746"/>
              <a:gd name="T21" fmla="*/ 749 h 3621"/>
              <a:gd name="T22" fmla="*/ 1249 w 3746"/>
              <a:gd name="T23" fmla="*/ 1374 h 3621"/>
              <a:gd name="T24" fmla="*/ 1873 w 3746"/>
              <a:gd name="T25" fmla="*/ 1998 h 3621"/>
              <a:gd name="T26" fmla="*/ 2497 w 3746"/>
              <a:gd name="T27" fmla="*/ 1374 h 3621"/>
              <a:gd name="T28" fmla="*/ 1873 w 3746"/>
              <a:gd name="T29" fmla="*/ 749 h 3621"/>
              <a:gd name="T30" fmla="*/ 1873 w 3746"/>
              <a:gd name="T31" fmla="*/ 1998 h 3621"/>
              <a:gd name="T32" fmla="*/ 999 w 3746"/>
              <a:gd name="T33" fmla="*/ 2872 h 3621"/>
              <a:gd name="T34" fmla="*/ 624 w 3746"/>
              <a:gd name="T35" fmla="*/ 0 h 3621"/>
              <a:gd name="T36" fmla="*/ 250 w 3746"/>
              <a:gd name="T37" fmla="*/ 375 h 3621"/>
              <a:gd name="T38" fmla="*/ 624 w 3746"/>
              <a:gd name="T39" fmla="*/ 749 h 3621"/>
              <a:gd name="T40" fmla="*/ 999 w 3746"/>
              <a:gd name="T41" fmla="*/ 375 h 3621"/>
              <a:gd name="T42" fmla="*/ 624 w 3746"/>
              <a:gd name="T43" fmla="*/ 0 h 3621"/>
              <a:gd name="T44" fmla="*/ 1249 w 3746"/>
              <a:gd name="T45" fmla="*/ 1374 h 3621"/>
              <a:gd name="T46" fmla="*/ 624 w 3746"/>
              <a:gd name="T47" fmla="*/ 749 h 3621"/>
              <a:gd name="T48" fmla="*/ 0 w 3746"/>
              <a:gd name="T49" fmla="*/ 1374 h 3621"/>
              <a:gd name="T50" fmla="*/ 3122 w 3746"/>
              <a:gd name="T51" fmla="*/ 0 h 3621"/>
              <a:gd name="T52" fmla="*/ 2747 w 3746"/>
              <a:gd name="T53" fmla="*/ 375 h 3621"/>
              <a:gd name="T54" fmla="*/ 3122 w 3746"/>
              <a:gd name="T55" fmla="*/ 749 h 3621"/>
              <a:gd name="T56" fmla="*/ 3496 w 3746"/>
              <a:gd name="T57" fmla="*/ 375 h 3621"/>
              <a:gd name="T58" fmla="*/ 3122 w 3746"/>
              <a:gd name="T59" fmla="*/ 0 h 3621"/>
              <a:gd name="T60" fmla="*/ 3746 w 3746"/>
              <a:gd name="T61" fmla="*/ 1374 h 3621"/>
              <a:gd name="T62" fmla="*/ 3122 w 3746"/>
              <a:gd name="T63" fmla="*/ 749 h 3621"/>
              <a:gd name="T64" fmla="*/ 2497 w 3746"/>
              <a:gd name="T65" fmla="*/ 1374 h 3621"/>
              <a:gd name="T66" fmla="*/ 2381 w 3746"/>
              <a:gd name="T67" fmla="*/ 2163 h 3621"/>
              <a:gd name="T68" fmla="*/ 1873 w 3746"/>
              <a:gd name="T69" fmla="*/ 1998 h 3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46" h="3621">
                <a:moveTo>
                  <a:pt x="3621" y="2622"/>
                </a:moveTo>
                <a:cubicBezTo>
                  <a:pt x="3621" y="2898"/>
                  <a:pt x="3398" y="3122"/>
                  <a:pt x="3122" y="3122"/>
                </a:cubicBezTo>
                <a:cubicBezTo>
                  <a:pt x="2846" y="3122"/>
                  <a:pt x="2622" y="2898"/>
                  <a:pt x="2622" y="2622"/>
                </a:cubicBezTo>
                <a:cubicBezTo>
                  <a:pt x="2622" y="2346"/>
                  <a:pt x="2846" y="2123"/>
                  <a:pt x="3122" y="2123"/>
                </a:cubicBezTo>
                <a:cubicBezTo>
                  <a:pt x="3398" y="2123"/>
                  <a:pt x="3621" y="2346"/>
                  <a:pt x="3621" y="2622"/>
                </a:cubicBezTo>
                <a:close/>
                <a:moveTo>
                  <a:pt x="2747" y="2997"/>
                </a:moveTo>
                <a:cubicBezTo>
                  <a:pt x="2747" y="3621"/>
                  <a:pt x="2747" y="3621"/>
                  <a:pt x="2747" y="3621"/>
                </a:cubicBezTo>
                <a:cubicBezTo>
                  <a:pt x="3122" y="3434"/>
                  <a:pt x="3122" y="3434"/>
                  <a:pt x="3122" y="3434"/>
                </a:cubicBezTo>
                <a:cubicBezTo>
                  <a:pt x="3496" y="3621"/>
                  <a:pt x="3496" y="3621"/>
                  <a:pt x="3496" y="3621"/>
                </a:cubicBezTo>
                <a:cubicBezTo>
                  <a:pt x="3496" y="2997"/>
                  <a:pt x="3496" y="2997"/>
                  <a:pt x="3496" y="2997"/>
                </a:cubicBezTo>
                <a:moveTo>
                  <a:pt x="1873" y="749"/>
                </a:moveTo>
                <a:cubicBezTo>
                  <a:pt x="1528" y="749"/>
                  <a:pt x="1249" y="1029"/>
                  <a:pt x="1249" y="1374"/>
                </a:cubicBezTo>
                <a:cubicBezTo>
                  <a:pt x="1249" y="1718"/>
                  <a:pt x="1528" y="1998"/>
                  <a:pt x="1873" y="1998"/>
                </a:cubicBezTo>
                <a:cubicBezTo>
                  <a:pt x="2218" y="1998"/>
                  <a:pt x="2497" y="1718"/>
                  <a:pt x="2497" y="1374"/>
                </a:cubicBezTo>
                <a:cubicBezTo>
                  <a:pt x="2497" y="1029"/>
                  <a:pt x="2218" y="749"/>
                  <a:pt x="1873" y="749"/>
                </a:cubicBezTo>
                <a:close/>
                <a:moveTo>
                  <a:pt x="1873" y="1998"/>
                </a:moveTo>
                <a:cubicBezTo>
                  <a:pt x="1390" y="1998"/>
                  <a:pt x="999" y="2389"/>
                  <a:pt x="999" y="2872"/>
                </a:cubicBezTo>
                <a:moveTo>
                  <a:pt x="624" y="0"/>
                </a:moveTo>
                <a:cubicBezTo>
                  <a:pt x="417" y="0"/>
                  <a:pt x="250" y="168"/>
                  <a:pt x="250" y="375"/>
                </a:cubicBezTo>
                <a:cubicBezTo>
                  <a:pt x="250" y="581"/>
                  <a:pt x="417" y="749"/>
                  <a:pt x="624" y="749"/>
                </a:cubicBezTo>
                <a:cubicBezTo>
                  <a:pt x="831" y="749"/>
                  <a:pt x="999" y="581"/>
                  <a:pt x="999" y="375"/>
                </a:cubicBezTo>
                <a:cubicBezTo>
                  <a:pt x="999" y="168"/>
                  <a:pt x="831" y="0"/>
                  <a:pt x="624" y="0"/>
                </a:cubicBezTo>
                <a:close/>
                <a:moveTo>
                  <a:pt x="1249" y="1374"/>
                </a:moveTo>
                <a:cubicBezTo>
                  <a:pt x="1249" y="1029"/>
                  <a:pt x="969" y="749"/>
                  <a:pt x="624" y="749"/>
                </a:cubicBezTo>
                <a:cubicBezTo>
                  <a:pt x="279" y="749"/>
                  <a:pt x="0" y="1029"/>
                  <a:pt x="0" y="1374"/>
                </a:cubicBezTo>
                <a:moveTo>
                  <a:pt x="3122" y="0"/>
                </a:moveTo>
                <a:cubicBezTo>
                  <a:pt x="2915" y="0"/>
                  <a:pt x="2747" y="168"/>
                  <a:pt x="2747" y="375"/>
                </a:cubicBezTo>
                <a:cubicBezTo>
                  <a:pt x="2747" y="581"/>
                  <a:pt x="2915" y="749"/>
                  <a:pt x="3122" y="749"/>
                </a:cubicBezTo>
                <a:cubicBezTo>
                  <a:pt x="3329" y="749"/>
                  <a:pt x="3496" y="581"/>
                  <a:pt x="3496" y="375"/>
                </a:cubicBezTo>
                <a:cubicBezTo>
                  <a:pt x="3496" y="168"/>
                  <a:pt x="3329" y="0"/>
                  <a:pt x="3122" y="0"/>
                </a:cubicBezTo>
                <a:close/>
                <a:moveTo>
                  <a:pt x="3746" y="1374"/>
                </a:moveTo>
                <a:cubicBezTo>
                  <a:pt x="3746" y="1029"/>
                  <a:pt x="3467" y="749"/>
                  <a:pt x="3122" y="749"/>
                </a:cubicBezTo>
                <a:cubicBezTo>
                  <a:pt x="2777" y="749"/>
                  <a:pt x="2497" y="1029"/>
                  <a:pt x="2497" y="1374"/>
                </a:cubicBezTo>
                <a:moveTo>
                  <a:pt x="2381" y="2163"/>
                </a:moveTo>
                <a:cubicBezTo>
                  <a:pt x="2238" y="2060"/>
                  <a:pt x="2063" y="1998"/>
                  <a:pt x="1873" y="1998"/>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49" name="Trackers_EADF" title="Icon of a clipboard with a checklist on it">
            <a:extLst>
              <a:ext uri="{FF2B5EF4-FFF2-40B4-BE49-F238E27FC236}">
                <a16:creationId xmlns:a16="http://schemas.microsoft.com/office/drawing/2014/main" id="{0BB0C4E4-8F43-34B4-4A39-8AE6A15689EF}"/>
              </a:ext>
            </a:extLst>
          </p:cNvPr>
          <p:cNvSpPr>
            <a:spLocks noChangeAspect="1" noEditPoints="1"/>
          </p:cNvSpPr>
          <p:nvPr/>
        </p:nvSpPr>
        <p:spPr bwMode="auto">
          <a:xfrm>
            <a:off x="9431115" y="3199315"/>
            <a:ext cx="343199" cy="467967"/>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10" name="TextBox 9">
            <a:extLst>
              <a:ext uri="{FF2B5EF4-FFF2-40B4-BE49-F238E27FC236}">
                <a16:creationId xmlns:a16="http://schemas.microsoft.com/office/drawing/2014/main" id="{928DBA8B-D505-E2A4-E1AF-7650A90D66C9}"/>
              </a:ext>
            </a:extLst>
          </p:cNvPr>
          <p:cNvSpPr txBox="1"/>
          <p:nvPr/>
        </p:nvSpPr>
        <p:spPr>
          <a:xfrm>
            <a:off x="719545" y="1155344"/>
            <a:ext cx="11017250" cy="276999"/>
          </a:xfrm>
          <a:prstGeom prst="rect">
            <a:avLst/>
          </a:prstGeom>
          <a:noFill/>
          <a:ln>
            <a:noFill/>
          </a:ln>
        </p:spPr>
        <p:txBody>
          <a:bodyPr vert="horz" wrap="square" lIns="0" tIns="0" rIns="0" bIns="0" rtlCol="0">
            <a:spAutoFit/>
          </a:bodyPr>
          <a:lstStyle>
            <a:defPPr>
              <a:defRPr lang="en-US"/>
            </a:defPPr>
            <a:lvl1pPr marR="0" lvl="0" indent="0" defTabSz="932742" fontAlgn="auto">
              <a:lnSpc>
                <a:spcPct val="100000"/>
              </a:lnSpc>
              <a:spcBef>
                <a:spcPct val="20000"/>
              </a:spcBef>
              <a:spcAft>
                <a:spcPts val="0"/>
              </a:spcAft>
              <a:buClrTx/>
              <a:buSzPct val="90000"/>
              <a:buFont typeface="Wingdings" panose="05000000000000000000" pitchFamily="2" charset="2"/>
              <a:buNone/>
              <a:tabLst/>
              <a:defRPr kumimoji="0" b="0" i="0" u="none" strike="noStrike" cap="none" spc="0" normalizeH="0" baseline="0">
                <a:ln>
                  <a:noFill/>
                </a:ln>
                <a:solidFill>
                  <a:schemeClr val="accent6"/>
                </a:solidFill>
                <a:effectLst/>
                <a:uLnTx/>
                <a:uFillTx/>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a:defRPr/>
            </a:pPr>
            <a:r>
              <a:rPr lang="en-US">
                <a:solidFill>
                  <a:srgbClr val="1C1C1C"/>
                </a:solidFill>
                <a:latin typeface="Segoe UI"/>
              </a:rPr>
              <a:t>Why is Data Governance essential for AI innovation? </a:t>
            </a:r>
          </a:p>
        </p:txBody>
      </p:sp>
      <p:sp>
        <p:nvSpPr>
          <p:cNvPr id="5" name="Rectangle: Rounded Corners 4" descr="Microsoft Cloud">
            <a:extLst>
              <a:ext uri="{FF2B5EF4-FFF2-40B4-BE49-F238E27FC236}">
                <a16:creationId xmlns:a16="http://schemas.microsoft.com/office/drawing/2014/main" id="{CC14A474-6FFB-6758-9BF7-BBE5B0789922}"/>
              </a:ext>
            </a:extLst>
          </p:cNvPr>
          <p:cNvSpPr/>
          <p:nvPr/>
        </p:nvSpPr>
        <p:spPr bwMode="auto">
          <a:xfrm>
            <a:off x="763207" y="5713611"/>
            <a:ext cx="3419901" cy="417822"/>
          </a:xfrm>
          <a:prstGeom prst="roundRect">
            <a:avLst>
              <a:gd name="adj" fmla="val 4168"/>
            </a:avLst>
          </a:prstGeom>
          <a:solidFill>
            <a:schemeClr val="tx1">
              <a:lumMod val="10000"/>
              <a:lumOff val="90000"/>
            </a:schemeClr>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1400" kern="0">
                <a:solidFill>
                  <a:prstClr val="black"/>
                </a:solidFill>
                <a:latin typeface="Segoe UI" panose="020B0502040204020203" pitchFamily="34" charset="0"/>
                <a:cs typeface="Segoe UI" panose="020B0502040204020203" pitchFamily="34" charset="0"/>
              </a:rPr>
              <a:t>Unified Catalog Data Discovery, Data Products, Request Access, Data Quality Score </a:t>
            </a:r>
            <a:endParaRPr kumimoji="0" lang="en-US" sz="1000"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1" name="Rectangle: Rounded Corners 10" descr="Microsoft Cloud">
            <a:extLst>
              <a:ext uri="{FF2B5EF4-FFF2-40B4-BE49-F238E27FC236}">
                <a16:creationId xmlns:a16="http://schemas.microsoft.com/office/drawing/2014/main" id="{7F034970-0C24-00F5-6E6B-2AEC4D70379A}"/>
              </a:ext>
            </a:extLst>
          </p:cNvPr>
          <p:cNvSpPr/>
          <p:nvPr/>
        </p:nvSpPr>
        <p:spPr bwMode="auto">
          <a:xfrm>
            <a:off x="4247061" y="5693633"/>
            <a:ext cx="3419901" cy="417823"/>
          </a:xfrm>
          <a:prstGeom prst="roundRect">
            <a:avLst>
              <a:gd name="adj" fmla="val 4168"/>
            </a:avLst>
          </a:prstGeom>
          <a:solidFill>
            <a:schemeClr val="tx1">
              <a:lumMod val="10000"/>
              <a:lumOff val="90000"/>
            </a:schemeClr>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Data Quality, Data quality rules, Data Observability </a:t>
            </a:r>
          </a:p>
        </p:txBody>
      </p:sp>
      <p:sp>
        <p:nvSpPr>
          <p:cNvPr id="12" name="Rectangle: Rounded Corners 11" descr="Microsoft Cloud">
            <a:extLst>
              <a:ext uri="{FF2B5EF4-FFF2-40B4-BE49-F238E27FC236}">
                <a16:creationId xmlns:a16="http://schemas.microsoft.com/office/drawing/2014/main" id="{96F958AF-956F-A387-A47A-BA0193D57896}"/>
              </a:ext>
            </a:extLst>
          </p:cNvPr>
          <p:cNvSpPr/>
          <p:nvPr/>
        </p:nvSpPr>
        <p:spPr bwMode="auto">
          <a:xfrm>
            <a:off x="7841258" y="5724868"/>
            <a:ext cx="3419901" cy="417822"/>
          </a:xfrm>
          <a:prstGeom prst="roundRect">
            <a:avLst>
              <a:gd name="adj" fmla="val 4168"/>
            </a:avLst>
          </a:prstGeom>
          <a:solidFill>
            <a:schemeClr val="tx1">
              <a:lumMod val="10000"/>
              <a:lumOff val="90000"/>
            </a:schemeClr>
          </a:solidFill>
          <a:ln w="9525" cap="flat" cmpd="sng" algn="ctr">
            <a:noFill/>
            <a:prstDash val="solid"/>
            <a:headEnd type="none" w="med" len="med"/>
            <a:tailEnd type="none" w="med" len="med"/>
          </a:ln>
          <a:effectLst>
            <a:outerShdw blurRad="262230" dist="38100" dir="2700000" algn="tl" rotWithShape="0">
              <a:schemeClr val="bg1">
                <a:lumMod val="50000"/>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Unified Catalog Data Product Management</a:t>
            </a:r>
            <a:r>
              <a:rPr lang="en-US" sz="1400" kern="0">
                <a:solidFill>
                  <a:prstClr val="black"/>
                </a:solidFill>
                <a:latin typeface="Segoe UI" panose="020B0502040204020203" pitchFamily="34" charset="0"/>
                <a:cs typeface="Segoe UI" panose="020B0502040204020203" pitchFamily="34" charset="0"/>
              </a:rPr>
              <a:t>, Manage Requests, </a:t>
            </a:r>
            <a:endParaRPr kumimoji="0" lang="en-US" sz="1000"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2395408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D28A3-5FC6-67D6-1A6C-FE2B13989A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1F3278-0642-2027-A8D4-36AA5F86DC94}"/>
              </a:ext>
              <a:ext uri="{C183D7F6-B498-43B3-948B-1728B52AA6E4}">
                <adec:decorative xmlns:adec="http://schemas.microsoft.com/office/drawing/2017/decorative" val="0"/>
              </a:ext>
            </a:extLst>
          </p:cNvPr>
          <p:cNvSpPr>
            <a:spLocks noGrp="1"/>
          </p:cNvSpPr>
          <p:nvPr>
            <p:ph type="title" idx="4294967295"/>
          </p:nvPr>
        </p:nvSpPr>
        <p:spPr bwMode="auto">
          <a:xfrm>
            <a:off x="0" y="6379740"/>
            <a:ext cx="12192000" cy="448057"/>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defTabSz="299783" fontAlgn="base">
              <a:spcBef>
                <a:spcPts val="508"/>
              </a:spcBef>
              <a:spcAft>
                <a:spcPts val="508"/>
              </a:spcAft>
              <a:buSzPct val="90000"/>
            </a:pPr>
            <a:r>
              <a:rPr lang="en-US" sz="1600" b="1">
                <a:solidFill>
                  <a:schemeClr val="bg1"/>
                </a:solidFill>
              </a:rPr>
              <a:t>Data consumers </a:t>
            </a:r>
            <a:r>
              <a:rPr lang="en-US" sz="1600">
                <a:solidFill>
                  <a:schemeClr val="bg1"/>
                </a:solidFill>
              </a:rPr>
              <a:t>can discover AI ready data in the form of data products.</a:t>
            </a:r>
            <a:endParaRPr lang="en-US" sz="1600" b="1">
              <a:solidFill>
                <a:schemeClr val="bg1"/>
              </a:solidFill>
              <a:latin typeface="Segoe UI Variable Display Semibold" pitchFamily="2" charset="0"/>
              <a:cs typeface="Segoe UI Semibold" panose="020B0702040204020203" pitchFamily="34" charset="0"/>
            </a:endParaRPr>
          </a:p>
        </p:txBody>
      </p:sp>
      <p:pic>
        <p:nvPicPr>
          <p:cNvPr id="2" name="Picture 1" descr="Illustration for: Data consumers can discover AI ready data in the form of dat">
            <a:extLst>
              <a:ext uri="{FF2B5EF4-FFF2-40B4-BE49-F238E27FC236}">
                <a16:creationId xmlns:a16="http://schemas.microsoft.com/office/drawing/2014/main" id="{82C62FDF-B68A-D9A5-87FF-451DBDD554A7}"/>
              </a:ext>
            </a:extLst>
          </p:cNvPr>
          <p:cNvPicPr>
            <a:picLocks noChangeAspect="1"/>
          </p:cNvPicPr>
          <p:nvPr/>
        </p:nvPicPr>
        <p:blipFill>
          <a:blip r:embed="rId3"/>
          <a:srcRect t="2000" b="4758"/>
          <a:stretch>
            <a:fillRect/>
          </a:stretch>
        </p:blipFill>
        <p:spPr>
          <a:xfrm>
            <a:off x="85241" y="1"/>
            <a:ext cx="12003437" cy="6470542"/>
          </a:xfrm>
          <a:prstGeom prst="rect">
            <a:avLst/>
          </a:prstGeom>
        </p:spPr>
      </p:pic>
      <p:sp>
        <p:nvSpPr>
          <p:cNvPr id="5" name="Hidden Title 5" descr="Slide title: Data consumers can discover AI ready data in the form of data products."/>
          <p:cNvSpPr>
            <a:spLocks noGrp="1"/>
          </p:cNvSpPr>
          <p:nvPr>
            <p:ph type="title"/>
          </p:nvPr>
        </p:nvSpPr>
        <p:spPr>
          <a:xfrm>
            <a:off x="0" y="-457200"/>
            <a:ext cx="9144000" cy="457200"/>
          </a:xfrm>
        </p:spPr>
        <p:txBody>
          <a:bodyPr/>
          <a:lstStyle/>
          <a:p>
            <a:r>
              <a:rPr lang="en-US" sz="100" dirty="0"/>
              <a:t>Data consumers can discover AI ready data in the form of data products.</a:t>
            </a:r>
          </a:p>
        </p:txBody>
      </p:sp>
    </p:spTree>
    <p:extLst>
      <p:ext uri="{BB962C8B-B14F-4D97-AF65-F5344CB8AC3E}">
        <p14:creationId xmlns:p14="http://schemas.microsoft.com/office/powerpoint/2010/main" val="405901265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E86C-CA44-9D68-BFFF-964B1417E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C1402-384B-44B2-5DA5-6A3BC21089B4}"/>
              </a:ext>
            </a:extLst>
          </p:cNvPr>
          <p:cNvSpPr>
            <a:spLocks noGrp="1"/>
          </p:cNvSpPr>
          <p:nvPr>
            <p:ph type="title" idx="4294967295"/>
          </p:nvPr>
        </p:nvSpPr>
        <p:spPr bwMode="auto">
          <a:xfrm>
            <a:off x="0" y="6409944"/>
            <a:ext cx="12192000" cy="448056"/>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Data owners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can apply rules to ensure data quality Is high. </a:t>
            </a:r>
          </a:p>
        </p:txBody>
      </p:sp>
      <p:pic>
        <p:nvPicPr>
          <p:cNvPr id="3" name="Picture 2" descr="Illustration for: Data owners can apply rules to ensure data quality Is high.">
            <a:extLst>
              <a:ext uri="{FF2B5EF4-FFF2-40B4-BE49-F238E27FC236}">
                <a16:creationId xmlns:a16="http://schemas.microsoft.com/office/drawing/2014/main" id="{B062869A-D496-0B28-BAA4-05C7F5BBC02A}"/>
              </a:ext>
            </a:extLst>
          </p:cNvPr>
          <p:cNvPicPr>
            <a:picLocks noChangeAspect="1"/>
          </p:cNvPicPr>
          <p:nvPr/>
        </p:nvPicPr>
        <p:blipFill>
          <a:blip r:embed="rId3"/>
          <a:srcRect t="4170" b="4170"/>
          <a:stretch>
            <a:fillRect/>
          </a:stretch>
        </p:blipFill>
        <p:spPr>
          <a:xfrm>
            <a:off x="77490" y="0"/>
            <a:ext cx="12049933" cy="6493207"/>
          </a:xfrm>
          <a:prstGeom prst="rect">
            <a:avLst/>
          </a:prstGeom>
        </p:spPr>
      </p:pic>
      <p:sp>
        <p:nvSpPr>
          <p:cNvPr id="4" name="Hidden Title 4" descr="Slide title: Data owners can apply rules to ensure data quality Is high."/>
          <p:cNvSpPr>
            <a:spLocks noGrp="1"/>
          </p:cNvSpPr>
          <p:nvPr>
            <p:ph type="title"/>
          </p:nvPr>
        </p:nvSpPr>
        <p:spPr>
          <a:xfrm>
            <a:off x="0" y="-457200"/>
            <a:ext cx="9144000" cy="457200"/>
          </a:xfrm>
        </p:spPr>
        <p:txBody>
          <a:bodyPr/>
          <a:lstStyle/>
          <a:p>
            <a:r>
              <a:rPr lang="en-US" sz="100" dirty="0"/>
              <a:t>Data owners can apply rules to ensure data quality Is high.</a:t>
            </a:r>
          </a:p>
        </p:txBody>
      </p:sp>
    </p:spTree>
    <p:extLst>
      <p:ext uri="{BB962C8B-B14F-4D97-AF65-F5344CB8AC3E}">
        <p14:creationId xmlns:p14="http://schemas.microsoft.com/office/powerpoint/2010/main" val="310559879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CAC95-4AC6-F54B-F45A-894FE258A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08C12-C354-8E0C-C119-703F7922DF85}"/>
              </a:ext>
            </a:extLst>
          </p:cNvPr>
          <p:cNvSpPr>
            <a:spLocks noGrp="1"/>
          </p:cNvSpPr>
          <p:nvPr>
            <p:ph type="title" idx="4294967295"/>
          </p:nvPr>
        </p:nvSpPr>
        <p:spPr bwMode="auto">
          <a:xfrm>
            <a:off x="0" y="6409944"/>
            <a:ext cx="12192000" cy="448056"/>
          </a:xfrm>
          <a:prstGeom prst="rect">
            <a:avLst/>
          </a:prstGeom>
          <a:gradFill flip="none" rotWithShape="1">
            <a:gsLst>
              <a:gs pos="0">
                <a:schemeClr val="tx1"/>
              </a:gs>
              <a:gs pos="100000">
                <a:srgbClr val="243A5E"/>
              </a:gs>
            </a:gsLst>
            <a:lin ang="16200000" scaled="1"/>
            <a:tileRect/>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21792" tIns="137160" rIns="182880" bIns="13716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mn-lt"/>
                <a:ea typeface="+mn-ea"/>
                <a:cs typeface="Segoe UI" pitchFamily="34" charset="0"/>
              </a:rPr>
              <a:t>Data owners </a:t>
            </a:r>
            <a:r>
              <a:rPr kumimoji="0" lang="en-US" sz="1600" b="0" i="0" u="none" strike="noStrike" kern="1200" cap="none" spc="0" normalizeH="0" baseline="0" noProof="0">
                <a:ln>
                  <a:noFill/>
                </a:ln>
                <a:solidFill>
                  <a:schemeClr val="bg1"/>
                </a:solidFill>
                <a:effectLst/>
                <a:uLnTx/>
                <a:uFillTx/>
                <a:latin typeface="+mn-lt"/>
                <a:ea typeface="+mn-ea"/>
                <a:cs typeface="Segoe UI" pitchFamily="34" charset="0"/>
              </a:rPr>
              <a:t>can apply terms of use AI policies to encourage proper use.</a:t>
            </a:r>
          </a:p>
        </p:txBody>
      </p:sp>
      <p:pic>
        <p:nvPicPr>
          <p:cNvPr id="4" name="Picture 3" descr="Illustration for: Data owners can apply terms of use AI policies to encourage ">
            <a:extLst>
              <a:ext uri="{FF2B5EF4-FFF2-40B4-BE49-F238E27FC236}">
                <a16:creationId xmlns:a16="http://schemas.microsoft.com/office/drawing/2014/main" id="{59DB3EA1-AF3A-A5E4-0A34-DA8219DDEEDC}"/>
              </a:ext>
            </a:extLst>
          </p:cNvPr>
          <p:cNvPicPr>
            <a:picLocks noChangeAspect="1"/>
          </p:cNvPicPr>
          <p:nvPr/>
        </p:nvPicPr>
        <p:blipFill>
          <a:blip r:embed="rId3"/>
          <a:srcRect t="2410" b="4244"/>
          <a:stretch>
            <a:fillRect/>
          </a:stretch>
        </p:blipFill>
        <p:spPr>
          <a:xfrm>
            <a:off x="85241" y="0"/>
            <a:ext cx="11964691" cy="6522266"/>
          </a:xfrm>
          <a:prstGeom prst="rect">
            <a:avLst/>
          </a:prstGeom>
        </p:spPr>
      </p:pic>
      <p:sp>
        <p:nvSpPr>
          <p:cNvPr id="5" name="Hidden Title 5" descr="Slide title: Data owners can apply terms of use AI policies to encourage proper use."/>
          <p:cNvSpPr>
            <a:spLocks noGrp="1"/>
          </p:cNvSpPr>
          <p:nvPr>
            <p:ph type="title"/>
          </p:nvPr>
        </p:nvSpPr>
        <p:spPr>
          <a:xfrm>
            <a:off x="0" y="-457200"/>
            <a:ext cx="9144000" cy="457200"/>
          </a:xfrm>
        </p:spPr>
        <p:txBody>
          <a:bodyPr/>
          <a:lstStyle/>
          <a:p>
            <a:r>
              <a:rPr lang="en-US" sz="100" dirty="0"/>
              <a:t>Data owners can apply terms of use AI policies to encourage proper use.</a:t>
            </a:r>
          </a:p>
        </p:txBody>
      </p:sp>
    </p:spTree>
    <p:extLst>
      <p:ext uri="{BB962C8B-B14F-4D97-AF65-F5344CB8AC3E}">
        <p14:creationId xmlns:p14="http://schemas.microsoft.com/office/powerpoint/2010/main" val="267044584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Data Governance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Why Training Data Governance Matters</a:t>
            </a:r>
            <a:endParaRPr lang="en-US" sz="3733"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The model is only as trustworthy as the data it was trained on.</a:t>
            </a:r>
            <a:endParaRPr lang="en-US" sz="1733" dirty="0"/>
          </a:p>
        </p:txBody>
      </p:sp>
      <p:sp>
        <p:nvSpPr>
          <p:cNvPr id="4" name="Shape 2"/>
          <p:cNvSpPr/>
          <p:nvPr/>
        </p:nvSpPr>
        <p:spPr>
          <a:xfrm>
            <a:off x="54864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4864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914400" y="2316480"/>
            <a:ext cx="853440" cy="853440"/>
          </a:xfrm>
          <a:prstGeom prst="ellipse">
            <a:avLst/>
          </a:prstGeom>
          <a:solidFill>
            <a:srgbClr val="2B4EC7"/>
          </a:solidFill>
          <a:ln w="12700">
            <a:solidFill>
              <a:srgbClr val="2B4EC7"/>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1060704" y="2462784"/>
            <a:ext cx="560832" cy="560832"/>
          </a:xfrm>
          <a:prstGeom prst="rect">
            <a:avLst/>
          </a:prstGeom>
        </p:spPr>
      </p:pic>
      <p:sp>
        <p:nvSpPr>
          <p:cNvPr id="8" name="Text 5"/>
          <p:cNvSpPr/>
          <p:nvPr/>
        </p:nvSpPr>
        <p:spPr>
          <a:xfrm>
            <a:off x="1950720" y="2255520"/>
            <a:ext cx="3779520" cy="48768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PII / PHI Memorization</a:t>
            </a:r>
            <a:endParaRPr lang="en-US" sz="1933" dirty="0"/>
          </a:p>
        </p:txBody>
      </p:sp>
      <p:sp>
        <p:nvSpPr>
          <p:cNvPr id="9" name="Text 6"/>
          <p:cNvSpPr/>
          <p:nvPr/>
        </p:nvSpPr>
        <p:spPr>
          <a:xfrm>
            <a:off x="195072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Models can regurgitate training data — sensitive columns must be redacted or excluded before fine-tuning.</a:t>
            </a:r>
            <a:endParaRPr lang="en-US" sz="1533" dirty="0"/>
          </a:p>
        </p:txBody>
      </p:sp>
      <p:sp>
        <p:nvSpPr>
          <p:cNvPr id="10" name="Shape 7"/>
          <p:cNvSpPr/>
          <p:nvPr/>
        </p:nvSpPr>
        <p:spPr>
          <a:xfrm>
            <a:off x="627888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6278880" y="188976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12" name="Shape 9"/>
          <p:cNvSpPr/>
          <p:nvPr/>
        </p:nvSpPr>
        <p:spPr>
          <a:xfrm>
            <a:off x="6644640" y="2316480"/>
            <a:ext cx="853440" cy="853440"/>
          </a:xfrm>
          <a:prstGeom prst="ellipse">
            <a:avLst/>
          </a:prstGeom>
          <a:solidFill>
            <a:srgbClr val="F59E0B"/>
          </a:solidFill>
          <a:ln w="12700">
            <a:solidFill>
              <a:srgbClr val="F59E0B"/>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6790944" y="2462784"/>
            <a:ext cx="560832" cy="560832"/>
          </a:xfrm>
          <a:prstGeom prst="rect">
            <a:avLst/>
          </a:prstGeom>
        </p:spPr>
      </p:pic>
      <p:sp>
        <p:nvSpPr>
          <p:cNvPr id="14" name="Text 10"/>
          <p:cNvSpPr/>
          <p:nvPr/>
        </p:nvSpPr>
        <p:spPr>
          <a:xfrm>
            <a:off x="7680960" y="2255520"/>
            <a:ext cx="3779520" cy="48768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Bias &amp; Representation</a:t>
            </a:r>
            <a:endParaRPr lang="en-US" sz="1933" dirty="0"/>
          </a:p>
        </p:txBody>
      </p:sp>
      <p:sp>
        <p:nvSpPr>
          <p:cNvPr id="15" name="Text 11"/>
          <p:cNvSpPr/>
          <p:nvPr/>
        </p:nvSpPr>
        <p:spPr>
          <a:xfrm>
            <a:off x="768096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Skewed, stale, or underrepresented data produces biased outputs and regulatory exposure.</a:t>
            </a:r>
            <a:endParaRPr lang="en-US" sz="1533" dirty="0"/>
          </a:p>
        </p:txBody>
      </p:sp>
      <p:sp>
        <p:nvSpPr>
          <p:cNvPr id="16" name="Shape 12"/>
          <p:cNvSpPr/>
          <p:nvPr/>
        </p:nvSpPr>
        <p:spPr>
          <a:xfrm>
            <a:off x="54864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548640" y="408432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18" name="Shape 14"/>
          <p:cNvSpPr/>
          <p:nvPr/>
        </p:nvSpPr>
        <p:spPr>
          <a:xfrm>
            <a:off x="914400" y="4511040"/>
            <a:ext cx="853440" cy="853440"/>
          </a:xfrm>
          <a:prstGeom prst="ellipse">
            <a:avLst/>
          </a:prstGeom>
          <a:solidFill>
            <a:srgbClr val="8B5CF6"/>
          </a:solidFill>
          <a:ln w="12700">
            <a:solidFill>
              <a:srgbClr val="8B5CF6"/>
            </a:solidFill>
            <a:prstDash val="solid"/>
          </a:ln>
        </p:spPr>
        <p:txBody>
          <a:bodyPr/>
          <a:lstStyle/>
          <a:p>
            <a:endParaRPr lang="en-US" sz="2400"/>
          </a:p>
        </p:txBody>
      </p:sp>
      <p:pic>
        <p:nvPicPr>
          <p:cNvPr id="19" name="Image 2" descr="preencoded.png"/>
          <p:cNvPicPr>
            <a:picLocks noChangeAspect="1"/>
          </p:cNvPicPr>
          <p:nvPr/>
        </p:nvPicPr>
        <p:blipFill>
          <a:blip r:embed="rId5"/>
          <a:stretch>
            <a:fillRect/>
          </a:stretch>
        </p:blipFill>
        <p:spPr>
          <a:xfrm>
            <a:off x="1060704" y="4657344"/>
            <a:ext cx="560832" cy="560832"/>
          </a:xfrm>
          <a:prstGeom prst="rect">
            <a:avLst/>
          </a:prstGeom>
        </p:spPr>
      </p:pic>
      <p:sp>
        <p:nvSpPr>
          <p:cNvPr id="20" name="Text 15"/>
          <p:cNvSpPr/>
          <p:nvPr/>
        </p:nvSpPr>
        <p:spPr>
          <a:xfrm>
            <a:off x="1950720" y="4450080"/>
            <a:ext cx="3779520" cy="48768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Consent &amp; Licensing</a:t>
            </a:r>
            <a:endParaRPr lang="en-US" sz="1933" dirty="0"/>
          </a:p>
        </p:txBody>
      </p:sp>
      <p:sp>
        <p:nvSpPr>
          <p:cNvPr id="21" name="Text 16"/>
          <p:cNvSpPr/>
          <p:nvPr/>
        </p:nvSpPr>
        <p:spPr>
          <a:xfrm>
            <a:off x="195072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Rights to use data for training must be tracked; opt-outs honored per GDPR / CCPA / sectoral rules.</a:t>
            </a:r>
            <a:endParaRPr lang="en-US" sz="1533" dirty="0"/>
          </a:p>
        </p:txBody>
      </p:sp>
      <p:sp>
        <p:nvSpPr>
          <p:cNvPr id="22" name="Shape 17"/>
          <p:cNvSpPr/>
          <p:nvPr/>
        </p:nvSpPr>
        <p:spPr>
          <a:xfrm>
            <a:off x="627888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6278880" y="408432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24" name="Shape 19"/>
          <p:cNvSpPr/>
          <p:nvPr/>
        </p:nvSpPr>
        <p:spPr>
          <a:xfrm>
            <a:off x="6644640" y="4511040"/>
            <a:ext cx="853440" cy="853440"/>
          </a:xfrm>
          <a:prstGeom prst="ellipse">
            <a:avLst/>
          </a:prstGeom>
          <a:solidFill>
            <a:srgbClr val="0D9488"/>
          </a:solidFill>
          <a:ln w="12700">
            <a:solidFill>
              <a:srgbClr val="0D9488"/>
            </a:solidFill>
            <a:prstDash val="solid"/>
          </a:ln>
        </p:spPr>
        <p:txBody>
          <a:bodyPr/>
          <a:lstStyle/>
          <a:p>
            <a:endParaRPr lang="en-US" sz="2400"/>
          </a:p>
        </p:txBody>
      </p:sp>
      <p:pic>
        <p:nvPicPr>
          <p:cNvPr id="25" name="Image 3" descr="preencoded.png"/>
          <p:cNvPicPr>
            <a:picLocks noChangeAspect="1"/>
          </p:cNvPicPr>
          <p:nvPr/>
        </p:nvPicPr>
        <p:blipFill>
          <a:blip r:embed="rId6"/>
          <a:stretch>
            <a:fillRect/>
          </a:stretch>
        </p:blipFill>
        <p:spPr>
          <a:xfrm>
            <a:off x="6790944" y="4657344"/>
            <a:ext cx="560832" cy="560832"/>
          </a:xfrm>
          <a:prstGeom prst="rect">
            <a:avLst/>
          </a:prstGeom>
        </p:spPr>
      </p:pic>
      <p:sp>
        <p:nvSpPr>
          <p:cNvPr id="26" name="Text 20"/>
          <p:cNvSpPr/>
          <p:nvPr/>
        </p:nvSpPr>
        <p:spPr>
          <a:xfrm>
            <a:off x="7680960" y="4450080"/>
            <a:ext cx="3779520" cy="48768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Lineage &amp; Reproducibility</a:t>
            </a:r>
            <a:endParaRPr lang="en-US" sz="1933" dirty="0"/>
          </a:p>
        </p:txBody>
      </p:sp>
      <p:sp>
        <p:nvSpPr>
          <p:cNvPr id="27" name="Text 21"/>
          <p:cNvSpPr/>
          <p:nvPr/>
        </p:nvSpPr>
        <p:spPr>
          <a:xfrm>
            <a:off x="768096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Auditors need to trace every model back to the exact dataset version that trained it.</a:t>
            </a:r>
            <a:endParaRPr lang="en-US" sz="1533" dirty="0"/>
          </a:p>
        </p:txBody>
      </p:sp>
      <p:sp>
        <p:nvSpPr>
          <p:cNvPr id="28" name="Shape 2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29" name="Text 2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30" name="Text 2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2 / 9</a:t>
            </a:r>
            <a:endParaRPr lang="en-US" sz="1200" dirty="0"/>
          </a:p>
        </p:txBody>
      </p:sp>
      <p:sp>
        <p:nvSpPr>
          <p:cNvPr id="31" name="Hidden Title 31" descr="Slide title: Why Training Data Governance Matters"/>
          <p:cNvSpPr>
            <a:spLocks noGrp="1"/>
          </p:cNvSpPr>
          <p:nvPr>
            <p:ph type="title"/>
          </p:nvPr>
        </p:nvSpPr>
        <p:spPr>
          <a:xfrm>
            <a:off x="0" y="-457200"/>
            <a:ext cx="9144000" cy="457200"/>
          </a:xfrm>
        </p:spPr>
        <p:txBody>
          <a:bodyPr/>
          <a:lstStyle/>
          <a:p>
            <a:r>
              <a:rPr lang="en-US" sz="100" dirty="0"/>
              <a:t>Why Training Data Governance Matters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The Training Data Lifecycle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Five governed handoffs from raw data to a registered, compliant model.</a:t>
            </a:r>
            <a:endParaRPr lang="en-US" sz="1733" dirty="0"/>
          </a:p>
        </p:txBody>
      </p:sp>
      <p:sp>
        <p:nvSpPr>
          <p:cNvPr id="4" name="Shape 2"/>
          <p:cNvSpPr/>
          <p:nvPr/>
        </p:nvSpPr>
        <p:spPr>
          <a:xfrm>
            <a:off x="512064" y="2072640"/>
            <a:ext cx="2048256" cy="2682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12064" y="2072640"/>
            <a:ext cx="2048256" cy="97536"/>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694944" y="2316480"/>
            <a:ext cx="512064" cy="512064"/>
          </a:xfrm>
          <a:prstGeom prst="ellipse">
            <a:avLst/>
          </a:prstGeom>
          <a:solidFill>
            <a:srgbClr val="2B4EC7"/>
          </a:solidFill>
          <a:ln w="12700">
            <a:solidFill>
              <a:srgbClr val="2B4EC7"/>
            </a:solidFill>
            <a:prstDash val="solid"/>
          </a:ln>
        </p:spPr>
        <p:txBody>
          <a:bodyPr/>
          <a:lstStyle/>
          <a:p>
            <a:endParaRPr lang="en-US" sz="2400"/>
          </a:p>
        </p:txBody>
      </p:sp>
      <p:sp>
        <p:nvSpPr>
          <p:cNvPr id="7" name="Text 5"/>
          <p:cNvSpPr/>
          <p:nvPr/>
        </p:nvSpPr>
        <p:spPr>
          <a:xfrm>
            <a:off x="694944" y="2340864"/>
            <a:ext cx="512064" cy="512064"/>
          </a:xfrm>
          <a:prstGeom prst="rect">
            <a:avLst/>
          </a:prstGeom>
          <a:noFill/>
          <a:ln/>
        </p:spPr>
        <p:txBody>
          <a:bodyPr wrap="square" lIns="0" tIns="0" rIns="0" bIns="0" rtlCol="0" anchor="ctr"/>
          <a:lstStyle/>
          <a:p>
            <a:pPr algn="ctr"/>
            <a:r>
              <a:rPr lang="en-US" sz="1733" b="1" dirty="0">
                <a:solidFill>
                  <a:srgbClr val="FFFFFF"/>
                </a:solidFill>
                <a:latin typeface="Georgia" pitchFamily="34" charset="0"/>
                <a:ea typeface="Georgia" pitchFamily="34" charset="-122"/>
                <a:cs typeface="Georgia" pitchFamily="34" charset="-120"/>
              </a:rPr>
              <a:t>1</a:t>
            </a:r>
            <a:endParaRPr lang="en-US" sz="1733" dirty="0"/>
          </a:p>
        </p:txBody>
      </p:sp>
      <p:pic>
        <p:nvPicPr>
          <p:cNvPr id="8" name="Image 0" descr="preencoded.png"/>
          <p:cNvPicPr>
            <a:picLocks noChangeAspect="1"/>
          </p:cNvPicPr>
          <p:nvPr/>
        </p:nvPicPr>
        <p:blipFill>
          <a:blip r:embed="rId3"/>
          <a:stretch>
            <a:fillRect/>
          </a:stretch>
        </p:blipFill>
        <p:spPr>
          <a:xfrm>
            <a:off x="1889760" y="2340864"/>
            <a:ext cx="463296" cy="463296"/>
          </a:xfrm>
          <a:prstGeom prst="rect">
            <a:avLst/>
          </a:prstGeom>
        </p:spPr>
      </p:pic>
      <p:sp>
        <p:nvSpPr>
          <p:cNvPr id="9" name="Text 6"/>
          <p:cNvSpPr/>
          <p:nvPr/>
        </p:nvSpPr>
        <p:spPr>
          <a:xfrm>
            <a:off x="633984" y="3072384"/>
            <a:ext cx="1804416" cy="548640"/>
          </a:xfrm>
          <a:prstGeom prst="rect">
            <a:avLst/>
          </a:prstGeom>
          <a:noFill/>
          <a:ln/>
        </p:spPr>
        <p:txBody>
          <a:bodyPr wrap="square" lIns="0" tIns="0" rIns="0" bIns="0" rtlCol="0" anchor="ctr"/>
          <a:lstStyle/>
          <a:p>
            <a:pPr algn="ctr"/>
            <a:r>
              <a:rPr lang="en-US" sz="1933" b="1" dirty="0">
                <a:solidFill>
                  <a:srgbClr val="1A1D3A"/>
                </a:solidFill>
                <a:latin typeface="Georgia" pitchFamily="34" charset="0"/>
                <a:ea typeface="Georgia" pitchFamily="34" charset="-122"/>
                <a:cs typeface="Georgia" pitchFamily="34" charset="-120"/>
              </a:rPr>
              <a:t>Source</a:t>
            </a:r>
            <a:endParaRPr lang="en-US" sz="1933" dirty="0"/>
          </a:p>
        </p:txBody>
      </p:sp>
      <p:sp>
        <p:nvSpPr>
          <p:cNvPr id="10" name="Text 7"/>
          <p:cNvSpPr/>
          <p:nvPr/>
        </p:nvSpPr>
        <p:spPr>
          <a:xfrm>
            <a:off x="694944" y="3718560"/>
            <a:ext cx="1682496" cy="853440"/>
          </a:xfrm>
          <a:prstGeom prst="rect">
            <a:avLst/>
          </a:prstGeom>
          <a:noFill/>
          <a:ln/>
        </p:spPr>
        <p:txBody>
          <a:bodyPr wrap="square" lIns="0" tIns="0" rIns="0" bIns="0" rtlCol="0" anchor="ctr"/>
          <a:lstStyle/>
          <a:p>
            <a:pPr algn="ctr"/>
            <a:r>
              <a:rPr lang="en-US" sz="1400" dirty="0">
                <a:solidFill>
                  <a:srgbClr val="64748B"/>
                </a:solidFill>
                <a:latin typeface="Calibri" pitchFamily="34" charset="0"/>
                <a:ea typeface="Calibri" pitchFamily="34" charset="-122"/>
                <a:cs typeface="Calibri" pitchFamily="34" charset="-120"/>
              </a:rPr>
              <a:t>Raw tables &amp; docs</a:t>
            </a:r>
            <a:endParaRPr lang="en-US" sz="1400" dirty="0"/>
          </a:p>
        </p:txBody>
      </p:sp>
      <p:sp>
        <p:nvSpPr>
          <p:cNvPr id="11" name="Shape 8"/>
          <p:cNvSpPr/>
          <p:nvPr/>
        </p:nvSpPr>
        <p:spPr>
          <a:xfrm rot="5400000">
            <a:off x="2572512" y="3291840"/>
            <a:ext cx="207264" cy="243840"/>
          </a:xfrm>
          <a:prstGeom prst="rtTriangle">
            <a:avLst/>
          </a:prstGeom>
          <a:solidFill>
            <a:srgbClr val="64748B"/>
          </a:solidFill>
          <a:ln w="12700">
            <a:solidFill>
              <a:srgbClr val="64748B"/>
            </a:solidFill>
            <a:prstDash val="solid"/>
          </a:ln>
        </p:spPr>
        <p:txBody>
          <a:bodyPr/>
          <a:lstStyle/>
          <a:p>
            <a:endParaRPr lang="en-US" sz="2400"/>
          </a:p>
        </p:txBody>
      </p:sp>
      <p:sp>
        <p:nvSpPr>
          <p:cNvPr id="12" name="Shape 9"/>
          <p:cNvSpPr/>
          <p:nvPr/>
        </p:nvSpPr>
        <p:spPr>
          <a:xfrm>
            <a:off x="2791968" y="2072640"/>
            <a:ext cx="2048256" cy="2682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3" name="Shape 10"/>
          <p:cNvSpPr/>
          <p:nvPr/>
        </p:nvSpPr>
        <p:spPr>
          <a:xfrm>
            <a:off x="2791968" y="2072640"/>
            <a:ext cx="2048256" cy="97536"/>
          </a:xfrm>
          <a:prstGeom prst="rect">
            <a:avLst/>
          </a:prstGeom>
          <a:solidFill>
            <a:srgbClr val="8B5CF6"/>
          </a:solidFill>
          <a:ln w="12700">
            <a:solidFill>
              <a:srgbClr val="8B5CF6"/>
            </a:solidFill>
            <a:prstDash val="solid"/>
          </a:ln>
        </p:spPr>
        <p:txBody>
          <a:bodyPr/>
          <a:lstStyle/>
          <a:p>
            <a:endParaRPr lang="en-US" sz="2400"/>
          </a:p>
        </p:txBody>
      </p:sp>
      <p:sp>
        <p:nvSpPr>
          <p:cNvPr id="14" name="Shape 11"/>
          <p:cNvSpPr/>
          <p:nvPr/>
        </p:nvSpPr>
        <p:spPr>
          <a:xfrm>
            <a:off x="2974848" y="2316480"/>
            <a:ext cx="512064" cy="512064"/>
          </a:xfrm>
          <a:prstGeom prst="ellipse">
            <a:avLst/>
          </a:prstGeom>
          <a:solidFill>
            <a:srgbClr val="8B5CF6"/>
          </a:solidFill>
          <a:ln w="12700">
            <a:solidFill>
              <a:srgbClr val="8B5CF6"/>
            </a:solidFill>
            <a:prstDash val="solid"/>
          </a:ln>
        </p:spPr>
        <p:txBody>
          <a:bodyPr/>
          <a:lstStyle/>
          <a:p>
            <a:endParaRPr lang="en-US" sz="2400"/>
          </a:p>
        </p:txBody>
      </p:sp>
      <p:sp>
        <p:nvSpPr>
          <p:cNvPr id="15" name="Text 12"/>
          <p:cNvSpPr/>
          <p:nvPr/>
        </p:nvSpPr>
        <p:spPr>
          <a:xfrm>
            <a:off x="2974848" y="2340864"/>
            <a:ext cx="512064" cy="512064"/>
          </a:xfrm>
          <a:prstGeom prst="rect">
            <a:avLst/>
          </a:prstGeom>
          <a:noFill/>
          <a:ln/>
        </p:spPr>
        <p:txBody>
          <a:bodyPr wrap="square" lIns="0" tIns="0" rIns="0" bIns="0" rtlCol="0" anchor="ctr"/>
          <a:lstStyle/>
          <a:p>
            <a:pPr algn="ctr"/>
            <a:r>
              <a:rPr lang="en-US" sz="1733" b="1" dirty="0">
                <a:solidFill>
                  <a:srgbClr val="FFFFFF"/>
                </a:solidFill>
                <a:latin typeface="Georgia" pitchFamily="34" charset="0"/>
                <a:ea typeface="Georgia" pitchFamily="34" charset="-122"/>
                <a:cs typeface="Georgia" pitchFamily="34" charset="-120"/>
              </a:rPr>
              <a:t>2</a:t>
            </a:r>
            <a:endParaRPr lang="en-US" sz="1733" dirty="0"/>
          </a:p>
        </p:txBody>
      </p:sp>
      <p:pic>
        <p:nvPicPr>
          <p:cNvPr id="16" name="Image 1" descr="preencoded.png"/>
          <p:cNvPicPr>
            <a:picLocks noChangeAspect="1"/>
          </p:cNvPicPr>
          <p:nvPr/>
        </p:nvPicPr>
        <p:blipFill>
          <a:blip r:embed="rId4"/>
          <a:stretch>
            <a:fillRect/>
          </a:stretch>
        </p:blipFill>
        <p:spPr>
          <a:xfrm>
            <a:off x="4169664" y="2340864"/>
            <a:ext cx="463296" cy="463296"/>
          </a:xfrm>
          <a:prstGeom prst="rect">
            <a:avLst/>
          </a:prstGeom>
        </p:spPr>
      </p:pic>
      <p:sp>
        <p:nvSpPr>
          <p:cNvPr id="17" name="Text 13"/>
          <p:cNvSpPr/>
          <p:nvPr/>
        </p:nvSpPr>
        <p:spPr>
          <a:xfrm>
            <a:off x="2913888" y="3072384"/>
            <a:ext cx="1804416" cy="548640"/>
          </a:xfrm>
          <a:prstGeom prst="rect">
            <a:avLst/>
          </a:prstGeom>
          <a:noFill/>
          <a:ln/>
        </p:spPr>
        <p:txBody>
          <a:bodyPr wrap="square" lIns="0" tIns="0" rIns="0" bIns="0" rtlCol="0" anchor="ctr"/>
          <a:lstStyle/>
          <a:p>
            <a:pPr algn="ctr"/>
            <a:r>
              <a:rPr lang="en-US" sz="1933" b="1" dirty="0">
                <a:solidFill>
                  <a:srgbClr val="1A1D3A"/>
                </a:solidFill>
                <a:latin typeface="Georgia" pitchFamily="34" charset="0"/>
                <a:ea typeface="Georgia" pitchFamily="34" charset="-122"/>
                <a:cs typeface="Georgia" pitchFamily="34" charset="-120"/>
              </a:rPr>
              <a:t>Curate</a:t>
            </a:r>
            <a:endParaRPr lang="en-US" sz="1933" dirty="0"/>
          </a:p>
        </p:txBody>
      </p:sp>
      <p:sp>
        <p:nvSpPr>
          <p:cNvPr id="18" name="Text 14"/>
          <p:cNvSpPr/>
          <p:nvPr/>
        </p:nvSpPr>
        <p:spPr>
          <a:xfrm>
            <a:off x="2974848" y="3718560"/>
            <a:ext cx="1682496" cy="853440"/>
          </a:xfrm>
          <a:prstGeom prst="rect">
            <a:avLst/>
          </a:prstGeom>
          <a:noFill/>
          <a:ln/>
        </p:spPr>
        <p:txBody>
          <a:bodyPr wrap="square" lIns="0" tIns="0" rIns="0" bIns="0" rtlCol="0" anchor="ctr"/>
          <a:lstStyle/>
          <a:p>
            <a:pPr algn="ctr"/>
            <a:r>
              <a:rPr lang="en-US" sz="1400" dirty="0">
                <a:solidFill>
                  <a:srgbClr val="64748B"/>
                </a:solidFill>
                <a:latin typeface="Calibri" pitchFamily="34" charset="0"/>
                <a:ea typeface="Calibri" pitchFamily="34" charset="-122"/>
                <a:cs typeface="Calibri" pitchFamily="34" charset="-120"/>
              </a:rPr>
              <a:t>De-identify &amp; redact</a:t>
            </a:r>
            <a:endParaRPr lang="en-US" sz="1400" dirty="0"/>
          </a:p>
        </p:txBody>
      </p:sp>
      <p:sp>
        <p:nvSpPr>
          <p:cNvPr id="19" name="Shape 15"/>
          <p:cNvSpPr/>
          <p:nvPr/>
        </p:nvSpPr>
        <p:spPr>
          <a:xfrm rot="5400000">
            <a:off x="4852416" y="3291840"/>
            <a:ext cx="207264" cy="243840"/>
          </a:xfrm>
          <a:prstGeom prst="rtTriangle">
            <a:avLst/>
          </a:prstGeom>
          <a:solidFill>
            <a:srgbClr val="64748B"/>
          </a:solidFill>
          <a:ln w="12700">
            <a:solidFill>
              <a:srgbClr val="64748B"/>
            </a:solidFill>
            <a:prstDash val="solid"/>
          </a:ln>
        </p:spPr>
        <p:txBody>
          <a:bodyPr/>
          <a:lstStyle/>
          <a:p>
            <a:endParaRPr lang="en-US" sz="2400"/>
          </a:p>
        </p:txBody>
      </p:sp>
      <p:sp>
        <p:nvSpPr>
          <p:cNvPr id="20" name="Shape 16"/>
          <p:cNvSpPr/>
          <p:nvPr/>
        </p:nvSpPr>
        <p:spPr>
          <a:xfrm>
            <a:off x="5071872" y="2072640"/>
            <a:ext cx="2048256" cy="2682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1" name="Shape 17"/>
          <p:cNvSpPr/>
          <p:nvPr/>
        </p:nvSpPr>
        <p:spPr>
          <a:xfrm>
            <a:off x="5071872" y="2072640"/>
            <a:ext cx="2048256" cy="97536"/>
          </a:xfrm>
          <a:prstGeom prst="rect">
            <a:avLst/>
          </a:prstGeom>
          <a:solidFill>
            <a:srgbClr val="0D9488"/>
          </a:solidFill>
          <a:ln w="12700">
            <a:solidFill>
              <a:srgbClr val="0D9488"/>
            </a:solidFill>
            <a:prstDash val="solid"/>
          </a:ln>
        </p:spPr>
        <p:txBody>
          <a:bodyPr/>
          <a:lstStyle/>
          <a:p>
            <a:endParaRPr lang="en-US" sz="2400"/>
          </a:p>
        </p:txBody>
      </p:sp>
      <p:sp>
        <p:nvSpPr>
          <p:cNvPr id="22" name="Shape 18"/>
          <p:cNvSpPr/>
          <p:nvPr/>
        </p:nvSpPr>
        <p:spPr>
          <a:xfrm>
            <a:off x="5254752" y="2316480"/>
            <a:ext cx="512064" cy="512064"/>
          </a:xfrm>
          <a:prstGeom prst="ellipse">
            <a:avLst/>
          </a:prstGeom>
          <a:solidFill>
            <a:srgbClr val="0D9488"/>
          </a:solidFill>
          <a:ln w="12700">
            <a:solidFill>
              <a:srgbClr val="0D9488"/>
            </a:solidFill>
            <a:prstDash val="solid"/>
          </a:ln>
        </p:spPr>
        <p:txBody>
          <a:bodyPr/>
          <a:lstStyle/>
          <a:p>
            <a:endParaRPr lang="en-US" sz="2400"/>
          </a:p>
        </p:txBody>
      </p:sp>
      <p:sp>
        <p:nvSpPr>
          <p:cNvPr id="23" name="Text 19"/>
          <p:cNvSpPr/>
          <p:nvPr/>
        </p:nvSpPr>
        <p:spPr>
          <a:xfrm>
            <a:off x="5254752" y="2340864"/>
            <a:ext cx="512064" cy="512064"/>
          </a:xfrm>
          <a:prstGeom prst="rect">
            <a:avLst/>
          </a:prstGeom>
          <a:noFill/>
          <a:ln/>
        </p:spPr>
        <p:txBody>
          <a:bodyPr wrap="square" lIns="0" tIns="0" rIns="0" bIns="0" rtlCol="0" anchor="ctr"/>
          <a:lstStyle/>
          <a:p>
            <a:pPr algn="ctr"/>
            <a:r>
              <a:rPr lang="en-US" sz="1733" b="1" dirty="0">
                <a:solidFill>
                  <a:srgbClr val="FFFFFF"/>
                </a:solidFill>
                <a:latin typeface="Georgia" pitchFamily="34" charset="0"/>
                <a:ea typeface="Georgia" pitchFamily="34" charset="-122"/>
                <a:cs typeface="Georgia" pitchFamily="34" charset="-120"/>
              </a:rPr>
              <a:t>3</a:t>
            </a:r>
            <a:endParaRPr lang="en-US" sz="1733" dirty="0"/>
          </a:p>
        </p:txBody>
      </p:sp>
      <p:pic>
        <p:nvPicPr>
          <p:cNvPr id="24" name="Image 2" descr="preencoded.png"/>
          <p:cNvPicPr>
            <a:picLocks noChangeAspect="1"/>
          </p:cNvPicPr>
          <p:nvPr/>
        </p:nvPicPr>
        <p:blipFill>
          <a:blip r:embed="rId5"/>
          <a:stretch>
            <a:fillRect/>
          </a:stretch>
        </p:blipFill>
        <p:spPr>
          <a:xfrm>
            <a:off x="6449568" y="2340864"/>
            <a:ext cx="463296" cy="463296"/>
          </a:xfrm>
          <a:prstGeom prst="rect">
            <a:avLst/>
          </a:prstGeom>
        </p:spPr>
      </p:pic>
      <p:sp>
        <p:nvSpPr>
          <p:cNvPr id="25" name="Text 20"/>
          <p:cNvSpPr/>
          <p:nvPr/>
        </p:nvSpPr>
        <p:spPr>
          <a:xfrm>
            <a:off x="5193792" y="3072384"/>
            <a:ext cx="1804416" cy="548640"/>
          </a:xfrm>
          <a:prstGeom prst="rect">
            <a:avLst/>
          </a:prstGeom>
          <a:noFill/>
          <a:ln/>
        </p:spPr>
        <p:txBody>
          <a:bodyPr wrap="square" lIns="0" tIns="0" rIns="0" bIns="0" rtlCol="0" anchor="ctr"/>
          <a:lstStyle/>
          <a:p>
            <a:pPr algn="ctr"/>
            <a:r>
              <a:rPr lang="en-US" sz="1933" b="1" dirty="0">
                <a:solidFill>
                  <a:srgbClr val="1A1D3A"/>
                </a:solidFill>
                <a:latin typeface="Georgia" pitchFamily="34" charset="0"/>
                <a:ea typeface="Georgia" pitchFamily="34" charset="-122"/>
                <a:cs typeface="Georgia" pitchFamily="34" charset="-120"/>
              </a:rPr>
              <a:t>Label</a:t>
            </a:r>
            <a:endParaRPr lang="en-US" sz="1933" dirty="0"/>
          </a:p>
        </p:txBody>
      </p:sp>
      <p:sp>
        <p:nvSpPr>
          <p:cNvPr id="26" name="Text 21"/>
          <p:cNvSpPr/>
          <p:nvPr/>
        </p:nvSpPr>
        <p:spPr>
          <a:xfrm>
            <a:off x="5254752" y="3718560"/>
            <a:ext cx="1682496" cy="853440"/>
          </a:xfrm>
          <a:prstGeom prst="rect">
            <a:avLst/>
          </a:prstGeom>
          <a:noFill/>
          <a:ln/>
        </p:spPr>
        <p:txBody>
          <a:bodyPr wrap="square" lIns="0" tIns="0" rIns="0" bIns="0" rtlCol="0" anchor="ctr"/>
          <a:lstStyle/>
          <a:p>
            <a:pPr algn="ctr"/>
            <a:r>
              <a:rPr lang="en-US" sz="1400" dirty="0">
                <a:solidFill>
                  <a:srgbClr val="64748B"/>
                </a:solidFill>
                <a:latin typeface="Calibri" pitchFamily="34" charset="0"/>
                <a:ea typeface="Calibri" pitchFamily="34" charset="-122"/>
                <a:cs typeface="Calibri" pitchFamily="34" charset="-120"/>
              </a:rPr>
              <a:t>Classify &amp; approve</a:t>
            </a:r>
            <a:endParaRPr lang="en-US" sz="1400" dirty="0"/>
          </a:p>
        </p:txBody>
      </p:sp>
      <p:sp>
        <p:nvSpPr>
          <p:cNvPr id="27" name="Shape 22"/>
          <p:cNvSpPr/>
          <p:nvPr/>
        </p:nvSpPr>
        <p:spPr>
          <a:xfrm rot="5400000">
            <a:off x="7132320" y="3291840"/>
            <a:ext cx="207264" cy="243840"/>
          </a:xfrm>
          <a:prstGeom prst="rtTriangle">
            <a:avLst/>
          </a:prstGeom>
          <a:solidFill>
            <a:srgbClr val="64748B"/>
          </a:solidFill>
          <a:ln w="12700">
            <a:solidFill>
              <a:srgbClr val="64748B"/>
            </a:solidFill>
            <a:prstDash val="solid"/>
          </a:ln>
        </p:spPr>
        <p:txBody>
          <a:bodyPr/>
          <a:lstStyle/>
          <a:p>
            <a:endParaRPr lang="en-US" sz="2400"/>
          </a:p>
        </p:txBody>
      </p:sp>
      <p:sp>
        <p:nvSpPr>
          <p:cNvPr id="28" name="Shape 23"/>
          <p:cNvSpPr/>
          <p:nvPr/>
        </p:nvSpPr>
        <p:spPr>
          <a:xfrm>
            <a:off x="7351776" y="2072640"/>
            <a:ext cx="2048256" cy="2682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9" name="Shape 24"/>
          <p:cNvSpPr/>
          <p:nvPr/>
        </p:nvSpPr>
        <p:spPr>
          <a:xfrm>
            <a:off x="7351776" y="2072640"/>
            <a:ext cx="2048256" cy="97536"/>
          </a:xfrm>
          <a:prstGeom prst="rect">
            <a:avLst/>
          </a:prstGeom>
          <a:solidFill>
            <a:srgbClr val="F59E0B"/>
          </a:solidFill>
          <a:ln w="12700">
            <a:solidFill>
              <a:srgbClr val="F59E0B"/>
            </a:solidFill>
            <a:prstDash val="solid"/>
          </a:ln>
        </p:spPr>
        <p:txBody>
          <a:bodyPr/>
          <a:lstStyle/>
          <a:p>
            <a:endParaRPr lang="en-US" sz="2400"/>
          </a:p>
        </p:txBody>
      </p:sp>
      <p:sp>
        <p:nvSpPr>
          <p:cNvPr id="30" name="Shape 25"/>
          <p:cNvSpPr/>
          <p:nvPr/>
        </p:nvSpPr>
        <p:spPr>
          <a:xfrm>
            <a:off x="7534656" y="2316480"/>
            <a:ext cx="512064" cy="512064"/>
          </a:xfrm>
          <a:prstGeom prst="ellipse">
            <a:avLst/>
          </a:prstGeom>
          <a:solidFill>
            <a:srgbClr val="F59E0B"/>
          </a:solidFill>
          <a:ln w="12700">
            <a:solidFill>
              <a:srgbClr val="F59E0B"/>
            </a:solidFill>
            <a:prstDash val="solid"/>
          </a:ln>
        </p:spPr>
        <p:txBody>
          <a:bodyPr/>
          <a:lstStyle/>
          <a:p>
            <a:endParaRPr lang="en-US" sz="2400"/>
          </a:p>
        </p:txBody>
      </p:sp>
      <p:sp>
        <p:nvSpPr>
          <p:cNvPr id="31" name="Text 26"/>
          <p:cNvSpPr/>
          <p:nvPr/>
        </p:nvSpPr>
        <p:spPr>
          <a:xfrm>
            <a:off x="7534656" y="2340864"/>
            <a:ext cx="512064" cy="512064"/>
          </a:xfrm>
          <a:prstGeom prst="rect">
            <a:avLst/>
          </a:prstGeom>
          <a:noFill/>
          <a:ln/>
        </p:spPr>
        <p:txBody>
          <a:bodyPr wrap="square" lIns="0" tIns="0" rIns="0" bIns="0" rtlCol="0" anchor="ctr"/>
          <a:lstStyle/>
          <a:p>
            <a:pPr algn="ctr"/>
            <a:r>
              <a:rPr lang="en-US" sz="1733" b="1" dirty="0">
                <a:solidFill>
                  <a:srgbClr val="FFFFFF"/>
                </a:solidFill>
                <a:latin typeface="Georgia" pitchFamily="34" charset="0"/>
                <a:ea typeface="Georgia" pitchFamily="34" charset="-122"/>
                <a:cs typeface="Georgia" pitchFamily="34" charset="-120"/>
              </a:rPr>
              <a:t>4</a:t>
            </a:r>
            <a:endParaRPr lang="en-US" sz="1733" dirty="0"/>
          </a:p>
        </p:txBody>
      </p:sp>
      <p:pic>
        <p:nvPicPr>
          <p:cNvPr id="32" name="Image 3" descr="preencoded.png"/>
          <p:cNvPicPr>
            <a:picLocks noChangeAspect="1"/>
          </p:cNvPicPr>
          <p:nvPr/>
        </p:nvPicPr>
        <p:blipFill>
          <a:blip r:embed="rId6"/>
          <a:stretch>
            <a:fillRect/>
          </a:stretch>
        </p:blipFill>
        <p:spPr>
          <a:xfrm>
            <a:off x="8729472" y="2340864"/>
            <a:ext cx="463296" cy="463296"/>
          </a:xfrm>
          <a:prstGeom prst="rect">
            <a:avLst/>
          </a:prstGeom>
        </p:spPr>
      </p:pic>
      <p:sp>
        <p:nvSpPr>
          <p:cNvPr id="33" name="Text 27"/>
          <p:cNvSpPr/>
          <p:nvPr/>
        </p:nvSpPr>
        <p:spPr>
          <a:xfrm>
            <a:off x="7473696" y="3072384"/>
            <a:ext cx="1804416" cy="548640"/>
          </a:xfrm>
          <a:prstGeom prst="rect">
            <a:avLst/>
          </a:prstGeom>
          <a:noFill/>
          <a:ln/>
        </p:spPr>
        <p:txBody>
          <a:bodyPr wrap="square" lIns="0" tIns="0" rIns="0" bIns="0" rtlCol="0" anchor="ctr"/>
          <a:lstStyle/>
          <a:p>
            <a:pPr algn="ctr"/>
            <a:r>
              <a:rPr lang="en-US" sz="1933" b="1" dirty="0">
                <a:solidFill>
                  <a:srgbClr val="1A1D3A"/>
                </a:solidFill>
                <a:latin typeface="Georgia" pitchFamily="34" charset="0"/>
                <a:ea typeface="Georgia" pitchFamily="34" charset="-122"/>
                <a:cs typeface="Georgia" pitchFamily="34" charset="-120"/>
              </a:rPr>
              <a:t>Train</a:t>
            </a:r>
            <a:endParaRPr lang="en-US" sz="1933" dirty="0"/>
          </a:p>
        </p:txBody>
      </p:sp>
      <p:sp>
        <p:nvSpPr>
          <p:cNvPr id="34" name="Text 28"/>
          <p:cNvSpPr/>
          <p:nvPr/>
        </p:nvSpPr>
        <p:spPr>
          <a:xfrm>
            <a:off x="7534656" y="3718560"/>
            <a:ext cx="1682496" cy="853440"/>
          </a:xfrm>
          <a:prstGeom prst="rect">
            <a:avLst/>
          </a:prstGeom>
          <a:noFill/>
          <a:ln/>
        </p:spPr>
        <p:txBody>
          <a:bodyPr wrap="square" lIns="0" tIns="0" rIns="0" bIns="0" rtlCol="0" anchor="ctr"/>
          <a:lstStyle/>
          <a:p>
            <a:pPr algn="ctr"/>
            <a:r>
              <a:rPr lang="en-US" sz="1400" dirty="0">
                <a:solidFill>
                  <a:srgbClr val="64748B"/>
                </a:solidFill>
                <a:latin typeface="Calibri" pitchFamily="34" charset="0"/>
                <a:ea typeface="Calibri" pitchFamily="34" charset="-122"/>
                <a:cs typeface="Calibri" pitchFamily="34" charset="-120"/>
              </a:rPr>
              <a:t>Fine-tune in Foundry</a:t>
            </a:r>
            <a:endParaRPr lang="en-US" sz="1400" dirty="0"/>
          </a:p>
        </p:txBody>
      </p:sp>
      <p:sp>
        <p:nvSpPr>
          <p:cNvPr id="35" name="Shape 29"/>
          <p:cNvSpPr/>
          <p:nvPr/>
        </p:nvSpPr>
        <p:spPr>
          <a:xfrm rot="5400000">
            <a:off x="9412224" y="3291840"/>
            <a:ext cx="207264" cy="243840"/>
          </a:xfrm>
          <a:prstGeom prst="rtTriangle">
            <a:avLst/>
          </a:prstGeom>
          <a:solidFill>
            <a:srgbClr val="64748B"/>
          </a:solidFill>
          <a:ln w="12700">
            <a:solidFill>
              <a:srgbClr val="64748B"/>
            </a:solidFill>
            <a:prstDash val="solid"/>
          </a:ln>
        </p:spPr>
        <p:txBody>
          <a:bodyPr/>
          <a:lstStyle/>
          <a:p>
            <a:endParaRPr lang="en-US" sz="2400"/>
          </a:p>
        </p:txBody>
      </p:sp>
      <p:sp>
        <p:nvSpPr>
          <p:cNvPr id="36" name="Shape 30"/>
          <p:cNvSpPr/>
          <p:nvPr/>
        </p:nvSpPr>
        <p:spPr>
          <a:xfrm>
            <a:off x="9631680" y="2072640"/>
            <a:ext cx="2048256" cy="2682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7" name="Shape 31"/>
          <p:cNvSpPr/>
          <p:nvPr/>
        </p:nvSpPr>
        <p:spPr>
          <a:xfrm>
            <a:off x="9631680" y="2072640"/>
            <a:ext cx="2048256" cy="97536"/>
          </a:xfrm>
          <a:prstGeom prst="rect">
            <a:avLst/>
          </a:prstGeom>
          <a:solidFill>
            <a:srgbClr val="EC4899"/>
          </a:solidFill>
          <a:ln w="12700">
            <a:solidFill>
              <a:srgbClr val="EC4899"/>
            </a:solidFill>
            <a:prstDash val="solid"/>
          </a:ln>
        </p:spPr>
        <p:txBody>
          <a:bodyPr/>
          <a:lstStyle/>
          <a:p>
            <a:endParaRPr lang="en-US" sz="2400"/>
          </a:p>
        </p:txBody>
      </p:sp>
      <p:sp>
        <p:nvSpPr>
          <p:cNvPr id="38" name="Shape 32"/>
          <p:cNvSpPr/>
          <p:nvPr/>
        </p:nvSpPr>
        <p:spPr>
          <a:xfrm>
            <a:off x="9814560" y="2316480"/>
            <a:ext cx="512064" cy="512064"/>
          </a:xfrm>
          <a:prstGeom prst="ellipse">
            <a:avLst/>
          </a:prstGeom>
          <a:solidFill>
            <a:srgbClr val="EC4899"/>
          </a:solidFill>
          <a:ln w="12700">
            <a:solidFill>
              <a:srgbClr val="EC4899"/>
            </a:solidFill>
            <a:prstDash val="solid"/>
          </a:ln>
        </p:spPr>
        <p:txBody>
          <a:bodyPr/>
          <a:lstStyle/>
          <a:p>
            <a:endParaRPr lang="en-US" sz="2400"/>
          </a:p>
        </p:txBody>
      </p:sp>
      <p:sp>
        <p:nvSpPr>
          <p:cNvPr id="39" name="Text 33"/>
          <p:cNvSpPr/>
          <p:nvPr/>
        </p:nvSpPr>
        <p:spPr>
          <a:xfrm>
            <a:off x="9814560" y="2340864"/>
            <a:ext cx="512064" cy="512064"/>
          </a:xfrm>
          <a:prstGeom prst="rect">
            <a:avLst/>
          </a:prstGeom>
          <a:noFill/>
          <a:ln/>
        </p:spPr>
        <p:txBody>
          <a:bodyPr wrap="square" lIns="0" tIns="0" rIns="0" bIns="0" rtlCol="0" anchor="ctr"/>
          <a:lstStyle/>
          <a:p>
            <a:pPr algn="ctr"/>
            <a:r>
              <a:rPr lang="en-US" sz="1733" b="1" dirty="0">
                <a:solidFill>
                  <a:srgbClr val="FFFFFF"/>
                </a:solidFill>
                <a:latin typeface="Georgia" pitchFamily="34" charset="0"/>
                <a:ea typeface="Georgia" pitchFamily="34" charset="-122"/>
                <a:cs typeface="Georgia" pitchFamily="34" charset="-120"/>
              </a:rPr>
              <a:t>5</a:t>
            </a:r>
            <a:endParaRPr lang="en-US" sz="1733" dirty="0"/>
          </a:p>
        </p:txBody>
      </p:sp>
      <p:pic>
        <p:nvPicPr>
          <p:cNvPr id="40" name="Image 4" descr="preencoded.png"/>
          <p:cNvPicPr>
            <a:picLocks noChangeAspect="1"/>
          </p:cNvPicPr>
          <p:nvPr/>
        </p:nvPicPr>
        <p:blipFill>
          <a:blip r:embed="rId7"/>
          <a:stretch>
            <a:fillRect/>
          </a:stretch>
        </p:blipFill>
        <p:spPr>
          <a:xfrm>
            <a:off x="11009376" y="2340864"/>
            <a:ext cx="463296" cy="463296"/>
          </a:xfrm>
          <a:prstGeom prst="rect">
            <a:avLst/>
          </a:prstGeom>
        </p:spPr>
      </p:pic>
      <p:sp>
        <p:nvSpPr>
          <p:cNvPr id="41" name="Text 34"/>
          <p:cNvSpPr/>
          <p:nvPr/>
        </p:nvSpPr>
        <p:spPr>
          <a:xfrm>
            <a:off x="9753600" y="3072384"/>
            <a:ext cx="1804416" cy="548640"/>
          </a:xfrm>
          <a:prstGeom prst="rect">
            <a:avLst/>
          </a:prstGeom>
          <a:noFill/>
          <a:ln/>
        </p:spPr>
        <p:txBody>
          <a:bodyPr wrap="square" lIns="0" tIns="0" rIns="0" bIns="0" rtlCol="0" anchor="ctr"/>
          <a:lstStyle/>
          <a:p>
            <a:pPr algn="ctr"/>
            <a:r>
              <a:rPr lang="en-US" sz="1933" b="1" dirty="0">
                <a:solidFill>
                  <a:srgbClr val="1A1D3A"/>
                </a:solidFill>
                <a:latin typeface="Georgia" pitchFamily="34" charset="0"/>
                <a:ea typeface="Georgia" pitchFamily="34" charset="-122"/>
                <a:cs typeface="Georgia" pitchFamily="34" charset="-120"/>
              </a:rPr>
              <a:t>Register</a:t>
            </a:r>
            <a:endParaRPr lang="en-US" sz="1933" dirty="0"/>
          </a:p>
        </p:txBody>
      </p:sp>
      <p:sp>
        <p:nvSpPr>
          <p:cNvPr id="42" name="Text 35"/>
          <p:cNvSpPr/>
          <p:nvPr/>
        </p:nvSpPr>
        <p:spPr>
          <a:xfrm>
            <a:off x="9814560" y="3718560"/>
            <a:ext cx="1682496" cy="853440"/>
          </a:xfrm>
          <a:prstGeom prst="rect">
            <a:avLst/>
          </a:prstGeom>
          <a:noFill/>
          <a:ln/>
        </p:spPr>
        <p:txBody>
          <a:bodyPr wrap="square" lIns="0" tIns="0" rIns="0" bIns="0" rtlCol="0" anchor="ctr"/>
          <a:lstStyle/>
          <a:p>
            <a:pPr algn="ctr"/>
            <a:r>
              <a:rPr lang="en-US" sz="1400" dirty="0">
                <a:solidFill>
                  <a:srgbClr val="64748B"/>
                </a:solidFill>
                <a:latin typeface="Calibri" pitchFamily="34" charset="0"/>
                <a:ea typeface="Calibri" pitchFamily="34" charset="-122"/>
                <a:cs typeface="Calibri" pitchFamily="34" charset="-120"/>
              </a:rPr>
              <a:t>Governed model card</a:t>
            </a:r>
            <a:endParaRPr lang="en-US" sz="1400" dirty="0"/>
          </a:p>
        </p:txBody>
      </p:sp>
      <p:sp>
        <p:nvSpPr>
          <p:cNvPr id="43" name="Shape 36"/>
          <p:cNvSpPr/>
          <p:nvPr/>
        </p:nvSpPr>
        <p:spPr>
          <a:xfrm>
            <a:off x="609600" y="5181600"/>
            <a:ext cx="6644640" cy="914400"/>
          </a:xfrm>
          <a:prstGeom prst="rect">
            <a:avLst/>
          </a:prstGeom>
          <a:solidFill>
            <a:srgbClr val="0D9488"/>
          </a:solidFill>
          <a:ln w="12700">
            <a:solidFill>
              <a:srgbClr val="0D9488"/>
            </a:solidFill>
            <a:prstDash val="solid"/>
          </a:ln>
        </p:spPr>
        <p:txBody>
          <a:bodyPr/>
          <a:lstStyle/>
          <a:p>
            <a:endParaRPr lang="en-US" sz="2400"/>
          </a:p>
        </p:txBody>
      </p:sp>
      <p:pic>
        <p:nvPicPr>
          <p:cNvPr id="44" name="Image 5" descr="preencoded.png"/>
          <p:cNvPicPr>
            <a:picLocks noChangeAspect="1"/>
          </p:cNvPicPr>
          <p:nvPr/>
        </p:nvPicPr>
        <p:blipFill>
          <a:blip r:embed="rId8"/>
          <a:stretch>
            <a:fillRect/>
          </a:stretch>
        </p:blipFill>
        <p:spPr>
          <a:xfrm>
            <a:off x="853440" y="5401056"/>
            <a:ext cx="487680" cy="487680"/>
          </a:xfrm>
          <a:prstGeom prst="rect">
            <a:avLst/>
          </a:prstGeom>
        </p:spPr>
      </p:pic>
      <p:sp>
        <p:nvSpPr>
          <p:cNvPr id="45" name="Text 37"/>
          <p:cNvSpPr/>
          <p:nvPr/>
        </p:nvSpPr>
        <p:spPr>
          <a:xfrm>
            <a:off x="1463040" y="5266944"/>
            <a:ext cx="573024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Microsoft Purview — Data governance</a:t>
            </a:r>
            <a:endParaRPr lang="en-US" sz="1600" dirty="0"/>
          </a:p>
        </p:txBody>
      </p:sp>
      <p:sp>
        <p:nvSpPr>
          <p:cNvPr id="46" name="Text 38"/>
          <p:cNvSpPr/>
          <p:nvPr/>
        </p:nvSpPr>
        <p:spPr>
          <a:xfrm>
            <a:off x="1463040" y="5632704"/>
            <a:ext cx="5730240" cy="365760"/>
          </a:xfrm>
          <a:prstGeom prst="rect">
            <a:avLst/>
          </a:prstGeom>
          <a:noFill/>
          <a:ln/>
        </p:spPr>
        <p:txBody>
          <a:bodyPr wrap="square" lIns="0" tIns="0" rIns="0" bIns="0" rtlCol="0" anchor="ctr"/>
          <a:lstStyle/>
          <a:p>
            <a:r>
              <a:rPr lang="en-US" sz="1400" i="1" dirty="0">
                <a:solidFill>
                  <a:srgbClr val="CADCFC"/>
                </a:solidFill>
                <a:latin typeface="Calibri" pitchFamily="34" charset="0"/>
                <a:ea typeface="Calibri" pitchFamily="34" charset="-122"/>
                <a:cs typeface="Calibri" pitchFamily="34" charset="-120"/>
              </a:rPr>
              <a:t>Source · Curate · Label</a:t>
            </a:r>
            <a:endParaRPr lang="en-US" sz="1400" dirty="0"/>
          </a:p>
        </p:txBody>
      </p:sp>
      <p:sp>
        <p:nvSpPr>
          <p:cNvPr id="47" name="Shape 39"/>
          <p:cNvSpPr/>
          <p:nvPr/>
        </p:nvSpPr>
        <p:spPr>
          <a:xfrm>
            <a:off x="7376160" y="5181600"/>
            <a:ext cx="4206240" cy="914400"/>
          </a:xfrm>
          <a:prstGeom prst="rect">
            <a:avLst/>
          </a:prstGeom>
          <a:solidFill>
            <a:srgbClr val="8B5CF6"/>
          </a:solidFill>
          <a:ln w="12700">
            <a:solidFill>
              <a:srgbClr val="8B5CF6"/>
            </a:solidFill>
            <a:prstDash val="solid"/>
          </a:ln>
        </p:spPr>
        <p:txBody>
          <a:bodyPr/>
          <a:lstStyle/>
          <a:p>
            <a:endParaRPr lang="en-US" sz="2400"/>
          </a:p>
        </p:txBody>
      </p:sp>
      <p:pic>
        <p:nvPicPr>
          <p:cNvPr id="48" name="Image 6" descr="preencoded.png"/>
          <p:cNvPicPr>
            <a:picLocks noChangeAspect="1"/>
          </p:cNvPicPr>
          <p:nvPr/>
        </p:nvPicPr>
        <p:blipFill>
          <a:blip r:embed="rId9"/>
          <a:stretch>
            <a:fillRect/>
          </a:stretch>
        </p:blipFill>
        <p:spPr>
          <a:xfrm>
            <a:off x="7583424" y="5401056"/>
            <a:ext cx="487680" cy="487680"/>
          </a:xfrm>
          <a:prstGeom prst="rect">
            <a:avLst/>
          </a:prstGeom>
        </p:spPr>
      </p:pic>
      <p:sp>
        <p:nvSpPr>
          <p:cNvPr id="49" name="Text 40"/>
          <p:cNvSpPr/>
          <p:nvPr/>
        </p:nvSpPr>
        <p:spPr>
          <a:xfrm>
            <a:off x="8229600" y="5266944"/>
            <a:ext cx="329184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Microsoft Foundry</a:t>
            </a:r>
            <a:endParaRPr lang="en-US" sz="1600" dirty="0"/>
          </a:p>
        </p:txBody>
      </p:sp>
      <p:sp>
        <p:nvSpPr>
          <p:cNvPr id="50" name="Text 41"/>
          <p:cNvSpPr/>
          <p:nvPr/>
        </p:nvSpPr>
        <p:spPr>
          <a:xfrm>
            <a:off x="8229600" y="5632704"/>
            <a:ext cx="3291840" cy="365760"/>
          </a:xfrm>
          <a:prstGeom prst="rect">
            <a:avLst/>
          </a:prstGeom>
          <a:noFill/>
          <a:ln/>
        </p:spPr>
        <p:txBody>
          <a:bodyPr wrap="square" lIns="0" tIns="0" rIns="0" bIns="0" rtlCol="0" anchor="ctr"/>
          <a:lstStyle/>
          <a:p>
            <a:r>
              <a:rPr lang="en-US" sz="1400" i="1" dirty="0">
                <a:solidFill>
                  <a:srgbClr val="CADCFC"/>
                </a:solidFill>
                <a:latin typeface="Calibri" pitchFamily="34" charset="0"/>
                <a:ea typeface="Calibri" pitchFamily="34" charset="-122"/>
                <a:cs typeface="Calibri" pitchFamily="34" charset="-120"/>
              </a:rPr>
              <a:t>Train · Register</a:t>
            </a:r>
            <a:endParaRPr lang="en-US" sz="1400" dirty="0"/>
          </a:p>
        </p:txBody>
      </p:sp>
      <p:sp>
        <p:nvSpPr>
          <p:cNvPr id="51" name="Shape 4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52" name="Text 4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53" name="Text 4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3 / 9</a:t>
            </a:r>
            <a:endParaRPr lang="en-US" sz="1200" dirty="0"/>
          </a:p>
        </p:txBody>
      </p:sp>
      <p:sp>
        <p:nvSpPr>
          <p:cNvPr id="54" name="Hidden Title 54" descr="Slide title: The Training Data Lifecycle"/>
          <p:cNvSpPr>
            <a:spLocks noGrp="1"/>
          </p:cNvSpPr>
          <p:nvPr>
            <p:ph type="title"/>
          </p:nvPr>
        </p:nvSpPr>
        <p:spPr>
          <a:xfrm>
            <a:off x="0" y="-457200"/>
            <a:ext cx="9144000" cy="457200"/>
          </a:xfrm>
        </p:spPr>
        <p:txBody>
          <a:bodyPr/>
          <a:lstStyle/>
          <a:p>
            <a:r>
              <a:rPr lang="en-US" sz="100" dirty="0"/>
              <a:t>The Training Data Lifecycle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42672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07136" y="524256"/>
            <a:ext cx="487680" cy="487680"/>
          </a:xfrm>
          <a:prstGeom prst="rect">
            <a:avLst/>
          </a:prstGeom>
        </p:spPr>
      </p:pic>
      <p:sp>
        <p:nvSpPr>
          <p:cNvPr id="4" name="Text 1"/>
          <p:cNvSpPr/>
          <p:nvPr/>
        </p:nvSpPr>
        <p:spPr>
          <a:xfrm>
            <a:off x="1463040" y="426720"/>
            <a:ext cx="9753600" cy="670560"/>
          </a:xfrm>
          <a:prstGeom prst="rect">
            <a:avLst/>
          </a:prstGeom>
          <a:noFill/>
          <a:ln/>
        </p:spPr>
        <p:txBody>
          <a:bodyPr wrap="square" lIns="0" tIns="0" rIns="0" bIns="0" rtlCol="0" anchor="ctr"/>
          <a:lstStyle/>
          <a:p>
            <a:r>
              <a:rPr lang="en-US" sz="3467" b="1" dirty="0">
                <a:solidFill>
                  <a:srgbClr val="1A1D3A"/>
                </a:solidFill>
                <a:latin typeface="Georgia" pitchFamily="34" charset="0"/>
                <a:ea typeface="Georgia" pitchFamily="34" charset="-122"/>
                <a:cs typeface="Georgia" pitchFamily="34" charset="-120"/>
              </a:rPr>
              <a:t>Purview Unified Catalog — Training Data</a:t>
            </a:r>
            <a:endParaRPr lang="en-US" sz="3467" dirty="0"/>
          </a:p>
        </p:txBody>
      </p:sp>
      <p:sp>
        <p:nvSpPr>
          <p:cNvPr id="5" name="Text 2"/>
          <p:cNvSpPr/>
          <p:nvPr/>
        </p:nvSpPr>
        <p:spPr>
          <a:xfrm>
            <a:off x="1463040" y="1158240"/>
            <a:ext cx="97536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Turn a raw source into an approved, governed training dataset.</a:t>
            </a:r>
            <a:endParaRPr lang="en-US" sz="1733" dirty="0"/>
          </a:p>
        </p:txBody>
      </p:sp>
      <p:sp>
        <p:nvSpPr>
          <p:cNvPr id="6" name="Shape 3"/>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7" name="Shape 4"/>
          <p:cNvSpPr/>
          <p:nvPr/>
        </p:nvSpPr>
        <p:spPr>
          <a:xfrm>
            <a:off x="54864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8" name="Shape 5"/>
          <p:cNvSpPr/>
          <p:nvPr/>
        </p:nvSpPr>
        <p:spPr>
          <a:xfrm>
            <a:off x="853440" y="2255520"/>
            <a:ext cx="670560" cy="670560"/>
          </a:xfrm>
          <a:prstGeom prst="ellipse">
            <a:avLst/>
          </a:prstGeom>
          <a:solidFill>
            <a:srgbClr val="2B4EC7"/>
          </a:solidFill>
          <a:ln w="12700">
            <a:solidFill>
              <a:srgbClr val="2B4EC7"/>
            </a:solidFill>
            <a:prstDash val="solid"/>
          </a:ln>
        </p:spPr>
        <p:txBody>
          <a:bodyPr/>
          <a:lstStyle/>
          <a:p>
            <a:endParaRPr lang="en-US" sz="2400"/>
          </a:p>
        </p:txBody>
      </p:sp>
      <p:pic>
        <p:nvPicPr>
          <p:cNvPr id="9" name="Image 1" descr="preencoded.png"/>
          <p:cNvPicPr>
            <a:picLocks noChangeAspect="1"/>
          </p:cNvPicPr>
          <p:nvPr/>
        </p:nvPicPr>
        <p:blipFill>
          <a:blip r:embed="rId4"/>
          <a:stretch>
            <a:fillRect/>
          </a:stretch>
        </p:blipFill>
        <p:spPr>
          <a:xfrm>
            <a:off x="963168" y="2365248"/>
            <a:ext cx="451104" cy="451104"/>
          </a:xfrm>
          <a:prstGeom prst="rect">
            <a:avLst/>
          </a:prstGeom>
        </p:spPr>
      </p:pic>
      <p:sp>
        <p:nvSpPr>
          <p:cNvPr id="10" name="Text 6"/>
          <p:cNvSpPr/>
          <p:nvPr/>
        </p:nvSpPr>
        <p:spPr>
          <a:xfrm>
            <a:off x="170688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Data Products</a:t>
            </a:r>
            <a:endParaRPr lang="en-US" dirty="0"/>
          </a:p>
        </p:txBody>
      </p:sp>
      <p:sp>
        <p:nvSpPr>
          <p:cNvPr id="11" name="Text 7"/>
          <p:cNvSpPr/>
          <p:nvPr/>
        </p:nvSpPr>
        <p:spPr>
          <a:xfrm>
            <a:off x="85344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Register the training set as a versioned, searchable product in the catalog.</a:t>
            </a:r>
            <a:endParaRPr lang="en-US" sz="1467" dirty="0"/>
          </a:p>
        </p:txBody>
      </p:sp>
      <p:sp>
        <p:nvSpPr>
          <p:cNvPr id="12" name="Shape 8"/>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3" name="Shape 9"/>
          <p:cNvSpPr/>
          <p:nvPr/>
        </p:nvSpPr>
        <p:spPr>
          <a:xfrm>
            <a:off x="432816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14" name="Shape 10"/>
          <p:cNvSpPr/>
          <p:nvPr/>
        </p:nvSpPr>
        <p:spPr>
          <a:xfrm>
            <a:off x="4632960" y="22555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15" name="Image 2" descr="preencoded.png"/>
          <p:cNvPicPr>
            <a:picLocks noChangeAspect="1"/>
          </p:cNvPicPr>
          <p:nvPr/>
        </p:nvPicPr>
        <p:blipFill>
          <a:blip r:embed="rId5"/>
          <a:stretch>
            <a:fillRect/>
          </a:stretch>
        </p:blipFill>
        <p:spPr>
          <a:xfrm>
            <a:off x="4742688" y="2365248"/>
            <a:ext cx="451104" cy="451104"/>
          </a:xfrm>
          <a:prstGeom prst="rect">
            <a:avLst/>
          </a:prstGeom>
        </p:spPr>
      </p:pic>
      <p:sp>
        <p:nvSpPr>
          <p:cNvPr id="16" name="Text 11"/>
          <p:cNvSpPr/>
          <p:nvPr/>
        </p:nvSpPr>
        <p:spPr>
          <a:xfrm>
            <a:off x="548640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Auto-Classification</a:t>
            </a:r>
            <a:endParaRPr lang="en-US" dirty="0"/>
          </a:p>
        </p:txBody>
      </p:sp>
      <p:sp>
        <p:nvSpPr>
          <p:cNvPr id="17" name="Text 12"/>
          <p:cNvSpPr/>
          <p:nvPr/>
        </p:nvSpPr>
        <p:spPr>
          <a:xfrm>
            <a:off x="463296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Scan columns for PII, PHI, secrets; flag fields that need redaction before training.</a:t>
            </a:r>
            <a:endParaRPr lang="en-US" sz="1467" dirty="0"/>
          </a:p>
        </p:txBody>
      </p:sp>
      <p:sp>
        <p:nvSpPr>
          <p:cNvPr id="18" name="Shape 13"/>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9" name="Shape 14"/>
          <p:cNvSpPr/>
          <p:nvPr/>
        </p:nvSpPr>
        <p:spPr>
          <a:xfrm>
            <a:off x="8107680" y="188976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20" name="Shape 15"/>
          <p:cNvSpPr/>
          <p:nvPr/>
        </p:nvSpPr>
        <p:spPr>
          <a:xfrm>
            <a:off x="8412480" y="225552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21" name="Image 3" descr="preencoded.png"/>
          <p:cNvPicPr>
            <a:picLocks noChangeAspect="1"/>
          </p:cNvPicPr>
          <p:nvPr/>
        </p:nvPicPr>
        <p:blipFill>
          <a:blip r:embed="rId6"/>
          <a:stretch>
            <a:fillRect/>
          </a:stretch>
        </p:blipFill>
        <p:spPr>
          <a:xfrm>
            <a:off x="8522208" y="2365248"/>
            <a:ext cx="451104" cy="451104"/>
          </a:xfrm>
          <a:prstGeom prst="rect">
            <a:avLst/>
          </a:prstGeom>
        </p:spPr>
      </p:pic>
      <p:sp>
        <p:nvSpPr>
          <p:cNvPr id="22" name="Text 16"/>
          <p:cNvSpPr/>
          <p:nvPr/>
        </p:nvSpPr>
        <p:spPr>
          <a:xfrm>
            <a:off x="926592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Sensitivity Labels</a:t>
            </a:r>
            <a:endParaRPr lang="en-US" dirty="0"/>
          </a:p>
        </p:txBody>
      </p:sp>
      <p:sp>
        <p:nvSpPr>
          <p:cNvPr id="23" name="Text 17"/>
          <p:cNvSpPr/>
          <p:nvPr/>
        </p:nvSpPr>
        <p:spPr>
          <a:xfrm>
            <a:off x="841248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Apply 'Training — Approved' labels that follow the data into Foundry.</a:t>
            </a:r>
            <a:endParaRPr lang="en-US" sz="1467" dirty="0"/>
          </a:p>
        </p:txBody>
      </p:sp>
      <p:sp>
        <p:nvSpPr>
          <p:cNvPr id="24" name="Shape 18"/>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5" name="Shape 19"/>
          <p:cNvSpPr/>
          <p:nvPr/>
        </p:nvSpPr>
        <p:spPr>
          <a:xfrm>
            <a:off x="548640" y="408432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26" name="Shape 20"/>
          <p:cNvSpPr/>
          <p:nvPr/>
        </p:nvSpPr>
        <p:spPr>
          <a:xfrm>
            <a:off x="853440" y="4450080"/>
            <a:ext cx="670560" cy="670560"/>
          </a:xfrm>
          <a:prstGeom prst="ellipse">
            <a:avLst/>
          </a:prstGeom>
          <a:solidFill>
            <a:srgbClr val="F59E0B"/>
          </a:solidFill>
          <a:ln w="12700">
            <a:solidFill>
              <a:srgbClr val="F59E0B"/>
            </a:solidFill>
            <a:prstDash val="solid"/>
          </a:ln>
        </p:spPr>
        <p:txBody>
          <a:bodyPr/>
          <a:lstStyle/>
          <a:p>
            <a:endParaRPr lang="en-US" sz="2400"/>
          </a:p>
        </p:txBody>
      </p:sp>
      <p:pic>
        <p:nvPicPr>
          <p:cNvPr id="27" name="Image 4" descr="preencoded.png"/>
          <p:cNvPicPr>
            <a:picLocks noChangeAspect="1"/>
          </p:cNvPicPr>
          <p:nvPr/>
        </p:nvPicPr>
        <p:blipFill>
          <a:blip r:embed="rId7"/>
          <a:stretch>
            <a:fillRect/>
          </a:stretch>
        </p:blipFill>
        <p:spPr>
          <a:xfrm>
            <a:off x="963168" y="4559808"/>
            <a:ext cx="451104" cy="451104"/>
          </a:xfrm>
          <a:prstGeom prst="rect">
            <a:avLst/>
          </a:prstGeom>
        </p:spPr>
      </p:pic>
      <p:sp>
        <p:nvSpPr>
          <p:cNvPr id="28" name="Text 21"/>
          <p:cNvSpPr/>
          <p:nvPr/>
        </p:nvSpPr>
        <p:spPr>
          <a:xfrm>
            <a:off x="170688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Quality Rules</a:t>
            </a:r>
            <a:endParaRPr lang="en-US" dirty="0"/>
          </a:p>
        </p:txBody>
      </p:sp>
      <p:sp>
        <p:nvSpPr>
          <p:cNvPr id="29" name="Text 22"/>
          <p:cNvSpPr/>
          <p:nvPr/>
        </p:nvSpPr>
        <p:spPr>
          <a:xfrm>
            <a:off x="85344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Completeness, uniqueness, freshness, and bias checks run on every snapshot.</a:t>
            </a:r>
            <a:endParaRPr lang="en-US" sz="1467" dirty="0"/>
          </a:p>
        </p:txBody>
      </p:sp>
      <p:sp>
        <p:nvSpPr>
          <p:cNvPr id="30" name="Shape 23"/>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1" name="Shape 24"/>
          <p:cNvSpPr/>
          <p:nvPr/>
        </p:nvSpPr>
        <p:spPr>
          <a:xfrm>
            <a:off x="4328160" y="408432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32" name="Shape 25"/>
          <p:cNvSpPr/>
          <p:nvPr/>
        </p:nvSpPr>
        <p:spPr>
          <a:xfrm>
            <a:off x="4632960" y="4450080"/>
            <a:ext cx="670560" cy="670560"/>
          </a:xfrm>
          <a:prstGeom prst="ellipse">
            <a:avLst/>
          </a:prstGeom>
          <a:solidFill>
            <a:srgbClr val="EC4899"/>
          </a:solidFill>
          <a:ln w="12700">
            <a:solidFill>
              <a:srgbClr val="EC4899"/>
            </a:solidFill>
            <a:prstDash val="solid"/>
          </a:ln>
        </p:spPr>
        <p:txBody>
          <a:bodyPr/>
          <a:lstStyle/>
          <a:p>
            <a:endParaRPr lang="en-US" sz="2400"/>
          </a:p>
        </p:txBody>
      </p:sp>
      <p:pic>
        <p:nvPicPr>
          <p:cNvPr id="33" name="Image 5" descr="preencoded.png"/>
          <p:cNvPicPr>
            <a:picLocks noChangeAspect="1"/>
          </p:cNvPicPr>
          <p:nvPr/>
        </p:nvPicPr>
        <p:blipFill>
          <a:blip r:embed="rId8"/>
          <a:stretch>
            <a:fillRect/>
          </a:stretch>
        </p:blipFill>
        <p:spPr>
          <a:xfrm>
            <a:off x="4742688" y="4559808"/>
            <a:ext cx="451104" cy="451104"/>
          </a:xfrm>
          <a:prstGeom prst="rect">
            <a:avLst/>
          </a:prstGeom>
        </p:spPr>
      </p:pic>
      <p:sp>
        <p:nvSpPr>
          <p:cNvPr id="34" name="Text 26"/>
          <p:cNvSpPr/>
          <p:nvPr/>
        </p:nvSpPr>
        <p:spPr>
          <a:xfrm>
            <a:off x="548640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Dataset Versioning</a:t>
            </a:r>
            <a:endParaRPr lang="en-US" dirty="0"/>
          </a:p>
        </p:txBody>
      </p:sp>
      <p:sp>
        <p:nvSpPr>
          <p:cNvPr id="35" name="Text 27"/>
          <p:cNvSpPr/>
          <p:nvPr/>
        </p:nvSpPr>
        <p:spPr>
          <a:xfrm>
            <a:off x="463296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Snapshot lineage — know exactly which rows trained which model.</a:t>
            </a:r>
            <a:endParaRPr lang="en-US" sz="1467" dirty="0"/>
          </a:p>
        </p:txBody>
      </p:sp>
      <p:sp>
        <p:nvSpPr>
          <p:cNvPr id="36" name="Shape 28"/>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7" name="Shape 29"/>
          <p:cNvSpPr/>
          <p:nvPr/>
        </p:nvSpPr>
        <p:spPr>
          <a:xfrm>
            <a:off x="8107680" y="4084320"/>
            <a:ext cx="121920" cy="2011680"/>
          </a:xfrm>
          <a:prstGeom prst="rect">
            <a:avLst/>
          </a:prstGeom>
          <a:solidFill>
            <a:srgbClr val="1E2761"/>
          </a:solidFill>
          <a:ln w="12700">
            <a:solidFill>
              <a:srgbClr val="1E2761"/>
            </a:solidFill>
            <a:prstDash val="solid"/>
          </a:ln>
        </p:spPr>
        <p:txBody>
          <a:bodyPr/>
          <a:lstStyle/>
          <a:p>
            <a:endParaRPr lang="en-US" sz="2400"/>
          </a:p>
        </p:txBody>
      </p:sp>
      <p:sp>
        <p:nvSpPr>
          <p:cNvPr id="38" name="Shape 30"/>
          <p:cNvSpPr/>
          <p:nvPr/>
        </p:nvSpPr>
        <p:spPr>
          <a:xfrm>
            <a:off x="8412480" y="4450080"/>
            <a:ext cx="670560" cy="670560"/>
          </a:xfrm>
          <a:prstGeom prst="ellipse">
            <a:avLst/>
          </a:prstGeom>
          <a:solidFill>
            <a:srgbClr val="1E2761"/>
          </a:solidFill>
          <a:ln w="12700">
            <a:solidFill>
              <a:srgbClr val="1E2761"/>
            </a:solidFill>
            <a:prstDash val="solid"/>
          </a:ln>
        </p:spPr>
        <p:txBody>
          <a:bodyPr/>
          <a:lstStyle/>
          <a:p>
            <a:endParaRPr lang="en-US" sz="2400"/>
          </a:p>
        </p:txBody>
      </p:sp>
      <p:pic>
        <p:nvPicPr>
          <p:cNvPr id="39" name="Image 6" descr="preencoded.png"/>
          <p:cNvPicPr>
            <a:picLocks noChangeAspect="1"/>
          </p:cNvPicPr>
          <p:nvPr/>
        </p:nvPicPr>
        <p:blipFill>
          <a:blip r:embed="rId9"/>
          <a:stretch>
            <a:fillRect/>
          </a:stretch>
        </p:blipFill>
        <p:spPr>
          <a:xfrm>
            <a:off x="8522208" y="4559808"/>
            <a:ext cx="451104" cy="451104"/>
          </a:xfrm>
          <a:prstGeom prst="rect">
            <a:avLst/>
          </a:prstGeom>
        </p:spPr>
      </p:pic>
      <p:sp>
        <p:nvSpPr>
          <p:cNvPr id="40" name="Text 31"/>
          <p:cNvSpPr/>
          <p:nvPr/>
        </p:nvSpPr>
        <p:spPr>
          <a:xfrm>
            <a:off x="926592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Access Policies</a:t>
            </a:r>
            <a:endParaRPr lang="en-US" dirty="0"/>
          </a:p>
        </p:txBody>
      </p:sp>
      <p:sp>
        <p:nvSpPr>
          <p:cNvPr id="41" name="Text 32"/>
          <p:cNvSpPr/>
          <p:nvPr/>
        </p:nvSpPr>
        <p:spPr>
          <a:xfrm>
            <a:off x="841248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Data Reader / Curator scopes gate who can export for training.</a:t>
            </a:r>
            <a:endParaRPr lang="en-US" sz="1467" dirty="0"/>
          </a:p>
        </p:txBody>
      </p:sp>
      <p:sp>
        <p:nvSpPr>
          <p:cNvPr id="42" name="Shape 33"/>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3" name="Text 34"/>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44" name="Text 35"/>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4 / 9</a:t>
            </a:r>
            <a:endParaRPr lang="en-US" sz="1200" dirty="0"/>
          </a:p>
        </p:txBody>
      </p:sp>
      <p:sp>
        <p:nvSpPr>
          <p:cNvPr id="45" name="Hidden Title 45" descr="Slide title: Purview Unified Catalog — Training Data"/>
          <p:cNvSpPr>
            <a:spLocks noGrp="1"/>
          </p:cNvSpPr>
          <p:nvPr>
            <p:ph type="title"/>
          </p:nvPr>
        </p:nvSpPr>
        <p:spPr>
          <a:xfrm>
            <a:off x="0" y="-457200"/>
            <a:ext cx="9144000" cy="457200"/>
          </a:xfrm>
        </p:spPr>
        <p:txBody>
          <a:bodyPr/>
          <a:lstStyle/>
          <a:p>
            <a:r>
              <a:rPr lang="en-US" sz="100" dirty="0"/>
              <a:t>Purview Unified Catalog — Training Data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4267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07136" y="524256"/>
            <a:ext cx="487680" cy="487680"/>
          </a:xfrm>
          <a:prstGeom prst="rect">
            <a:avLst/>
          </a:prstGeom>
        </p:spPr>
      </p:pic>
      <p:sp>
        <p:nvSpPr>
          <p:cNvPr id="4" name="Text 1"/>
          <p:cNvSpPr/>
          <p:nvPr/>
        </p:nvSpPr>
        <p:spPr>
          <a:xfrm>
            <a:off x="1463040" y="426720"/>
            <a:ext cx="9997440" cy="670560"/>
          </a:xfrm>
          <a:prstGeom prst="rect">
            <a:avLst/>
          </a:prstGeom>
          <a:noFill/>
          <a:ln/>
        </p:spPr>
        <p:txBody>
          <a:bodyPr wrap="square" lIns="0" tIns="0" rIns="0" bIns="0" rtlCol="0" anchor="ctr"/>
          <a:lstStyle/>
          <a:p>
            <a:r>
              <a:rPr lang="en-US" sz="3333" b="1" dirty="0">
                <a:solidFill>
                  <a:srgbClr val="1A1D3A"/>
                </a:solidFill>
                <a:latin typeface="Georgia" pitchFamily="34" charset="0"/>
                <a:ea typeface="Georgia" pitchFamily="34" charset="-122"/>
                <a:cs typeface="Georgia" pitchFamily="34" charset="-120"/>
              </a:rPr>
              <a:t>Microsoft Foundry — Training &amp; Model Gov</a:t>
            </a:r>
            <a:endParaRPr lang="en-US" sz="3333" dirty="0"/>
          </a:p>
        </p:txBody>
      </p:sp>
      <p:sp>
        <p:nvSpPr>
          <p:cNvPr id="5" name="Text 2"/>
          <p:cNvSpPr/>
          <p:nvPr/>
        </p:nvSpPr>
        <p:spPr>
          <a:xfrm>
            <a:off x="1463040" y="1158240"/>
            <a:ext cx="97536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From approved dataset to registered, evaluated, compliant model.</a:t>
            </a:r>
            <a:endParaRPr lang="en-US" sz="1733" dirty="0"/>
          </a:p>
        </p:txBody>
      </p:sp>
      <p:sp>
        <p:nvSpPr>
          <p:cNvPr id="6" name="Shape 3"/>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7" name="Shape 4"/>
          <p:cNvSpPr/>
          <p:nvPr/>
        </p:nvSpPr>
        <p:spPr>
          <a:xfrm>
            <a:off x="54864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8" name="Shape 5"/>
          <p:cNvSpPr/>
          <p:nvPr/>
        </p:nvSpPr>
        <p:spPr>
          <a:xfrm>
            <a:off x="853440" y="22555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9" name="Image 1" descr="preencoded.png"/>
          <p:cNvPicPr>
            <a:picLocks noChangeAspect="1"/>
          </p:cNvPicPr>
          <p:nvPr/>
        </p:nvPicPr>
        <p:blipFill>
          <a:blip r:embed="rId4"/>
          <a:stretch>
            <a:fillRect/>
          </a:stretch>
        </p:blipFill>
        <p:spPr>
          <a:xfrm>
            <a:off x="963168" y="2365248"/>
            <a:ext cx="451104" cy="451104"/>
          </a:xfrm>
          <a:prstGeom prst="rect">
            <a:avLst/>
          </a:prstGeom>
        </p:spPr>
      </p:pic>
      <p:sp>
        <p:nvSpPr>
          <p:cNvPr id="10" name="Text 6"/>
          <p:cNvSpPr/>
          <p:nvPr/>
        </p:nvSpPr>
        <p:spPr>
          <a:xfrm>
            <a:off x="170688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Model Catalog</a:t>
            </a:r>
            <a:endParaRPr lang="en-US" dirty="0"/>
          </a:p>
        </p:txBody>
      </p:sp>
      <p:sp>
        <p:nvSpPr>
          <p:cNvPr id="11" name="Text 7"/>
          <p:cNvSpPr/>
          <p:nvPr/>
        </p:nvSpPr>
        <p:spPr>
          <a:xfrm>
            <a:off x="85344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Versioned model cards with dataset lineage, risk tier, and approval state.</a:t>
            </a:r>
            <a:endParaRPr lang="en-US" sz="1467" dirty="0"/>
          </a:p>
        </p:txBody>
      </p:sp>
      <p:sp>
        <p:nvSpPr>
          <p:cNvPr id="12" name="Shape 8"/>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3" name="Shape 9"/>
          <p:cNvSpPr/>
          <p:nvPr/>
        </p:nvSpPr>
        <p:spPr>
          <a:xfrm>
            <a:off x="432816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14" name="Shape 10"/>
          <p:cNvSpPr/>
          <p:nvPr/>
        </p:nvSpPr>
        <p:spPr>
          <a:xfrm>
            <a:off x="4632960" y="2255520"/>
            <a:ext cx="670560" cy="670560"/>
          </a:xfrm>
          <a:prstGeom prst="ellipse">
            <a:avLst/>
          </a:prstGeom>
          <a:solidFill>
            <a:srgbClr val="2B4EC7"/>
          </a:solidFill>
          <a:ln w="12700">
            <a:solidFill>
              <a:srgbClr val="2B4EC7"/>
            </a:solidFill>
            <a:prstDash val="solid"/>
          </a:ln>
        </p:spPr>
        <p:txBody>
          <a:bodyPr/>
          <a:lstStyle/>
          <a:p>
            <a:endParaRPr lang="en-US" sz="2400"/>
          </a:p>
        </p:txBody>
      </p:sp>
      <p:pic>
        <p:nvPicPr>
          <p:cNvPr id="15" name="Image 2" descr="preencoded.png"/>
          <p:cNvPicPr>
            <a:picLocks noChangeAspect="1"/>
          </p:cNvPicPr>
          <p:nvPr/>
        </p:nvPicPr>
        <p:blipFill>
          <a:blip r:embed="rId5"/>
          <a:stretch>
            <a:fillRect/>
          </a:stretch>
        </p:blipFill>
        <p:spPr>
          <a:xfrm>
            <a:off x="4742688" y="2365248"/>
            <a:ext cx="451104" cy="451104"/>
          </a:xfrm>
          <a:prstGeom prst="rect">
            <a:avLst/>
          </a:prstGeom>
        </p:spPr>
      </p:pic>
      <p:sp>
        <p:nvSpPr>
          <p:cNvPr id="16" name="Text 11"/>
          <p:cNvSpPr/>
          <p:nvPr/>
        </p:nvSpPr>
        <p:spPr>
          <a:xfrm>
            <a:off x="548640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Managed Fine-Tuning</a:t>
            </a:r>
            <a:endParaRPr lang="en-US" dirty="0"/>
          </a:p>
        </p:txBody>
      </p:sp>
      <p:sp>
        <p:nvSpPr>
          <p:cNvPr id="17" name="Text 12"/>
          <p:cNvSpPr/>
          <p:nvPr/>
        </p:nvSpPr>
        <p:spPr>
          <a:xfrm>
            <a:off x="463296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Guardrailed training jobs that honor Purview labels on the input dataset.</a:t>
            </a:r>
            <a:endParaRPr lang="en-US" sz="1467" dirty="0"/>
          </a:p>
        </p:txBody>
      </p:sp>
      <p:sp>
        <p:nvSpPr>
          <p:cNvPr id="18" name="Shape 13"/>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9" name="Shape 14"/>
          <p:cNvSpPr/>
          <p:nvPr/>
        </p:nvSpPr>
        <p:spPr>
          <a:xfrm>
            <a:off x="8107680" y="188976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20" name="Shape 15"/>
          <p:cNvSpPr/>
          <p:nvPr/>
        </p:nvSpPr>
        <p:spPr>
          <a:xfrm>
            <a:off x="8412480" y="225552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21" name="Image 3" descr="preencoded.png"/>
          <p:cNvPicPr>
            <a:picLocks noChangeAspect="1"/>
          </p:cNvPicPr>
          <p:nvPr/>
        </p:nvPicPr>
        <p:blipFill>
          <a:blip r:embed="rId6"/>
          <a:stretch>
            <a:fillRect/>
          </a:stretch>
        </p:blipFill>
        <p:spPr>
          <a:xfrm>
            <a:off x="8522208" y="2365248"/>
            <a:ext cx="451104" cy="451104"/>
          </a:xfrm>
          <a:prstGeom prst="rect">
            <a:avLst/>
          </a:prstGeom>
        </p:spPr>
      </p:pic>
      <p:sp>
        <p:nvSpPr>
          <p:cNvPr id="22" name="Text 16"/>
          <p:cNvSpPr/>
          <p:nvPr/>
        </p:nvSpPr>
        <p:spPr>
          <a:xfrm>
            <a:off x="926592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Evaluations Suite</a:t>
            </a:r>
            <a:endParaRPr lang="en-US" dirty="0"/>
          </a:p>
        </p:txBody>
      </p:sp>
      <p:sp>
        <p:nvSpPr>
          <p:cNvPr id="23" name="Text 17"/>
          <p:cNvSpPr/>
          <p:nvPr/>
        </p:nvSpPr>
        <p:spPr>
          <a:xfrm>
            <a:off x="841248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Run quality, safety, bias, and groundedness evals on every training run.</a:t>
            </a:r>
            <a:endParaRPr lang="en-US" sz="1467" dirty="0"/>
          </a:p>
        </p:txBody>
      </p:sp>
      <p:sp>
        <p:nvSpPr>
          <p:cNvPr id="24" name="Shape 18"/>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5" name="Shape 19"/>
          <p:cNvSpPr/>
          <p:nvPr/>
        </p:nvSpPr>
        <p:spPr>
          <a:xfrm>
            <a:off x="548640" y="408432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26" name="Shape 20"/>
          <p:cNvSpPr/>
          <p:nvPr/>
        </p:nvSpPr>
        <p:spPr>
          <a:xfrm>
            <a:off x="853440" y="4450080"/>
            <a:ext cx="670560" cy="670560"/>
          </a:xfrm>
          <a:prstGeom prst="ellipse">
            <a:avLst/>
          </a:prstGeom>
          <a:solidFill>
            <a:srgbClr val="EC4899"/>
          </a:solidFill>
          <a:ln w="12700">
            <a:solidFill>
              <a:srgbClr val="EC4899"/>
            </a:solidFill>
            <a:prstDash val="solid"/>
          </a:ln>
        </p:spPr>
        <p:txBody>
          <a:bodyPr/>
          <a:lstStyle/>
          <a:p>
            <a:endParaRPr lang="en-US" sz="2400"/>
          </a:p>
        </p:txBody>
      </p:sp>
      <p:pic>
        <p:nvPicPr>
          <p:cNvPr id="27" name="Image 4" descr="preencoded.png"/>
          <p:cNvPicPr>
            <a:picLocks noChangeAspect="1"/>
          </p:cNvPicPr>
          <p:nvPr/>
        </p:nvPicPr>
        <p:blipFill>
          <a:blip r:embed="rId7"/>
          <a:stretch>
            <a:fillRect/>
          </a:stretch>
        </p:blipFill>
        <p:spPr>
          <a:xfrm>
            <a:off x="963168" y="4559808"/>
            <a:ext cx="451104" cy="451104"/>
          </a:xfrm>
          <a:prstGeom prst="rect">
            <a:avLst/>
          </a:prstGeom>
        </p:spPr>
      </p:pic>
      <p:sp>
        <p:nvSpPr>
          <p:cNvPr id="28" name="Text 21"/>
          <p:cNvSpPr/>
          <p:nvPr/>
        </p:nvSpPr>
        <p:spPr>
          <a:xfrm>
            <a:off x="170688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Safety Filtering</a:t>
            </a:r>
            <a:endParaRPr lang="en-US" dirty="0"/>
          </a:p>
        </p:txBody>
      </p:sp>
      <p:sp>
        <p:nvSpPr>
          <p:cNvPr id="29" name="Text 22"/>
          <p:cNvSpPr/>
          <p:nvPr/>
        </p:nvSpPr>
        <p:spPr>
          <a:xfrm>
            <a:off x="85344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Pre-training filter for harmful content; post-train Prompt Shields applied.</a:t>
            </a:r>
            <a:endParaRPr lang="en-US" sz="1467" dirty="0"/>
          </a:p>
        </p:txBody>
      </p:sp>
      <p:sp>
        <p:nvSpPr>
          <p:cNvPr id="30" name="Shape 23"/>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1" name="Shape 24"/>
          <p:cNvSpPr/>
          <p:nvPr/>
        </p:nvSpPr>
        <p:spPr>
          <a:xfrm>
            <a:off x="4328160" y="408432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32" name="Shape 25"/>
          <p:cNvSpPr/>
          <p:nvPr/>
        </p:nvSpPr>
        <p:spPr>
          <a:xfrm>
            <a:off x="4632960" y="4450080"/>
            <a:ext cx="670560" cy="670560"/>
          </a:xfrm>
          <a:prstGeom prst="ellipse">
            <a:avLst/>
          </a:prstGeom>
          <a:solidFill>
            <a:srgbClr val="F59E0B"/>
          </a:solidFill>
          <a:ln w="12700">
            <a:solidFill>
              <a:srgbClr val="F59E0B"/>
            </a:solidFill>
            <a:prstDash val="solid"/>
          </a:ln>
        </p:spPr>
        <p:txBody>
          <a:bodyPr/>
          <a:lstStyle/>
          <a:p>
            <a:endParaRPr lang="en-US" sz="2400"/>
          </a:p>
        </p:txBody>
      </p:sp>
      <p:pic>
        <p:nvPicPr>
          <p:cNvPr id="33" name="Image 5" descr="preencoded.png"/>
          <p:cNvPicPr>
            <a:picLocks noChangeAspect="1"/>
          </p:cNvPicPr>
          <p:nvPr/>
        </p:nvPicPr>
        <p:blipFill>
          <a:blip r:embed="rId8"/>
          <a:stretch>
            <a:fillRect/>
          </a:stretch>
        </p:blipFill>
        <p:spPr>
          <a:xfrm>
            <a:off x="4742688" y="4559808"/>
            <a:ext cx="451104" cy="451104"/>
          </a:xfrm>
          <a:prstGeom prst="rect">
            <a:avLst/>
          </a:prstGeom>
        </p:spPr>
      </p:pic>
      <p:sp>
        <p:nvSpPr>
          <p:cNvPr id="34" name="Text 26"/>
          <p:cNvSpPr/>
          <p:nvPr/>
        </p:nvSpPr>
        <p:spPr>
          <a:xfrm>
            <a:off x="548640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Approval Workflows</a:t>
            </a:r>
            <a:endParaRPr lang="en-US" dirty="0"/>
          </a:p>
        </p:txBody>
      </p:sp>
      <p:sp>
        <p:nvSpPr>
          <p:cNvPr id="35" name="Text 27"/>
          <p:cNvSpPr/>
          <p:nvPr/>
        </p:nvSpPr>
        <p:spPr>
          <a:xfrm>
            <a:off x="463296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Risk tier drives reviewers — legal, compliance, and Responsible AI sign-off.</a:t>
            </a:r>
            <a:endParaRPr lang="en-US" sz="1467" dirty="0"/>
          </a:p>
        </p:txBody>
      </p:sp>
      <p:sp>
        <p:nvSpPr>
          <p:cNvPr id="36" name="Shape 28"/>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7" name="Shape 29"/>
          <p:cNvSpPr/>
          <p:nvPr/>
        </p:nvSpPr>
        <p:spPr>
          <a:xfrm>
            <a:off x="8107680" y="4084320"/>
            <a:ext cx="121920" cy="2011680"/>
          </a:xfrm>
          <a:prstGeom prst="rect">
            <a:avLst/>
          </a:prstGeom>
          <a:solidFill>
            <a:srgbClr val="1E2761"/>
          </a:solidFill>
          <a:ln w="12700">
            <a:solidFill>
              <a:srgbClr val="1E2761"/>
            </a:solidFill>
            <a:prstDash val="solid"/>
          </a:ln>
        </p:spPr>
        <p:txBody>
          <a:bodyPr/>
          <a:lstStyle/>
          <a:p>
            <a:endParaRPr lang="en-US" sz="2400"/>
          </a:p>
        </p:txBody>
      </p:sp>
      <p:sp>
        <p:nvSpPr>
          <p:cNvPr id="38" name="Shape 30"/>
          <p:cNvSpPr/>
          <p:nvPr/>
        </p:nvSpPr>
        <p:spPr>
          <a:xfrm>
            <a:off x="8412480" y="4450080"/>
            <a:ext cx="670560" cy="670560"/>
          </a:xfrm>
          <a:prstGeom prst="ellipse">
            <a:avLst/>
          </a:prstGeom>
          <a:solidFill>
            <a:srgbClr val="1E2761"/>
          </a:solidFill>
          <a:ln w="12700">
            <a:solidFill>
              <a:srgbClr val="1E2761"/>
            </a:solidFill>
            <a:prstDash val="solid"/>
          </a:ln>
        </p:spPr>
        <p:txBody>
          <a:bodyPr/>
          <a:lstStyle/>
          <a:p>
            <a:endParaRPr lang="en-US" sz="2400"/>
          </a:p>
        </p:txBody>
      </p:sp>
      <p:pic>
        <p:nvPicPr>
          <p:cNvPr id="39" name="Image 6" descr="preencoded.png"/>
          <p:cNvPicPr>
            <a:picLocks noChangeAspect="1"/>
          </p:cNvPicPr>
          <p:nvPr/>
        </p:nvPicPr>
        <p:blipFill>
          <a:blip r:embed="rId9"/>
          <a:stretch>
            <a:fillRect/>
          </a:stretch>
        </p:blipFill>
        <p:spPr>
          <a:xfrm>
            <a:off x="8522208" y="4559808"/>
            <a:ext cx="451104" cy="451104"/>
          </a:xfrm>
          <a:prstGeom prst="rect">
            <a:avLst/>
          </a:prstGeom>
        </p:spPr>
      </p:pic>
      <p:sp>
        <p:nvSpPr>
          <p:cNvPr id="40" name="Text 31"/>
          <p:cNvSpPr/>
          <p:nvPr/>
        </p:nvSpPr>
        <p:spPr>
          <a:xfrm>
            <a:off x="926592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Monitoring</a:t>
            </a:r>
            <a:endParaRPr lang="en-US" dirty="0"/>
          </a:p>
        </p:txBody>
      </p:sp>
      <p:sp>
        <p:nvSpPr>
          <p:cNvPr id="41" name="Text 32"/>
          <p:cNvSpPr/>
          <p:nvPr/>
        </p:nvSpPr>
        <p:spPr>
          <a:xfrm>
            <a:off x="841248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Drift, quality, and safety signals from production feed back into the catalog.</a:t>
            </a:r>
            <a:endParaRPr lang="en-US" sz="1467" dirty="0"/>
          </a:p>
        </p:txBody>
      </p:sp>
      <p:sp>
        <p:nvSpPr>
          <p:cNvPr id="42" name="Shape 33"/>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3" name="Text 34"/>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44" name="Text 35"/>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5 / 9</a:t>
            </a:r>
            <a:endParaRPr lang="en-US" sz="1200" dirty="0"/>
          </a:p>
        </p:txBody>
      </p:sp>
      <p:sp>
        <p:nvSpPr>
          <p:cNvPr id="45" name="Hidden Title 45" descr="Slide title: Microsoft Foundry — Training &amp; Model Gov"/>
          <p:cNvSpPr>
            <a:spLocks noGrp="1"/>
          </p:cNvSpPr>
          <p:nvPr>
            <p:ph type="title"/>
          </p:nvPr>
        </p:nvSpPr>
        <p:spPr>
          <a:xfrm>
            <a:off x="0" y="-457200"/>
            <a:ext cx="9144000" cy="457200"/>
          </a:xfrm>
        </p:spPr>
        <p:txBody>
          <a:bodyPr/>
          <a:lstStyle/>
          <a:p>
            <a:r>
              <a:rPr lang="en-US" sz="100" dirty="0"/>
              <a:t>Microsoft Foundry — Training &amp; Model Gov</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How Purview and Foundry Integrate</a:t>
            </a:r>
            <a:endParaRPr lang="en-US" sz="3733"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One lineage graph — from the source table to the deployed model.</a:t>
            </a:r>
            <a:endParaRPr lang="en-US" sz="1733" dirty="0"/>
          </a:p>
        </p:txBody>
      </p:sp>
      <p:sp>
        <p:nvSpPr>
          <p:cNvPr id="4" name="Shape 2"/>
          <p:cNvSpPr/>
          <p:nvPr/>
        </p:nvSpPr>
        <p:spPr>
          <a:xfrm>
            <a:off x="609600" y="1950720"/>
            <a:ext cx="4754880" cy="3535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609600" y="1950720"/>
            <a:ext cx="4754880" cy="731520"/>
          </a:xfrm>
          <a:prstGeom prst="rect">
            <a:avLst/>
          </a:prstGeom>
          <a:solidFill>
            <a:srgbClr val="0D9488"/>
          </a:solidFill>
          <a:ln w="12700">
            <a:solidFill>
              <a:srgbClr val="0D9488"/>
            </a:solidFill>
            <a:prstDash val="solid"/>
          </a:ln>
        </p:spPr>
        <p:txBody>
          <a:bodyPr/>
          <a:lstStyle/>
          <a:p>
            <a:endParaRPr lang="en-US" sz="2400"/>
          </a:p>
        </p:txBody>
      </p:sp>
      <p:pic>
        <p:nvPicPr>
          <p:cNvPr id="6" name="Image 0" descr="preencoded.png"/>
          <p:cNvPicPr>
            <a:picLocks noChangeAspect="1"/>
          </p:cNvPicPr>
          <p:nvPr/>
        </p:nvPicPr>
        <p:blipFill>
          <a:blip r:embed="rId3"/>
          <a:stretch>
            <a:fillRect/>
          </a:stretch>
        </p:blipFill>
        <p:spPr>
          <a:xfrm>
            <a:off x="853440" y="2133600"/>
            <a:ext cx="390144" cy="390144"/>
          </a:xfrm>
          <a:prstGeom prst="rect">
            <a:avLst/>
          </a:prstGeom>
        </p:spPr>
      </p:pic>
      <p:sp>
        <p:nvSpPr>
          <p:cNvPr id="7" name="Text 4"/>
          <p:cNvSpPr/>
          <p:nvPr/>
        </p:nvSpPr>
        <p:spPr>
          <a:xfrm>
            <a:off x="1341120" y="2048256"/>
            <a:ext cx="390144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Purview Unified Catalog</a:t>
            </a:r>
            <a:endParaRPr lang="en-US" sz="2000" dirty="0"/>
          </a:p>
        </p:txBody>
      </p:sp>
      <p:sp>
        <p:nvSpPr>
          <p:cNvPr id="8" name="Text 5"/>
          <p:cNvSpPr/>
          <p:nvPr/>
        </p:nvSpPr>
        <p:spPr>
          <a:xfrm>
            <a:off x="975360" y="2926080"/>
            <a:ext cx="4145280" cy="2438400"/>
          </a:xfrm>
          <a:prstGeom prst="rect">
            <a:avLst/>
          </a:prstGeom>
          <a:noFill/>
          <a:ln/>
        </p:spPr>
        <p:txBody>
          <a:bodyPr wrap="square" lIns="0" tIns="0" rIns="0" bIns="0" rtlCol="0" anchor="ctr"/>
          <a:lstStyle/>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Scans source tables (SQL, Fabric, Snowflake)</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Classifies PII / PHI at column level</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Applies sensitivity labels to the dataset</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Publishes as an approved Data Product</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Enforces access via data policies</a:t>
            </a:r>
            <a:endParaRPr lang="en-US" sz="1533" dirty="0"/>
          </a:p>
        </p:txBody>
      </p:sp>
      <p:sp>
        <p:nvSpPr>
          <p:cNvPr id="9" name="Shape 6"/>
          <p:cNvSpPr/>
          <p:nvPr/>
        </p:nvSpPr>
        <p:spPr>
          <a:xfrm rot="5400000">
            <a:off x="5583936" y="3474720"/>
            <a:ext cx="609600" cy="731520"/>
          </a:xfrm>
          <a:prstGeom prst="rtTriangle">
            <a:avLst/>
          </a:prstGeom>
          <a:solidFill>
            <a:srgbClr val="8B5CF6"/>
          </a:solidFill>
          <a:ln w="12700">
            <a:solidFill>
              <a:srgbClr val="8B5CF6"/>
            </a:solidFill>
            <a:prstDash val="solid"/>
          </a:ln>
        </p:spPr>
        <p:txBody>
          <a:bodyPr/>
          <a:lstStyle/>
          <a:p>
            <a:endParaRPr lang="en-US" sz="2400"/>
          </a:p>
        </p:txBody>
      </p:sp>
      <p:sp>
        <p:nvSpPr>
          <p:cNvPr id="10" name="Text 7"/>
          <p:cNvSpPr/>
          <p:nvPr/>
        </p:nvSpPr>
        <p:spPr>
          <a:xfrm>
            <a:off x="5364480" y="2987040"/>
            <a:ext cx="1463040" cy="365760"/>
          </a:xfrm>
          <a:prstGeom prst="rect">
            <a:avLst/>
          </a:prstGeom>
          <a:noFill/>
          <a:ln/>
        </p:spPr>
        <p:txBody>
          <a:bodyPr wrap="square" lIns="0" tIns="0" rIns="0" bIns="0" rtlCol="0" anchor="ctr"/>
          <a:lstStyle/>
          <a:p>
            <a:pPr algn="ctr"/>
            <a:r>
              <a:rPr lang="en-US" sz="1400" i="1" dirty="0">
                <a:solidFill>
                  <a:srgbClr val="64748B"/>
                </a:solidFill>
                <a:latin typeface="Calibri" pitchFamily="34" charset="0"/>
                <a:ea typeface="Calibri" pitchFamily="34" charset="-122"/>
                <a:cs typeface="Calibri" pitchFamily="34" charset="-120"/>
              </a:rPr>
              <a:t>dataset + labels + lineage</a:t>
            </a:r>
            <a:endParaRPr lang="en-US" sz="1200" dirty="0"/>
          </a:p>
        </p:txBody>
      </p:sp>
      <p:sp>
        <p:nvSpPr>
          <p:cNvPr id="11" name="Shape 8"/>
          <p:cNvSpPr/>
          <p:nvPr/>
        </p:nvSpPr>
        <p:spPr>
          <a:xfrm>
            <a:off x="6827520" y="1950720"/>
            <a:ext cx="4754880" cy="3535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2" name="Shape 9"/>
          <p:cNvSpPr/>
          <p:nvPr/>
        </p:nvSpPr>
        <p:spPr>
          <a:xfrm>
            <a:off x="6827520" y="1950720"/>
            <a:ext cx="4754880" cy="731520"/>
          </a:xfrm>
          <a:prstGeom prst="rect">
            <a:avLst/>
          </a:prstGeom>
          <a:solidFill>
            <a:srgbClr val="8B5CF6"/>
          </a:solidFill>
          <a:ln w="12700">
            <a:solidFill>
              <a:srgbClr val="8B5CF6"/>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7071360" y="2133600"/>
            <a:ext cx="390144" cy="390144"/>
          </a:xfrm>
          <a:prstGeom prst="rect">
            <a:avLst/>
          </a:prstGeom>
        </p:spPr>
      </p:pic>
      <p:sp>
        <p:nvSpPr>
          <p:cNvPr id="14" name="Text 10"/>
          <p:cNvSpPr/>
          <p:nvPr/>
        </p:nvSpPr>
        <p:spPr>
          <a:xfrm>
            <a:off x="7559040" y="2048256"/>
            <a:ext cx="390144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Microsoft Foundry</a:t>
            </a:r>
            <a:endParaRPr lang="en-US" sz="2000" dirty="0"/>
          </a:p>
        </p:txBody>
      </p:sp>
      <p:sp>
        <p:nvSpPr>
          <p:cNvPr id="15" name="Text 11"/>
          <p:cNvSpPr/>
          <p:nvPr/>
        </p:nvSpPr>
        <p:spPr>
          <a:xfrm>
            <a:off x="7193280" y="2926080"/>
            <a:ext cx="4145280" cy="2438400"/>
          </a:xfrm>
          <a:prstGeom prst="rect">
            <a:avLst/>
          </a:prstGeom>
          <a:noFill/>
          <a:ln/>
        </p:spPr>
        <p:txBody>
          <a:bodyPr wrap="square" lIns="0" tIns="0" rIns="0" bIns="0" rtlCol="0" anchor="ctr"/>
          <a:lstStyle/>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Imports the approved Data Product as input</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Runs fine-tuning job with safety filters</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Executes evals — safety, bias, groundedness</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Creates model card with dataset lineage</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Routes for approval &amp; publishes to catalog</a:t>
            </a:r>
            <a:endParaRPr lang="en-US" sz="1533" dirty="0"/>
          </a:p>
        </p:txBody>
      </p:sp>
      <p:sp>
        <p:nvSpPr>
          <p:cNvPr id="16" name="Shape 12"/>
          <p:cNvSpPr/>
          <p:nvPr/>
        </p:nvSpPr>
        <p:spPr>
          <a:xfrm>
            <a:off x="609600" y="5669280"/>
            <a:ext cx="10972800" cy="609600"/>
          </a:xfrm>
          <a:prstGeom prst="rect">
            <a:avLst/>
          </a:prstGeom>
          <a:solidFill>
            <a:srgbClr val="1E2761"/>
          </a:solidFill>
          <a:ln w="12700">
            <a:solidFill>
              <a:srgbClr val="1E2761"/>
            </a:solidFill>
            <a:prstDash val="solid"/>
          </a:ln>
        </p:spPr>
        <p:txBody>
          <a:bodyPr/>
          <a:lstStyle/>
          <a:p>
            <a:endParaRPr lang="en-US" sz="2400"/>
          </a:p>
        </p:txBody>
      </p:sp>
      <p:pic>
        <p:nvPicPr>
          <p:cNvPr id="17" name="Image 2" descr="preencoded.png"/>
          <p:cNvPicPr>
            <a:picLocks noChangeAspect="1"/>
          </p:cNvPicPr>
          <p:nvPr/>
        </p:nvPicPr>
        <p:blipFill>
          <a:blip r:embed="rId5"/>
          <a:stretch>
            <a:fillRect/>
          </a:stretch>
        </p:blipFill>
        <p:spPr>
          <a:xfrm>
            <a:off x="853440" y="5754624"/>
            <a:ext cx="426720" cy="426720"/>
          </a:xfrm>
          <a:prstGeom prst="rect">
            <a:avLst/>
          </a:prstGeom>
        </p:spPr>
      </p:pic>
      <p:sp>
        <p:nvSpPr>
          <p:cNvPr id="18" name="Text 13"/>
          <p:cNvSpPr/>
          <p:nvPr/>
        </p:nvSpPr>
        <p:spPr>
          <a:xfrm>
            <a:off x="1402080" y="5693664"/>
            <a:ext cx="10119360" cy="560832"/>
          </a:xfrm>
          <a:prstGeom prst="rect">
            <a:avLst/>
          </a:prstGeom>
          <a:noFill/>
          <a:ln/>
        </p:spPr>
        <p:txBody>
          <a:bodyPr wrap="square" lIns="0" tIns="0" rIns="0" bIns="0" rtlCol="0" anchor="ctr"/>
          <a:lstStyle/>
          <a:p>
            <a:r>
              <a:rPr lang="en-US" sz="1600" b="1" i="1" dirty="0">
                <a:solidFill>
                  <a:srgbClr val="FFFFFF"/>
                </a:solidFill>
                <a:latin typeface="Calibri" pitchFamily="34" charset="0"/>
                <a:ea typeface="Calibri" pitchFamily="34" charset="-122"/>
                <a:cs typeface="Calibri" pitchFamily="34" charset="-120"/>
              </a:rPr>
              <a:t>Unified lineage: Source column  →  Data Product  →  Training run  →  Model card</a:t>
            </a:r>
            <a:endParaRPr lang="en-US" sz="1600" dirty="0"/>
          </a:p>
        </p:txBody>
      </p:sp>
      <p:sp>
        <p:nvSpPr>
          <p:cNvPr id="19" name="Shape 14"/>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20" name="Text 15"/>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21" name="Text 16"/>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6 / 9</a:t>
            </a:r>
            <a:endParaRPr lang="en-US" sz="1200" dirty="0"/>
          </a:p>
        </p:txBody>
      </p:sp>
      <p:sp>
        <p:nvSpPr>
          <p:cNvPr id="22" name="Hidden Title 22" descr="Slide title: How Purview and Foundry Integrate"/>
          <p:cNvSpPr>
            <a:spLocks noGrp="1"/>
          </p:cNvSpPr>
          <p:nvPr>
            <p:ph type="title"/>
          </p:nvPr>
        </p:nvSpPr>
        <p:spPr>
          <a:xfrm>
            <a:off x="0" y="-457200"/>
            <a:ext cx="9144000" cy="457200"/>
          </a:xfrm>
        </p:spPr>
        <p:txBody>
          <a:bodyPr/>
          <a:lstStyle/>
          <a:p>
            <a:r>
              <a:rPr lang="en-US" sz="100" dirty="0"/>
              <a:t>How Purview and Foundry Integrate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Demo — Governed Fine-Tune in 6 Steps</a:t>
            </a:r>
            <a:endParaRPr lang="en-US" sz="3733"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From catalog-approved dataset to registered model — end to end.</a:t>
            </a:r>
            <a:endParaRPr lang="en-US" sz="1733" dirty="0"/>
          </a:p>
        </p:txBody>
      </p:sp>
      <p:sp>
        <p:nvSpPr>
          <p:cNvPr id="4" name="Shape 2"/>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731520" y="207264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6" name="Text 4"/>
          <p:cNvSpPr/>
          <p:nvPr/>
        </p:nvSpPr>
        <p:spPr>
          <a:xfrm>
            <a:off x="731520" y="209702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1</a:t>
            </a:r>
            <a:endParaRPr lang="en-US" sz="2133" dirty="0"/>
          </a:p>
        </p:txBody>
      </p:sp>
      <p:pic>
        <p:nvPicPr>
          <p:cNvPr id="7" name="Image 0" descr="preencoded.png"/>
          <p:cNvPicPr>
            <a:picLocks noChangeAspect="1"/>
          </p:cNvPicPr>
          <p:nvPr/>
        </p:nvPicPr>
        <p:blipFill>
          <a:blip r:embed="rId3"/>
          <a:stretch>
            <a:fillRect/>
          </a:stretch>
        </p:blipFill>
        <p:spPr>
          <a:xfrm>
            <a:off x="3413760" y="2133600"/>
            <a:ext cx="487680" cy="487680"/>
          </a:xfrm>
          <a:prstGeom prst="rect">
            <a:avLst/>
          </a:prstGeom>
        </p:spPr>
      </p:pic>
      <p:sp>
        <p:nvSpPr>
          <p:cNvPr id="8" name="Text 5"/>
          <p:cNvSpPr/>
          <p:nvPr/>
        </p:nvSpPr>
        <p:spPr>
          <a:xfrm>
            <a:off x="792480" y="2779776"/>
            <a:ext cx="3048000" cy="426720"/>
          </a:xfrm>
          <a:prstGeom prst="rect">
            <a:avLst/>
          </a:prstGeom>
          <a:noFill/>
          <a:ln/>
        </p:spPr>
        <p:txBody>
          <a:bodyPr wrap="square" lIns="0" tIns="0" rIns="0" bIns="0" rtlCol="0" anchor="ctr"/>
          <a:lstStyle/>
          <a:p>
            <a:r>
              <a:rPr lang="en-US" sz="1867" b="1" dirty="0">
                <a:solidFill>
                  <a:srgbClr val="1A1D3A"/>
                </a:solidFill>
                <a:latin typeface="Georgia" pitchFamily="34" charset="0"/>
                <a:ea typeface="Georgia" pitchFamily="34" charset="-122"/>
                <a:cs typeface="Georgia" pitchFamily="34" charset="-120"/>
              </a:rPr>
              <a:t>Publish Data Product</a:t>
            </a:r>
            <a:endParaRPr lang="en-US" sz="1867" dirty="0"/>
          </a:p>
        </p:txBody>
      </p:sp>
      <p:sp>
        <p:nvSpPr>
          <p:cNvPr id="9" name="Text 6"/>
          <p:cNvSpPr/>
          <p:nvPr/>
        </p:nvSpPr>
        <p:spPr>
          <a:xfrm>
            <a:off x="792480" y="3206496"/>
            <a:ext cx="3048000" cy="633984"/>
          </a:xfrm>
          <a:prstGeom prst="rect">
            <a:avLst/>
          </a:prstGeom>
          <a:noFill/>
          <a:ln/>
        </p:spPr>
        <p:txBody>
          <a:bodyPr wrap="square" lIns="0" tIns="0" rIns="0" bIns="0" rtlCol="0" anchor="ctr"/>
          <a:lstStyle/>
          <a:p>
            <a:r>
              <a:rPr lang="en-US" sz="1440" dirty="0">
                <a:solidFill>
                  <a:srgbClr val="64748B"/>
                </a:solidFill>
                <a:latin typeface="Calibri" pitchFamily="34" charset="0"/>
                <a:ea typeface="Calibri" pitchFamily="34" charset="-122"/>
                <a:cs typeface="Calibri" pitchFamily="34" charset="-120"/>
              </a:rPr>
              <a:t>In Purview, register curated claims + notes as a Data Product with owners &amp; terms.</a:t>
            </a:r>
            <a:endParaRPr lang="en-US" sz="1440" dirty="0"/>
          </a:p>
        </p:txBody>
      </p:sp>
      <p:sp>
        <p:nvSpPr>
          <p:cNvPr id="10" name="Shape 7"/>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4511040" y="207264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12" name="Text 9"/>
          <p:cNvSpPr/>
          <p:nvPr/>
        </p:nvSpPr>
        <p:spPr>
          <a:xfrm>
            <a:off x="4511040" y="209702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2</a:t>
            </a:r>
            <a:endParaRPr lang="en-US" sz="2133" dirty="0"/>
          </a:p>
        </p:txBody>
      </p:sp>
      <p:pic>
        <p:nvPicPr>
          <p:cNvPr id="13" name="Image 1" descr="preencoded.png"/>
          <p:cNvPicPr>
            <a:picLocks noChangeAspect="1"/>
          </p:cNvPicPr>
          <p:nvPr/>
        </p:nvPicPr>
        <p:blipFill>
          <a:blip r:embed="rId4"/>
          <a:stretch>
            <a:fillRect/>
          </a:stretch>
        </p:blipFill>
        <p:spPr>
          <a:xfrm>
            <a:off x="7193280" y="2133600"/>
            <a:ext cx="487680" cy="487680"/>
          </a:xfrm>
          <a:prstGeom prst="rect">
            <a:avLst/>
          </a:prstGeom>
        </p:spPr>
      </p:pic>
      <p:sp>
        <p:nvSpPr>
          <p:cNvPr id="14" name="Text 10"/>
          <p:cNvSpPr/>
          <p:nvPr/>
        </p:nvSpPr>
        <p:spPr>
          <a:xfrm>
            <a:off x="4572000" y="2779776"/>
            <a:ext cx="3048000" cy="426720"/>
          </a:xfrm>
          <a:prstGeom prst="rect">
            <a:avLst/>
          </a:prstGeom>
          <a:noFill/>
          <a:ln/>
        </p:spPr>
        <p:txBody>
          <a:bodyPr wrap="square" lIns="0" tIns="0" rIns="0" bIns="0" rtlCol="0" anchor="ctr"/>
          <a:lstStyle/>
          <a:p>
            <a:r>
              <a:rPr lang="en-US" sz="1867" b="1" dirty="0">
                <a:solidFill>
                  <a:srgbClr val="1A1D3A"/>
                </a:solidFill>
                <a:latin typeface="Georgia" pitchFamily="34" charset="0"/>
                <a:ea typeface="Georgia" pitchFamily="34" charset="-122"/>
                <a:cs typeface="Georgia" pitchFamily="34" charset="-120"/>
              </a:rPr>
              <a:t>Classify &amp; Label</a:t>
            </a:r>
            <a:endParaRPr lang="en-US" sz="1867" dirty="0"/>
          </a:p>
        </p:txBody>
      </p:sp>
      <p:sp>
        <p:nvSpPr>
          <p:cNvPr id="15" name="Text 11"/>
          <p:cNvSpPr/>
          <p:nvPr/>
        </p:nvSpPr>
        <p:spPr>
          <a:xfrm>
            <a:off x="4572000" y="3206496"/>
            <a:ext cx="3048000" cy="633984"/>
          </a:xfrm>
          <a:prstGeom prst="rect">
            <a:avLst/>
          </a:prstGeom>
          <a:noFill/>
          <a:ln/>
        </p:spPr>
        <p:txBody>
          <a:bodyPr wrap="square" lIns="0" tIns="0" rIns="0" bIns="0" rtlCol="0" anchor="ctr"/>
          <a:lstStyle/>
          <a:p>
            <a:r>
              <a:rPr lang="en-US" sz="1440" dirty="0">
                <a:solidFill>
                  <a:srgbClr val="64748B"/>
                </a:solidFill>
                <a:latin typeface="Calibri" pitchFamily="34" charset="0"/>
                <a:ea typeface="Calibri" pitchFamily="34" charset="-122"/>
                <a:cs typeface="Calibri" pitchFamily="34" charset="-120"/>
              </a:rPr>
              <a:t>Auto-classify PII/PHI; apply 'Training — PHI Approved' sensitivity label.</a:t>
            </a:r>
            <a:endParaRPr lang="en-US" sz="1440" dirty="0"/>
          </a:p>
        </p:txBody>
      </p:sp>
      <p:sp>
        <p:nvSpPr>
          <p:cNvPr id="16" name="Shape 12"/>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8290560" y="207264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18" name="Text 14"/>
          <p:cNvSpPr/>
          <p:nvPr/>
        </p:nvSpPr>
        <p:spPr>
          <a:xfrm>
            <a:off x="8290560" y="209702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3</a:t>
            </a:r>
            <a:endParaRPr lang="en-US" sz="2133" dirty="0"/>
          </a:p>
        </p:txBody>
      </p:sp>
      <p:pic>
        <p:nvPicPr>
          <p:cNvPr id="19" name="Image 2" descr="preencoded.png"/>
          <p:cNvPicPr>
            <a:picLocks noChangeAspect="1"/>
          </p:cNvPicPr>
          <p:nvPr/>
        </p:nvPicPr>
        <p:blipFill>
          <a:blip r:embed="rId5"/>
          <a:stretch>
            <a:fillRect/>
          </a:stretch>
        </p:blipFill>
        <p:spPr>
          <a:xfrm>
            <a:off x="10972800" y="2133600"/>
            <a:ext cx="487680" cy="487680"/>
          </a:xfrm>
          <a:prstGeom prst="rect">
            <a:avLst/>
          </a:prstGeom>
        </p:spPr>
      </p:pic>
      <p:sp>
        <p:nvSpPr>
          <p:cNvPr id="20" name="Text 15"/>
          <p:cNvSpPr/>
          <p:nvPr/>
        </p:nvSpPr>
        <p:spPr>
          <a:xfrm>
            <a:off x="8351520" y="2779776"/>
            <a:ext cx="3048000" cy="426720"/>
          </a:xfrm>
          <a:prstGeom prst="rect">
            <a:avLst/>
          </a:prstGeom>
          <a:noFill/>
          <a:ln/>
        </p:spPr>
        <p:txBody>
          <a:bodyPr wrap="square" lIns="0" tIns="0" rIns="0" bIns="0" rtlCol="0" anchor="ctr"/>
          <a:lstStyle/>
          <a:p>
            <a:r>
              <a:rPr lang="en-US" sz="1867" b="1" dirty="0">
                <a:solidFill>
                  <a:srgbClr val="1A1D3A"/>
                </a:solidFill>
                <a:latin typeface="Georgia" pitchFamily="34" charset="0"/>
                <a:ea typeface="Georgia" pitchFamily="34" charset="-122"/>
                <a:cs typeface="Georgia" pitchFamily="34" charset="-120"/>
              </a:rPr>
              <a:t>Quality Gate</a:t>
            </a:r>
            <a:endParaRPr lang="en-US" sz="1867" dirty="0"/>
          </a:p>
        </p:txBody>
      </p:sp>
      <p:sp>
        <p:nvSpPr>
          <p:cNvPr id="21" name="Text 16"/>
          <p:cNvSpPr/>
          <p:nvPr/>
        </p:nvSpPr>
        <p:spPr>
          <a:xfrm>
            <a:off x="8351520" y="3206496"/>
            <a:ext cx="3048000" cy="633984"/>
          </a:xfrm>
          <a:prstGeom prst="rect">
            <a:avLst/>
          </a:prstGeom>
          <a:noFill/>
          <a:ln/>
        </p:spPr>
        <p:txBody>
          <a:bodyPr wrap="square" lIns="0" tIns="0" rIns="0" bIns="0" rtlCol="0" anchor="ctr"/>
          <a:lstStyle/>
          <a:p>
            <a:r>
              <a:rPr lang="en-US" sz="1440" dirty="0">
                <a:solidFill>
                  <a:srgbClr val="64748B"/>
                </a:solidFill>
                <a:latin typeface="Calibri" pitchFamily="34" charset="0"/>
                <a:ea typeface="Calibri" pitchFamily="34" charset="-122"/>
                <a:cs typeface="Calibri" pitchFamily="34" charset="-120"/>
              </a:rPr>
              <a:t>Run completeness, freshness, and PII-leak checks; fail the build if any fail.</a:t>
            </a:r>
            <a:endParaRPr lang="en-US" sz="1440" dirty="0"/>
          </a:p>
        </p:txBody>
      </p:sp>
      <p:sp>
        <p:nvSpPr>
          <p:cNvPr id="22" name="Shape 17"/>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731520" y="426720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24" name="Text 19"/>
          <p:cNvSpPr/>
          <p:nvPr/>
        </p:nvSpPr>
        <p:spPr>
          <a:xfrm>
            <a:off x="731520" y="429158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4</a:t>
            </a:r>
            <a:endParaRPr lang="en-US" sz="2133" dirty="0"/>
          </a:p>
        </p:txBody>
      </p:sp>
      <p:pic>
        <p:nvPicPr>
          <p:cNvPr id="25" name="Image 3" descr="preencoded.png"/>
          <p:cNvPicPr>
            <a:picLocks noChangeAspect="1"/>
          </p:cNvPicPr>
          <p:nvPr/>
        </p:nvPicPr>
        <p:blipFill>
          <a:blip r:embed="rId6"/>
          <a:stretch>
            <a:fillRect/>
          </a:stretch>
        </p:blipFill>
        <p:spPr>
          <a:xfrm>
            <a:off x="3413760" y="4328160"/>
            <a:ext cx="487680" cy="487680"/>
          </a:xfrm>
          <a:prstGeom prst="rect">
            <a:avLst/>
          </a:prstGeom>
        </p:spPr>
      </p:pic>
      <p:sp>
        <p:nvSpPr>
          <p:cNvPr id="26" name="Text 20"/>
          <p:cNvSpPr/>
          <p:nvPr/>
        </p:nvSpPr>
        <p:spPr>
          <a:xfrm>
            <a:off x="792480" y="4974336"/>
            <a:ext cx="3048000" cy="426720"/>
          </a:xfrm>
          <a:prstGeom prst="rect">
            <a:avLst/>
          </a:prstGeom>
          <a:noFill/>
          <a:ln/>
        </p:spPr>
        <p:txBody>
          <a:bodyPr wrap="square" lIns="0" tIns="0" rIns="0" bIns="0" rtlCol="0" anchor="ctr"/>
          <a:lstStyle/>
          <a:p>
            <a:r>
              <a:rPr lang="en-US" sz="1867" b="1" dirty="0">
                <a:solidFill>
                  <a:srgbClr val="1A1D3A"/>
                </a:solidFill>
                <a:latin typeface="Georgia" pitchFamily="34" charset="0"/>
                <a:ea typeface="Georgia" pitchFamily="34" charset="-122"/>
                <a:cs typeface="Georgia" pitchFamily="34" charset="-120"/>
              </a:rPr>
              <a:t>Import to Foundry</a:t>
            </a:r>
            <a:endParaRPr lang="en-US" sz="1867" dirty="0"/>
          </a:p>
        </p:txBody>
      </p:sp>
      <p:sp>
        <p:nvSpPr>
          <p:cNvPr id="27" name="Text 21"/>
          <p:cNvSpPr/>
          <p:nvPr/>
        </p:nvSpPr>
        <p:spPr>
          <a:xfrm>
            <a:off x="792480" y="5401056"/>
            <a:ext cx="3048000" cy="633984"/>
          </a:xfrm>
          <a:prstGeom prst="rect">
            <a:avLst/>
          </a:prstGeom>
          <a:noFill/>
          <a:ln/>
        </p:spPr>
        <p:txBody>
          <a:bodyPr wrap="square" lIns="0" tIns="0" rIns="0" bIns="0" rtlCol="0" anchor="ctr"/>
          <a:lstStyle/>
          <a:p>
            <a:r>
              <a:rPr lang="en-US" sz="1440" dirty="0">
                <a:solidFill>
                  <a:srgbClr val="64748B"/>
                </a:solidFill>
                <a:latin typeface="Calibri" pitchFamily="34" charset="0"/>
                <a:ea typeface="Calibri" pitchFamily="34" charset="-122"/>
                <a:cs typeface="Calibri" pitchFamily="34" charset="-120"/>
              </a:rPr>
              <a:t>Select the Data Product in </a:t>
            </a:r>
            <a:r>
              <a:rPr lang="en-US" sz="1440">
                <a:solidFill>
                  <a:srgbClr val="64748B"/>
                </a:solidFill>
                <a:latin typeface="Calibri" pitchFamily="34" charset="0"/>
                <a:ea typeface="Calibri" pitchFamily="34" charset="-122"/>
                <a:cs typeface="Calibri" pitchFamily="34" charset="-120"/>
              </a:rPr>
              <a:t>Microsoft</a:t>
            </a:r>
            <a:r>
              <a:rPr lang="en-US" sz="1440" dirty="0">
                <a:solidFill>
                  <a:srgbClr val="64748B"/>
                </a:solidFill>
                <a:latin typeface="Calibri" pitchFamily="34" charset="0"/>
                <a:ea typeface="Calibri" pitchFamily="34" charset="-122"/>
                <a:cs typeface="Calibri" pitchFamily="34" charset="-120"/>
              </a:rPr>
              <a:t> Foundry; lineage + labels carry over automatically.</a:t>
            </a:r>
            <a:endParaRPr lang="en-US" sz="1440" dirty="0"/>
          </a:p>
        </p:txBody>
      </p:sp>
      <p:sp>
        <p:nvSpPr>
          <p:cNvPr id="28" name="Shape 22"/>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9" name="Shape 23"/>
          <p:cNvSpPr/>
          <p:nvPr/>
        </p:nvSpPr>
        <p:spPr>
          <a:xfrm>
            <a:off x="4511040" y="426720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30" name="Text 24"/>
          <p:cNvSpPr/>
          <p:nvPr/>
        </p:nvSpPr>
        <p:spPr>
          <a:xfrm>
            <a:off x="4511040" y="429158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5</a:t>
            </a:r>
            <a:endParaRPr lang="en-US" sz="2133" dirty="0"/>
          </a:p>
        </p:txBody>
      </p:sp>
      <p:pic>
        <p:nvPicPr>
          <p:cNvPr id="31" name="Image 4" descr="preencoded.png"/>
          <p:cNvPicPr>
            <a:picLocks noChangeAspect="1"/>
          </p:cNvPicPr>
          <p:nvPr/>
        </p:nvPicPr>
        <p:blipFill>
          <a:blip r:embed="rId7"/>
          <a:stretch>
            <a:fillRect/>
          </a:stretch>
        </p:blipFill>
        <p:spPr>
          <a:xfrm>
            <a:off x="7193280" y="4328160"/>
            <a:ext cx="487680" cy="487680"/>
          </a:xfrm>
          <a:prstGeom prst="rect">
            <a:avLst/>
          </a:prstGeom>
        </p:spPr>
      </p:pic>
      <p:sp>
        <p:nvSpPr>
          <p:cNvPr id="32" name="Text 25"/>
          <p:cNvSpPr/>
          <p:nvPr/>
        </p:nvSpPr>
        <p:spPr>
          <a:xfrm>
            <a:off x="4572000" y="4974336"/>
            <a:ext cx="3048000" cy="426720"/>
          </a:xfrm>
          <a:prstGeom prst="rect">
            <a:avLst/>
          </a:prstGeom>
          <a:noFill/>
          <a:ln/>
        </p:spPr>
        <p:txBody>
          <a:bodyPr wrap="square" lIns="0" tIns="0" rIns="0" bIns="0" rtlCol="0" anchor="ctr"/>
          <a:lstStyle/>
          <a:p>
            <a:r>
              <a:rPr lang="en-US" sz="1867" b="1" dirty="0">
                <a:solidFill>
                  <a:srgbClr val="1A1D3A"/>
                </a:solidFill>
                <a:latin typeface="Georgia" pitchFamily="34" charset="0"/>
                <a:ea typeface="Georgia" pitchFamily="34" charset="-122"/>
                <a:cs typeface="Georgia" pitchFamily="34" charset="-120"/>
              </a:rPr>
              <a:t>Train &amp; Evaluate</a:t>
            </a:r>
            <a:endParaRPr lang="en-US" sz="1867" dirty="0"/>
          </a:p>
        </p:txBody>
      </p:sp>
      <p:sp>
        <p:nvSpPr>
          <p:cNvPr id="33" name="Text 26"/>
          <p:cNvSpPr/>
          <p:nvPr/>
        </p:nvSpPr>
        <p:spPr>
          <a:xfrm>
            <a:off x="4572000" y="5401056"/>
            <a:ext cx="3048000" cy="633984"/>
          </a:xfrm>
          <a:prstGeom prst="rect">
            <a:avLst/>
          </a:prstGeom>
          <a:noFill/>
          <a:ln/>
        </p:spPr>
        <p:txBody>
          <a:bodyPr wrap="square" lIns="0" tIns="0" rIns="0" bIns="0" rtlCol="0" anchor="ctr"/>
          <a:lstStyle/>
          <a:p>
            <a:r>
              <a:rPr lang="en-US" sz="1440" dirty="0">
                <a:solidFill>
                  <a:srgbClr val="64748B"/>
                </a:solidFill>
                <a:latin typeface="Calibri" pitchFamily="34" charset="0"/>
                <a:ea typeface="Calibri" pitchFamily="34" charset="-122"/>
                <a:cs typeface="Calibri" pitchFamily="34" charset="-120"/>
              </a:rPr>
              <a:t>Kick off fine-tuning; run safety, bias, and groundedness evaluations on outputs.</a:t>
            </a:r>
            <a:endParaRPr lang="en-US" sz="1440" dirty="0"/>
          </a:p>
        </p:txBody>
      </p:sp>
      <p:sp>
        <p:nvSpPr>
          <p:cNvPr id="34" name="Shape 27"/>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5" name="Shape 28"/>
          <p:cNvSpPr/>
          <p:nvPr/>
        </p:nvSpPr>
        <p:spPr>
          <a:xfrm>
            <a:off x="8290560" y="426720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36" name="Text 29"/>
          <p:cNvSpPr/>
          <p:nvPr/>
        </p:nvSpPr>
        <p:spPr>
          <a:xfrm>
            <a:off x="8290560" y="429158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6</a:t>
            </a:r>
            <a:endParaRPr lang="en-US" sz="2133" dirty="0"/>
          </a:p>
        </p:txBody>
      </p:sp>
      <p:pic>
        <p:nvPicPr>
          <p:cNvPr id="37" name="Image 5" descr="preencoded.png"/>
          <p:cNvPicPr>
            <a:picLocks noChangeAspect="1"/>
          </p:cNvPicPr>
          <p:nvPr/>
        </p:nvPicPr>
        <p:blipFill>
          <a:blip r:embed="rId8"/>
          <a:stretch>
            <a:fillRect/>
          </a:stretch>
        </p:blipFill>
        <p:spPr>
          <a:xfrm>
            <a:off x="10972800" y="4328160"/>
            <a:ext cx="487680" cy="487680"/>
          </a:xfrm>
          <a:prstGeom prst="rect">
            <a:avLst/>
          </a:prstGeom>
        </p:spPr>
      </p:pic>
      <p:sp>
        <p:nvSpPr>
          <p:cNvPr id="38" name="Text 30"/>
          <p:cNvSpPr/>
          <p:nvPr/>
        </p:nvSpPr>
        <p:spPr>
          <a:xfrm>
            <a:off x="8351520" y="4974336"/>
            <a:ext cx="3048000" cy="426720"/>
          </a:xfrm>
          <a:prstGeom prst="rect">
            <a:avLst/>
          </a:prstGeom>
          <a:noFill/>
          <a:ln/>
        </p:spPr>
        <p:txBody>
          <a:bodyPr wrap="square" lIns="0" tIns="0" rIns="0" bIns="0" rtlCol="0" anchor="ctr"/>
          <a:lstStyle/>
          <a:p>
            <a:r>
              <a:rPr lang="en-US" sz="1867" b="1" dirty="0">
                <a:solidFill>
                  <a:srgbClr val="1A1D3A"/>
                </a:solidFill>
                <a:latin typeface="Georgia" pitchFamily="34" charset="0"/>
                <a:ea typeface="Georgia" pitchFamily="34" charset="-122"/>
                <a:cs typeface="Georgia" pitchFamily="34" charset="-120"/>
              </a:rPr>
              <a:t>Approve &amp; Register</a:t>
            </a:r>
            <a:endParaRPr lang="en-US" sz="1867" dirty="0"/>
          </a:p>
        </p:txBody>
      </p:sp>
      <p:sp>
        <p:nvSpPr>
          <p:cNvPr id="39" name="Text 31"/>
          <p:cNvSpPr/>
          <p:nvPr/>
        </p:nvSpPr>
        <p:spPr>
          <a:xfrm>
            <a:off x="8351520" y="5401056"/>
            <a:ext cx="3048000" cy="633984"/>
          </a:xfrm>
          <a:prstGeom prst="rect">
            <a:avLst/>
          </a:prstGeom>
          <a:noFill/>
          <a:ln/>
        </p:spPr>
        <p:txBody>
          <a:bodyPr wrap="square" lIns="0" tIns="0" rIns="0" bIns="0" rtlCol="0" anchor="ctr"/>
          <a:lstStyle/>
          <a:p>
            <a:r>
              <a:rPr lang="en-US" sz="1440" dirty="0">
                <a:solidFill>
                  <a:srgbClr val="64748B"/>
                </a:solidFill>
                <a:latin typeface="Calibri" pitchFamily="34" charset="0"/>
                <a:ea typeface="Calibri" pitchFamily="34" charset="-122"/>
                <a:cs typeface="Calibri" pitchFamily="34" charset="-120"/>
              </a:rPr>
              <a:t>Compliance reviewer approves; model card published with full dataset lineage.</a:t>
            </a:r>
            <a:endParaRPr lang="en-US" sz="1440" dirty="0"/>
          </a:p>
        </p:txBody>
      </p:sp>
      <p:sp>
        <p:nvSpPr>
          <p:cNvPr id="40" name="Shape 3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1" name="Text 3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42" name="Text 3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7 / 9</a:t>
            </a:r>
            <a:endParaRPr lang="en-US" sz="1200" dirty="0"/>
          </a:p>
        </p:txBody>
      </p:sp>
      <p:sp>
        <p:nvSpPr>
          <p:cNvPr id="43" name="Hidden Title 43" descr="Slide title: Demo — Governed Fine-Tune in 6 Steps"/>
          <p:cNvSpPr>
            <a:spLocks noGrp="1"/>
          </p:cNvSpPr>
          <p:nvPr>
            <p:ph type="title"/>
          </p:nvPr>
        </p:nvSpPr>
        <p:spPr>
          <a:xfrm>
            <a:off x="0" y="-457200"/>
            <a:ext cx="9144000" cy="457200"/>
          </a:xfrm>
        </p:spPr>
        <p:txBody>
          <a:bodyPr/>
          <a:lstStyle/>
          <a:p>
            <a:r>
              <a:rPr lang="en-US" sz="100" dirty="0"/>
              <a:t>Demo — Governed Fine-Tune in 6 Steps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Governance Control Mapping</a:t>
            </a:r>
            <a:endParaRPr lang="en-US" sz="3733"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Which product owns which training-data control.</a:t>
            </a:r>
            <a:endParaRPr lang="en-US" sz="1733" dirty="0"/>
          </a:p>
        </p:txBody>
      </p:sp>
      <p:graphicFrame>
        <p:nvGraphicFramePr>
          <p:cNvPr id="9" name="Table 0"/>
          <p:cNvGraphicFramePr>
            <a:graphicFrameLocks noGrp="1"/>
          </p:cNvGraphicFramePr>
          <p:nvPr>
            <p:extLst>
              <p:ext uri="{D42A27DB-BD31-4B8C-83A1-F6EECF244321}">
                <p14:modId xmlns:p14="http://schemas.microsoft.com/office/powerpoint/2010/main" val="1492659522"/>
              </p:ext>
            </p:extLst>
          </p:nvPr>
        </p:nvGraphicFramePr>
        <p:xfrm>
          <a:off x="487680" y="1767840"/>
          <a:ext cx="11216640" cy="4096512"/>
        </p:xfrm>
        <a:graphic>
          <a:graphicData uri="http://schemas.openxmlformats.org/drawingml/2006/table">
            <a:tbl>
              <a:tblPr/>
              <a:tblGrid>
                <a:gridCol w="3901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12064">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CONTROL</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PURVIEW UNIFIED CATALOG</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a:solidFill>
                            <a:srgbClr val="FFFFFF"/>
                          </a:solidFill>
                          <a:latin typeface="Calibri" pitchFamily="34" charset="0"/>
                          <a:ea typeface="Calibri" pitchFamily="34" charset="-122"/>
                          <a:cs typeface="Calibri" pitchFamily="34" charset="-120"/>
                        </a:rPr>
                        <a:t>MICROSOFT FOUNDRY</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PII / PHI detection in training data</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Auto-classification with 300+ SITs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Safety pre-filter on fine-tune data</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Dataset approval &amp; ownership</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Data Product registration &amp; stewards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Model card links back to approved set</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Sensitivity labels on training data</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Applied + enforced at dataset scope</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Honors labels on import / training</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Data quality &amp; bias checks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Health Checks &amp; quality rules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Bias &amp; fairness evaluations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Versioning &amp; reproducibility</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Dataset snapshots with lineage</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Training run + model versioning</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Safety &amp; content filtering</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Sensitive-content scanning</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Content Safety + Prompt Shields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Approvals &amp; audit trail</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Access policies + audit log</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Approval workflow + run history</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6" name="Text 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Training Data Governance  |  Purview Unified Catalog + Microsoft Foundry</a:t>
            </a:r>
            <a:endParaRPr lang="en-US" sz="1200" dirty="0"/>
          </a:p>
        </p:txBody>
      </p:sp>
      <p:sp>
        <p:nvSpPr>
          <p:cNvPr id="7" name="Text 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8 / 9</a:t>
            </a:r>
            <a:endParaRPr lang="en-US" sz="1200" dirty="0"/>
          </a:p>
        </p:txBody>
      </p:sp>
      <p:sp>
        <p:nvSpPr>
          <p:cNvPr id="10" name="Hidden Title 10" descr="Slide title: Governance Control Mapping"/>
          <p:cNvSpPr>
            <a:spLocks noGrp="1"/>
          </p:cNvSpPr>
          <p:nvPr>
            <p:ph type="title"/>
          </p:nvPr>
        </p:nvSpPr>
        <p:spPr>
          <a:xfrm>
            <a:off x="0" y="-457200"/>
            <a:ext cx="9144000" cy="457200"/>
          </a:xfrm>
        </p:spPr>
        <p:txBody>
          <a:bodyPr/>
          <a:lstStyle/>
          <a:p>
            <a:r>
              <a:rPr lang="en-US" sz="100" dirty="0"/>
              <a:t>Governance Control Mapping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Grounding &amp; Inference Governance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Why AI Data Governance Is Different</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Generative AI creates new surfaces to discover, classify, and protect data that didn't exist before.</a:t>
            </a:r>
            <a:endParaRPr lang="en-US" sz="1733" dirty="0"/>
          </a:p>
        </p:txBody>
      </p:sp>
      <p:sp>
        <p:nvSpPr>
          <p:cNvPr id="4" name="Shape 2"/>
          <p:cNvSpPr/>
          <p:nvPr/>
        </p:nvSpPr>
        <p:spPr>
          <a:xfrm>
            <a:off x="54864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4864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914400" y="2316480"/>
            <a:ext cx="853440" cy="853440"/>
          </a:xfrm>
          <a:prstGeom prst="ellipse">
            <a:avLst/>
          </a:prstGeom>
          <a:solidFill>
            <a:srgbClr val="2B4EC7"/>
          </a:solidFill>
          <a:ln w="12700">
            <a:solidFill>
              <a:srgbClr val="2B4EC7"/>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1060704" y="2462784"/>
            <a:ext cx="560832" cy="560832"/>
          </a:xfrm>
          <a:prstGeom prst="rect">
            <a:avLst/>
          </a:prstGeom>
        </p:spPr>
      </p:pic>
      <p:sp>
        <p:nvSpPr>
          <p:cNvPr id="8" name="Text 5"/>
          <p:cNvSpPr/>
          <p:nvPr/>
        </p:nvSpPr>
        <p:spPr>
          <a:xfrm>
            <a:off x="1950720" y="225552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Grounding Leakage</a:t>
            </a:r>
            <a:endParaRPr lang="en-US" sz="2000" dirty="0"/>
          </a:p>
        </p:txBody>
      </p:sp>
      <p:sp>
        <p:nvSpPr>
          <p:cNvPr id="9" name="Text 6"/>
          <p:cNvSpPr/>
          <p:nvPr/>
        </p:nvSpPr>
        <p:spPr>
          <a:xfrm>
            <a:off x="195072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Models surface data the user wasn't allowed to see — ACLs must be honored in retrieval.</a:t>
            </a:r>
            <a:endParaRPr lang="en-US" sz="1533" dirty="0"/>
          </a:p>
        </p:txBody>
      </p:sp>
      <p:sp>
        <p:nvSpPr>
          <p:cNvPr id="10" name="Shape 7"/>
          <p:cNvSpPr/>
          <p:nvPr/>
        </p:nvSpPr>
        <p:spPr>
          <a:xfrm>
            <a:off x="627888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627888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12" name="Shape 9"/>
          <p:cNvSpPr/>
          <p:nvPr/>
        </p:nvSpPr>
        <p:spPr>
          <a:xfrm>
            <a:off x="6644640" y="2316480"/>
            <a:ext cx="853440" cy="853440"/>
          </a:xfrm>
          <a:prstGeom prst="ellipse">
            <a:avLst/>
          </a:prstGeom>
          <a:solidFill>
            <a:srgbClr val="8B5CF6"/>
          </a:solidFill>
          <a:ln w="12700">
            <a:solidFill>
              <a:srgbClr val="8B5CF6"/>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6790944" y="2462784"/>
            <a:ext cx="560832" cy="560832"/>
          </a:xfrm>
          <a:prstGeom prst="rect">
            <a:avLst/>
          </a:prstGeom>
        </p:spPr>
      </p:pic>
      <p:sp>
        <p:nvSpPr>
          <p:cNvPr id="14" name="Text 10"/>
          <p:cNvSpPr/>
          <p:nvPr/>
        </p:nvSpPr>
        <p:spPr>
          <a:xfrm>
            <a:off x="7680960" y="225552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Prompt Exposure</a:t>
            </a:r>
            <a:endParaRPr lang="en-US" sz="2000" dirty="0"/>
          </a:p>
        </p:txBody>
      </p:sp>
      <p:sp>
        <p:nvSpPr>
          <p:cNvPr id="15" name="Text 11"/>
          <p:cNvSpPr/>
          <p:nvPr/>
        </p:nvSpPr>
        <p:spPr>
          <a:xfrm>
            <a:off x="768096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Employees paste PII, PHI, secrets, or source code into prompts — a new DLP vector.</a:t>
            </a:r>
            <a:endParaRPr lang="en-US" sz="1533" dirty="0"/>
          </a:p>
        </p:txBody>
      </p:sp>
      <p:sp>
        <p:nvSpPr>
          <p:cNvPr id="16" name="Shape 12"/>
          <p:cNvSpPr/>
          <p:nvPr/>
        </p:nvSpPr>
        <p:spPr>
          <a:xfrm>
            <a:off x="54864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548640" y="408432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18" name="Shape 14"/>
          <p:cNvSpPr/>
          <p:nvPr/>
        </p:nvSpPr>
        <p:spPr>
          <a:xfrm>
            <a:off x="914400" y="4511040"/>
            <a:ext cx="853440" cy="853440"/>
          </a:xfrm>
          <a:prstGeom prst="ellipse">
            <a:avLst/>
          </a:prstGeom>
          <a:solidFill>
            <a:srgbClr val="F59E0B"/>
          </a:solidFill>
          <a:ln w="12700">
            <a:solidFill>
              <a:srgbClr val="F59E0B"/>
            </a:solidFill>
            <a:prstDash val="solid"/>
          </a:ln>
        </p:spPr>
        <p:txBody>
          <a:bodyPr/>
          <a:lstStyle/>
          <a:p>
            <a:endParaRPr lang="en-US" sz="2400"/>
          </a:p>
        </p:txBody>
      </p:sp>
      <p:pic>
        <p:nvPicPr>
          <p:cNvPr id="19" name="Image 2" descr="preencoded.png"/>
          <p:cNvPicPr>
            <a:picLocks noChangeAspect="1"/>
          </p:cNvPicPr>
          <p:nvPr/>
        </p:nvPicPr>
        <p:blipFill>
          <a:blip r:embed="rId5"/>
          <a:stretch>
            <a:fillRect/>
          </a:stretch>
        </p:blipFill>
        <p:spPr>
          <a:xfrm>
            <a:off x="1060704" y="4657344"/>
            <a:ext cx="560832" cy="560832"/>
          </a:xfrm>
          <a:prstGeom prst="rect">
            <a:avLst/>
          </a:prstGeom>
        </p:spPr>
      </p:pic>
      <p:sp>
        <p:nvSpPr>
          <p:cNvPr id="20" name="Text 15"/>
          <p:cNvSpPr/>
          <p:nvPr/>
        </p:nvSpPr>
        <p:spPr>
          <a:xfrm>
            <a:off x="1950720" y="445008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Hallucinations &amp; Bias</a:t>
            </a:r>
            <a:endParaRPr lang="en-US" sz="2000" dirty="0"/>
          </a:p>
        </p:txBody>
      </p:sp>
      <p:sp>
        <p:nvSpPr>
          <p:cNvPr id="21" name="Text 16"/>
          <p:cNvSpPr/>
          <p:nvPr/>
        </p:nvSpPr>
        <p:spPr>
          <a:xfrm>
            <a:off x="195072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Ungrounded answers misinform decisions; content safety must catch unsafe outputs.</a:t>
            </a:r>
            <a:endParaRPr lang="en-US" sz="1533" dirty="0"/>
          </a:p>
        </p:txBody>
      </p:sp>
      <p:sp>
        <p:nvSpPr>
          <p:cNvPr id="22" name="Shape 17"/>
          <p:cNvSpPr/>
          <p:nvPr/>
        </p:nvSpPr>
        <p:spPr>
          <a:xfrm>
            <a:off x="627888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6278880" y="408432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24" name="Shape 19"/>
          <p:cNvSpPr/>
          <p:nvPr/>
        </p:nvSpPr>
        <p:spPr>
          <a:xfrm>
            <a:off x="6644640" y="4511040"/>
            <a:ext cx="853440" cy="853440"/>
          </a:xfrm>
          <a:prstGeom prst="ellipse">
            <a:avLst/>
          </a:prstGeom>
          <a:solidFill>
            <a:srgbClr val="0D9488"/>
          </a:solidFill>
          <a:ln w="12700">
            <a:solidFill>
              <a:srgbClr val="0D9488"/>
            </a:solidFill>
            <a:prstDash val="solid"/>
          </a:ln>
        </p:spPr>
        <p:txBody>
          <a:bodyPr/>
          <a:lstStyle/>
          <a:p>
            <a:endParaRPr lang="en-US" sz="2400"/>
          </a:p>
        </p:txBody>
      </p:sp>
      <p:pic>
        <p:nvPicPr>
          <p:cNvPr id="25" name="Image 3" descr="preencoded.png"/>
          <p:cNvPicPr>
            <a:picLocks noChangeAspect="1"/>
          </p:cNvPicPr>
          <p:nvPr/>
        </p:nvPicPr>
        <p:blipFill>
          <a:blip r:embed="rId6"/>
          <a:stretch>
            <a:fillRect/>
          </a:stretch>
        </p:blipFill>
        <p:spPr>
          <a:xfrm>
            <a:off x="6790944" y="4657344"/>
            <a:ext cx="560832" cy="560832"/>
          </a:xfrm>
          <a:prstGeom prst="rect">
            <a:avLst/>
          </a:prstGeom>
        </p:spPr>
      </p:pic>
      <p:sp>
        <p:nvSpPr>
          <p:cNvPr id="26" name="Text 20"/>
          <p:cNvSpPr/>
          <p:nvPr/>
        </p:nvSpPr>
        <p:spPr>
          <a:xfrm>
            <a:off x="7680960" y="445008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Auditability</a:t>
            </a:r>
            <a:endParaRPr lang="en-US" sz="2000" dirty="0"/>
          </a:p>
        </p:txBody>
      </p:sp>
      <p:sp>
        <p:nvSpPr>
          <p:cNvPr id="27" name="Text 21"/>
          <p:cNvSpPr/>
          <p:nvPr/>
        </p:nvSpPr>
        <p:spPr>
          <a:xfrm>
            <a:off x="768096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Regulators want to know who asked what, which sources were used, and how answers were formed.</a:t>
            </a:r>
            <a:endParaRPr lang="en-US" sz="1533" dirty="0"/>
          </a:p>
        </p:txBody>
      </p:sp>
      <p:sp>
        <p:nvSpPr>
          <p:cNvPr id="28" name="Shape 2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29" name="Text 2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30" name="Text 2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2 / 9</a:t>
            </a:r>
            <a:endParaRPr lang="en-US" sz="1200" dirty="0"/>
          </a:p>
        </p:txBody>
      </p:sp>
      <p:sp>
        <p:nvSpPr>
          <p:cNvPr id="31" name="Hidden Title 31" descr="Slide title: Why AI Data Governance Is Different"/>
          <p:cNvSpPr>
            <a:spLocks noGrp="1"/>
          </p:cNvSpPr>
          <p:nvPr>
            <p:ph type="title"/>
          </p:nvPr>
        </p:nvSpPr>
        <p:spPr>
          <a:xfrm>
            <a:off x="0" y="-457200"/>
            <a:ext cx="9144000" cy="457200"/>
          </a:xfrm>
        </p:spPr>
        <p:txBody>
          <a:bodyPr/>
          <a:lstStyle/>
          <a:p>
            <a:r>
              <a:rPr lang="en-US" sz="100" dirty="0"/>
              <a:t>Why AI Data Governance Is Different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The AI Data Lifecycle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Four stages — each needs its own governance controls.</a:t>
            </a:r>
            <a:endParaRPr lang="en-US" sz="1733" dirty="0"/>
          </a:p>
        </p:txBody>
      </p:sp>
      <p:sp>
        <p:nvSpPr>
          <p:cNvPr id="4" name="Shape 2"/>
          <p:cNvSpPr/>
          <p:nvPr/>
        </p:nvSpPr>
        <p:spPr>
          <a:xfrm>
            <a:off x="396240" y="2072640"/>
            <a:ext cx="2621280" cy="280416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396240" y="2072640"/>
            <a:ext cx="2621280" cy="97536"/>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579120" y="2316480"/>
            <a:ext cx="548640" cy="548640"/>
          </a:xfrm>
          <a:prstGeom prst="ellipse">
            <a:avLst/>
          </a:prstGeom>
          <a:solidFill>
            <a:srgbClr val="2B4EC7"/>
          </a:solidFill>
          <a:ln w="12700">
            <a:solidFill>
              <a:srgbClr val="2B4EC7"/>
            </a:solidFill>
            <a:prstDash val="solid"/>
          </a:ln>
        </p:spPr>
        <p:txBody>
          <a:bodyPr/>
          <a:lstStyle/>
          <a:p>
            <a:endParaRPr lang="en-US" sz="2400"/>
          </a:p>
        </p:txBody>
      </p:sp>
      <p:sp>
        <p:nvSpPr>
          <p:cNvPr id="7" name="Text 5"/>
          <p:cNvSpPr/>
          <p:nvPr/>
        </p:nvSpPr>
        <p:spPr>
          <a:xfrm>
            <a:off x="579120" y="2340864"/>
            <a:ext cx="548640" cy="548640"/>
          </a:xfrm>
          <a:prstGeom prst="rect">
            <a:avLst/>
          </a:prstGeom>
          <a:noFill/>
          <a:ln/>
        </p:spPr>
        <p:txBody>
          <a:bodyPr wrap="square" lIns="0" tIns="0" rIns="0" bIns="0" rtlCol="0" anchor="ctr"/>
          <a:lstStyle/>
          <a:p>
            <a:pPr algn="ctr"/>
            <a:r>
              <a:rPr lang="en-US" sz="1867" b="1" dirty="0">
                <a:solidFill>
                  <a:srgbClr val="FFFFFF"/>
                </a:solidFill>
                <a:latin typeface="Georgia" pitchFamily="34" charset="0"/>
                <a:ea typeface="Georgia" pitchFamily="34" charset="-122"/>
                <a:cs typeface="Georgia" pitchFamily="34" charset="-120"/>
              </a:rPr>
              <a:t>1</a:t>
            </a:r>
            <a:endParaRPr lang="en-US" sz="1867" dirty="0"/>
          </a:p>
        </p:txBody>
      </p:sp>
      <p:pic>
        <p:nvPicPr>
          <p:cNvPr id="8" name="Image 0" descr="preencoded.png"/>
          <p:cNvPicPr>
            <a:picLocks noChangeAspect="1"/>
          </p:cNvPicPr>
          <p:nvPr/>
        </p:nvPicPr>
        <p:blipFill>
          <a:blip r:embed="rId3"/>
          <a:stretch>
            <a:fillRect/>
          </a:stretch>
        </p:blipFill>
        <p:spPr>
          <a:xfrm>
            <a:off x="2286000" y="2377440"/>
            <a:ext cx="487680" cy="487680"/>
          </a:xfrm>
          <a:prstGeom prst="rect">
            <a:avLst/>
          </a:prstGeom>
        </p:spPr>
      </p:pic>
      <p:sp>
        <p:nvSpPr>
          <p:cNvPr id="9" name="Text 6"/>
          <p:cNvSpPr/>
          <p:nvPr/>
        </p:nvSpPr>
        <p:spPr>
          <a:xfrm>
            <a:off x="579120" y="3108960"/>
            <a:ext cx="2255520" cy="548640"/>
          </a:xfrm>
          <a:prstGeom prst="rect">
            <a:avLst/>
          </a:prstGeom>
          <a:noFill/>
          <a:ln/>
        </p:spPr>
        <p:txBody>
          <a:bodyPr wrap="square" lIns="0" tIns="0" rIns="0" bIns="0" rtlCol="0" anchor="ctr"/>
          <a:lstStyle/>
          <a:p>
            <a:pPr algn="ctr"/>
            <a:r>
              <a:rPr lang="en-US" sz="2000" b="1" dirty="0">
                <a:solidFill>
                  <a:srgbClr val="1A1D3A"/>
                </a:solidFill>
                <a:latin typeface="Georgia" pitchFamily="34" charset="0"/>
                <a:ea typeface="Georgia" pitchFamily="34" charset="-122"/>
                <a:cs typeface="Georgia" pitchFamily="34" charset="-120"/>
              </a:rPr>
              <a:t>Source Data</a:t>
            </a:r>
            <a:endParaRPr lang="en-US" sz="2000" dirty="0"/>
          </a:p>
        </p:txBody>
      </p:sp>
      <p:sp>
        <p:nvSpPr>
          <p:cNvPr id="10" name="Text 7"/>
          <p:cNvSpPr/>
          <p:nvPr/>
        </p:nvSpPr>
        <p:spPr>
          <a:xfrm>
            <a:off x="640080" y="3718560"/>
            <a:ext cx="2133600" cy="1036320"/>
          </a:xfrm>
          <a:prstGeom prst="rect">
            <a:avLst/>
          </a:prstGeom>
          <a:noFill/>
          <a:ln/>
        </p:spPr>
        <p:txBody>
          <a:bodyPr wrap="square" lIns="0" tIns="0" rIns="0" bIns="0" rtlCol="0" anchor="ctr"/>
          <a:lstStyle/>
          <a:p>
            <a:pPr algn="ctr"/>
            <a:r>
              <a:rPr lang="en-US" sz="1467" dirty="0">
                <a:solidFill>
                  <a:srgbClr val="64748B"/>
                </a:solidFill>
                <a:latin typeface="Calibri" pitchFamily="34" charset="0"/>
                <a:ea typeface="Calibri" pitchFamily="34" charset="-122"/>
                <a:cs typeface="Calibri" pitchFamily="34" charset="-120"/>
              </a:rPr>
              <a:t>Classified &amp; labeled in Purview Unified Catalog</a:t>
            </a:r>
            <a:endParaRPr lang="en-US" sz="1467" dirty="0"/>
          </a:p>
        </p:txBody>
      </p:sp>
      <p:sp>
        <p:nvSpPr>
          <p:cNvPr id="11" name="Shape 8"/>
          <p:cNvSpPr/>
          <p:nvPr/>
        </p:nvSpPr>
        <p:spPr>
          <a:xfrm rot="5400000">
            <a:off x="3041904" y="3328416"/>
            <a:ext cx="268224" cy="304800"/>
          </a:xfrm>
          <a:prstGeom prst="rtTriangle">
            <a:avLst/>
          </a:prstGeom>
          <a:solidFill>
            <a:srgbClr val="64748B"/>
          </a:solidFill>
          <a:ln w="12700">
            <a:solidFill>
              <a:srgbClr val="64748B"/>
            </a:solidFill>
            <a:prstDash val="solid"/>
          </a:ln>
        </p:spPr>
        <p:txBody>
          <a:bodyPr/>
          <a:lstStyle/>
          <a:p>
            <a:endParaRPr lang="en-US" sz="2400"/>
          </a:p>
        </p:txBody>
      </p:sp>
      <p:sp>
        <p:nvSpPr>
          <p:cNvPr id="12" name="Shape 9"/>
          <p:cNvSpPr/>
          <p:nvPr/>
        </p:nvSpPr>
        <p:spPr>
          <a:xfrm>
            <a:off x="3322320" y="2072640"/>
            <a:ext cx="2621280" cy="280416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3" name="Shape 10"/>
          <p:cNvSpPr/>
          <p:nvPr/>
        </p:nvSpPr>
        <p:spPr>
          <a:xfrm>
            <a:off x="3322320" y="2072640"/>
            <a:ext cx="2621280" cy="97536"/>
          </a:xfrm>
          <a:prstGeom prst="rect">
            <a:avLst/>
          </a:prstGeom>
          <a:solidFill>
            <a:srgbClr val="8B5CF6"/>
          </a:solidFill>
          <a:ln w="12700">
            <a:solidFill>
              <a:srgbClr val="8B5CF6"/>
            </a:solidFill>
            <a:prstDash val="solid"/>
          </a:ln>
        </p:spPr>
        <p:txBody>
          <a:bodyPr/>
          <a:lstStyle/>
          <a:p>
            <a:endParaRPr lang="en-US" sz="2400"/>
          </a:p>
        </p:txBody>
      </p:sp>
      <p:sp>
        <p:nvSpPr>
          <p:cNvPr id="14" name="Shape 11"/>
          <p:cNvSpPr/>
          <p:nvPr/>
        </p:nvSpPr>
        <p:spPr>
          <a:xfrm>
            <a:off x="3505200" y="2316480"/>
            <a:ext cx="548640" cy="548640"/>
          </a:xfrm>
          <a:prstGeom prst="ellipse">
            <a:avLst/>
          </a:prstGeom>
          <a:solidFill>
            <a:srgbClr val="8B5CF6"/>
          </a:solidFill>
          <a:ln w="12700">
            <a:solidFill>
              <a:srgbClr val="8B5CF6"/>
            </a:solidFill>
            <a:prstDash val="solid"/>
          </a:ln>
        </p:spPr>
        <p:txBody>
          <a:bodyPr/>
          <a:lstStyle/>
          <a:p>
            <a:endParaRPr lang="en-US" sz="2400"/>
          </a:p>
        </p:txBody>
      </p:sp>
      <p:sp>
        <p:nvSpPr>
          <p:cNvPr id="15" name="Text 12"/>
          <p:cNvSpPr/>
          <p:nvPr/>
        </p:nvSpPr>
        <p:spPr>
          <a:xfrm>
            <a:off x="3505200" y="2340864"/>
            <a:ext cx="548640" cy="548640"/>
          </a:xfrm>
          <a:prstGeom prst="rect">
            <a:avLst/>
          </a:prstGeom>
          <a:noFill/>
          <a:ln/>
        </p:spPr>
        <p:txBody>
          <a:bodyPr wrap="square" lIns="0" tIns="0" rIns="0" bIns="0" rtlCol="0" anchor="ctr"/>
          <a:lstStyle/>
          <a:p>
            <a:pPr algn="ctr"/>
            <a:r>
              <a:rPr lang="en-US" sz="1867" b="1" dirty="0">
                <a:solidFill>
                  <a:srgbClr val="FFFFFF"/>
                </a:solidFill>
                <a:latin typeface="Georgia" pitchFamily="34" charset="0"/>
                <a:ea typeface="Georgia" pitchFamily="34" charset="-122"/>
                <a:cs typeface="Georgia" pitchFamily="34" charset="-120"/>
              </a:rPr>
              <a:t>2</a:t>
            </a:r>
            <a:endParaRPr lang="en-US" sz="1867" dirty="0"/>
          </a:p>
        </p:txBody>
      </p:sp>
      <p:pic>
        <p:nvPicPr>
          <p:cNvPr id="16" name="Image 1" descr="preencoded.png"/>
          <p:cNvPicPr>
            <a:picLocks noChangeAspect="1"/>
          </p:cNvPicPr>
          <p:nvPr/>
        </p:nvPicPr>
        <p:blipFill>
          <a:blip r:embed="rId4"/>
          <a:stretch>
            <a:fillRect/>
          </a:stretch>
        </p:blipFill>
        <p:spPr>
          <a:xfrm>
            <a:off x="5212080" y="2377440"/>
            <a:ext cx="487680" cy="487680"/>
          </a:xfrm>
          <a:prstGeom prst="rect">
            <a:avLst/>
          </a:prstGeom>
        </p:spPr>
      </p:pic>
      <p:sp>
        <p:nvSpPr>
          <p:cNvPr id="17" name="Text 13"/>
          <p:cNvSpPr/>
          <p:nvPr/>
        </p:nvSpPr>
        <p:spPr>
          <a:xfrm>
            <a:off x="3505200" y="3108960"/>
            <a:ext cx="2255520" cy="548640"/>
          </a:xfrm>
          <a:prstGeom prst="rect">
            <a:avLst/>
          </a:prstGeom>
          <a:noFill/>
          <a:ln/>
        </p:spPr>
        <p:txBody>
          <a:bodyPr wrap="square" lIns="0" tIns="0" rIns="0" bIns="0" rtlCol="0" anchor="ctr"/>
          <a:lstStyle/>
          <a:p>
            <a:pPr algn="ctr"/>
            <a:r>
              <a:rPr lang="en-US" sz="2000" b="1" dirty="0">
                <a:solidFill>
                  <a:srgbClr val="1A1D3A"/>
                </a:solidFill>
                <a:latin typeface="Georgia" pitchFamily="34" charset="0"/>
                <a:ea typeface="Georgia" pitchFamily="34" charset="-122"/>
                <a:cs typeface="Georgia" pitchFamily="34" charset="-120"/>
              </a:rPr>
              <a:t>Grounding / RAG</a:t>
            </a:r>
            <a:endParaRPr lang="en-US" sz="2000" dirty="0"/>
          </a:p>
        </p:txBody>
      </p:sp>
      <p:sp>
        <p:nvSpPr>
          <p:cNvPr id="18" name="Text 14"/>
          <p:cNvSpPr/>
          <p:nvPr/>
        </p:nvSpPr>
        <p:spPr>
          <a:xfrm>
            <a:off x="3566160" y="3718560"/>
            <a:ext cx="2133600" cy="1036320"/>
          </a:xfrm>
          <a:prstGeom prst="rect">
            <a:avLst/>
          </a:prstGeom>
          <a:noFill/>
          <a:ln/>
        </p:spPr>
        <p:txBody>
          <a:bodyPr wrap="square" lIns="0" tIns="0" rIns="0" bIns="0" rtlCol="0" anchor="ctr"/>
          <a:lstStyle/>
          <a:p>
            <a:pPr algn="ctr"/>
            <a:r>
              <a:rPr lang="en-US" sz="1467" dirty="0">
                <a:solidFill>
                  <a:srgbClr val="64748B"/>
                </a:solidFill>
                <a:latin typeface="Calibri" pitchFamily="34" charset="0"/>
                <a:ea typeface="Calibri" pitchFamily="34" charset="-122"/>
                <a:cs typeface="Calibri" pitchFamily="34" charset="-120"/>
              </a:rPr>
              <a:t>Indexed with ACLs; security-trimmed retrieval</a:t>
            </a:r>
            <a:endParaRPr lang="en-US" sz="1467" dirty="0"/>
          </a:p>
        </p:txBody>
      </p:sp>
      <p:sp>
        <p:nvSpPr>
          <p:cNvPr id="19" name="Shape 15"/>
          <p:cNvSpPr/>
          <p:nvPr/>
        </p:nvSpPr>
        <p:spPr>
          <a:xfrm rot="5400000">
            <a:off x="5967984" y="3328416"/>
            <a:ext cx="268224" cy="304800"/>
          </a:xfrm>
          <a:prstGeom prst="rtTriangle">
            <a:avLst/>
          </a:prstGeom>
          <a:solidFill>
            <a:srgbClr val="64748B"/>
          </a:solidFill>
          <a:ln w="12700">
            <a:solidFill>
              <a:srgbClr val="64748B"/>
            </a:solidFill>
            <a:prstDash val="solid"/>
          </a:ln>
        </p:spPr>
        <p:txBody>
          <a:bodyPr/>
          <a:lstStyle/>
          <a:p>
            <a:endParaRPr lang="en-US" sz="2400"/>
          </a:p>
        </p:txBody>
      </p:sp>
      <p:sp>
        <p:nvSpPr>
          <p:cNvPr id="20" name="Shape 16"/>
          <p:cNvSpPr/>
          <p:nvPr/>
        </p:nvSpPr>
        <p:spPr>
          <a:xfrm>
            <a:off x="6248400" y="2072640"/>
            <a:ext cx="2621280" cy="280416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1" name="Shape 17"/>
          <p:cNvSpPr/>
          <p:nvPr/>
        </p:nvSpPr>
        <p:spPr>
          <a:xfrm>
            <a:off x="6248400" y="2072640"/>
            <a:ext cx="2621280" cy="97536"/>
          </a:xfrm>
          <a:prstGeom prst="rect">
            <a:avLst/>
          </a:prstGeom>
          <a:solidFill>
            <a:srgbClr val="0D9488"/>
          </a:solidFill>
          <a:ln w="12700">
            <a:solidFill>
              <a:srgbClr val="0D9488"/>
            </a:solidFill>
            <a:prstDash val="solid"/>
          </a:ln>
        </p:spPr>
        <p:txBody>
          <a:bodyPr/>
          <a:lstStyle/>
          <a:p>
            <a:endParaRPr lang="en-US" sz="2400"/>
          </a:p>
        </p:txBody>
      </p:sp>
      <p:sp>
        <p:nvSpPr>
          <p:cNvPr id="22" name="Shape 18"/>
          <p:cNvSpPr/>
          <p:nvPr/>
        </p:nvSpPr>
        <p:spPr>
          <a:xfrm>
            <a:off x="6431280" y="2316480"/>
            <a:ext cx="548640" cy="548640"/>
          </a:xfrm>
          <a:prstGeom prst="ellipse">
            <a:avLst/>
          </a:prstGeom>
          <a:solidFill>
            <a:srgbClr val="0D9488"/>
          </a:solidFill>
          <a:ln w="12700">
            <a:solidFill>
              <a:srgbClr val="0D9488"/>
            </a:solidFill>
            <a:prstDash val="solid"/>
          </a:ln>
        </p:spPr>
        <p:txBody>
          <a:bodyPr/>
          <a:lstStyle/>
          <a:p>
            <a:endParaRPr lang="en-US" sz="2400"/>
          </a:p>
        </p:txBody>
      </p:sp>
      <p:sp>
        <p:nvSpPr>
          <p:cNvPr id="23" name="Text 19"/>
          <p:cNvSpPr/>
          <p:nvPr/>
        </p:nvSpPr>
        <p:spPr>
          <a:xfrm>
            <a:off x="6431280" y="2340864"/>
            <a:ext cx="548640" cy="548640"/>
          </a:xfrm>
          <a:prstGeom prst="rect">
            <a:avLst/>
          </a:prstGeom>
          <a:noFill/>
          <a:ln/>
        </p:spPr>
        <p:txBody>
          <a:bodyPr wrap="square" lIns="0" tIns="0" rIns="0" bIns="0" rtlCol="0" anchor="ctr"/>
          <a:lstStyle/>
          <a:p>
            <a:pPr algn="ctr"/>
            <a:r>
              <a:rPr lang="en-US" sz="1867" b="1" dirty="0">
                <a:solidFill>
                  <a:srgbClr val="FFFFFF"/>
                </a:solidFill>
                <a:latin typeface="Georgia" pitchFamily="34" charset="0"/>
                <a:ea typeface="Georgia" pitchFamily="34" charset="-122"/>
                <a:cs typeface="Georgia" pitchFamily="34" charset="-120"/>
              </a:rPr>
              <a:t>3</a:t>
            </a:r>
            <a:endParaRPr lang="en-US" sz="1867" dirty="0"/>
          </a:p>
        </p:txBody>
      </p:sp>
      <p:pic>
        <p:nvPicPr>
          <p:cNvPr id="24" name="Image 2" descr="preencoded.png"/>
          <p:cNvPicPr>
            <a:picLocks noChangeAspect="1"/>
          </p:cNvPicPr>
          <p:nvPr/>
        </p:nvPicPr>
        <p:blipFill>
          <a:blip r:embed="rId5"/>
          <a:stretch>
            <a:fillRect/>
          </a:stretch>
        </p:blipFill>
        <p:spPr>
          <a:xfrm>
            <a:off x="8138160" y="2377440"/>
            <a:ext cx="487680" cy="487680"/>
          </a:xfrm>
          <a:prstGeom prst="rect">
            <a:avLst/>
          </a:prstGeom>
        </p:spPr>
      </p:pic>
      <p:sp>
        <p:nvSpPr>
          <p:cNvPr id="25" name="Text 20"/>
          <p:cNvSpPr/>
          <p:nvPr/>
        </p:nvSpPr>
        <p:spPr>
          <a:xfrm>
            <a:off x="6431280" y="3108960"/>
            <a:ext cx="2255520" cy="548640"/>
          </a:xfrm>
          <a:prstGeom prst="rect">
            <a:avLst/>
          </a:prstGeom>
          <a:noFill/>
          <a:ln/>
        </p:spPr>
        <p:txBody>
          <a:bodyPr wrap="square" lIns="0" tIns="0" rIns="0" bIns="0" rtlCol="0" anchor="ctr"/>
          <a:lstStyle/>
          <a:p>
            <a:pPr algn="ctr"/>
            <a:r>
              <a:rPr lang="en-US" sz="2000" b="1" dirty="0">
                <a:solidFill>
                  <a:srgbClr val="1A1D3A"/>
                </a:solidFill>
                <a:latin typeface="Georgia" pitchFamily="34" charset="0"/>
                <a:ea typeface="Georgia" pitchFamily="34" charset="-122"/>
                <a:cs typeface="Georgia" pitchFamily="34" charset="-120"/>
              </a:rPr>
              <a:t>Prompt / Inference</a:t>
            </a:r>
            <a:endParaRPr lang="en-US" sz="2000" dirty="0"/>
          </a:p>
        </p:txBody>
      </p:sp>
      <p:sp>
        <p:nvSpPr>
          <p:cNvPr id="26" name="Text 21"/>
          <p:cNvSpPr/>
          <p:nvPr/>
        </p:nvSpPr>
        <p:spPr>
          <a:xfrm>
            <a:off x="6492240" y="3718560"/>
            <a:ext cx="2133600" cy="1036320"/>
          </a:xfrm>
          <a:prstGeom prst="rect">
            <a:avLst/>
          </a:prstGeom>
          <a:noFill/>
          <a:ln/>
        </p:spPr>
        <p:txBody>
          <a:bodyPr wrap="square" lIns="0" tIns="0" rIns="0" bIns="0" rtlCol="0" anchor="ctr"/>
          <a:lstStyle/>
          <a:p>
            <a:pPr algn="ctr"/>
            <a:r>
              <a:rPr lang="en-US" sz="1467" dirty="0">
                <a:solidFill>
                  <a:srgbClr val="64748B"/>
                </a:solidFill>
                <a:latin typeface="Calibri" pitchFamily="34" charset="0"/>
                <a:ea typeface="Calibri" pitchFamily="34" charset="-122"/>
                <a:cs typeface="Calibri" pitchFamily="34" charset="-120"/>
              </a:rPr>
              <a:t>Intercepted for DLP, redaction, safety checks</a:t>
            </a:r>
            <a:endParaRPr lang="en-US" sz="1467" dirty="0"/>
          </a:p>
        </p:txBody>
      </p:sp>
      <p:sp>
        <p:nvSpPr>
          <p:cNvPr id="27" name="Shape 22"/>
          <p:cNvSpPr/>
          <p:nvPr/>
        </p:nvSpPr>
        <p:spPr>
          <a:xfrm rot="5400000">
            <a:off x="8894064" y="3328416"/>
            <a:ext cx="268224" cy="304800"/>
          </a:xfrm>
          <a:prstGeom prst="rtTriangle">
            <a:avLst/>
          </a:prstGeom>
          <a:solidFill>
            <a:srgbClr val="64748B"/>
          </a:solidFill>
          <a:ln w="12700">
            <a:solidFill>
              <a:srgbClr val="64748B"/>
            </a:solidFill>
            <a:prstDash val="solid"/>
          </a:ln>
        </p:spPr>
        <p:txBody>
          <a:bodyPr/>
          <a:lstStyle/>
          <a:p>
            <a:endParaRPr lang="en-US" sz="2400"/>
          </a:p>
        </p:txBody>
      </p:sp>
      <p:sp>
        <p:nvSpPr>
          <p:cNvPr id="28" name="Shape 23"/>
          <p:cNvSpPr/>
          <p:nvPr/>
        </p:nvSpPr>
        <p:spPr>
          <a:xfrm>
            <a:off x="9174480" y="2072640"/>
            <a:ext cx="2621280" cy="280416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9" name="Shape 24"/>
          <p:cNvSpPr/>
          <p:nvPr/>
        </p:nvSpPr>
        <p:spPr>
          <a:xfrm>
            <a:off x="9174480" y="2072640"/>
            <a:ext cx="2621280" cy="97536"/>
          </a:xfrm>
          <a:prstGeom prst="rect">
            <a:avLst/>
          </a:prstGeom>
          <a:solidFill>
            <a:srgbClr val="EC4899"/>
          </a:solidFill>
          <a:ln w="12700">
            <a:solidFill>
              <a:srgbClr val="EC4899"/>
            </a:solidFill>
            <a:prstDash val="solid"/>
          </a:ln>
        </p:spPr>
        <p:txBody>
          <a:bodyPr/>
          <a:lstStyle/>
          <a:p>
            <a:endParaRPr lang="en-US" sz="2400"/>
          </a:p>
        </p:txBody>
      </p:sp>
      <p:sp>
        <p:nvSpPr>
          <p:cNvPr id="30" name="Shape 25"/>
          <p:cNvSpPr/>
          <p:nvPr/>
        </p:nvSpPr>
        <p:spPr>
          <a:xfrm>
            <a:off x="9357360" y="2316480"/>
            <a:ext cx="548640" cy="548640"/>
          </a:xfrm>
          <a:prstGeom prst="ellipse">
            <a:avLst/>
          </a:prstGeom>
          <a:solidFill>
            <a:srgbClr val="EC4899"/>
          </a:solidFill>
          <a:ln w="12700">
            <a:solidFill>
              <a:srgbClr val="EC4899"/>
            </a:solidFill>
            <a:prstDash val="solid"/>
          </a:ln>
        </p:spPr>
        <p:txBody>
          <a:bodyPr/>
          <a:lstStyle/>
          <a:p>
            <a:endParaRPr lang="en-US" sz="2400"/>
          </a:p>
        </p:txBody>
      </p:sp>
      <p:sp>
        <p:nvSpPr>
          <p:cNvPr id="31" name="Text 26"/>
          <p:cNvSpPr/>
          <p:nvPr/>
        </p:nvSpPr>
        <p:spPr>
          <a:xfrm>
            <a:off x="9357360" y="2340864"/>
            <a:ext cx="548640" cy="548640"/>
          </a:xfrm>
          <a:prstGeom prst="rect">
            <a:avLst/>
          </a:prstGeom>
          <a:noFill/>
          <a:ln/>
        </p:spPr>
        <p:txBody>
          <a:bodyPr wrap="square" lIns="0" tIns="0" rIns="0" bIns="0" rtlCol="0" anchor="ctr"/>
          <a:lstStyle/>
          <a:p>
            <a:pPr algn="ctr"/>
            <a:r>
              <a:rPr lang="en-US" sz="1867" b="1" dirty="0">
                <a:solidFill>
                  <a:srgbClr val="FFFFFF"/>
                </a:solidFill>
                <a:latin typeface="Georgia" pitchFamily="34" charset="0"/>
                <a:ea typeface="Georgia" pitchFamily="34" charset="-122"/>
                <a:cs typeface="Georgia" pitchFamily="34" charset="-120"/>
              </a:rPr>
              <a:t>4</a:t>
            </a:r>
            <a:endParaRPr lang="en-US" sz="1867" dirty="0"/>
          </a:p>
        </p:txBody>
      </p:sp>
      <p:pic>
        <p:nvPicPr>
          <p:cNvPr id="32" name="Image 3" descr="preencoded.png"/>
          <p:cNvPicPr>
            <a:picLocks noChangeAspect="1"/>
          </p:cNvPicPr>
          <p:nvPr/>
        </p:nvPicPr>
        <p:blipFill>
          <a:blip r:embed="rId6"/>
          <a:stretch>
            <a:fillRect/>
          </a:stretch>
        </p:blipFill>
        <p:spPr>
          <a:xfrm>
            <a:off x="11064240" y="2377440"/>
            <a:ext cx="487680" cy="487680"/>
          </a:xfrm>
          <a:prstGeom prst="rect">
            <a:avLst/>
          </a:prstGeom>
        </p:spPr>
      </p:pic>
      <p:sp>
        <p:nvSpPr>
          <p:cNvPr id="33" name="Text 27"/>
          <p:cNvSpPr/>
          <p:nvPr/>
        </p:nvSpPr>
        <p:spPr>
          <a:xfrm>
            <a:off x="9357360" y="3108960"/>
            <a:ext cx="2255520" cy="548640"/>
          </a:xfrm>
          <a:prstGeom prst="rect">
            <a:avLst/>
          </a:prstGeom>
          <a:noFill/>
          <a:ln/>
        </p:spPr>
        <p:txBody>
          <a:bodyPr wrap="square" lIns="0" tIns="0" rIns="0" bIns="0" rtlCol="0" anchor="ctr"/>
          <a:lstStyle/>
          <a:p>
            <a:pPr algn="ctr"/>
            <a:r>
              <a:rPr lang="en-US" sz="2000" b="1" dirty="0">
                <a:solidFill>
                  <a:srgbClr val="1A1D3A"/>
                </a:solidFill>
                <a:latin typeface="Georgia" pitchFamily="34" charset="0"/>
                <a:ea typeface="Georgia" pitchFamily="34" charset="-122"/>
                <a:cs typeface="Georgia" pitchFamily="34" charset="-120"/>
              </a:rPr>
              <a:t>Response &amp; Audit</a:t>
            </a:r>
            <a:endParaRPr lang="en-US" sz="2000" dirty="0"/>
          </a:p>
        </p:txBody>
      </p:sp>
      <p:sp>
        <p:nvSpPr>
          <p:cNvPr id="34" name="Text 28"/>
          <p:cNvSpPr/>
          <p:nvPr/>
        </p:nvSpPr>
        <p:spPr>
          <a:xfrm>
            <a:off x="9418320" y="3718560"/>
            <a:ext cx="2133600" cy="1036320"/>
          </a:xfrm>
          <a:prstGeom prst="rect">
            <a:avLst/>
          </a:prstGeom>
          <a:noFill/>
          <a:ln/>
        </p:spPr>
        <p:txBody>
          <a:bodyPr wrap="square" lIns="0" tIns="0" rIns="0" bIns="0" rtlCol="0" anchor="ctr"/>
          <a:lstStyle/>
          <a:p>
            <a:pPr algn="ctr"/>
            <a:r>
              <a:rPr lang="en-US" sz="1467" dirty="0">
                <a:solidFill>
                  <a:srgbClr val="64748B"/>
                </a:solidFill>
                <a:latin typeface="Calibri" pitchFamily="34" charset="0"/>
                <a:ea typeface="Calibri" pitchFamily="34" charset="-122"/>
                <a:cs typeface="Calibri" pitchFamily="34" charset="-120"/>
              </a:rPr>
              <a:t>Logged, filtered, attributed with citations</a:t>
            </a:r>
            <a:endParaRPr lang="en-US" sz="1467" dirty="0"/>
          </a:p>
        </p:txBody>
      </p:sp>
      <p:sp>
        <p:nvSpPr>
          <p:cNvPr id="35" name="Shape 29"/>
          <p:cNvSpPr/>
          <p:nvPr/>
        </p:nvSpPr>
        <p:spPr>
          <a:xfrm>
            <a:off x="609600" y="5303520"/>
            <a:ext cx="10972800" cy="853440"/>
          </a:xfrm>
          <a:prstGeom prst="rect">
            <a:avLst/>
          </a:prstGeom>
          <a:solidFill>
            <a:srgbClr val="1E2761"/>
          </a:solidFill>
          <a:ln w="12700">
            <a:solidFill>
              <a:srgbClr val="1E2761"/>
            </a:solidFill>
            <a:prstDash val="solid"/>
          </a:ln>
        </p:spPr>
        <p:txBody>
          <a:bodyPr/>
          <a:lstStyle/>
          <a:p>
            <a:endParaRPr lang="en-US" sz="2400"/>
          </a:p>
        </p:txBody>
      </p:sp>
      <p:pic>
        <p:nvPicPr>
          <p:cNvPr id="36" name="Image 4" descr="preencoded.png"/>
          <p:cNvPicPr>
            <a:picLocks noChangeAspect="1"/>
          </p:cNvPicPr>
          <p:nvPr/>
        </p:nvPicPr>
        <p:blipFill>
          <a:blip r:embed="rId7"/>
          <a:stretch>
            <a:fillRect/>
          </a:stretch>
        </p:blipFill>
        <p:spPr>
          <a:xfrm>
            <a:off x="853440" y="5486400"/>
            <a:ext cx="487680" cy="487680"/>
          </a:xfrm>
          <a:prstGeom prst="rect">
            <a:avLst/>
          </a:prstGeom>
        </p:spPr>
      </p:pic>
      <p:sp>
        <p:nvSpPr>
          <p:cNvPr id="37" name="Text 30"/>
          <p:cNvSpPr/>
          <p:nvPr/>
        </p:nvSpPr>
        <p:spPr>
          <a:xfrm>
            <a:off x="1463040" y="5340096"/>
            <a:ext cx="9997440" cy="780288"/>
          </a:xfrm>
          <a:prstGeom prst="rect">
            <a:avLst/>
          </a:prstGeom>
          <a:noFill/>
          <a:ln/>
        </p:spPr>
        <p:txBody>
          <a:bodyPr wrap="square" lIns="0" tIns="0" rIns="0" bIns="0" rtlCol="0" anchor="ctr"/>
          <a:lstStyle/>
          <a:p>
            <a:r>
              <a:rPr lang="en-US" sz="1867" b="1" i="1" dirty="0">
                <a:solidFill>
                  <a:srgbClr val="FFFFFF"/>
                </a:solidFill>
                <a:latin typeface="Calibri" pitchFamily="34" charset="0"/>
                <a:ea typeface="Calibri" pitchFamily="34" charset="-122"/>
                <a:cs typeface="Calibri" pitchFamily="34" charset="-120"/>
              </a:rPr>
              <a:t>Governance must follow the data — not live inside a single product.</a:t>
            </a:r>
            <a:endParaRPr lang="en-US" sz="1867" dirty="0"/>
          </a:p>
        </p:txBody>
      </p:sp>
      <p:sp>
        <p:nvSpPr>
          <p:cNvPr id="38" name="Shape 31"/>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39" name="Text 32"/>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40" name="Text 33"/>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3 / 9</a:t>
            </a:r>
            <a:endParaRPr lang="en-US" sz="1200" dirty="0"/>
          </a:p>
        </p:txBody>
      </p:sp>
      <p:sp>
        <p:nvSpPr>
          <p:cNvPr id="41" name="Hidden Title 41" descr="Slide title: The AI Data Lifecycle"/>
          <p:cNvSpPr>
            <a:spLocks noGrp="1"/>
          </p:cNvSpPr>
          <p:nvPr>
            <p:ph type="title"/>
          </p:nvPr>
        </p:nvSpPr>
        <p:spPr>
          <a:xfrm>
            <a:off x="0" y="-457200"/>
            <a:ext cx="9144000" cy="457200"/>
          </a:xfrm>
        </p:spPr>
        <p:txBody>
          <a:bodyPr/>
          <a:lstStyle/>
          <a:p>
            <a:r>
              <a:rPr lang="en-US" sz="100" dirty="0"/>
              <a:t>The AI Data Lifecycle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Grounding &amp; RAG Governance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Control what the model can see — and how it retrieves it.</a:t>
            </a:r>
            <a:endParaRPr lang="en-US" sz="1733" dirty="0"/>
          </a:p>
        </p:txBody>
      </p:sp>
      <p:sp>
        <p:nvSpPr>
          <p:cNvPr id="4" name="Shape 2"/>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4864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853440" y="2255520"/>
            <a:ext cx="670560" cy="670560"/>
          </a:xfrm>
          <a:prstGeom prst="ellipse">
            <a:avLst/>
          </a:prstGeom>
          <a:solidFill>
            <a:srgbClr val="2B4EC7"/>
          </a:solidFill>
          <a:ln w="12700">
            <a:solidFill>
              <a:srgbClr val="2B4EC7"/>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963168" y="2365248"/>
            <a:ext cx="451104" cy="451104"/>
          </a:xfrm>
          <a:prstGeom prst="rect">
            <a:avLst/>
          </a:prstGeom>
        </p:spPr>
      </p:pic>
      <p:sp>
        <p:nvSpPr>
          <p:cNvPr id="8" name="Text 5"/>
          <p:cNvSpPr/>
          <p:nvPr/>
        </p:nvSpPr>
        <p:spPr>
          <a:xfrm>
            <a:off x="170688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Security-Trimmed Retrieval</a:t>
            </a:r>
            <a:endParaRPr lang="en-US" dirty="0"/>
          </a:p>
        </p:txBody>
      </p:sp>
      <p:sp>
        <p:nvSpPr>
          <p:cNvPr id="9" name="Text 6"/>
          <p:cNvSpPr/>
          <p:nvPr/>
        </p:nvSpPr>
        <p:spPr>
          <a:xfrm>
            <a:off x="85344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Enforce source ACLs on every query — users see only what they're entitled to.</a:t>
            </a:r>
            <a:endParaRPr lang="en-US" sz="1467" dirty="0"/>
          </a:p>
        </p:txBody>
      </p:sp>
      <p:sp>
        <p:nvSpPr>
          <p:cNvPr id="10" name="Shape 7"/>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4328160" y="188976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12" name="Shape 9"/>
          <p:cNvSpPr/>
          <p:nvPr/>
        </p:nvSpPr>
        <p:spPr>
          <a:xfrm>
            <a:off x="4632960" y="225552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4742688" y="2365248"/>
            <a:ext cx="451104" cy="451104"/>
          </a:xfrm>
          <a:prstGeom prst="rect">
            <a:avLst/>
          </a:prstGeom>
        </p:spPr>
      </p:pic>
      <p:sp>
        <p:nvSpPr>
          <p:cNvPr id="14" name="Text 10"/>
          <p:cNvSpPr/>
          <p:nvPr/>
        </p:nvSpPr>
        <p:spPr>
          <a:xfrm>
            <a:off x="548640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Label-Aware Grounding</a:t>
            </a:r>
            <a:endParaRPr lang="en-US" dirty="0"/>
          </a:p>
        </p:txBody>
      </p:sp>
      <p:sp>
        <p:nvSpPr>
          <p:cNvPr id="15" name="Text 11"/>
          <p:cNvSpPr/>
          <p:nvPr/>
        </p:nvSpPr>
        <p:spPr>
          <a:xfrm>
            <a:off x="463296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Respect sensitivity labels on documents and tables during retrieval.</a:t>
            </a:r>
            <a:endParaRPr lang="en-US" sz="1467" dirty="0"/>
          </a:p>
        </p:txBody>
      </p:sp>
      <p:sp>
        <p:nvSpPr>
          <p:cNvPr id="16" name="Shape 12"/>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810768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18" name="Shape 14"/>
          <p:cNvSpPr/>
          <p:nvPr/>
        </p:nvSpPr>
        <p:spPr>
          <a:xfrm>
            <a:off x="8412480" y="22555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19" name="Image 2" descr="preencoded.png"/>
          <p:cNvPicPr>
            <a:picLocks noChangeAspect="1"/>
          </p:cNvPicPr>
          <p:nvPr/>
        </p:nvPicPr>
        <p:blipFill>
          <a:blip r:embed="rId5"/>
          <a:stretch>
            <a:fillRect/>
          </a:stretch>
        </p:blipFill>
        <p:spPr>
          <a:xfrm>
            <a:off x="8522208" y="2365248"/>
            <a:ext cx="451104" cy="451104"/>
          </a:xfrm>
          <a:prstGeom prst="rect">
            <a:avLst/>
          </a:prstGeom>
        </p:spPr>
      </p:pic>
      <p:sp>
        <p:nvSpPr>
          <p:cNvPr id="20" name="Text 15"/>
          <p:cNvSpPr/>
          <p:nvPr/>
        </p:nvSpPr>
        <p:spPr>
          <a:xfrm>
            <a:off x="926592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Source Allow / Deny Lists</a:t>
            </a:r>
            <a:endParaRPr lang="en-US" dirty="0"/>
          </a:p>
        </p:txBody>
      </p:sp>
      <p:sp>
        <p:nvSpPr>
          <p:cNvPr id="21" name="Text 16"/>
          <p:cNvSpPr/>
          <p:nvPr/>
        </p:nvSpPr>
        <p:spPr>
          <a:xfrm>
            <a:off x="841248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Whitelist approved knowledge bases; block restricted or personal data sources.</a:t>
            </a:r>
            <a:endParaRPr lang="en-US" sz="1467" dirty="0"/>
          </a:p>
        </p:txBody>
      </p:sp>
      <p:sp>
        <p:nvSpPr>
          <p:cNvPr id="22" name="Shape 17"/>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548640" y="408432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24" name="Shape 19"/>
          <p:cNvSpPr/>
          <p:nvPr/>
        </p:nvSpPr>
        <p:spPr>
          <a:xfrm>
            <a:off x="853440" y="4450080"/>
            <a:ext cx="670560" cy="670560"/>
          </a:xfrm>
          <a:prstGeom prst="ellipse">
            <a:avLst/>
          </a:prstGeom>
          <a:solidFill>
            <a:srgbClr val="EC4899"/>
          </a:solidFill>
          <a:ln w="12700">
            <a:solidFill>
              <a:srgbClr val="EC4899"/>
            </a:solidFill>
            <a:prstDash val="solid"/>
          </a:ln>
        </p:spPr>
        <p:txBody>
          <a:bodyPr/>
          <a:lstStyle/>
          <a:p>
            <a:endParaRPr lang="en-US" sz="2400"/>
          </a:p>
        </p:txBody>
      </p:sp>
      <p:pic>
        <p:nvPicPr>
          <p:cNvPr id="25" name="Image 3" descr="preencoded.png"/>
          <p:cNvPicPr>
            <a:picLocks noChangeAspect="1"/>
          </p:cNvPicPr>
          <p:nvPr/>
        </p:nvPicPr>
        <p:blipFill>
          <a:blip r:embed="rId6"/>
          <a:stretch>
            <a:fillRect/>
          </a:stretch>
        </p:blipFill>
        <p:spPr>
          <a:xfrm>
            <a:off x="963168" y="4559808"/>
            <a:ext cx="451104" cy="451104"/>
          </a:xfrm>
          <a:prstGeom prst="rect">
            <a:avLst/>
          </a:prstGeom>
        </p:spPr>
      </p:pic>
      <p:sp>
        <p:nvSpPr>
          <p:cNvPr id="26" name="Text 20"/>
          <p:cNvSpPr/>
          <p:nvPr/>
        </p:nvSpPr>
        <p:spPr>
          <a:xfrm>
            <a:off x="170688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Lineage &amp; Citations</a:t>
            </a:r>
            <a:endParaRPr lang="en-US" dirty="0"/>
          </a:p>
        </p:txBody>
      </p:sp>
      <p:sp>
        <p:nvSpPr>
          <p:cNvPr id="27" name="Text 21"/>
          <p:cNvSpPr/>
          <p:nvPr/>
        </p:nvSpPr>
        <p:spPr>
          <a:xfrm>
            <a:off x="85344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Every answer cites its grounding sources — lineage ties back to the catalog.</a:t>
            </a:r>
            <a:endParaRPr lang="en-US" sz="1467" dirty="0"/>
          </a:p>
        </p:txBody>
      </p:sp>
      <p:sp>
        <p:nvSpPr>
          <p:cNvPr id="28" name="Shape 22"/>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9" name="Shape 23"/>
          <p:cNvSpPr/>
          <p:nvPr/>
        </p:nvSpPr>
        <p:spPr>
          <a:xfrm>
            <a:off x="4328160" y="408432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30" name="Shape 24"/>
          <p:cNvSpPr/>
          <p:nvPr/>
        </p:nvSpPr>
        <p:spPr>
          <a:xfrm>
            <a:off x="4632960" y="4450080"/>
            <a:ext cx="670560" cy="670560"/>
          </a:xfrm>
          <a:prstGeom prst="ellipse">
            <a:avLst/>
          </a:prstGeom>
          <a:solidFill>
            <a:srgbClr val="F59E0B"/>
          </a:solidFill>
          <a:ln w="12700">
            <a:solidFill>
              <a:srgbClr val="F59E0B"/>
            </a:solidFill>
            <a:prstDash val="solid"/>
          </a:ln>
        </p:spPr>
        <p:txBody>
          <a:bodyPr/>
          <a:lstStyle/>
          <a:p>
            <a:endParaRPr lang="en-US" sz="2400"/>
          </a:p>
        </p:txBody>
      </p:sp>
      <p:pic>
        <p:nvPicPr>
          <p:cNvPr id="31" name="Image 4" descr="preencoded.png"/>
          <p:cNvPicPr>
            <a:picLocks noChangeAspect="1"/>
          </p:cNvPicPr>
          <p:nvPr/>
        </p:nvPicPr>
        <p:blipFill>
          <a:blip r:embed="rId7"/>
          <a:stretch>
            <a:fillRect/>
          </a:stretch>
        </p:blipFill>
        <p:spPr>
          <a:xfrm>
            <a:off x="4742688" y="4559808"/>
            <a:ext cx="451104" cy="451104"/>
          </a:xfrm>
          <a:prstGeom prst="rect">
            <a:avLst/>
          </a:prstGeom>
        </p:spPr>
      </p:pic>
      <p:sp>
        <p:nvSpPr>
          <p:cNvPr id="32" name="Text 25"/>
          <p:cNvSpPr/>
          <p:nvPr/>
        </p:nvSpPr>
        <p:spPr>
          <a:xfrm>
            <a:off x="548640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Vector Index Residency</a:t>
            </a:r>
            <a:endParaRPr lang="en-US" dirty="0"/>
          </a:p>
        </p:txBody>
      </p:sp>
      <p:sp>
        <p:nvSpPr>
          <p:cNvPr id="33" name="Text 26"/>
          <p:cNvSpPr/>
          <p:nvPr/>
        </p:nvSpPr>
        <p:spPr>
          <a:xfrm>
            <a:off x="463296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Keep embeddings in approved regions; encrypt with customer-managed keys.</a:t>
            </a:r>
            <a:endParaRPr lang="en-US" sz="1467" dirty="0"/>
          </a:p>
        </p:txBody>
      </p:sp>
      <p:sp>
        <p:nvSpPr>
          <p:cNvPr id="34" name="Shape 27"/>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5" name="Shape 28"/>
          <p:cNvSpPr/>
          <p:nvPr/>
        </p:nvSpPr>
        <p:spPr>
          <a:xfrm>
            <a:off x="8107680" y="4084320"/>
            <a:ext cx="121920" cy="2011680"/>
          </a:xfrm>
          <a:prstGeom prst="rect">
            <a:avLst/>
          </a:prstGeom>
          <a:solidFill>
            <a:srgbClr val="1E2761"/>
          </a:solidFill>
          <a:ln w="12700">
            <a:solidFill>
              <a:srgbClr val="1E2761"/>
            </a:solidFill>
            <a:prstDash val="solid"/>
          </a:ln>
        </p:spPr>
        <p:txBody>
          <a:bodyPr/>
          <a:lstStyle/>
          <a:p>
            <a:endParaRPr lang="en-US" sz="2400"/>
          </a:p>
        </p:txBody>
      </p:sp>
      <p:sp>
        <p:nvSpPr>
          <p:cNvPr id="36" name="Shape 29"/>
          <p:cNvSpPr/>
          <p:nvPr/>
        </p:nvSpPr>
        <p:spPr>
          <a:xfrm>
            <a:off x="8412480" y="4450080"/>
            <a:ext cx="670560" cy="670560"/>
          </a:xfrm>
          <a:prstGeom prst="ellipse">
            <a:avLst/>
          </a:prstGeom>
          <a:solidFill>
            <a:srgbClr val="1E2761"/>
          </a:solidFill>
          <a:ln w="12700">
            <a:solidFill>
              <a:srgbClr val="1E2761"/>
            </a:solidFill>
            <a:prstDash val="solid"/>
          </a:ln>
        </p:spPr>
        <p:txBody>
          <a:bodyPr/>
          <a:lstStyle/>
          <a:p>
            <a:endParaRPr lang="en-US" sz="2400"/>
          </a:p>
        </p:txBody>
      </p:sp>
      <p:pic>
        <p:nvPicPr>
          <p:cNvPr id="37" name="Image 5" descr="preencoded.png"/>
          <p:cNvPicPr>
            <a:picLocks noChangeAspect="1"/>
          </p:cNvPicPr>
          <p:nvPr/>
        </p:nvPicPr>
        <p:blipFill>
          <a:blip r:embed="rId8"/>
          <a:stretch>
            <a:fillRect/>
          </a:stretch>
        </p:blipFill>
        <p:spPr>
          <a:xfrm>
            <a:off x="8522208" y="4559808"/>
            <a:ext cx="451104" cy="451104"/>
          </a:xfrm>
          <a:prstGeom prst="rect">
            <a:avLst/>
          </a:prstGeom>
        </p:spPr>
      </p:pic>
      <p:sp>
        <p:nvSpPr>
          <p:cNvPr id="38" name="Text 30"/>
          <p:cNvSpPr/>
          <p:nvPr/>
        </p:nvSpPr>
        <p:spPr>
          <a:xfrm>
            <a:off x="926592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Groundedness Evaluation</a:t>
            </a:r>
            <a:endParaRPr lang="en-US" dirty="0"/>
          </a:p>
        </p:txBody>
      </p:sp>
      <p:sp>
        <p:nvSpPr>
          <p:cNvPr id="39" name="Text 31"/>
          <p:cNvSpPr/>
          <p:nvPr/>
        </p:nvSpPr>
        <p:spPr>
          <a:xfrm>
            <a:off x="841248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Score answers against the source — reject responses that aren't grounded.</a:t>
            </a:r>
            <a:endParaRPr lang="en-US" sz="1467" dirty="0"/>
          </a:p>
        </p:txBody>
      </p:sp>
      <p:sp>
        <p:nvSpPr>
          <p:cNvPr id="40" name="Shape 3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1" name="Text 3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42" name="Text 3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4 / 9</a:t>
            </a:r>
            <a:endParaRPr lang="en-US" sz="1200" dirty="0"/>
          </a:p>
        </p:txBody>
      </p:sp>
      <p:sp>
        <p:nvSpPr>
          <p:cNvPr id="43" name="Hidden Title 43" descr="Slide title: Grounding &amp; RAG Governance"/>
          <p:cNvSpPr>
            <a:spLocks noGrp="1"/>
          </p:cNvSpPr>
          <p:nvPr>
            <p:ph type="title"/>
          </p:nvPr>
        </p:nvSpPr>
        <p:spPr>
          <a:xfrm>
            <a:off x="0" y="-457200"/>
            <a:ext cx="9144000" cy="457200"/>
          </a:xfrm>
        </p:spPr>
        <p:txBody>
          <a:bodyPr/>
          <a:lstStyle/>
          <a:p>
            <a:r>
              <a:rPr lang="en-US" sz="100" dirty="0"/>
              <a:t>Grounding &amp; RAG Governance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Inference Data Governance — Controls</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Protect what flows in — and what comes back out.</a:t>
            </a:r>
            <a:endParaRPr lang="en-US" sz="1733" dirty="0"/>
          </a:p>
        </p:txBody>
      </p:sp>
      <p:sp>
        <p:nvSpPr>
          <p:cNvPr id="4" name="Shape 2"/>
          <p:cNvSpPr/>
          <p:nvPr/>
        </p:nvSpPr>
        <p:spPr>
          <a:xfrm>
            <a:off x="548640" y="1889760"/>
            <a:ext cx="5364480" cy="41452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48640" y="1889760"/>
            <a:ext cx="5364480" cy="731520"/>
          </a:xfrm>
          <a:prstGeom prst="rect">
            <a:avLst/>
          </a:prstGeom>
          <a:solidFill>
            <a:srgbClr val="2B4EC7"/>
          </a:solidFill>
          <a:ln w="12700">
            <a:solidFill>
              <a:srgbClr val="2B4EC7"/>
            </a:solidFill>
            <a:prstDash val="solid"/>
          </a:ln>
        </p:spPr>
        <p:txBody>
          <a:bodyPr/>
          <a:lstStyle/>
          <a:p>
            <a:endParaRPr lang="en-US" sz="2400"/>
          </a:p>
        </p:txBody>
      </p:sp>
      <p:pic>
        <p:nvPicPr>
          <p:cNvPr id="6" name="Image 0" descr="preencoded.png"/>
          <p:cNvPicPr>
            <a:picLocks noChangeAspect="1"/>
          </p:cNvPicPr>
          <p:nvPr/>
        </p:nvPicPr>
        <p:blipFill>
          <a:blip r:embed="rId3"/>
          <a:stretch>
            <a:fillRect/>
          </a:stretch>
        </p:blipFill>
        <p:spPr>
          <a:xfrm>
            <a:off x="792480" y="2072640"/>
            <a:ext cx="390144" cy="390144"/>
          </a:xfrm>
          <a:prstGeom prst="rect">
            <a:avLst/>
          </a:prstGeom>
        </p:spPr>
      </p:pic>
      <p:sp>
        <p:nvSpPr>
          <p:cNvPr id="7" name="Text 4"/>
          <p:cNvSpPr/>
          <p:nvPr/>
        </p:nvSpPr>
        <p:spPr>
          <a:xfrm>
            <a:off x="1280160" y="1987296"/>
            <a:ext cx="451104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Inbound — Prompts</a:t>
            </a:r>
            <a:endParaRPr lang="en-US" sz="2000" dirty="0"/>
          </a:p>
        </p:txBody>
      </p:sp>
      <p:sp>
        <p:nvSpPr>
          <p:cNvPr id="8" name="Text 5"/>
          <p:cNvSpPr/>
          <p:nvPr/>
        </p:nvSpPr>
        <p:spPr>
          <a:xfrm>
            <a:off x="914400" y="2865120"/>
            <a:ext cx="4754880" cy="3048000"/>
          </a:xfrm>
          <a:prstGeom prst="rect">
            <a:avLst/>
          </a:prstGeom>
          <a:noFill/>
          <a:ln/>
        </p:spPr>
        <p:txBody>
          <a:bodyPr wrap="square" lIns="0" tIns="0" rIns="0" bIns="0" rtlCol="0" anchor="ctr"/>
          <a:lstStyle/>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Sensitive-data detection on the prompt body</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Automatic PII / PHI / secrets redaction</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Prompt Shield: injection &amp; jailbreak detection</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DLP policy enforcement per app / user</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Block paste from labeled Confidential sources</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Attribution: who asked, which app, when</a:t>
            </a:r>
            <a:endParaRPr lang="en-US" sz="1600" dirty="0"/>
          </a:p>
        </p:txBody>
      </p:sp>
      <p:sp>
        <p:nvSpPr>
          <p:cNvPr id="9" name="Shape 6"/>
          <p:cNvSpPr/>
          <p:nvPr/>
        </p:nvSpPr>
        <p:spPr>
          <a:xfrm>
            <a:off x="6278880" y="1889760"/>
            <a:ext cx="5364480" cy="41452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0" name="Shape 7"/>
          <p:cNvSpPr/>
          <p:nvPr/>
        </p:nvSpPr>
        <p:spPr>
          <a:xfrm>
            <a:off x="6278880" y="1889760"/>
            <a:ext cx="5364480" cy="731520"/>
          </a:xfrm>
          <a:prstGeom prst="rect">
            <a:avLst/>
          </a:prstGeom>
          <a:solidFill>
            <a:srgbClr val="0D9488"/>
          </a:solidFill>
          <a:ln w="12700">
            <a:solidFill>
              <a:srgbClr val="0D9488"/>
            </a:solidFill>
            <a:prstDash val="solid"/>
          </a:ln>
        </p:spPr>
        <p:txBody>
          <a:bodyPr/>
          <a:lstStyle/>
          <a:p>
            <a:endParaRPr lang="en-US" sz="2400"/>
          </a:p>
        </p:txBody>
      </p:sp>
      <p:pic>
        <p:nvPicPr>
          <p:cNvPr id="11" name="Image 1" descr="preencoded.png"/>
          <p:cNvPicPr>
            <a:picLocks noChangeAspect="1"/>
          </p:cNvPicPr>
          <p:nvPr/>
        </p:nvPicPr>
        <p:blipFill>
          <a:blip r:embed="rId4"/>
          <a:stretch>
            <a:fillRect/>
          </a:stretch>
        </p:blipFill>
        <p:spPr>
          <a:xfrm>
            <a:off x="6522720" y="2072640"/>
            <a:ext cx="390144" cy="390144"/>
          </a:xfrm>
          <a:prstGeom prst="rect">
            <a:avLst/>
          </a:prstGeom>
        </p:spPr>
      </p:pic>
      <p:sp>
        <p:nvSpPr>
          <p:cNvPr id="12" name="Text 8"/>
          <p:cNvSpPr/>
          <p:nvPr/>
        </p:nvSpPr>
        <p:spPr>
          <a:xfrm>
            <a:off x="7010400" y="1987296"/>
            <a:ext cx="451104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Outbound — Responses</a:t>
            </a:r>
            <a:endParaRPr lang="en-US" sz="2000" dirty="0"/>
          </a:p>
        </p:txBody>
      </p:sp>
      <p:sp>
        <p:nvSpPr>
          <p:cNvPr id="13" name="Text 9"/>
          <p:cNvSpPr/>
          <p:nvPr/>
        </p:nvSpPr>
        <p:spPr>
          <a:xfrm>
            <a:off x="6644640" y="2865120"/>
            <a:ext cx="4754880" cy="3048000"/>
          </a:xfrm>
          <a:prstGeom prst="rect">
            <a:avLst/>
          </a:prstGeom>
          <a:noFill/>
          <a:ln/>
        </p:spPr>
        <p:txBody>
          <a:bodyPr wrap="square" lIns="0" tIns="0" rIns="0" bIns="0" rtlCol="0" anchor="ctr"/>
          <a:lstStyle/>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Content safety: harm, hate, self-harm, sexual</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Protected Material detection (copyrighted text)</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Groundedness &amp; citation of retrieved sources</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Sensitivity label inheritance in answers</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Response logging + retention policy</a:t>
            </a:r>
            <a:endParaRPr lang="en-US" sz="1600" dirty="0"/>
          </a:p>
          <a:p>
            <a:pPr marL="457189" indent="-457189">
              <a:spcAft>
                <a:spcPts val="667"/>
              </a:spcAft>
              <a:buSzPct val="100000"/>
              <a:buChar char="•"/>
            </a:pPr>
            <a:r>
              <a:rPr lang="en-US" sz="1600" dirty="0">
                <a:solidFill>
                  <a:srgbClr val="1A1D3A"/>
                </a:solidFill>
                <a:latin typeface="Calibri" pitchFamily="34" charset="0"/>
                <a:ea typeface="Calibri" pitchFamily="34" charset="-122"/>
                <a:cs typeface="Calibri" pitchFamily="34" charset="-120"/>
              </a:rPr>
              <a:t>eDiscovery &amp; insider-risk hooks on transcripts</a:t>
            </a:r>
            <a:endParaRPr lang="en-US" sz="1600" dirty="0"/>
          </a:p>
        </p:txBody>
      </p:sp>
      <p:sp>
        <p:nvSpPr>
          <p:cNvPr id="14" name="Shape 10"/>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15" name="Text 11"/>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16" name="Text 12"/>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5 / 9</a:t>
            </a:r>
            <a:endParaRPr lang="en-US" sz="1200" dirty="0"/>
          </a:p>
        </p:txBody>
      </p:sp>
      <p:sp>
        <p:nvSpPr>
          <p:cNvPr id="17" name="Hidden Title 17" descr="Slide title: Inference Data Governance"/>
          <p:cNvSpPr>
            <a:spLocks noGrp="1"/>
          </p:cNvSpPr>
          <p:nvPr>
            <p:ph type="title"/>
          </p:nvPr>
        </p:nvSpPr>
        <p:spPr>
          <a:xfrm>
            <a:off x="0" y="-457200"/>
            <a:ext cx="9144000" cy="457200"/>
          </a:xfrm>
        </p:spPr>
        <p:txBody>
          <a:bodyPr/>
          <a:lstStyle/>
          <a:p>
            <a:r>
              <a:rPr lang="en-US" sz="100" dirty="0"/>
              <a:t>Inference Data Governance — Controls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4267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07136" y="524256"/>
            <a:ext cx="487680" cy="487680"/>
          </a:xfrm>
          <a:prstGeom prst="rect">
            <a:avLst/>
          </a:prstGeom>
        </p:spPr>
      </p:pic>
      <p:sp>
        <p:nvSpPr>
          <p:cNvPr id="4" name="Text 1"/>
          <p:cNvSpPr/>
          <p:nvPr/>
        </p:nvSpPr>
        <p:spPr>
          <a:xfrm>
            <a:off x="1463040" y="426720"/>
            <a:ext cx="97536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Microsoft Foundry — Runtime Governance</a:t>
            </a:r>
            <a:endParaRPr lang="en-US" sz="3733" dirty="0"/>
          </a:p>
        </p:txBody>
      </p:sp>
      <p:sp>
        <p:nvSpPr>
          <p:cNvPr id="5" name="Text 2"/>
          <p:cNvSpPr/>
          <p:nvPr/>
        </p:nvSpPr>
        <p:spPr>
          <a:xfrm>
            <a:off x="1463040" y="1158240"/>
            <a:ext cx="97536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Built-in controls where prompts, models, and responses actually live.</a:t>
            </a:r>
            <a:endParaRPr lang="en-US" sz="1733" dirty="0"/>
          </a:p>
        </p:txBody>
      </p:sp>
      <p:sp>
        <p:nvSpPr>
          <p:cNvPr id="6" name="Shape 3"/>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7" name="Shape 4"/>
          <p:cNvSpPr/>
          <p:nvPr/>
        </p:nvSpPr>
        <p:spPr>
          <a:xfrm>
            <a:off x="54864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8" name="Shape 5"/>
          <p:cNvSpPr/>
          <p:nvPr/>
        </p:nvSpPr>
        <p:spPr>
          <a:xfrm>
            <a:off x="853440" y="22555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9" name="Image 1" descr="preencoded.png"/>
          <p:cNvPicPr>
            <a:picLocks noChangeAspect="1"/>
          </p:cNvPicPr>
          <p:nvPr/>
        </p:nvPicPr>
        <p:blipFill>
          <a:blip r:embed="rId4"/>
          <a:stretch>
            <a:fillRect/>
          </a:stretch>
        </p:blipFill>
        <p:spPr>
          <a:xfrm>
            <a:off x="963168" y="2365248"/>
            <a:ext cx="451104" cy="451104"/>
          </a:xfrm>
          <a:prstGeom prst="rect">
            <a:avLst/>
          </a:prstGeom>
        </p:spPr>
      </p:pic>
      <p:sp>
        <p:nvSpPr>
          <p:cNvPr id="10" name="Text 6"/>
          <p:cNvSpPr/>
          <p:nvPr/>
        </p:nvSpPr>
        <p:spPr>
          <a:xfrm>
            <a:off x="170688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Content Safety</a:t>
            </a:r>
            <a:endParaRPr lang="en-US" dirty="0"/>
          </a:p>
        </p:txBody>
      </p:sp>
      <p:sp>
        <p:nvSpPr>
          <p:cNvPr id="11" name="Text 7"/>
          <p:cNvSpPr/>
          <p:nvPr/>
        </p:nvSpPr>
        <p:spPr>
          <a:xfrm>
            <a:off x="85344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Harm filters, Prompt Shields, jailbreak &amp; indirect-attack detection.</a:t>
            </a:r>
            <a:endParaRPr lang="en-US" sz="1467" dirty="0"/>
          </a:p>
        </p:txBody>
      </p:sp>
      <p:sp>
        <p:nvSpPr>
          <p:cNvPr id="12" name="Shape 8"/>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3" name="Shape 9"/>
          <p:cNvSpPr/>
          <p:nvPr/>
        </p:nvSpPr>
        <p:spPr>
          <a:xfrm>
            <a:off x="432816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14" name="Shape 10"/>
          <p:cNvSpPr/>
          <p:nvPr/>
        </p:nvSpPr>
        <p:spPr>
          <a:xfrm>
            <a:off x="4632960" y="2255520"/>
            <a:ext cx="670560" cy="670560"/>
          </a:xfrm>
          <a:prstGeom prst="ellipse">
            <a:avLst/>
          </a:prstGeom>
          <a:solidFill>
            <a:srgbClr val="2B4EC7"/>
          </a:solidFill>
          <a:ln w="12700">
            <a:solidFill>
              <a:srgbClr val="2B4EC7"/>
            </a:solidFill>
            <a:prstDash val="solid"/>
          </a:ln>
        </p:spPr>
        <p:txBody>
          <a:bodyPr/>
          <a:lstStyle/>
          <a:p>
            <a:endParaRPr lang="en-US" sz="2400"/>
          </a:p>
        </p:txBody>
      </p:sp>
      <p:pic>
        <p:nvPicPr>
          <p:cNvPr id="15" name="Image 2" descr="preencoded.png"/>
          <p:cNvPicPr>
            <a:picLocks noChangeAspect="1"/>
          </p:cNvPicPr>
          <p:nvPr/>
        </p:nvPicPr>
        <p:blipFill>
          <a:blip r:embed="rId5"/>
          <a:stretch>
            <a:fillRect/>
          </a:stretch>
        </p:blipFill>
        <p:spPr>
          <a:xfrm>
            <a:off x="4742688" y="2365248"/>
            <a:ext cx="451104" cy="451104"/>
          </a:xfrm>
          <a:prstGeom prst="rect">
            <a:avLst/>
          </a:prstGeom>
        </p:spPr>
      </p:pic>
      <p:sp>
        <p:nvSpPr>
          <p:cNvPr id="16" name="Text 11"/>
          <p:cNvSpPr/>
          <p:nvPr/>
        </p:nvSpPr>
        <p:spPr>
          <a:xfrm>
            <a:off x="548640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Groundedness Detection</a:t>
            </a:r>
            <a:endParaRPr lang="en-US" dirty="0"/>
          </a:p>
        </p:txBody>
      </p:sp>
      <p:sp>
        <p:nvSpPr>
          <p:cNvPr id="17" name="Text 12"/>
          <p:cNvSpPr/>
          <p:nvPr/>
        </p:nvSpPr>
        <p:spPr>
          <a:xfrm>
            <a:off x="463296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Flags answers unsupported by retrieved context before they reach the user.</a:t>
            </a:r>
            <a:endParaRPr lang="en-US" sz="1467" dirty="0"/>
          </a:p>
        </p:txBody>
      </p:sp>
      <p:sp>
        <p:nvSpPr>
          <p:cNvPr id="18" name="Shape 13"/>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9" name="Shape 14"/>
          <p:cNvSpPr/>
          <p:nvPr/>
        </p:nvSpPr>
        <p:spPr>
          <a:xfrm>
            <a:off x="8107680" y="188976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20" name="Shape 15"/>
          <p:cNvSpPr/>
          <p:nvPr/>
        </p:nvSpPr>
        <p:spPr>
          <a:xfrm>
            <a:off x="8412480" y="2255520"/>
            <a:ext cx="670560" cy="670560"/>
          </a:xfrm>
          <a:prstGeom prst="ellipse">
            <a:avLst/>
          </a:prstGeom>
          <a:solidFill>
            <a:srgbClr val="EC4899"/>
          </a:solidFill>
          <a:ln w="12700">
            <a:solidFill>
              <a:srgbClr val="EC4899"/>
            </a:solidFill>
            <a:prstDash val="solid"/>
          </a:ln>
        </p:spPr>
        <p:txBody>
          <a:bodyPr/>
          <a:lstStyle/>
          <a:p>
            <a:endParaRPr lang="en-US" sz="2400"/>
          </a:p>
        </p:txBody>
      </p:sp>
      <p:pic>
        <p:nvPicPr>
          <p:cNvPr id="21" name="Image 3" descr="preencoded.png"/>
          <p:cNvPicPr>
            <a:picLocks noChangeAspect="1"/>
          </p:cNvPicPr>
          <p:nvPr/>
        </p:nvPicPr>
        <p:blipFill>
          <a:blip r:embed="rId6"/>
          <a:stretch>
            <a:fillRect/>
          </a:stretch>
        </p:blipFill>
        <p:spPr>
          <a:xfrm>
            <a:off x="8522208" y="2365248"/>
            <a:ext cx="451104" cy="451104"/>
          </a:xfrm>
          <a:prstGeom prst="rect">
            <a:avLst/>
          </a:prstGeom>
        </p:spPr>
      </p:pic>
      <p:sp>
        <p:nvSpPr>
          <p:cNvPr id="22" name="Text 16"/>
          <p:cNvSpPr/>
          <p:nvPr/>
        </p:nvSpPr>
        <p:spPr>
          <a:xfrm>
            <a:off x="926592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Protected Material</a:t>
            </a:r>
            <a:endParaRPr lang="en-US" dirty="0"/>
          </a:p>
        </p:txBody>
      </p:sp>
      <p:sp>
        <p:nvSpPr>
          <p:cNvPr id="23" name="Text 17"/>
          <p:cNvSpPr/>
          <p:nvPr/>
        </p:nvSpPr>
        <p:spPr>
          <a:xfrm>
            <a:off x="841248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Detects copyrighted text and known code snippets in model outputs.</a:t>
            </a:r>
            <a:endParaRPr lang="en-US" sz="1467" dirty="0"/>
          </a:p>
        </p:txBody>
      </p:sp>
      <p:sp>
        <p:nvSpPr>
          <p:cNvPr id="24" name="Shape 18"/>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5" name="Shape 19"/>
          <p:cNvSpPr/>
          <p:nvPr/>
        </p:nvSpPr>
        <p:spPr>
          <a:xfrm>
            <a:off x="548640" y="408432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26" name="Shape 20"/>
          <p:cNvSpPr/>
          <p:nvPr/>
        </p:nvSpPr>
        <p:spPr>
          <a:xfrm>
            <a:off x="853440" y="445008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27" name="Image 4" descr="preencoded.png"/>
          <p:cNvPicPr>
            <a:picLocks noChangeAspect="1"/>
          </p:cNvPicPr>
          <p:nvPr/>
        </p:nvPicPr>
        <p:blipFill>
          <a:blip r:embed="rId7"/>
          <a:stretch>
            <a:fillRect/>
          </a:stretch>
        </p:blipFill>
        <p:spPr>
          <a:xfrm>
            <a:off x="963168" y="4559808"/>
            <a:ext cx="451104" cy="451104"/>
          </a:xfrm>
          <a:prstGeom prst="rect">
            <a:avLst/>
          </a:prstGeom>
        </p:spPr>
      </p:pic>
      <p:sp>
        <p:nvSpPr>
          <p:cNvPr id="28" name="Text 21"/>
          <p:cNvSpPr/>
          <p:nvPr/>
        </p:nvSpPr>
        <p:spPr>
          <a:xfrm>
            <a:off x="170688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Model Catalog + Cards</a:t>
            </a:r>
            <a:endParaRPr lang="en-US" dirty="0"/>
          </a:p>
        </p:txBody>
      </p:sp>
      <p:sp>
        <p:nvSpPr>
          <p:cNvPr id="29" name="Text 22"/>
          <p:cNvSpPr/>
          <p:nvPr/>
        </p:nvSpPr>
        <p:spPr>
          <a:xfrm>
            <a:off x="85344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Versioned models with usage, risk, and compliance metadata built in.</a:t>
            </a:r>
            <a:endParaRPr lang="en-US" sz="1467" dirty="0"/>
          </a:p>
        </p:txBody>
      </p:sp>
      <p:sp>
        <p:nvSpPr>
          <p:cNvPr id="30" name="Shape 23"/>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1" name="Shape 24"/>
          <p:cNvSpPr/>
          <p:nvPr/>
        </p:nvSpPr>
        <p:spPr>
          <a:xfrm>
            <a:off x="4328160" y="408432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32" name="Shape 25"/>
          <p:cNvSpPr/>
          <p:nvPr/>
        </p:nvSpPr>
        <p:spPr>
          <a:xfrm>
            <a:off x="4632960" y="4450080"/>
            <a:ext cx="670560" cy="670560"/>
          </a:xfrm>
          <a:prstGeom prst="ellipse">
            <a:avLst/>
          </a:prstGeom>
          <a:solidFill>
            <a:srgbClr val="F59E0B"/>
          </a:solidFill>
          <a:ln w="12700">
            <a:solidFill>
              <a:srgbClr val="F59E0B"/>
            </a:solidFill>
            <a:prstDash val="solid"/>
          </a:ln>
        </p:spPr>
        <p:txBody>
          <a:bodyPr/>
          <a:lstStyle/>
          <a:p>
            <a:endParaRPr lang="en-US" sz="2400"/>
          </a:p>
        </p:txBody>
      </p:sp>
      <p:pic>
        <p:nvPicPr>
          <p:cNvPr id="33" name="Image 5" descr="preencoded.png"/>
          <p:cNvPicPr>
            <a:picLocks noChangeAspect="1"/>
          </p:cNvPicPr>
          <p:nvPr/>
        </p:nvPicPr>
        <p:blipFill>
          <a:blip r:embed="rId8"/>
          <a:stretch>
            <a:fillRect/>
          </a:stretch>
        </p:blipFill>
        <p:spPr>
          <a:xfrm>
            <a:off x="4742688" y="4559808"/>
            <a:ext cx="451104" cy="451104"/>
          </a:xfrm>
          <a:prstGeom prst="rect">
            <a:avLst/>
          </a:prstGeom>
        </p:spPr>
      </p:pic>
      <p:sp>
        <p:nvSpPr>
          <p:cNvPr id="34" name="Text 26"/>
          <p:cNvSpPr/>
          <p:nvPr/>
        </p:nvSpPr>
        <p:spPr>
          <a:xfrm>
            <a:off x="548640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Evaluations Suite</a:t>
            </a:r>
            <a:endParaRPr lang="en-US" dirty="0"/>
          </a:p>
        </p:txBody>
      </p:sp>
      <p:sp>
        <p:nvSpPr>
          <p:cNvPr id="35" name="Text 27"/>
          <p:cNvSpPr/>
          <p:nvPr/>
        </p:nvSpPr>
        <p:spPr>
          <a:xfrm>
            <a:off x="463296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Quality, safety, and grounding evals on datasets before and after deploy.</a:t>
            </a:r>
            <a:endParaRPr lang="en-US" sz="1467" dirty="0"/>
          </a:p>
        </p:txBody>
      </p:sp>
      <p:sp>
        <p:nvSpPr>
          <p:cNvPr id="36" name="Shape 28"/>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7" name="Shape 29"/>
          <p:cNvSpPr/>
          <p:nvPr/>
        </p:nvSpPr>
        <p:spPr>
          <a:xfrm>
            <a:off x="8107680" y="4084320"/>
            <a:ext cx="121920" cy="2011680"/>
          </a:xfrm>
          <a:prstGeom prst="rect">
            <a:avLst/>
          </a:prstGeom>
          <a:solidFill>
            <a:srgbClr val="1E2761"/>
          </a:solidFill>
          <a:ln w="12700">
            <a:solidFill>
              <a:srgbClr val="1E2761"/>
            </a:solidFill>
            <a:prstDash val="solid"/>
          </a:ln>
        </p:spPr>
        <p:txBody>
          <a:bodyPr/>
          <a:lstStyle/>
          <a:p>
            <a:endParaRPr lang="en-US" sz="2400"/>
          </a:p>
        </p:txBody>
      </p:sp>
      <p:sp>
        <p:nvSpPr>
          <p:cNvPr id="38" name="Shape 30"/>
          <p:cNvSpPr/>
          <p:nvPr/>
        </p:nvSpPr>
        <p:spPr>
          <a:xfrm>
            <a:off x="8412480" y="4450080"/>
            <a:ext cx="670560" cy="670560"/>
          </a:xfrm>
          <a:prstGeom prst="ellipse">
            <a:avLst/>
          </a:prstGeom>
          <a:solidFill>
            <a:srgbClr val="1E2761"/>
          </a:solidFill>
          <a:ln w="12700">
            <a:solidFill>
              <a:srgbClr val="1E2761"/>
            </a:solidFill>
            <a:prstDash val="solid"/>
          </a:ln>
        </p:spPr>
        <p:txBody>
          <a:bodyPr/>
          <a:lstStyle/>
          <a:p>
            <a:endParaRPr lang="en-US" sz="2400"/>
          </a:p>
        </p:txBody>
      </p:sp>
      <p:pic>
        <p:nvPicPr>
          <p:cNvPr id="39" name="Image 6" descr="preencoded.png"/>
          <p:cNvPicPr>
            <a:picLocks noChangeAspect="1"/>
          </p:cNvPicPr>
          <p:nvPr/>
        </p:nvPicPr>
        <p:blipFill>
          <a:blip r:embed="rId9"/>
          <a:stretch>
            <a:fillRect/>
          </a:stretch>
        </p:blipFill>
        <p:spPr>
          <a:xfrm>
            <a:off x="8522208" y="4559808"/>
            <a:ext cx="451104" cy="451104"/>
          </a:xfrm>
          <a:prstGeom prst="rect">
            <a:avLst/>
          </a:prstGeom>
        </p:spPr>
      </p:pic>
      <p:sp>
        <p:nvSpPr>
          <p:cNvPr id="40" name="Text 31"/>
          <p:cNvSpPr/>
          <p:nvPr/>
        </p:nvSpPr>
        <p:spPr>
          <a:xfrm>
            <a:off x="926592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Monitoring &amp; Tracing</a:t>
            </a:r>
            <a:endParaRPr lang="en-US" dirty="0"/>
          </a:p>
        </p:txBody>
      </p:sp>
      <p:sp>
        <p:nvSpPr>
          <p:cNvPr id="41" name="Text 32"/>
          <p:cNvSpPr/>
          <p:nvPr/>
        </p:nvSpPr>
        <p:spPr>
          <a:xfrm>
            <a:off x="841248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End-to-end trace per call — prompts, retrieved docs, tool calls, output.</a:t>
            </a:r>
            <a:endParaRPr lang="en-US" sz="1467" dirty="0"/>
          </a:p>
        </p:txBody>
      </p:sp>
      <p:sp>
        <p:nvSpPr>
          <p:cNvPr id="42" name="Shape 33"/>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3" name="Text 34"/>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44" name="Text 35"/>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6 / 9</a:t>
            </a:r>
            <a:endParaRPr lang="en-US" sz="1200" dirty="0"/>
          </a:p>
        </p:txBody>
      </p:sp>
      <p:sp>
        <p:nvSpPr>
          <p:cNvPr id="45" name="Hidden Title 45" descr="Slide title: Microsoft Foundry — Runtime Governance"/>
          <p:cNvSpPr>
            <a:spLocks noGrp="1"/>
          </p:cNvSpPr>
          <p:nvPr>
            <p:ph type="title"/>
          </p:nvPr>
        </p:nvSpPr>
        <p:spPr>
          <a:xfrm>
            <a:off x="0" y="-457200"/>
            <a:ext cx="9144000" cy="457200"/>
          </a:xfrm>
        </p:spPr>
        <p:txBody>
          <a:bodyPr/>
          <a:lstStyle/>
          <a:p>
            <a:r>
              <a:rPr lang="en-US" sz="100" dirty="0"/>
              <a:t>Microsoft Foundry — Runtime Governance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42672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07136" y="524256"/>
            <a:ext cx="487680" cy="487680"/>
          </a:xfrm>
          <a:prstGeom prst="rect">
            <a:avLst/>
          </a:prstGeom>
        </p:spPr>
      </p:pic>
      <p:sp>
        <p:nvSpPr>
          <p:cNvPr id="4" name="Text 1"/>
          <p:cNvSpPr/>
          <p:nvPr/>
        </p:nvSpPr>
        <p:spPr>
          <a:xfrm>
            <a:off x="1463040" y="426720"/>
            <a:ext cx="97536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Microsoft Purview — Data &amp; Compliance</a:t>
            </a:r>
            <a:endParaRPr lang="en-US" sz="3733" dirty="0"/>
          </a:p>
        </p:txBody>
      </p:sp>
      <p:sp>
        <p:nvSpPr>
          <p:cNvPr id="5" name="Text 2"/>
          <p:cNvSpPr/>
          <p:nvPr/>
        </p:nvSpPr>
        <p:spPr>
          <a:xfrm>
            <a:off x="1463040" y="1158240"/>
            <a:ext cx="97536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Cross-tenant data posture, DLP, and audit for every AI interaction.</a:t>
            </a:r>
            <a:endParaRPr lang="en-US" sz="1733" dirty="0"/>
          </a:p>
        </p:txBody>
      </p:sp>
      <p:sp>
        <p:nvSpPr>
          <p:cNvPr id="6" name="Shape 3"/>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7" name="Shape 4"/>
          <p:cNvSpPr/>
          <p:nvPr/>
        </p:nvSpPr>
        <p:spPr>
          <a:xfrm>
            <a:off x="548640" y="188976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8" name="Shape 5"/>
          <p:cNvSpPr/>
          <p:nvPr/>
        </p:nvSpPr>
        <p:spPr>
          <a:xfrm>
            <a:off x="853440" y="2255520"/>
            <a:ext cx="670560" cy="670560"/>
          </a:xfrm>
          <a:prstGeom prst="ellipse">
            <a:avLst/>
          </a:prstGeom>
          <a:solidFill>
            <a:srgbClr val="0D9488"/>
          </a:solidFill>
          <a:ln w="12700">
            <a:solidFill>
              <a:srgbClr val="0D9488"/>
            </a:solidFill>
            <a:prstDash val="solid"/>
          </a:ln>
        </p:spPr>
        <p:txBody>
          <a:bodyPr/>
          <a:lstStyle/>
          <a:p>
            <a:endParaRPr lang="en-US" sz="2400"/>
          </a:p>
        </p:txBody>
      </p:sp>
      <p:pic>
        <p:nvPicPr>
          <p:cNvPr id="9" name="Image 1" descr="preencoded.png"/>
          <p:cNvPicPr>
            <a:picLocks noChangeAspect="1"/>
          </p:cNvPicPr>
          <p:nvPr/>
        </p:nvPicPr>
        <p:blipFill>
          <a:blip r:embed="rId4"/>
          <a:stretch>
            <a:fillRect/>
          </a:stretch>
        </p:blipFill>
        <p:spPr>
          <a:xfrm>
            <a:off x="963168" y="2365248"/>
            <a:ext cx="451104" cy="451104"/>
          </a:xfrm>
          <a:prstGeom prst="rect">
            <a:avLst/>
          </a:prstGeom>
        </p:spPr>
      </p:pic>
      <p:sp>
        <p:nvSpPr>
          <p:cNvPr id="10" name="Text 6"/>
          <p:cNvSpPr/>
          <p:nvPr/>
        </p:nvSpPr>
        <p:spPr>
          <a:xfrm>
            <a:off x="170688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AI Hub</a:t>
            </a:r>
            <a:endParaRPr lang="en-US" dirty="0"/>
          </a:p>
        </p:txBody>
      </p:sp>
      <p:sp>
        <p:nvSpPr>
          <p:cNvPr id="11" name="Text 7"/>
          <p:cNvSpPr/>
          <p:nvPr/>
        </p:nvSpPr>
        <p:spPr>
          <a:xfrm>
            <a:off x="85344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Discover all AI apps in use — sanctioned, third-party, shadow — with risk scoring.</a:t>
            </a:r>
            <a:endParaRPr lang="en-US" sz="1467" dirty="0"/>
          </a:p>
        </p:txBody>
      </p:sp>
      <p:sp>
        <p:nvSpPr>
          <p:cNvPr id="12" name="Shape 8"/>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3" name="Shape 9"/>
          <p:cNvSpPr/>
          <p:nvPr/>
        </p:nvSpPr>
        <p:spPr>
          <a:xfrm>
            <a:off x="432816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14" name="Shape 10"/>
          <p:cNvSpPr/>
          <p:nvPr/>
        </p:nvSpPr>
        <p:spPr>
          <a:xfrm>
            <a:off x="4632960" y="2255520"/>
            <a:ext cx="670560" cy="670560"/>
          </a:xfrm>
          <a:prstGeom prst="ellipse">
            <a:avLst/>
          </a:prstGeom>
          <a:solidFill>
            <a:srgbClr val="2B4EC7"/>
          </a:solidFill>
          <a:ln w="12700">
            <a:solidFill>
              <a:srgbClr val="2B4EC7"/>
            </a:solidFill>
            <a:prstDash val="solid"/>
          </a:ln>
        </p:spPr>
        <p:txBody>
          <a:bodyPr/>
          <a:lstStyle/>
          <a:p>
            <a:endParaRPr lang="en-US" sz="2400"/>
          </a:p>
        </p:txBody>
      </p:sp>
      <p:pic>
        <p:nvPicPr>
          <p:cNvPr id="15" name="Image 2" descr="preencoded.png"/>
          <p:cNvPicPr>
            <a:picLocks noChangeAspect="1"/>
          </p:cNvPicPr>
          <p:nvPr/>
        </p:nvPicPr>
        <p:blipFill>
          <a:blip r:embed="rId5"/>
          <a:stretch>
            <a:fillRect/>
          </a:stretch>
        </p:blipFill>
        <p:spPr>
          <a:xfrm>
            <a:off x="4742688" y="2365248"/>
            <a:ext cx="451104" cy="451104"/>
          </a:xfrm>
          <a:prstGeom prst="rect">
            <a:avLst/>
          </a:prstGeom>
        </p:spPr>
      </p:pic>
      <p:sp>
        <p:nvSpPr>
          <p:cNvPr id="16" name="Text 11"/>
          <p:cNvSpPr/>
          <p:nvPr/>
        </p:nvSpPr>
        <p:spPr>
          <a:xfrm>
            <a:off x="548640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DLP for Generative AI</a:t>
            </a:r>
            <a:endParaRPr lang="en-US" dirty="0"/>
          </a:p>
        </p:txBody>
      </p:sp>
      <p:sp>
        <p:nvSpPr>
          <p:cNvPr id="17" name="Text 12"/>
          <p:cNvSpPr/>
          <p:nvPr/>
        </p:nvSpPr>
        <p:spPr>
          <a:xfrm>
            <a:off x="463296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Block sensitive paste into Copilot, ChatGPT, and custom AI apps; mask on output.</a:t>
            </a:r>
            <a:endParaRPr lang="en-US" sz="1467" dirty="0"/>
          </a:p>
        </p:txBody>
      </p:sp>
      <p:sp>
        <p:nvSpPr>
          <p:cNvPr id="18" name="Shape 13"/>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9" name="Shape 14"/>
          <p:cNvSpPr/>
          <p:nvPr/>
        </p:nvSpPr>
        <p:spPr>
          <a:xfrm>
            <a:off x="810768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20" name="Shape 15"/>
          <p:cNvSpPr/>
          <p:nvPr/>
        </p:nvSpPr>
        <p:spPr>
          <a:xfrm>
            <a:off x="8412480" y="2255520"/>
            <a:ext cx="670560" cy="670560"/>
          </a:xfrm>
          <a:prstGeom prst="ellipse">
            <a:avLst/>
          </a:prstGeom>
          <a:solidFill>
            <a:srgbClr val="8B5CF6"/>
          </a:solidFill>
          <a:ln w="12700">
            <a:solidFill>
              <a:srgbClr val="8B5CF6"/>
            </a:solidFill>
            <a:prstDash val="solid"/>
          </a:ln>
        </p:spPr>
        <p:txBody>
          <a:bodyPr/>
          <a:lstStyle/>
          <a:p>
            <a:endParaRPr lang="en-US" sz="2400"/>
          </a:p>
        </p:txBody>
      </p:sp>
      <p:pic>
        <p:nvPicPr>
          <p:cNvPr id="21" name="Image 3" descr="preencoded.png"/>
          <p:cNvPicPr>
            <a:picLocks noChangeAspect="1"/>
          </p:cNvPicPr>
          <p:nvPr/>
        </p:nvPicPr>
        <p:blipFill>
          <a:blip r:embed="rId6"/>
          <a:stretch>
            <a:fillRect/>
          </a:stretch>
        </p:blipFill>
        <p:spPr>
          <a:xfrm>
            <a:off x="8522208" y="2365248"/>
            <a:ext cx="451104" cy="451104"/>
          </a:xfrm>
          <a:prstGeom prst="rect">
            <a:avLst/>
          </a:prstGeom>
        </p:spPr>
      </p:pic>
      <p:sp>
        <p:nvSpPr>
          <p:cNvPr id="22" name="Text 16"/>
          <p:cNvSpPr/>
          <p:nvPr/>
        </p:nvSpPr>
        <p:spPr>
          <a:xfrm>
            <a:off x="9265920" y="219456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Sensitivity-Label Honor</a:t>
            </a:r>
            <a:endParaRPr lang="en-US" dirty="0"/>
          </a:p>
        </p:txBody>
      </p:sp>
      <p:sp>
        <p:nvSpPr>
          <p:cNvPr id="23" name="Text 17"/>
          <p:cNvSpPr/>
          <p:nvPr/>
        </p:nvSpPr>
        <p:spPr>
          <a:xfrm>
            <a:off x="8412480" y="304800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Copilot + Foundry respect labels from Purview — no unauthorized grounding.</a:t>
            </a:r>
            <a:endParaRPr lang="en-US" sz="1467" dirty="0"/>
          </a:p>
        </p:txBody>
      </p:sp>
      <p:sp>
        <p:nvSpPr>
          <p:cNvPr id="24" name="Shape 18"/>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5" name="Shape 19"/>
          <p:cNvSpPr/>
          <p:nvPr/>
        </p:nvSpPr>
        <p:spPr>
          <a:xfrm>
            <a:off x="548640" y="408432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26" name="Shape 20"/>
          <p:cNvSpPr/>
          <p:nvPr/>
        </p:nvSpPr>
        <p:spPr>
          <a:xfrm>
            <a:off x="853440" y="4450080"/>
            <a:ext cx="670560" cy="670560"/>
          </a:xfrm>
          <a:prstGeom prst="ellipse">
            <a:avLst/>
          </a:prstGeom>
          <a:solidFill>
            <a:srgbClr val="EC4899"/>
          </a:solidFill>
          <a:ln w="12700">
            <a:solidFill>
              <a:srgbClr val="EC4899"/>
            </a:solidFill>
            <a:prstDash val="solid"/>
          </a:ln>
        </p:spPr>
        <p:txBody>
          <a:bodyPr/>
          <a:lstStyle/>
          <a:p>
            <a:endParaRPr lang="en-US" sz="2400"/>
          </a:p>
        </p:txBody>
      </p:sp>
      <p:pic>
        <p:nvPicPr>
          <p:cNvPr id="27" name="Image 4" descr="preencoded.png"/>
          <p:cNvPicPr>
            <a:picLocks noChangeAspect="1"/>
          </p:cNvPicPr>
          <p:nvPr/>
        </p:nvPicPr>
        <p:blipFill>
          <a:blip r:embed="rId7"/>
          <a:stretch>
            <a:fillRect/>
          </a:stretch>
        </p:blipFill>
        <p:spPr>
          <a:xfrm>
            <a:off x="963168" y="4559808"/>
            <a:ext cx="451104" cy="451104"/>
          </a:xfrm>
          <a:prstGeom prst="rect">
            <a:avLst/>
          </a:prstGeom>
        </p:spPr>
      </p:pic>
      <p:sp>
        <p:nvSpPr>
          <p:cNvPr id="28" name="Text 21"/>
          <p:cNvSpPr/>
          <p:nvPr/>
        </p:nvSpPr>
        <p:spPr>
          <a:xfrm>
            <a:off x="170688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Insider Risk for AI</a:t>
            </a:r>
            <a:endParaRPr lang="en-US" dirty="0"/>
          </a:p>
        </p:txBody>
      </p:sp>
      <p:sp>
        <p:nvSpPr>
          <p:cNvPr id="29" name="Text 22"/>
          <p:cNvSpPr/>
          <p:nvPr/>
        </p:nvSpPr>
        <p:spPr>
          <a:xfrm>
            <a:off x="85344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Detect risky prompts, data exfiltration attempts, and unusual AI usage patterns.</a:t>
            </a:r>
            <a:endParaRPr lang="en-US" sz="1467" dirty="0"/>
          </a:p>
        </p:txBody>
      </p:sp>
      <p:sp>
        <p:nvSpPr>
          <p:cNvPr id="30" name="Shape 23"/>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1" name="Shape 24"/>
          <p:cNvSpPr/>
          <p:nvPr/>
        </p:nvSpPr>
        <p:spPr>
          <a:xfrm>
            <a:off x="4328160" y="4084320"/>
            <a:ext cx="121920" cy="2011680"/>
          </a:xfrm>
          <a:prstGeom prst="rect">
            <a:avLst/>
          </a:prstGeom>
          <a:solidFill>
            <a:srgbClr val="F59E0B"/>
          </a:solidFill>
          <a:ln w="12700">
            <a:solidFill>
              <a:srgbClr val="F59E0B"/>
            </a:solidFill>
            <a:prstDash val="solid"/>
          </a:ln>
        </p:spPr>
        <p:txBody>
          <a:bodyPr/>
          <a:lstStyle/>
          <a:p>
            <a:endParaRPr lang="en-US" sz="2400"/>
          </a:p>
        </p:txBody>
      </p:sp>
      <p:sp>
        <p:nvSpPr>
          <p:cNvPr id="32" name="Shape 25"/>
          <p:cNvSpPr/>
          <p:nvPr/>
        </p:nvSpPr>
        <p:spPr>
          <a:xfrm>
            <a:off x="4632960" y="4450080"/>
            <a:ext cx="670560" cy="670560"/>
          </a:xfrm>
          <a:prstGeom prst="ellipse">
            <a:avLst/>
          </a:prstGeom>
          <a:solidFill>
            <a:srgbClr val="F59E0B"/>
          </a:solidFill>
          <a:ln w="12700">
            <a:solidFill>
              <a:srgbClr val="F59E0B"/>
            </a:solidFill>
            <a:prstDash val="solid"/>
          </a:ln>
        </p:spPr>
        <p:txBody>
          <a:bodyPr/>
          <a:lstStyle/>
          <a:p>
            <a:endParaRPr lang="en-US" sz="2400"/>
          </a:p>
        </p:txBody>
      </p:sp>
      <p:pic>
        <p:nvPicPr>
          <p:cNvPr id="33" name="Image 5" descr="preencoded.png"/>
          <p:cNvPicPr>
            <a:picLocks noChangeAspect="1"/>
          </p:cNvPicPr>
          <p:nvPr/>
        </p:nvPicPr>
        <p:blipFill>
          <a:blip r:embed="rId8"/>
          <a:stretch>
            <a:fillRect/>
          </a:stretch>
        </p:blipFill>
        <p:spPr>
          <a:xfrm>
            <a:off x="4742688" y="4559808"/>
            <a:ext cx="451104" cy="451104"/>
          </a:xfrm>
          <a:prstGeom prst="rect">
            <a:avLst/>
          </a:prstGeom>
        </p:spPr>
      </p:pic>
      <p:sp>
        <p:nvSpPr>
          <p:cNvPr id="34" name="Text 26"/>
          <p:cNvSpPr/>
          <p:nvPr/>
        </p:nvSpPr>
        <p:spPr>
          <a:xfrm>
            <a:off x="548640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Audit + eDiscovery</a:t>
            </a:r>
            <a:endParaRPr lang="en-US" dirty="0"/>
          </a:p>
        </p:txBody>
      </p:sp>
      <p:sp>
        <p:nvSpPr>
          <p:cNvPr id="35" name="Text 27"/>
          <p:cNvSpPr/>
          <p:nvPr/>
        </p:nvSpPr>
        <p:spPr>
          <a:xfrm>
            <a:off x="463296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Searchable logs of prompts &amp; responses; legal hold and compliance review built in.</a:t>
            </a:r>
            <a:endParaRPr lang="en-US" sz="1467" dirty="0"/>
          </a:p>
        </p:txBody>
      </p:sp>
      <p:sp>
        <p:nvSpPr>
          <p:cNvPr id="36" name="Shape 28"/>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7" name="Shape 29"/>
          <p:cNvSpPr/>
          <p:nvPr/>
        </p:nvSpPr>
        <p:spPr>
          <a:xfrm>
            <a:off x="8107680" y="4084320"/>
            <a:ext cx="121920" cy="2011680"/>
          </a:xfrm>
          <a:prstGeom prst="rect">
            <a:avLst/>
          </a:prstGeom>
          <a:solidFill>
            <a:srgbClr val="1E2761"/>
          </a:solidFill>
          <a:ln w="12700">
            <a:solidFill>
              <a:srgbClr val="1E2761"/>
            </a:solidFill>
            <a:prstDash val="solid"/>
          </a:ln>
        </p:spPr>
        <p:txBody>
          <a:bodyPr/>
          <a:lstStyle/>
          <a:p>
            <a:endParaRPr lang="en-US" sz="2400"/>
          </a:p>
        </p:txBody>
      </p:sp>
      <p:sp>
        <p:nvSpPr>
          <p:cNvPr id="38" name="Shape 30"/>
          <p:cNvSpPr/>
          <p:nvPr/>
        </p:nvSpPr>
        <p:spPr>
          <a:xfrm>
            <a:off x="8412480" y="4450080"/>
            <a:ext cx="670560" cy="670560"/>
          </a:xfrm>
          <a:prstGeom prst="ellipse">
            <a:avLst/>
          </a:prstGeom>
          <a:solidFill>
            <a:srgbClr val="1E2761"/>
          </a:solidFill>
          <a:ln w="12700">
            <a:solidFill>
              <a:srgbClr val="1E2761"/>
            </a:solidFill>
            <a:prstDash val="solid"/>
          </a:ln>
        </p:spPr>
        <p:txBody>
          <a:bodyPr/>
          <a:lstStyle/>
          <a:p>
            <a:endParaRPr lang="en-US" sz="2400"/>
          </a:p>
        </p:txBody>
      </p:sp>
      <p:pic>
        <p:nvPicPr>
          <p:cNvPr id="39" name="Image 6" descr="preencoded.png"/>
          <p:cNvPicPr>
            <a:picLocks noChangeAspect="1"/>
          </p:cNvPicPr>
          <p:nvPr/>
        </p:nvPicPr>
        <p:blipFill>
          <a:blip r:embed="rId9"/>
          <a:stretch>
            <a:fillRect/>
          </a:stretch>
        </p:blipFill>
        <p:spPr>
          <a:xfrm>
            <a:off x="8522208" y="4559808"/>
            <a:ext cx="451104" cy="451104"/>
          </a:xfrm>
          <a:prstGeom prst="rect">
            <a:avLst/>
          </a:prstGeom>
        </p:spPr>
      </p:pic>
      <p:sp>
        <p:nvSpPr>
          <p:cNvPr id="40" name="Text 31"/>
          <p:cNvSpPr/>
          <p:nvPr/>
        </p:nvSpPr>
        <p:spPr>
          <a:xfrm>
            <a:off x="9265920" y="4389120"/>
            <a:ext cx="2194560" cy="487680"/>
          </a:xfrm>
          <a:prstGeom prst="rect">
            <a:avLst/>
          </a:prstGeom>
          <a:noFill/>
          <a:ln/>
        </p:spPr>
        <p:txBody>
          <a:bodyPr wrap="square" lIns="0" tIns="0" rIns="0" bIns="0" rtlCol="0" anchor="ctr"/>
          <a:lstStyle/>
          <a:p>
            <a:r>
              <a:rPr lang="en-US" b="1" dirty="0">
                <a:solidFill>
                  <a:srgbClr val="1A1D3A"/>
                </a:solidFill>
                <a:latin typeface="Georgia" pitchFamily="34" charset="0"/>
                <a:ea typeface="Georgia" pitchFamily="34" charset="-122"/>
                <a:cs typeface="Georgia" pitchFamily="34" charset="-120"/>
              </a:rPr>
              <a:t>Unified Catalog Grounding</a:t>
            </a:r>
            <a:endParaRPr lang="en-US" dirty="0"/>
          </a:p>
        </p:txBody>
      </p:sp>
      <p:sp>
        <p:nvSpPr>
          <p:cNvPr id="41" name="Text 32"/>
          <p:cNvSpPr/>
          <p:nvPr/>
        </p:nvSpPr>
        <p:spPr>
          <a:xfrm>
            <a:off x="8412480" y="5242560"/>
            <a:ext cx="3048000" cy="73152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Approved datasets flow into RAG with lineage, quality, and label metadata attached.</a:t>
            </a:r>
            <a:endParaRPr lang="en-US" sz="1467" dirty="0"/>
          </a:p>
        </p:txBody>
      </p:sp>
      <p:sp>
        <p:nvSpPr>
          <p:cNvPr id="42" name="Shape 33"/>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3" name="Text 34"/>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44" name="Text 35"/>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7 / 9</a:t>
            </a:r>
            <a:endParaRPr lang="en-US" sz="1200" dirty="0"/>
          </a:p>
        </p:txBody>
      </p:sp>
      <p:sp>
        <p:nvSpPr>
          <p:cNvPr id="45" name="Hidden Title 45" descr="Slide title: Microsoft Purview — Data &amp; Compliance"/>
          <p:cNvSpPr>
            <a:spLocks noGrp="1"/>
          </p:cNvSpPr>
          <p:nvPr>
            <p:ph type="title"/>
          </p:nvPr>
        </p:nvSpPr>
        <p:spPr>
          <a:xfrm>
            <a:off x="0" y="-457200"/>
            <a:ext cx="9144000" cy="457200"/>
          </a:xfrm>
        </p:spPr>
        <p:txBody>
          <a:bodyPr/>
          <a:lstStyle/>
          <a:p>
            <a:r>
              <a:rPr lang="en-US" sz="100" dirty="0"/>
              <a:t>Microsoft Purview — Data &amp; Compliance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3733" b="1" dirty="0">
                <a:solidFill>
                  <a:srgbClr val="1A1D3A"/>
                </a:solidFill>
                <a:latin typeface="Georgia" pitchFamily="34" charset="0"/>
                <a:ea typeface="Georgia" pitchFamily="34" charset="-122"/>
                <a:cs typeface="Georgia" pitchFamily="34" charset="-120"/>
              </a:rPr>
              <a:t>Control Mapping — Governance Concern to Feature</a:t>
            </a:r>
            <a:endParaRPr lang="en-US" sz="3733"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Which product owns which control across the AI data lifecycle.</a:t>
            </a:r>
            <a:endParaRPr lang="en-US" sz="1733" dirty="0"/>
          </a:p>
        </p:txBody>
      </p:sp>
      <p:graphicFrame>
        <p:nvGraphicFramePr>
          <p:cNvPr id="9" name="Table 0"/>
          <p:cNvGraphicFramePr>
            <a:graphicFrameLocks noGrp="1"/>
          </p:cNvGraphicFramePr>
          <p:nvPr>
            <p:extLst>
              <p:ext uri="{D42A27DB-BD31-4B8C-83A1-F6EECF244321}">
                <p14:modId xmlns:p14="http://schemas.microsoft.com/office/powerpoint/2010/main" val="943394013"/>
              </p:ext>
            </p:extLst>
          </p:nvPr>
        </p:nvGraphicFramePr>
        <p:xfrm>
          <a:off x="487680" y="1767840"/>
          <a:ext cx="11216640" cy="4096512"/>
        </p:xfrm>
        <a:graphic>
          <a:graphicData uri="http://schemas.openxmlformats.org/drawingml/2006/table">
            <a:tbl>
              <a:tblPr/>
              <a:tblGrid>
                <a:gridCol w="41452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512064">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GOVERNANCE CONCERN</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a:solidFill>
                            <a:srgbClr val="FFFFFF"/>
                          </a:solidFill>
                          <a:latin typeface="Calibri" pitchFamily="34" charset="0"/>
                          <a:ea typeface="Calibri" pitchFamily="34" charset="-122"/>
                          <a:cs typeface="Calibri" pitchFamily="34" charset="-120"/>
                        </a:rPr>
                        <a:t>MICROSOFT FOUNDRY</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MICROSOFT PURVIEW</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Ungrounded / hallucinated answers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Groundedness Detection + Evaluations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Catalog quality rules on source data</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Sensitive data in prompts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Content safety; prompt moderation</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DLP for Generative AI + Insider Risk</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Prompt injection / jailbreak</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Prompt Shields (direct + indirect)</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AI Hub alerting on risky AI apps</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Unauthorized grounding access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Azure AI Search security trimming</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Sensitivity label enforcement</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Copyrighted / protected output</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Protected Material detection</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Communications compliance review</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Audit of prompts &amp; responses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Monitoring + tracing per call</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Audit log + eDiscovery + retention</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512064">
                <a:tc>
                  <a:txBody>
                    <a:bodyPr/>
                    <a:lstStyle/>
                    <a:p>
                      <a:pPr marL="0" indent="0">
                        <a:buNone/>
                      </a:pPr>
                      <a:r>
                        <a:rPr lang="en-US" sz="1500" b="1" dirty="0">
                          <a:solidFill>
                            <a:srgbClr val="1A1D3A"/>
                          </a:solidFill>
                          <a:latin typeface="Calibri" pitchFamily="34" charset="0"/>
                          <a:ea typeface="Calibri" pitchFamily="34" charset="-122"/>
                          <a:cs typeface="Calibri" pitchFamily="34" charset="-120"/>
                        </a:rPr>
                        <a:t>Lineage of grounded answers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8B5CF6"/>
                          </a:solidFill>
                          <a:latin typeface="Calibri" pitchFamily="34" charset="0"/>
                          <a:ea typeface="Calibri" pitchFamily="34" charset="-122"/>
                          <a:cs typeface="Calibri" pitchFamily="34" charset="-120"/>
                        </a:rPr>
                        <a:t>Citations + tracing UI</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400" dirty="0">
                          <a:solidFill>
                            <a:srgbClr val="0D9488"/>
                          </a:solidFill>
                          <a:latin typeface="Calibri" pitchFamily="34" charset="0"/>
                          <a:ea typeface="Calibri" pitchFamily="34" charset="-122"/>
                          <a:cs typeface="Calibri" pitchFamily="34" charset="-120"/>
                        </a:rPr>
                        <a:t>Unified Catalog asset lineage</a:t>
                      </a:r>
                      <a:endParaRPr lang="en-US" sz="14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6" name="Text 3"/>
          <p:cNvSpPr/>
          <p:nvPr/>
        </p:nvSpPr>
        <p:spPr>
          <a:xfrm>
            <a:off x="609600" y="6486144"/>
            <a:ext cx="91440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AI Data Governance  |  Grounding / RAG + Inference  |  Foundry + Purview</a:t>
            </a:r>
            <a:endParaRPr lang="en-US" sz="1200" dirty="0"/>
          </a:p>
        </p:txBody>
      </p:sp>
      <p:sp>
        <p:nvSpPr>
          <p:cNvPr id="7" name="Text 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8 / 9</a:t>
            </a:r>
            <a:endParaRPr lang="en-US" sz="1200" dirty="0"/>
          </a:p>
        </p:txBody>
      </p:sp>
      <p:sp>
        <p:nvSpPr>
          <p:cNvPr id="10" name="Hidden Title 10" descr="Slide title: Control Mapping — Governance Concern to Feature"/>
          <p:cNvSpPr>
            <a:spLocks noGrp="1"/>
          </p:cNvSpPr>
          <p:nvPr>
            <p:ph type="title"/>
          </p:nvPr>
        </p:nvSpPr>
        <p:spPr>
          <a:xfrm>
            <a:off x="0" y="-457200"/>
            <a:ext cx="9144000" cy="457200"/>
          </a:xfrm>
        </p:spPr>
        <p:txBody>
          <a:bodyPr/>
          <a:lstStyle/>
          <a:p>
            <a:r>
              <a:rPr lang="en-US" sz="100" dirty="0"/>
              <a:t>Control Mapping — Governance Concern to Feature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54A5C-AD7B-29A7-78A2-1C8651BF4D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346A0D-D86D-D580-D9DA-1E936C448DBA}"/>
              </a:ext>
            </a:extLst>
          </p:cNvPr>
          <p:cNvSpPr>
            <a:spLocks noGrp="1"/>
          </p:cNvSpPr>
          <p:nvPr>
            <p:ph type="title"/>
            <p:custDataLst>
              <p:custData r:id="rId2"/>
            </p:custDataLst>
          </p:nvPr>
        </p:nvSpPr>
        <p:spPr>
          <a:xfrm>
            <a:off x="584200" y="3318975"/>
            <a:ext cx="11517312" cy="2031325"/>
          </a:xfrm>
        </p:spPr>
        <p:txBody>
          <a:bodyPr/>
          <a:lstStyle/>
          <a:p>
            <a:r>
              <a:rPr lang="en-US" dirty="0"/>
              <a:t>Data Classification &amp; Protection</a:t>
            </a:r>
          </a:p>
        </p:txBody>
      </p:sp>
      <p:sp>
        <p:nvSpPr>
          <p:cNvPr id="2" name="Text Placeholder 1">
            <a:extLst>
              <a:ext uri="{FF2B5EF4-FFF2-40B4-BE49-F238E27FC236}">
                <a16:creationId xmlns:a16="http://schemas.microsoft.com/office/drawing/2014/main" id="{8572ABB5-6A17-EC9C-FBDF-ADD964F0CDE1}"/>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622AD0A9-04BB-E737-B396-4C7013E23EE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0B08790-3993-EF77-AD89-34F16D28FB0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88414376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1CF7E-C863-BEB8-3135-811BAD6AD41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82CF3D-1ECA-0E3E-70C4-92202436F3EE}"/>
              </a:ext>
            </a:extLst>
          </p:cNvPr>
          <p:cNvSpPr>
            <a:spLocks noGrp="1"/>
          </p:cNvSpPr>
          <p:nvPr>
            <p:ph type="title"/>
          </p:nvPr>
        </p:nvSpPr>
        <p:spPr/>
        <p:txBody>
          <a:bodyPr/>
          <a:lstStyle/>
          <a:p>
            <a:r>
              <a:rPr lang="en-US"/>
              <a:t>Objectives — Data Classification &amp; Protection</a:t>
            </a:r>
          </a:p>
        </p:txBody>
      </p:sp>
      <p:sp>
        <p:nvSpPr>
          <p:cNvPr id="4" name="Text Placeholder 3">
            <a:extLst>
              <a:ext uri="{FF2B5EF4-FFF2-40B4-BE49-F238E27FC236}">
                <a16:creationId xmlns:a16="http://schemas.microsoft.com/office/drawing/2014/main" id="{1BB3D4C9-7297-6906-DE95-A405F80141F9}"/>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graphicFrame>
        <p:nvGraphicFramePr>
          <p:cNvPr id="41" name="Table 2">
            <a:extLst>
              <a:ext uri="{FF2B5EF4-FFF2-40B4-BE49-F238E27FC236}">
                <a16:creationId xmlns:a16="http://schemas.microsoft.com/office/drawing/2014/main" id="{2A4E2B48-61C4-C78E-30AF-E386E4CA1F86}"/>
              </a:ext>
            </a:extLst>
          </p:cNvPr>
          <p:cNvGraphicFramePr>
            <a:graphicFrameLocks noGrp="1"/>
          </p:cNvGraphicFramePr>
          <p:nvPr>
            <p:extLst>
              <p:ext uri="{D42A27DB-BD31-4B8C-83A1-F6EECF244321}">
                <p14:modId xmlns:p14="http://schemas.microsoft.com/office/powerpoint/2010/main" val="1862925281"/>
              </p:ext>
            </p:extLst>
          </p:nvPr>
        </p:nvGraphicFramePr>
        <p:xfrm>
          <a:off x="432526" y="1835202"/>
          <a:ext cx="8188960" cy="469649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473442237"/>
                    </a:ext>
                  </a:extLst>
                </a:gridCol>
                <a:gridCol w="548640">
                  <a:extLst>
                    <a:ext uri="{9D8B030D-6E8A-4147-A177-3AD203B41FA5}">
                      <a16:colId xmlns:a16="http://schemas.microsoft.com/office/drawing/2014/main" val="108120203"/>
                    </a:ext>
                  </a:extLst>
                </a:gridCol>
                <a:gridCol w="7223760">
                  <a:extLst>
                    <a:ext uri="{9D8B030D-6E8A-4147-A177-3AD203B41FA5}">
                      <a16:colId xmlns:a16="http://schemas.microsoft.com/office/drawing/2014/main" val="2189273595"/>
                    </a:ext>
                  </a:extLst>
                </a:gridCol>
                <a:gridCol w="208280">
                  <a:extLst>
                    <a:ext uri="{9D8B030D-6E8A-4147-A177-3AD203B41FA5}">
                      <a16:colId xmlns:a16="http://schemas.microsoft.com/office/drawing/2014/main" val="518262350"/>
                    </a:ext>
                  </a:extLst>
                </a:gridCol>
              </a:tblGrid>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1</a:t>
                      </a:r>
                    </a:p>
                  </a:txBody>
                  <a:tcPr marT="73152" marB="73152" anchor="ctr">
                    <a:lnL w="3175" cap="flat" cmpd="sng" algn="ctr">
                      <a:noFill/>
                      <a:prstDash val="solid"/>
                      <a:round/>
                      <a:headEnd type="none" w="med" len="med"/>
                      <a:tailEnd type="none" w="med" len="med"/>
                    </a:lnL>
                    <a:lnR w="12700" cmpd="sng">
                      <a:noFill/>
                    </a:lnR>
                    <a:lnT w="381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defTabSz="914192">
                        <a:spcBef>
                          <a:spcPts val="100"/>
                        </a:spcBef>
                        <a:spcAft>
                          <a:spcPts val="200"/>
                        </a:spcAft>
                      </a:pPr>
                      <a:r>
                        <a:rPr lang="en-US" sz="1400" b="0" kern="1200" dirty="0">
                          <a:solidFill>
                            <a:schemeClr val="tx1"/>
                          </a:solidFill>
                          <a:latin typeface="+mj-lt"/>
                          <a:ea typeface="+mn-ea"/>
                          <a:cs typeface="Segoe UI Semibold"/>
                        </a:rPr>
                        <a:t>Understand….</a:t>
                      </a: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Sensitivity labelling – Confidential Data</a:t>
                      </a:r>
                    </a:p>
                  </a:txBody>
                  <a:tcPr marT="73152" marB="73152">
                    <a:lnL w="12700" cmpd="sng">
                      <a:noFill/>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228600" defTabSz="914192">
                        <a:spcBef>
                          <a:spcPts val="100"/>
                        </a:spcBef>
                        <a:spcAft>
                          <a:spcPts val="200"/>
                        </a:spcAft>
                        <a:buFont typeface="Wingdings" panose="05000000000000000000" pitchFamily="2" charset="2"/>
                        <a:buChar char="ü"/>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179405"/>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2</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 </a:t>
                      </a:r>
                      <a:endPar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endParaRP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PII – Personally Identifiable Information tagging</a:t>
                      </a:r>
                    </a:p>
                    <a:p>
                      <a:endParaRPr lang="en-US" sz="1800" b="0" i="0" kern="1200" dirty="0">
                        <a:solidFill>
                          <a:schemeClr val="dk1"/>
                        </a:solidFill>
                        <a:effectLst/>
                        <a:latin typeface="+mn-lt"/>
                        <a:ea typeface="+mn-ea"/>
                        <a:cs typeface="+mn-cs"/>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743437"/>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3</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PHI -  </a:t>
                      </a:r>
                      <a:r>
                        <a:rPr lang="en-US" sz="1400" b="0" dirty="0">
                          <a:solidFill>
                            <a:schemeClr val="tx1"/>
                          </a:solidFill>
                          <a:cs typeface="Segoe UI Semibold"/>
                        </a:rPr>
                        <a:t>Protected Health Information tagging</a:t>
                      </a: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2214051"/>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dirty="0">
                          <a:solidFill>
                            <a:schemeClr val="tx2"/>
                          </a:solidFill>
                          <a:latin typeface="+mn-lt"/>
                        </a:rPr>
                        <a:t>4</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b="0" kern="1200" dirty="0">
                          <a:solidFill>
                            <a:schemeClr val="tx1"/>
                          </a:solidFill>
                          <a:latin typeface="+mn-lt"/>
                          <a:ea typeface="+mn-ea"/>
                          <a:cs typeface="Segoe UI Semibold"/>
                        </a:rPr>
                        <a:t>Data Loss Prevention (DLP) — block sensitive data from AI pipelines and outputs</a:t>
                      </a:r>
                    </a:p>
                    <a:p>
                      <a:pPr marL="342900" indent="-228600" defTabSz="914192">
                        <a:spcBef>
                          <a:spcPts val="100"/>
                        </a:spcBef>
                        <a:spcAft>
                          <a:spcPts val="200"/>
                        </a:spcAft>
                        <a:buFont typeface="Wingdings" panose="05000000000000000000" pitchFamily="2" charset="2"/>
                        <a:buChar char="ü"/>
                      </a:pP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957248"/>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dirty="0">
                          <a:solidFill>
                            <a:schemeClr val="tx2"/>
                          </a:solidFill>
                          <a:latin typeface="+mn-lt"/>
                        </a:rPr>
                        <a:t>5</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14300" marR="0" lvl="0" indent="0" algn="l" defTabSz="914192" rtl="0" eaLnBrk="1" fontAlgn="auto" latinLnBrk="0" hangingPunct="1">
                        <a:lnSpc>
                          <a:spcPct val="100000"/>
                        </a:lnSpc>
                        <a:spcBef>
                          <a:spcPts val="100"/>
                        </a:spcBef>
                        <a:spcAft>
                          <a:spcPts val="200"/>
                        </a:spcAft>
                        <a:buClrTx/>
                        <a:buSzTx/>
                        <a:buFont typeface="Wingdings" panose="05000000000000000000" pitchFamily="2" charset="2"/>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endParaRPr kumimoji="0" lang="en-US" sz="1400" b="0" i="0" u="none" strike="noStrike" kern="1200" cap="none" spc="0" normalizeH="0" baseline="0" dirty="0">
                        <a:ln>
                          <a:noFill/>
                        </a:ln>
                        <a:solidFill>
                          <a:srgbClr val="000000"/>
                        </a:solidFill>
                        <a:effectLst/>
                        <a:uLnTx/>
                        <a:uFillTx/>
                        <a:latin typeface="Segoe UI Semibold"/>
                        <a:ea typeface="+mn-ea"/>
                        <a:cs typeface="Segoe UI Semibold"/>
                      </a:endParaRP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b="0" kern="1200" dirty="0">
                          <a:solidFill>
                            <a:schemeClr val="tx1"/>
                          </a:solidFill>
                          <a:latin typeface="+mn-lt"/>
                          <a:ea typeface="+mn-ea"/>
                          <a:cs typeface="Segoe UI Semibold"/>
                        </a:rPr>
                        <a:t>Encryption &amp; Key Management — CMK for training data, indexes, and model artifacts</a:t>
                      </a:r>
                    </a:p>
                    <a:p>
                      <a:pPr marL="342900" indent="-228600" defTabSz="914192">
                        <a:spcBef>
                          <a:spcPts val="100"/>
                        </a:spcBef>
                        <a:spcAft>
                          <a:spcPts val="200"/>
                        </a:spcAft>
                        <a:buFont typeface="Wingdings" panose="05000000000000000000" pitchFamily="2" charset="2"/>
                        <a:buChar char="ü"/>
                      </a:pP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4628517"/>
                  </a:ext>
                </a:extLst>
              </a:tr>
            </a:tbl>
          </a:graphicData>
        </a:graphic>
      </p:graphicFrame>
      <p:cxnSp>
        <p:nvCxnSpPr>
          <p:cNvPr id="50" name="Straight Connector 49">
            <a:extLst>
              <a:ext uri="{FF2B5EF4-FFF2-40B4-BE49-F238E27FC236}">
                <a16:creationId xmlns:a16="http://schemas.microsoft.com/office/drawing/2014/main" id="{21893CDB-F1B4-36EC-4A5A-20ED2912171E}"/>
              </a:ext>
              <a:ext uri="{C183D7F6-B498-43B3-948B-1728B52AA6E4}">
                <adec:decorative xmlns:adec="http://schemas.microsoft.com/office/drawing/2017/decorative" val="1"/>
              </a:ext>
            </a:extLst>
          </p:cNvPr>
          <p:cNvCxnSpPr>
            <a:cxnSpLocks/>
          </p:cNvCxnSpPr>
          <p:nvPr/>
        </p:nvCxnSpPr>
        <p:spPr>
          <a:xfrm>
            <a:off x="8057878" y="26511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06F5139-C89C-2D1B-011C-D6070CA19A4F}"/>
              </a:ext>
              <a:ext uri="{C183D7F6-B498-43B3-948B-1728B52AA6E4}">
                <adec:decorative xmlns:adec="http://schemas.microsoft.com/office/drawing/2017/decorative" val="1"/>
              </a:ext>
            </a:extLst>
          </p:cNvPr>
          <p:cNvCxnSpPr>
            <a:cxnSpLocks/>
          </p:cNvCxnSpPr>
          <p:nvPr/>
        </p:nvCxnSpPr>
        <p:spPr>
          <a:xfrm>
            <a:off x="8057878" y="35528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5FEC266-494C-6D5D-8721-F0634A169F07}"/>
              </a:ext>
              <a:ext uri="{C183D7F6-B498-43B3-948B-1728B52AA6E4}">
                <adec:decorative xmlns:adec="http://schemas.microsoft.com/office/drawing/2017/decorative" val="1"/>
              </a:ext>
            </a:extLst>
          </p:cNvPr>
          <p:cNvCxnSpPr>
            <a:cxnSpLocks/>
          </p:cNvCxnSpPr>
          <p:nvPr/>
        </p:nvCxnSpPr>
        <p:spPr>
          <a:xfrm>
            <a:off x="8057878" y="445965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3" name="Footer Placeholder 2">
            <a:extLst>
              <a:ext uri="{FF2B5EF4-FFF2-40B4-BE49-F238E27FC236}">
                <a16:creationId xmlns:a16="http://schemas.microsoft.com/office/drawing/2014/main" id="{CA6D27EB-A82F-DF45-D075-F5AC058F756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96" name="Picture 95" descr="Two co-workers walking in an office hallway, and having a discussions a surface laptop on their hands.">
            <a:extLst>
              <a:ext uri="{FF2B5EF4-FFF2-40B4-BE49-F238E27FC236}">
                <a16:creationId xmlns:a16="http://schemas.microsoft.com/office/drawing/2014/main" id="{F134BBBA-353B-D662-4527-F516A7EF84E3}"/>
              </a:ext>
            </a:extLst>
          </p:cNvPr>
          <p:cNvPicPr>
            <a:picLocks noChangeAspect="1"/>
          </p:cNvPicPr>
          <p:nvPr/>
        </p:nvPicPr>
        <p:blipFill rotWithShape="1">
          <a:blip r:embed="rId5"/>
          <a:srcRect l="16228" t="2311" r="13881" b="2311"/>
          <a:stretch/>
        </p:blipFill>
        <p:spPr>
          <a:xfrm>
            <a:off x="8914424" y="0"/>
            <a:ext cx="3277576" cy="6858000"/>
          </a:xfrm>
          <a:custGeom>
            <a:avLst/>
            <a:gdLst>
              <a:gd name="connsiteX0" fmla="*/ 0 w 3627769"/>
              <a:gd name="connsiteY0" fmla="*/ 0 h 4875667"/>
              <a:gd name="connsiteX1" fmla="*/ 3627769 w 3627769"/>
              <a:gd name="connsiteY1" fmla="*/ 0 h 4875667"/>
              <a:gd name="connsiteX2" fmla="*/ 3627769 w 3627769"/>
              <a:gd name="connsiteY2" fmla="*/ 4875667 h 4875667"/>
              <a:gd name="connsiteX3" fmla="*/ 0 w 3627769"/>
              <a:gd name="connsiteY3" fmla="*/ 4875667 h 4875667"/>
            </a:gdLst>
            <a:ahLst/>
            <a:cxnLst>
              <a:cxn ang="0">
                <a:pos x="connsiteX0" y="connsiteY0"/>
              </a:cxn>
              <a:cxn ang="0">
                <a:pos x="connsiteX1" y="connsiteY1"/>
              </a:cxn>
              <a:cxn ang="0">
                <a:pos x="connsiteX2" y="connsiteY2"/>
              </a:cxn>
              <a:cxn ang="0">
                <a:pos x="connsiteX3" y="connsiteY3"/>
              </a:cxn>
            </a:cxnLst>
            <a:rect l="l" t="t" r="r" b="b"/>
            <a:pathLst>
              <a:path w="3627769" h="4875667">
                <a:moveTo>
                  <a:pt x="0" y="0"/>
                </a:moveTo>
                <a:lnTo>
                  <a:pt x="3627769" y="0"/>
                </a:lnTo>
                <a:lnTo>
                  <a:pt x="3627769" y="4875667"/>
                </a:lnTo>
                <a:lnTo>
                  <a:pt x="0" y="4875667"/>
                </a:lnTo>
                <a:close/>
              </a:path>
            </a:pathLst>
          </a:custGeom>
        </p:spPr>
      </p:pic>
      <p:sp>
        <p:nvSpPr>
          <p:cNvPr id="98" name="Slide Number Placeholder 5">
            <a:extLst>
              <a:ext uri="{FF2B5EF4-FFF2-40B4-BE49-F238E27FC236}">
                <a16:creationId xmlns:a16="http://schemas.microsoft.com/office/drawing/2014/main" id="{CC807F02-BA39-AD1E-C8F9-EFF41F6727EA}"/>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1783658"/>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Purview Unified Catalog at a Glance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One catalog for structured + unstructured data across M365, Azure, Fabric, and third-party clouds.</a:t>
            </a:r>
            <a:endParaRPr lang="en-US" sz="1733" dirty="0"/>
          </a:p>
        </p:txBody>
      </p:sp>
      <p:sp>
        <p:nvSpPr>
          <p:cNvPr id="4" name="Shape 2"/>
          <p:cNvSpPr/>
          <p:nvPr/>
        </p:nvSpPr>
        <p:spPr>
          <a:xfrm>
            <a:off x="579120" y="1889760"/>
            <a:ext cx="2621280" cy="38404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79120" y="1889760"/>
            <a:ext cx="2621280" cy="97536"/>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1402080" y="2255520"/>
            <a:ext cx="975360" cy="975360"/>
          </a:xfrm>
          <a:prstGeom prst="ellipse">
            <a:avLst/>
          </a:prstGeom>
          <a:solidFill>
            <a:srgbClr val="2B4EC7"/>
          </a:solidFill>
          <a:ln w="12700">
            <a:solidFill>
              <a:srgbClr val="2B4EC7"/>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1615440" y="2468880"/>
            <a:ext cx="548640" cy="548640"/>
          </a:xfrm>
          <a:prstGeom prst="rect">
            <a:avLst/>
          </a:prstGeom>
        </p:spPr>
      </p:pic>
      <p:sp>
        <p:nvSpPr>
          <p:cNvPr id="8" name="Text 5"/>
          <p:cNvSpPr/>
          <p:nvPr/>
        </p:nvSpPr>
        <p:spPr>
          <a:xfrm>
            <a:off x="701040" y="3413760"/>
            <a:ext cx="2377440" cy="548640"/>
          </a:xfrm>
          <a:prstGeom prst="rect">
            <a:avLst/>
          </a:prstGeom>
          <a:noFill/>
          <a:ln/>
        </p:spPr>
        <p:txBody>
          <a:bodyPr wrap="square" lIns="0" tIns="0" rIns="0" bIns="0" rtlCol="0" anchor="ctr"/>
          <a:lstStyle/>
          <a:p>
            <a:pPr algn="ctr"/>
            <a:r>
              <a:rPr lang="en-US" sz="2267" b="1" dirty="0">
                <a:solidFill>
                  <a:srgbClr val="1A1D3A"/>
                </a:solidFill>
                <a:latin typeface="Georgia" pitchFamily="34" charset="0"/>
                <a:ea typeface="Georgia" pitchFamily="34" charset="-122"/>
                <a:cs typeface="Georgia" pitchFamily="34" charset="-120"/>
              </a:rPr>
              <a:t>Unified Data Map</a:t>
            </a:r>
            <a:endParaRPr lang="en-US" sz="2267" dirty="0"/>
          </a:p>
        </p:txBody>
      </p:sp>
      <p:sp>
        <p:nvSpPr>
          <p:cNvPr id="9" name="Text 6"/>
          <p:cNvSpPr/>
          <p:nvPr/>
        </p:nvSpPr>
        <p:spPr>
          <a:xfrm>
            <a:off x="822960" y="4023360"/>
            <a:ext cx="2133600" cy="1584960"/>
          </a:xfrm>
          <a:prstGeom prst="rect">
            <a:avLst/>
          </a:prstGeom>
          <a:noFill/>
          <a:ln/>
        </p:spPr>
        <p:txBody>
          <a:bodyPr wrap="square" lIns="0" tIns="0" rIns="0" bIns="0" rtlCol="0" anchor="ctr"/>
          <a:lstStyle/>
          <a:p>
            <a:pPr algn="ctr"/>
            <a:r>
              <a:rPr lang="en-US" sz="1533" dirty="0">
                <a:solidFill>
                  <a:srgbClr val="64748B"/>
                </a:solidFill>
                <a:latin typeface="Calibri" pitchFamily="34" charset="0"/>
                <a:ea typeface="Calibri" pitchFamily="34" charset="-122"/>
                <a:cs typeface="Calibri" pitchFamily="34" charset="-120"/>
              </a:rPr>
              <a:t>Metadata for SQL, Fabric, Snowflake, Databricks, BigQuery, Oracle, SAP.</a:t>
            </a:r>
            <a:endParaRPr lang="en-US" sz="1533" dirty="0"/>
          </a:p>
        </p:txBody>
      </p:sp>
      <p:sp>
        <p:nvSpPr>
          <p:cNvPr id="10" name="Shape 7"/>
          <p:cNvSpPr/>
          <p:nvPr/>
        </p:nvSpPr>
        <p:spPr>
          <a:xfrm>
            <a:off x="3383280" y="1889760"/>
            <a:ext cx="2621280" cy="38404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3383280" y="1889760"/>
            <a:ext cx="2621280" cy="97536"/>
          </a:xfrm>
          <a:prstGeom prst="rect">
            <a:avLst/>
          </a:prstGeom>
          <a:solidFill>
            <a:srgbClr val="8B5CF6"/>
          </a:solidFill>
          <a:ln w="12700">
            <a:solidFill>
              <a:srgbClr val="8B5CF6"/>
            </a:solidFill>
            <a:prstDash val="solid"/>
          </a:ln>
        </p:spPr>
        <p:txBody>
          <a:bodyPr/>
          <a:lstStyle/>
          <a:p>
            <a:endParaRPr lang="en-US" sz="2400"/>
          </a:p>
        </p:txBody>
      </p:sp>
      <p:sp>
        <p:nvSpPr>
          <p:cNvPr id="12" name="Shape 9"/>
          <p:cNvSpPr/>
          <p:nvPr/>
        </p:nvSpPr>
        <p:spPr>
          <a:xfrm>
            <a:off x="4206240" y="2255520"/>
            <a:ext cx="975360" cy="975360"/>
          </a:xfrm>
          <a:prstGeom prst="ellipse">
            <a:avLst/>
          </a:prstGeom>
          <a:solidFill>
            <a:srgbClr val="8B5CF6"/>
          </a:solidFill>
          <a:ln w="12700">
            <a:solidFill>
              <a:srgbClr val="8B5CF6"/>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4419600" y="2468880"/>
            <a:ext cx="548640" cy="548640"/>
          </a:xfrm>
          <a:prstGeom prst="rect">
            <a:avLst/>
          </a:prstGeom>
        </p:spPr>
      </p:pic>
      <p:sp>
        <p:nvSpPr>
          <p:cNvPr id="14" name="Text 10"/>
          <p:cNvSpPr/>
          <p:nvPr/>
        </p:nvSpPr>
        <p:spPr>
          <a:xfrm>
            <a:off x="3505200" y="3413760"/>
            <a:ext cx="2377440" cy="548640"/>
          </a:xfrm>
          <a:prstGeom prst="rect">
            <a:avLst/>
          </a:prstGeom>
          <a:noFill/>
          <a:ln/>
        </p:spPr>
        <p:txBody>
          <a:bodyPr wrap="square" lIns="0" tIns="0" rIns="0" bIns="0" rtlCol="0" anchor="ctr"/>
          <a:lstStyle/>
          <a:p>
            <a:pPr algn="ctr"/>
            <a:r>
              <a:rPr lang="en-US" sz="2267" b="1" dirty="0">
                <a:solidFill>
                  <a:srgbClr val="1A1D3A"/>
                </a:solidFill>
                <a:latin typeface="Georgia" pitchFamily="34" charset="0"/>
                <a:ea typeface="Georgia" pitchFamily="34" charset="-122"/>
                <a:cs typeface="Georgia" pitchFamily="34" charset="-120"/>
              </a:rPr>
              <a:t>Auto-Classification</a:t>
            </a:r>
            <a:endParaRPr lang="en-US" sz="2267" dirty="0"/>
          </a:p>
        </p:txBody>
      </p:sp>
      <p:sp>
        <p:nvSpPr>
          <p:cNvPr id="15" name="Text 11"/>
          <p:cNvSpPr/>
          <p:nvPr/>
        </p:nvSpPr>
        <p:spPr>
          <a:xfrm>
            <a:off x="3627120" y="4023360"/>
            <a:ext cx="2133600" cy="1584960"/>
          </a:xfrm>
          <a:prstGeom prst="rect">
            <a:avLst/>
          </a:prstGeom>
          <a:noFill/>
          <a:ln/>
        </p:spPr>
        <p:txBody>
          <a:bodyPr wrap="square" lIns="0" tIns="0" rIns="0" bIns="0" rtlCol="0" anchor="ctr"/>
          <a:lstStyle/>
          <a:p>
            <a:pPr algn="ctr"/>
            <a:r>
              <a:rPr lang="en-US" sz="1533" dirty="0">
                <a:solidFill>
                  <a:srgbClr val="64748B"/>
                </a:solidFill>
                <a:latin typeface="Calibri" pitchFamily="34" charset="0"/>
                <a:ea typeface="Calibri" pitchFamily="34" charset="-122"/>
                <a:cs typeface="Calibri" pitchFamily="34" charset="-120"/>
              </a:rPr>
              <a:t>Column-level scan using 300+ built-in SITs and custom classifiers.</a:t>
            </a:r>
            <a:endParaRPr lang="en-US" sz="1533" dirty="0"/>
          </a:p>
        </p:txBody>
      </p:sp>
      <p:sp>
        <p:nvSpPr>
          <p:cNvPr id="16" name="Shape 12"/>
          <p:cNvSpPr/>
          <p:nvPr/>
        </p:nvSpPr>
        <p:spPr>
          <a:xfrm>
            <a:off x="6187440" y="1889760"/>
            <a:ext cx="2621280" cy="38404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6187440" y="1889760"/>
            <a:ext cx="2621280" cy="97536"/>
          </a:xfrm>
          <a:prstGeom prst="rect">
            <a:avLst/>
          </a:prstGeom>
          <a:solidFill>
            <a:srgbClr val="0D9488"/>
          </a:solidFill>
          <a:ln w="12700">
            <a:solidFill>
              <a:srgbClr val="0D9488"/>
            </a:solidFill>
            <a:prstDash val="solid"/>
          </a:ln>
        </p:spPr>
        <p:txBody>
          <a:bodyPr/>
          <a:lstStyle/>
          <a:p>
            <a:endParaRPr lang="en-US" sz="2400"/>
          </a:p>
        </p:txBody>
      </p:sp>
      <p:sp>
        <p:nvSpPr>
          <p:cNvPr id="18" name="Shape 14"/>
          <p:cNvSpPr/>
          <p:nvPr/>
        </p:nvSpPr>
        <p:spPr>
          <a:xfrm>
            <a:off x="7010400" y="2255520"/>
            <a:ext cx="975360" cy="975360"/>
          </a:xfrm>
          <a:prstGeom prst="ellipse">
            <a:avLst/>
          </a:prstGeom>
          <a:solidFill>
            <a:srgbClr val="0D9488"/>
          </a:solidFill>
          <a:ln w="12700">
            <a:solidFill>
              <a:srgbClr val="0D9488"/>
            </a:solidFill>
            <a:prstDash val="solid"/>
          </a:ln>
        </p:spPr>
        <p:txBody>
          <a:bodyPr/>
          <a:lstStyle/>
          <a:p>
            <a:endParaRPr lang="en-US" sz="2400"/>
          </a:p>
        </p:txBody>
      </p:sp>
      <p:pic>
        <p:nvPicPr>
          <p:cNvPr id="19" name="Image 2" descr="preencoded.png"/>
          <p:cNvPicPr>
            <a:picLocks noChangeAspect="1"/>
          </p:cNvPicPr>
          <p:nvPr/>
        </p:nvPicPr>
        <p:blipFill>
          <a:blip r:embed="rId5"/>
          <a:stretch>
            <a:fillRect/>
          </a:stretch>
        </p:blipFill>
        <p:spPr>
          <a:xfrm>
            <a:off x="7223760" y="2468880"/>
            <a:ext cx="548640" cy="548640"/>
          </a:xfrm>
          <a:prstGeom prst="rect">
            <a:avLst/>
          </a:prstGeom>
        </p:spPr>
      </p:pic>
      <p:sp>
        <p:nvSpPr>
          <p:cNvPr id="20" name="Text 15"/>
          <p:cNvSpPr/>
          <p:nvPr/>
        </p:nvSpPr>
        <p:spPr>
          <a:xfrm>
            <a:off x="6309360" y="3413760"/>
            <a:ext cx="2377440" cy="548640"/>
          </a:xfrm>
          <a:prstGeom prst="rect">
            <a:avLst/>
          </a:prstGeom>
          <a:noFill/>
          <a:ln/>
        </p:spPr>
        <p:txBody>
          <a:bodyPr wrap="square" lIns="0" tIns="0" rIns="0" bIns="0" rtlCol="0" anchor="ctr"/>
          <a:lstStyle/>
          <a:p>
            <a:pPr algn="ctr"/>
            <a:r>
              <a:rPr lang="en-US" sz="2267" b="1" dirty="0">
                <a:solidFill>
                  <a:srgbClr val="1A1D3A"/>
                </a:solidFill>
                <a:latin typeface="Georgia" pitchFamily="34" charset="0"/>
                <a:ea typeface="Georgia" pitchFamily="34" charset="-122"/>
                <a:cs typeface="Georgia" pitchFamily="34" charset="-120"/>
              </a:rPr>
              <a:t>Sensitivity Labels</a:t>
            </a:r>
            <a:endParaRPr lang="en-US" sz="2267" dirty="0"/>
          </a:p>
        </p:txBody>
      </p:sp>
      <p:sp>
        <p:nvSpPr>
          <p:cNvPr id="21" name="Text 16"/>
          <p:cNvSpPr/>
          <p:nvPr/>
        </p:nvSpPr>
        <p:spPr>
          <a:xfrm>
            <a:off x="6431280" y="4023360"/>
            <a:ext cx="2133600" cy="1584960"/>
          </a:xfrm>
          <a:prstGeom prst="rect">
            <a:avLst/>
          </a:prstGeom>
          <a:noFill/>
          <a:ln/>
        </p:spPr>
        <p:txBody>
          <a:bodyPr wrap="square" lIns="0" tIns="0" rIns="0" bIns="0" rtlCol="0" anchor="ctr"/>
          <a:lstStyle/>
          <a:p>
            <a:pPr algn="ctr"/>
            <a:r>
              <a:rPr lang="en-US" sz="1533" dirty="0">
                <a:solidFill>
                  <a:srgbClr val="64748B"/>
                </a:solidFill>
                <a:latin typeface="Calibri" pitchFamily="34" charset="0"/>
                <a:ea typeface="Calibri" pitchFamily="34" charset="-122"/>
                <a:cs typeface="Calibri" pitchFamily="34" charset="-120"/>
              </a:rPr>
              <a:t>Same M365 label taxonomy now applied to tables, schemas, and columns.</a:t>
            </a:r>
            <a:endParaRPr lang="en-US" sz="1533" dirty="0"/>
          </a:p>
        </p:txBody>
      </p:sp>
      <p:sp>
        <p:nvSpPr>
          <p:cNvPr id="22" name="Shape 17"/>
          <p:cNvSpPr/>
          <p:nvPr/>
        </p:nvSpPr>
        <p:spPr>
          <a:xfrm>
            <a:off x="8991600" y="1889760"/>
            <a:ext cx="2621280" cy="38404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8991600" y="1889760"/>
            <a:ext cx="2621280" cy="97536"/>
          </a:xfrm>
          <a:prstGeom prst="rect">
            <a:avLst/>
          </a:prstGeom>
          <a:solidFill>
            <a:srgbClr val="EC4899"/>
          </a:solidFill>
          <a:ln w="12700">
            <a:solidFill>
              <a:srgbClr val="EC4899"/>
            </a:solidFill>
            <a:prstDash val="solid"/>
          </a:ln>
        </p:spPr>
        <p:txBody>
          <a:bodyPr/>
          <a:lstStyle/>
          <a:p>
            <a:endParaRPr lang="en-US" sz="2400"/>
          </a:p>
        </p:txBody>
      </p:sp>
      <p:sp>
        <p:nvSpPr>
          <p:cNvPr id="24" name="Shape 19"/>
          <p:cNvSpPr/>
          <p:nvPr/>
        </p:nvSpPr>
        <p:spPr>
          <a:xfrm>
            <a:off x="9814560" y="2255520"/>
            <a:ext cx="975360" cy="975360"/>
          </a:xfrm>
          <a:prstGeom prst="ellipse">
            <a:avLst/>
          </a:prstGeom>
          <a:solidFill>
            <a:srgbClr val="EC4899"/>
          </a:solidFill>
          <a:ln w="12700">
            <a:solidFill>
              <a:srgbClr val="EC4899"/>
            </a:solidFill>
            <a:prstDash val="solid"/>
          </a:ln>
        </p:spPr>
        <p:txBody>
          <a:bodyPr/>
          <a:lstStyle/>
          <a:p>
            <a:endParaRPr lang="en-US" sz="2400"/>
          </a:p>
        </p:txBody>
      </p:sp>
      <p:pic>
        <p:nvPicPr>
          <p:cNvPr id="25" name="Image 3" descr="preencoded.png"/>
          <p:cNvPicPr>
            <a:picLocks noChangeAspect="1"/>
          </p:cNvPicPr>
          <p:nvPr/>
        </p:nvPicPr>
        <p:blipFill>
          <a:blip r:embed="rId6"/>
          <a:stretch>
            <a:fillRect/>
          </a:stretch>
        </p:blipFill>
        <p:spPr>
          <a:xfrm>
            <a:off x="10027920" y="2468880"/>
            <a:ext cx="548640" cy="548640"/>
          </a:xfrm>
          <a:prstGeom prst="rect">
            <a:avLst/>
          </a:prstGeom>
        </p:spPr>
      </p:pic>
      <p:sp>
        <p:nvSpPr>
          <p:cNvPr id="26" name="Text 20"/>
          <p:cNvSpPr/>
          <p:nvPr/>
        </p:nvSpPr>
        <p:spPr>
          <a:xfrm>
            <a:off x="9113520" y="3413760"/>
            <a:ext cx="2377440" cy="548640"/>
          </a:xfrm>
          <a:prstGeom prst="rect">
            <a:avLst/>
          </a:prstGeom>
          <a:noFill/>
          <a:ln/>
        </p:spPr>
        <p:txBody>
          <a:bodyPr wrap="square" lIns="0" tIns="0" rIns="0" bIns="0" rtlCol="0" anchor="ctr"/>
          <a:lstStyle/>
          <a:p>
            <a:pPr algn="ctr"/>
            <a:r>
              <a:rPr lang="en-US" sz="2267" b="1" dirty="0">
                <a:solidFill>
                  <a:srgbClr val="1A1D3A"/>
                </a:solidFill>
                <a:latin typeface="Georgia" pitchFamily="34" charset="0"/>
                <a:ea typeface="Georgia" pitchFamily="34" charset="-122"/>
                <a:cs typeface="Georgia" pitchFamily="34" charset="-120"/>
              </a:rPr>
              <a:t>Data Products &amp; Quality</a:t>
            </a:r>
            <a:endParaRPr lang="en-US" sz="2267" dirty="0"/>
          </a:p>
        </p:txBody>
      </p:sp>
      <p:sp>
        <p:nvSpPr>
          <p:cNvPr id="27" name="Text 21"/>
          <p:cNvSpPr/>
          <p:nvPr/>
        </p:nvSpPr>
        <p:spPr>
          <a:xfrm>
            <a:off x="9235440" y="4023360"/>
            <a:ext cx="2133600" cy="1584960"/>
          </a:xfrm>
          <a:prstGeom prst="rect">
            <a:avLst/>
          </a:prstGeom>
          <a:noFill/>
          <a:ln/>
        </p:spPr>
        <p:txBody>
          <a:bodyPr wrap="square" lIns="0" tIns="0" rIns="0" bIns="0" rtlCol="0" anchor="ctr"/>
          <a:lstStyle/>
          <a:p>
            <a:pPr algn="ctr"/>
            <a:r>
              <a:rPr lang="en-US" sz="1533" dirty="0">
                <a:solidFill>
                  <a:srgbClr val="64748B"/>
                </a:solidFill>
                <a:latin typeface="Calibri" pitchFamily="34" charset="0"/>
                <a:ea typeface="Calibri" pitchFamily="34" charset="-122"/>
                <a:cs typeface="Calibri" pitchFamily="34" charset="-120"/>
              </a:rPr>
              <a:t>Business-friendly products, glossary terms, quality rules, and OKRs.</a:t>
            </a:r>
            <a:endParaRPr lang="en-US" sz="1533" dirty="0"/>
          </a:p>
        </p:txBody>
      </p:sp>
      <p:sp>
        <p:nvSpPr>
          <p:cNvPr id="28" name="Shape 2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29" name="Text 23"/>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30" name="Text 2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2 / 9</a:t>
            </a:r>
            <a:endParaRPr lang="en-US" sz="1200" dirty="0"/>
          </a:p>
        </p:txBody>
      </p:sp>
      <p:sp>
        <p:nvSpPr>
          <p:cNvPr id="31" name="Hidden Title 31" descr="Slide title: Purview Unified Catalog at a Glance"/>
          <p:cNvSpPr>
            <a:spLocks noGrp="1"/>
          </p:cNvSpPr>
          <p:nvPr>
            <p:ph type="title"/>
          </p:nvPr>
        </p:nvSpPr>
        <p:spPr>
          <a:xfrm>
            <a:off x="0" y="-457200"/>
            <a:ext cx="9144000" cy="457200"/>
          </a:xfrm>
        </p:spPr>
        <p:txBody>
          <a:bodyPr/>
          <a:lstStyle/>
          <a:p>
            <a:r>
              <a:rPr lang="en-US" sz="100" dirty="0"/>
              <a:t>Purview Unified Catalog at a Glance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PII vs PHI — Know the Difference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Both are regulated — but they live under different frameworks and require different controls.</a:t>
            </a:r>
            <a:endParaRPr lang="en-US" sz="1733" dirty="0"/>
          </a:p>
        </p:txBody>
      </p:sp>
      <p:sp>
        <p:nvSpPr>
          <p:cNvPr id="4" name="Shape 2"/>
          <p:cNvSpPr/>
          <p:nvPr/>
        </p:nvSpPr>
        <p:spPr>
          <a:xfrm>
            <a:off x="609600" y="1889760"/>
            <a:ext cx="5242560" cy="4511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609600" y="1889760"/>
            <a:ext cx="5242560" cy="731520"/>
          </a:xfrm>
          <a:prstGeom prst="rect">
            <a:avLst/>
          </a:prstGeom>
          <a:solidFill>
            <a:srgbClr val="2B4EC7"/>
          </a:solidFill>
          <a:ln w="12700">
            <a:solidFill>
              <a:srgbClr val="2B4EC7"/>
            </a:solidFill>
            <a:prstDash val="solid"/>
          </a:ln>
        </p:spPr>
        <p:txBody>
          <a:bodyPr/>
          <a:lstStyle/>
          <a:p>
            <a:endParaRPr lang="en-US" sz="2400"/>
          </a:p>
        </p:txBody>
      </p:sp>
      <p:pic>
        <p:nvPicPr>
          <p:cNvPr id="6" name="Image 0" descr="preencoded.png"/>
          <p:cNvPicPr>
            <a:picLocks noChangeAspect="1"/>
          </p:cNvPicPr>
          <p:nvPr/>
        </p:nvPicPr>
        <p:blipFill>
          <a:blip r:embed="rId3"/>
          <a:stretch>
            <a:fillRect/>
          </a:stretch>
        </p:blipFill>
        <p:spPr>
          <a:xfrm>
            <a:off x="853440" y="2060448"/>
            <a:ext cx="390144" cy="390144"/>
          </a:xfrm>
          <a:prstGeom prst="rect">
            <a:avLst/>
          </a:prstGeom>
        </p:spPr>
      </p:pic>
      <p:sp>
        <p:nvSpPr>
          <p:cNvPr id="7" name="Text 4"/>
          <p:cNvSpPr/>
          <p:nvPr/>
        </p:nvSpPr>
        <p:spPr>
          <a:xfrm>
            <a:off x="1341120" y="1987296"/>
            <a:ext cx="438912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PII — Personally Identifiable Info</a:t>
            </a:r>
            <a:endParaRPr lang="en-US" sz="2000" dirty="0"/>
          </a:p>
        </p:txBody>
      </p:sp>
      <p:sp>
        <p:nvSpPr>
          <p:cNvPr id="8" name="Text 5"/>
          <p:cNvSpPr/>
          <p:nvPr/>
        </p:nvSpPr>
        <p:spPr>
          <a:xfrm>
            <a:off x="914400" y="2804160"/>
            <a:ext cx="4632960" cy="609600"/>
          </a:xfrm>
          <a:prstGeom prst="rect">
            <a:avLst/>
          </a:prstGeom>
          <a:noFill/>
          <a:ln/>
        </p:spPr>
        <p:txBody>
          <a:bodyPr wrap="square" lIns="0" tIns="0" rIns="0" bIns="0" rtlCol="0" anchor="ctr"/>
          <a:lstStyle/>
          <a:p>
            <a:r>
              <a:rPr lang="en-US" sz="1600" i="1" dirty="0">
                <a:solidFill>
                  <a:srgbClr val="64748B"/>
                </a:solidFill>
                <a:latin typeface="Calibri" pitchFamily="34" charset="0"/>
                <a:ea typeface="Calibri" pitchFamily="34" charset="-122"/>
                <a:cs typeface="Calibri" pitchFamily="34" charset="-120"/>
              </a:rPr>
              <a:t>Any data that can identify a specific individual — alone or combined.</a:t>
            </a:r>
            <a:endParaRPr lang="en-US" sz="1600" dirty="0"/>
          </a:p>
        </p:txBody>
      </p:sp>
      <p:sp>
        <p:nvSpPr>
          <p:cNvPr id="9" name="Text 6"/>
          <p:cNvSpPr/>
          <p:nvPr/>
        </p:nvSpPr>
        <p:spPr>
          <a:xfrm>
            <a:off x="975360" y="3474720"/>
            <a:ext cx="4632960" cy="2682240"/>
          </a:xfrm>
          <a:prstGeom prst="rect">
            <a:avLst/>
          </a:prstGeom>
          <a:noFill/>
          <a:ln/>
        </p:spPr>
        <p:txBody>
          <a:bodyPr wrap="square" lIns="0" tIns="0" rIns="0" bIns="0" rtlCol="0" anchor="ctr"/>
          <a:lstStyle/>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Names, addresses, phone, email</a:t>
            </a:r>
            <a:endParaRPr lang="en-US" sz="1667" dirty="0"/>
          </a:p>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SSN, passport, driver's license</a:t>
            </a:r>
            <a:endParaRPr lang="en-US" sz="1667" dirty="0"/>
          </a:p>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Credit card, bank account</a:t>
            </a:r>
            <a:endParaRPr lang="en-US" sz="1667" dirty="0"/>
          </a:p>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IP address, device IDs</a:t>
            </a:r>
            <a:endParaRPr lang="en-US" sz="1667" dirty="0"/>
          </a:p>
          <a:p>
            <a:pPr marL="457189" indent="-457189">
              <a:spcAft>
                <a:spcPts val="533"/>
              </a:spcAft>
              <a:buSzPct val="100000"/>
              <a:buChar char="•"/>
            </a:pPr>
            <a:r>
              <a:rPr lang="en-US" sz="1667" b="1" dirty="0">
                <a:solidFill>
                  <a:srgbClr val="2B4EC7"/>
                </a:solidFill>
                <a:latin typeface="Calibri" pitchFamily="34" charset="0"/>
                <a:ea typeface="Calibri" pitchFamily="34" charset="-122"/>
                <a:cs typeface="Calibri" pitchFamily="34" charset="-120"/>
              </a:rPr>
              <a:t>Frameworks: GDPR, CCPA, LGPD</a:t>
            </a:r>
            <a:endParaRPr lang="en-US" sz="1667" dirty="0"/>
          </a:p>
        </p:txBody>
      </p:sp>
      <p:sp>
        <p:nvSpPr>
          <p:cNvPr id="10" name="Shape 7"/>
          <p:cNvSpPr/>
          <p:nvPr/>
        </p:nvSpPr>
        <p:spPr>
          <a:xfrm>
            <a:off x="6339840" y="1889760"/>
            <a:ext cx="5242560" cy="4511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6339840" y="1889760"/>
            <a:ext cx="5242560" cy="731520"/>
          </a:xfrm>
          <a:prstGeom prst="rect">
            <a:avLst/>
          </a:prstGeom>
          <a:solidFill>
            <a:srgbClr val="0D9488"/>
          </a:solidFill>
          <a:ln w="12700">
            <a:solidFill>
              <a:srgbClr val="0D9488"/>
            </a:solidFill>
            <a:prstDash val="solid"/>
          </a:ln>
        </p:spPr>
        <p:txBody>
          <a:bodyPr/>
          <a:lstStyle/>
          <a:p>
            <a:endParaRPr lang="en-US" sz="2400"/>
          </a:p>
        </p:txBody>
      </p:sp>
      <p:pic>
        <p:nvPicPr>
          <p:cNvPr id="12" name="Image 1" descr="preencoded.png"/>
          <p:cNvPicPr>
            <a:picLocks noChangeAspect="1"/>
          </p:cNvPicPr>
          <p:nvPr/>
        </p:nvPicPr>
        <p:blipFill>
          <a:blip r:embed="rId4"/>
          <a:stretch>
            <a:fillRect/>
          </a:stretch>
        </p:blipFill>
        <p:spPr>
          <a:xfrm>
            <a:off x="6583680" y="2060448"/>
            <a:ext cx="390144" cy="390144"/>
          </a:xfrm>
          <a:prstGeom prst="rect">
            <a:avLst/>
          </a:prstGeom>
        </p:spPr>
      </p:pic>
      <p:sp>
        <p:nvSpPr>
          <p:cNvPr id="13" name="Text 9"/>
          <p:cNvSpPr/>
          <p:nvPr/>
        </p:nvSpPr>
        <p:spPr>
          <a:xfrm>
            <a:off x="7071360" y="1987296"/>
            <a:ext cx="438912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PHI — Protected Health Info</a:t>
            </a:r>
            <a:endParaRPr lang="en-US" sz="2000" dirty="0"/>
          </a:p>
        </p:txBody>
      </p:sp>
      <p:sp>
        <p:nvSpPr>
          <p:cNvPr id="14" name="Text 10"/>
          <p:cNvSpPr/>
          <p:nvPr/>
        </p:nvSpPr>
        <p:spPr>
          <a:xfrm>
            <a:off x="6644640" y="2804160"/>
            <a:ext cx="4632960" cy="609600"/>
          </a:xfrm>
          <a:prstGeom prst="rect">
            <a:avLst/>
          </a:prstGeom>
          <a:noFill/>
          <a:ln/>
        </p:spPr>
        <p:txBody>
          <a:bodyPr wrap="square" lIns="0" tIns="0" rIns="0" bIns="0" rtlCol="0" anchor="ctr"/>
          <a:lstStyle/>
          <a:p>
            <a:r>
              <a:rPr lang="en-US" sz="1600" i="1" dirty="0">
                <a:solidFill>
                  <a:srgbClr val="64748B"/>
                </a:solidFill>
                <a:latin typeface="Calibri" pitchFamily="34" charset="0"/>
                <a:ea typeface="Calibri" pitchFamily="34" charset="-122"/>
                <a:cs typeface="Calibri" pitchFamily="34" charset="-120"/>
              </a:rPr>
              <a:t>Health data linked to an individual, handled by covered entities.</a:t>
            </a:r>
            <a:endParaRPr lang="en-US" sz="1600" dirty="0"/>
          </a:p>
        </p:txBody>
      </p:sp>
      <p:sp>
        <p:nvSpPr>
          <p:cNvPr id="15" name="Text 11"/>
          <p:cNvSpPr/>
          <p:nvPr/>
        </p:nvSpPr>
        <p:spPr>
          <a:xfrm>
            <a:off x="6705600" y="3474720"/>
            <a:ext cx="4632960" cy="2682240"/>
          </a:xfrm>
          <a:prstGeom prst="rect">
            <a:avLst/>
          </a:prstGeom>
          <a:noFill/>
          <a:ln/>
        </p:spPr>
        <p:txBody>
          <a:bodyPr wrap="square" lIns="0" tIns="0" rIns="0" bIns="0" rtlCol="0" anchor="ctr"/>
          <a:lstStyle/>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Diagnoses, treatments, Rx</a:t>
            </a:r>
            <a:endParaRPr lang="en-US" sz="1667" dirty="0"/>
          </a:p>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Medical record &amp; account numbers</a:t>
            </a:r>
            <a:endParaRPr lang="en-US" sz="1667" dirty="0"/>
          </a:p>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Insurance / payer information</a:t>
            </a:r>
            <a:endParaRPr lang="en-US" sz="1667" dirty="0"/>
          </a:p>
          <a:p>
            <a:pPr marL="457189" indent="-457189">
              <a:spcAft>
                <a:spcPts val="533"/>
              </a:spcAft>
              <a:buSzPct val="100000"/>
              <a:buChar char="•"/>
            </a:pPr>
            <a:r>
              <a:rPr lang="en-US" sz="1667" dirty="0">
                <a:solidFill>
                  <a:srgbClr val="1A1D3A"/>
                </a:solidFill>
                <a:latin typeface="Calibri" pitchFamily="34" charset="0"/>
                <a:ea typeface="Calibri" pitchFamily="34" charset="-122"/>
                <a:cs typeface="Calibri" pitchFamily="34" charset="-120"/>
              </a:rPr>
              <a:t>Lab results, imaging, biometrics</a:t>
            </a:r>
            <a:endParaRPr lang="en-US" sz="1667" dirty="0"/>
          </a:p>
          <a:p>
            <a:pPr marL="457189" indent="-457189">
              <a:spcAft>
                <a:spcPts val="533"/>
              </a:spcAft>
              <a:buSzPct val="100000"/>
              <a:buChar char="•"/>
            </a:pPr>
            <a:r>
              <a:rPr lang="en-US" sz="1667" b="1" dirty="0">
                <a:solidFill>
                  <a:srgbClr val="0D9488"/>
                </a:solidFill>
                <a:latin typeface="Calibri" pitchFamily="34" charset="0"/>
                <a:ea typeface="Calibri" pitchFamily="34" charset="-122"/>
                <a:cs typeface="Calibri" pitchFamily="34" charset="-120"/>
              </a:rPr>
              <a:t>Frameworks: HIPAA, HITECH</a:t>
            </a:r>
            <a:endParaRPr lang="en-US" sz="1667" dirty="0"/>
          </a:p>
        </p:txBody>
      </p:sp>
      <p:sp>
        <p:nvSpPr>
          <p:cNvPr id="16" name="Shape 1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17" name="Text 13"/>
          <p:cNvSpPr/>
          <p:nvPr/>
        </p:nvSpPr>
        <p:spPr>
          <a:xfrm>
            <a:off x="609600" y="6486144"/>
            <a:ext cx="73152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Microsoft Purview  |  PII &amp; PHI Data Classification</a:t>
            </a:r>
            <a:endParaRPr lang="en-US" sz="1200" dirty="0"/>
          </a:p>
        </p:txBody>
      </p:sp>
      <p:sp>
        <p:nvSpPr>
          <p:cNvPr id="18" name="Text 1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4 / 8</a:t>
            </a:r>
            <a:endParaRPr lang="en-US" sz="1200" dirty="0"/>
          </a:p>
        </p:txBody>
      </p:sp>
      <p:sp>
        <p:nvSpPr>
          <p:cNvPr id="19" name="Hidden Title 19" descr="Slide title: PII vs PHI — Know the Difference"/>
          <p:cNvSpPr>
            <a:spLocks noGrp="1"/>
          </p:cNvSpPr>
          <p:nvPr>
            <p:ph type="title"/>
          </p:nvPr>
        </p:nvSpPr>
        <p:spPr>
          <a:xfrm>
            <a:off x="0" y="-457200"/>
            <a:ext cx="9144000" cy="457200"/>
          </a:xfrm>
        </p:spPr>
        <p:txBody>
          <a:bodyPr/>
          <a:lstStyle/>
          <a:p>
            <a:r>
              <a:rPr lang="en-US" sz="100" dirty="0"/>
              <a:t>PII vs PHI — Know the Difference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How Purview Classifies Data</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Four complementary techniques — from pattern matching to machine learning.</a:t>
            </a:r>
            <a:endParaRPr lang="en-US" sz="1733" dirty="0"/>
          </a:p>
        </p:txBody>
      </p:sp>
      <p:sp>
        <p:nvSpPr>
          <p:cNvPr id="4" name="Shape 2"/>
          <p:cNvSpPr/>
          <p:nvPr/>
        </p:nvSpPr>
        <p:spPr>
          <a:xfrm>
            <a:off x="54864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4864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914400" y="2316480"/>
            <a:ext cx="853440" cy="853440"/>
          </a:xfrm>
          <a:prstGeom prst="ellipse">
            <a:avLst/>
          </a:prstGeom>
          <a:solidFill>
            <a:srgbClr val="2B4EC7"/>
          </a:solidFill>
          <a:ln w="12700">
            <a:solidFill>
              <a:srgbClr val="2B4EC7"/>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1060704" y="2462784"/>
            <a:ext cx="560832" cy="560832"/>
          </a:xfrm>
          <a:prstGeom prst="rect">
            <a:avLst/>
          </a:prstGeom>
        </p:spPr>
      </p:pic>
      <p:sp>
        <p:nvSpPr>
          <p:cNvPr id="8" name="Text 5"/>
          <p:cNvSpPr/>
          <p:nvPr/>
        </p:nvSpPr>
        <p:spPr>
          <a:xfrm>
            <a:off x="1950720" y="2255520"/>
            <a:ext cx="3779520" cy="487680"/>
          </a:xfrm>
          <a:prstGeom prst="rect">
            <a:avLst/>
          </a:prstGeom>
          <a:noFill/>
          <a:ln/>
        </p:spPr>
        <p:txBody>
          <a:bodyPr wrap="square" lIns="0" tIns="0" rIns="0" bIns="0" rtlCol="0" anchor="ctr"/>
          <a:lstStyle/>
          <a:p>
            <a:r>
              <a:rPr lang="en-US" sz="2133" b="1" dirty="0">
                <a:solidFill>
                  <a:srgbClr val="1A1D3A"/>
                </a:solidFill>
                <a:latin typeface="Georgia" pitchFamily="34" charset="0"/>
                <a:ea typeface="Georgia" pitchFamily="34" charset="-122"/>
                <a:cs typeface="Georgia" pitchFamily="34" charset="-120"/>
              </a:rPr>
              <a:t>Sensitive Info Types (SITs)</a:t>
            </a:r>
            <a:endParaRPr lang="en-US" sz="2133" dirty="0"/>
          </a:p>
        </p:txBody>
      </p:sp>
      <p:sp>
        <p:nvSpPr>
          <p:cNvPr id="9" name="Text 6"/>
          <p:cNvSpPr/>
          <p:nvPr/>
        </p:nvSpPr>
        <p:spPr>
          <a:xfrm>
            <a:off x="195072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Regex + keyword + checksum patterns. 300+ built-in for PII/PHI (SSN, DEA, ICD-10, MRN).</a:t>
            </a:r>
            <a:endParaRPr lang="en-US" sz="1533" dirty="0"/>
          </a:p>
        </p:txBody>
      </p:sp>
      <p:sp>
        <p:nvSpPr>
          <p:cNvPr id="10" name="Shape 7"/>
          <p:cNvSpPr/>
          <p:nvPr/>
        </p:nvSpPr>
        <p:spPr>
          <a:xfrm>
            <a:off x="627888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6278880" y="188976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12" name="Shape 9"/>
          <p:cNvSpPr/>
          <p:nvPr/>
        </p:nvSpPr>
        <p:spPr>
          <a:xfrm>
            <a:off x="6644640" y="2316480"/>
            <a:ext cx="853440" cy="853440"/>
          </a:xfrm>
          <a:prstGeom prst="ellipse">
            <a:avLst/>
          </a:prstGeom>
          <a:solidFill>
            <a:srgbClr val="8B5CF6"/>
          </a:solidFill>
          <a:ln w="12700">
            <a:solidFill>
              <a:srgbClr val="8B5CF6"/>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6790944" y="2462784"/>
            <a:ext cx="560832" cy="560832"/>
          </a:xfrm>
          <a:prstGeom prst="rect">
            <a:avLst/>
          </a:prstGeom>
        </p:spPr>
      </p:pic>
      <p:sp>
        <p:nvSpPr>
          <p:cNvPr id="14" name="Text 10"/>
          <p:cNvSpPr/>
          <p:nvPr/>
        </p:nvSpPr>
        <p:spPr>
          <a:xfrm>
            <a:off x="7680960" y="2255520"/>
            <a:ext cx="3779520" cy="487680"/>
          </a:xfrm>
          <a:prstGeom prst="rect">
            <a:avLst/>
          </a:prstGeom>
          <a:noFill/>
          <a:ln/>
        </p:spPr>
        <p:txBody>
          <a:bodyPr wrap="square" lIns="0" tIns="0" rIns="0" bIns="0" rtlCol="0" anchor="ctr"/>
          <a:lstStyle/>
          <a:p>
            <a:r>
              <a:rPr lang="en-US" sz="2133" b="1" dirty="0">
                <a:solidFill>
                  <a:srgbClr val="1A1D3A"/>
                </a:solidFill>
                <a:latin typeface="Georgia" pitchFamily="34" charset="0"/>
                <a:ea typeface="Georgia" pitchFamily="34" charset="-122"/>
                <a:cs typeface="Georgia" pitchFamily="34" charset="-120"/>
              </a:rPr>
              <a:t>Trainable Classifiers</a:t>
            </a:r>
            <a:endParaRPr lang="en-US" sz="2133" dirty="0"/>
          </a:p>
        </p:txBody>
      </p:sp>
      <p:sp>
        <p:nvSpPr>
          <p:cNvPr id="15" name="Text 11"/>
          <p:cNvSpPr/>
          <p:nvPr/>
        </p:nvSpPr>
        <p:spPr>
          <a:xfrm>
            <a:off x="768096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ML models trained on sample docs — detect intent &amp; context (e.g., HR, medical records).</a:t>
            </a:r>
            <a:endParaRPr lang="en-US" sz="1533" dirty="0"/>
          </a:p>
        </p:txBody>
      </p:sp>
      <p:sp>
        <p:nvSpPr>
          <p:cNvPr id="16" name="Shape 12"/>
          <p:cNvSpPr/>
          <p:nvPr/>
        </p:nvSpPr>
        <p:spPr>
          <a:xfrm>
            <a:off x="54864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548640" y="408432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18" name="Shape 14"/>
          <p:cNvSpPr/>
          <p:nvPr/>
        </p:nvSpPr>
        <p:spPr>
          <a:xfrm>
            <a:off x="914400" y="4511040"/>
            <a:ext cx="853440" cy="853440"/>
          </a:xfrm>
          <a:prstGeom prst="ellipse">
            <a:avLst/>
          </a:prstGeom>
          <a:solidFill>
            <a:srgbClr val="0D9488"/>
          </a:solidFill>
          <a:ln w="12700">
            <a:solidFill>
              <a:srgbClr val="0D9488"/>
            </a:solidFill>
            <a:prstDash val="solid"/>
          </a:ln>
        </p:spPr>
        <p:txBody>
          <a:bodyPr/>
          <a:lstStyle/>
          <a:p>
            <a:endParaRPr lang="en-US" sz="2400"/>
          </a:p>
        </p:txBody>
      </p:sp>
      <p:pic>
        <p:nvPicPr>
          <p:cNvPr id="19" name="Image 2" descr="preencoded.png"/>
          <p:cNvPicPr>
            <a:picLocks noChangeAspect="1"/>
          </p:cNvPicPr>
          <p:nvPr/>
        </p:nvPicPr>
        <p:blipFill>
          <a:blip r:embed="rId5"/>
          <a:stretch>
            <a:fillRect/>
          </a:stretch>
        </p:blipFill>
        <p:spPr>
          <a:xfrm>
            <a:off x="1060704" y="4657344"/>
            <a:ext cx="560832" cy="560832"/>
          </a:xfrm>
          <a:prstGeom prst="rect">
            <a:avLst/>
          </a:prstGeom>
        </p:spPr>
      </p:pic>
      <p:sp>
        <p:nvSpPr>
          <p:cNvPr id="20" name="Text 15"/>
          <p:cNvSpPr/>
          <p:nvPr/>
        </p:nvSpPr>
        <p:spPr>
          <a:xfrm>
            <a:off x="1950720" y="4450080"/>
            <a:ext cx="3779520" cy="487680"/>
          </a:xfrm>
          <a:prstGeom prst="rect">
            <a:avLst/>
          </a:prstGeom>
          <a:noFill/>
          <a:ln/>
        </p:spPr>
        <p:txBody>
          <a:bodyPr wrap="square" lIns="0" tIns="0" rIns="0" bIns="0" rtlCol="0" anchor="ctr"/>
          <a:lstStyle/>
          <a:p>
            <a:r>
              <a:rPr lang="en-US" sz="2133" b="1" dirty="0">
                <a:solidFill>
                  <a:srgbClr val="1A1D3A"/>
                </a:solidFill>
                <a:latin typeface="Georgia" pitchFamily="34" charset="0"/>
                <a:ea typeface="Georgia" pitchFamily="34" charset="-122"/>
                <a:cs typeface="Georgia" pitchFamily="34" charset="-120"/>
              </a:rPr>
              <a:t>Exact Data Match (EDM)</a:t>
            </a:r>
            <a:endParaRPr lang="en-US" sz="2133" dirty="0"/>
          </a:p>
        </p:txBody>
      </p:sp>
      <p:sp>
        <p:nvSpPr>
          <p:cNvPr id="21" name="Text 16"/>
          <p:cNvSpPr/>
          <p:nvPr/>
        </p:nvSpPr>
        <p:spPr>
          <a:xfrm>
            <a:off x="195072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Hashed lookups against your own data (patient list, employee roster) for near-zero false positives.</a:t>
            </a:r>
            <a:endParaRPr lang="en-US" sz="1533" dirty="0"/>
          </a:p>
        </p:txBody>
      </p:sp>
      <p:sp>
        <p:nvSpPr>
          <p:cNvPr id="22" name="Shape 17"/>
          <p:cNvSpPr/>
          <p:nvPr/>
        </p:nvSpPr>
        <p:spPr>
          <a:xfrm>
            <a:off x="627888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6278880" y="408432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24" name="Shape 19"/>
          <p:cNvSpPr/>
          <p:nvPr/>
        </p:nvSpPr>
        <p:spPr>
          <a:xfrm>
            <a:off x="6644640" y="4511040"/>
            <a:ext cx="853440" cy="853440"/>
          </a:xfrm>
          <a:prstGeom prst="ellipse">
            <a:avLst/>
          </a:prstGeom>
          <a:solidFill>
            <a:srgbClr val="EC4899"/>
          </a:solidFill>
          <a:ln w="12700">
            <a:solidFill>
              <a:srgbClr val="EC4899"/>
            </a:solidFill>
            <a:prstDash val="solid"/>
          </a:ln>
        </p:spPr>
        <p:txBody>
          <a:bodyPr/>
          <a:lstStyle/>
          <a:p>
            <a:endParaRPr lang="en-US" sz="2400"/>
          </a:p>
        </p:txBody>
      </p:sp>
      <p:pic>
        <p:nvPicPr>
          <p:cNvPr id="25" name="Image 3" descr="preencoded.png"/>
          <p:cNvPicPr>
            <a:picLocks noChangeAspect="1"/>
          </p:cNvPicPr>
          <p:nvPr/>
        </p:nvPicPr>
        <p:blipFill>
          <a:blip r:embed="rId6"/>
          <a:stretch>
            <a:fillRect/>
          </a:stretch>
        </p:blipFill>
        <p:spPr>
          <a:xfrm>
            <a:off x="6790944" y="4657344"/>
            <a:ext cx="560832" cy="560832"/>
          </a:xfrm>
          <a:prstGeom prst="rect">
            <a:avLst/>
          </a:prstGeom>
        </p:spPr>
      </p:pic>
      <p:sp>
        <p:nvSpPr>
          <p:cNvPr id="26" name="Text 20"/>
          <p:cNvSpPr/>
          <p:nvPr/>
        </p:nvSpPr>
        <p:spPr>
          <a:xfrm>
            <a:off x="7680960" y="4450080"/>
            <a:ext cx="3779520" cy="487680"/>
          </a:xfrm>
          <a:prstGeom prst="rect">
            <a:avLst/>
          </a:prstGeom>
          <a:noFill/>
          <a:ln/>
        </p:spPr>
        <p:txBody>
          <a:bodyPr wrap="square" lIns="0" tIns="0" rIns="0" bIns="0" rtlCol="0" anchor="ctr"/>
          <a:lstStyle/>
          <a:p>
            <a:r>
              <a:rPr lang="en-US" sz="2133" b="1" dirty="0">
                <a:solidFill>
                  <a:srgbClr val="1A1D3A"/>
                </a:solidFill>
                <a:latin typeface="Georgia" pitchFamily="34" charset="0"/>
                <a:ea typeface="Georgia" pitchFamily="34" charset="-122"/>
                <a:cs typeface="Georgia" pitchFamily="34" charset="-120"/>
              </a:rPr>
              <a:t>Sensitivity Labels</a:t>
            </a:r>
            <a:endParaRPr lang="en-US" sz="2133" dirty="0"/>
          </a:p>
        </p:txBody>
      </p:sp>
      <p:sp>
        <p:nvSpPr>
          <p:cNvPr id="27" name="Text 21"/>
          <p:cNvSpPr/>
          <p:nvPr/>
        </p:nvSpPr>
        <p:spPr>
          <a:xfrm>
            <a:off x="768096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Applied manually, by policy, or automatically on match — drive encryption, DLP, and retention.</a:t>
            </a:r>
            <a:endParaRPr lang="en-US" sz="1533" dirty="0"/>
          </a:p>
        </p:txBody>
      </p:sp>
      <p:sp>
        <p:nvSpPr>
          <p:cNvPr id="28" name="Shape 2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29" name="Text 23"/>
          <p:cNvSpPr/>
          <p:nvPr/>
        </p:nvSpPr>
        <p:spPr>
          <a:xfrm>
            <a:off x="609600" y="6486144"/>
            <a:ext cx="73152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Microsoft Purview  |  PII &amp; PHI Data Classification</a:t>
            </a:r>
            <a:endParaRPr lang="en-US" sz="1200" dirty="0"/>
          </a:p>
        </p:txBody>
      </p:sp>
      <p:sp>
        <p:nvSpPr>
          <p:cNvPr id="30" name="Text 2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5 / 8</a:t>
            </a:r>
            <a:endParaRPr lang="en-US" sz="1200" dirty="0"/>
          </a:p>
        </p:txBody>
      </p:sp>
      <p:sp>
        <p:nvSpPr>
          <p:cNvPr id="31" name="Hidden Title 31" descr="Slide title: How Purview Classifies Data"/>
          <p:cNvSpPr>
            <a:spLocks noGrp="1"/>
          </p:cNvSpPr>
          <p:nvPr>
            <p:ph type="title"/>
          </p:nvPr>
        </p:nvSpPr>
        <p:spPr>
          <a:xfrm>
            <a:off x="0" y="-457200"/>
            <a:ext cx="9144000" cy="457200"/>
          </a:xfrm>
        </p:spPr>
        <p:txBody>
          <a:bodyPr/>
          <a:lstStyle/>
          <a:p>
            <a:r>
              <a:rPr lang="en-US" sz="100" dirty="0"/>
              <a:t>How Purview Classifies Data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Built-in Sensitive Information Types</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A sampler of out-of-the-box detectors you can use today — no custom code required.</a:t>
            </a:r>
            <a:endParaRPr lang="en-US" sz="1733" dirty="0"/>
          </a:p>
        </p:txBody>
      </p:sp>
      <p:graphicFrame>
        <p:nvGraphicFramePr>
          <p:cNvPr id="7" name="Table 0"/>
          <p:cNvGraphicFramePr>
            <a:graphicFrameLocks noGrp="1"/>
          </p:cNvGraphicFramePr>
          <p:nvPr/>
        </p:nvGraphicFramePr>
        <p:xfrm>
          <a:off x="609600" y="1828800"/>
          <a:ext cx="10972800" cy="3556000"/>
        </p:xfrm>
        <a:graphic>
          <a:graphicData uri="http://schemas.openxmlformats.org/drawingml/2006/table">
            <a:tbl>
              <a:tblPr/>
              <a:tblGrid>
                <a:gridCol w="353568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072640">
                  <a:extLst>
                    <a:ext uri="{9D8B030D-6E8A-4147-A177-3AD203B41FA5}">
                      <a16:colId xmlns:a16="http://schemas.microsoft.com/office/drawing/2014/main" val="20003"/>
                    </a:ext>
                  </a:extLst>
                </a:gridCol>
              </a:tblGrid>
              <a:tr h="650240">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SIT NAME</a:t>
                      </a:r>
                      <a:endParaRPr lang="en-US" sz="17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CATEGORY</a:t>
                      </a:r>
                      <a:endParaRPr lang="en-US" sz="17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DETECTS</a:t>
                      </a:r>
                      <a:endParaRPr lang="en-US" sz="17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REGION / FRAMEWORK</a:t>
                      </a:r>
                      <a:endParaRPr lang="en-US" sz="17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63296">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U.S. Social Security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4EC7"/>
                    </a:solidFill>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9-digit SSN with format + checksum</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U.S. (GDPR / CCPA)</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63296">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Credit Card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4EC7"/>
                    </a:solidFill>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PAN w/ Luhn validation (Visa, MC, AmEx)</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Global (PCI-DSS)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63296">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EU Passport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4EC7"/>
                    </a:solidFill>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EU member state passport patterns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EU (GDPR)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89280">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U.S. / U.K. Medical Record Number (MRN)</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Keyword + numeric pattern</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U.S. / U.K. (HIPAA)</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63296">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DEA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Prescriber registration format + checksum</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U.S. (HIPAA / DEA)</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63296">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ICD-10 / ICD-9 Codes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Diagnostic code patterns + keyword proximity</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dirty="0">
                          <a:solidFill>
                            <a:srgbClr val="1A1D3A"/>
                          </a:solidFill>
                          <a:latin typeface="Calibri" pitchFamily="34" charset="0"/>
                          <a:ea typeface="Calibri" pitchFamily="34" charset="-122"/>
                          <a:cs typeface="Calibri" pitchFamily="34" charset="-120"/>
                        </a:rPr>
                        <a:t>Global (HIPAA)</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609600" y="5791200"/>
            <a:ext cx="10972800" cy="487680"/>
          </a:xfrm>
          <a:prstGeom prst="rect">
            <a:avLst/>
          </a:prstGeom>
          <a:noFill/>
          <a:ln/>
        </p:spPr>
        <p:txBody>
          <a:bodyPr wrap="square" lIns="0" tIns="0" rIns="0" bIns="0" rtlCol="0" anchor="ctr"/>
          <a:lstStyle/>
          <a:p>
            <a:r>
              <a:rPr lang="en-US" sz="1533" b="1" i="1" dirty="0">
                <a:solidFill>
                  <a:srgbClr val="1E2761"/>
                </a:solidFill>
                <a:latin typeface="Calibri" pitchFamily="34" charset="0"/>
                <a:ea typeface="Calibri" pitchFamily="34" charset="-122"/>
                <a:cs typeface="Calibri" pitchFamily="34" charset="-120"/>
              </a:rPr>
              <a:t>Tip: combine multiple SITs into a single policy for high-confidence PHI matches (e.g., MRN + ICD-10 + patient name).</a:t>
            </a:r>
            <a:endParaRPr lang="en-US" sz="1533" dirty="0"/>
          </a:p>
        </p:txBody>
      </p:sp>
      <p:sp>
        <p:nvSpPr>
          <p:cNvPr id="6" name="Shape 3"/>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 name="Text 4"/>
          <p:cNvSpPr/>
          <p:nvPr/>
        </p:nvSpPr>
        <p:spPr>
          <a:xfrm>
            <a:off x="609600" y="6486144"/>
            <a:ext cx="73152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Microsoft Purview  |  PII &amp; PHI Data Classification</a:t>
            </a:r>
            <a:endParaRPr lang="en-US" sz="1200" dirty="0"/>
          </a:p>
        </p:txBody>
      </p:sp>
      <p:sp>
        <p:nvSpPr>
          <p:cNvPr id="8" name="Text 5"/>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6 / 8</a:t>
            </a:r>
            <a:endParaRPr lang="en-US" sz="1200" dirty="0"/>
          </a:p>
        </p:txBody>
      </p:sp>
      <p:sp>
        <p:nvSpPr>
          <p:cNvPr id="9" name="Hidden Title 9" descr="Slide title: Built-in Sensitive Information Types"/>
          <p:cNvSpPr>
            <a:spLocks noGrp="1"/>
          </p:cNvSpPr>
          <p:nvPr>
            <p:ph type="title"/>
          </p:nvPr>
        </p:nvSpPr>
        <p:spPr>
          <a:xfrm>
            <a:off x="0" y="-457200"/>
            <a:ext cx="9144000" cy="457200"/>
          </a:xfrm>
        </p:spPr>
        <p:txBody>
          <a:bodyPr/>
          <a:lstStyle/>
          <a:p>
            <a:r>
              <a:rPr lang="en-US" sz="100" dirty="0"/>
              <a:t>Built-in Sensitive Information Types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Demo Architecture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Sources → scan → classification → label → catalog → protection.</a:t>
            </a:r>
            <a:endParaRPr lang="en-US" sz="1733" dirty="0"/>
          </a:p>
        </p:txBody>
      </p:sp>
      <p:sp>
        <p:nvSpPr>
          <p:cNvPr id="4" name="Shape 2"/>
          <p:cNvSpPr/>
          <p:nvPr/>
        </p:nvSpPr>
        <p:spPr>
          <a:xfrm>
            <a:off x="609600" y="2072640"/>
            <a:ext cx="1889760" cy="1097280"/>
          </a:xfrm>
          <a:prstGeom prst="rect">
            <a:avLst/>
          </a:prstGeom>
          <a:solidFill>
            <a:srgbClr val="FFFFFF"/>
          </a:solidFill>
          <a:ln w="19050">
            <a:solidFill>
              <a:srgbClr val="2B4EC7"/>
            </a:solidFill>
            <a:prstDash val="solid"/>
          </a:ln>
        </p:spPr>
        <p:txBody>
          <a:bodyPr/>
          <a:lstStyle/>
          <a:p>
            <a:endParaRPr lang="en-US" sz="2400"/>
          </a:p>
        </p:txBody>
      </p:sp>
      <p:pic>
        <p:nvPicPr>
          <p:cNvPr id="5" name="Image 0" descr="preencoded.png"/>
          <p:cNvPicPr>
            <a:picLocks noChangeAspect="1"/>
          </p:cNvPicPr>
          <p:nvPr/>
        </p:nvPicPr>
        <p:blipFill>
          <a:blip r:embed="rId3"/>
          <a:stretch>
            <a:fillRect/>
          </a:stretch>
        </p:blipFill>
        <p:spPr>
          <a:xfrm>
            <a:off x="731520" y="2316480"/>
            <a:ext cx="609600" cy="609600"/>
          </a:xfrm>
          <a:prstGeom prst="rect">
            <a:avLst/>
          </a:prstGeom>
        </p:spPr>
      </p:pic>
      <p:sp>
        <p:nvSpPr>
          <p:cNvPr id="6" name="Text 3"/>
          <p:cNvSpPr/>
          <p:nvPr/>
        </p:nvSpPr>
        <p:spPr>
          <a:xfrm>
            <a:off x="1402080" y="2218944"/>
            <a:ext cx="1036320" cy="426720"/>
          </a:xfrm>
          <a:prstGeom prst="rect">
            <a:avLst/>
          </a:prstGeom>
          <a:noFill/>
          <a:ln/>
        </p:spPr>
        <p:txBody>
          <a:bodyPr wrap="square" lIns="0" tIns="0" rIns="0" bIns="0" rtlCol="0" anchor="ctr"/>
          <a:lstStyle/>
          <a:p>
            <a:r>
              <a:rPr lang="en-US" sz="1600" b="1" dirty="0">
                <a:solidFill>
                  <a:srgbClr val="1A1D3A"/>
                </a:solidFill>
                <a:latin typeface="Calibri" pitchFamily="34" charset="0"/>
                <a:ea typeface="Calibri" pitchFamily="34" charset="-122"/>
                <a:cs typeface="Calibri" pitchFamily="34" charset="-120"/>
              </a:rPr>
              <a:t>Azure SQL</a:t>
            </a:r>
            <a:endParaRPr lang="en-US" sz="1600" dirty="0"/>
          </a:p>
        </p:txBody>
      </p:sp>
      <p:sp>
        <p:nvSpPr>
          <p:cNvPr id="7" name="Text 4"/>
          <p:cNvSpPr/>
          <p:nvPr/>
        </p:nvSpPr>
        <p:spPr>
          <a:xfrm>
            <a:off x="1402080" y="2657856"/>
            <a:ext cx="1036320" cy="365760"/>
          </a:xfrm>
          <a:prstGeom prst="rect">
            <a:avLst/>
          </a:prstGeom>
          <a:noFill/>
          <a:ln/>
        </p:spPr>
        <p:txBody>
          <a:bodyPr wrap="square" lIns="0" tIns="0" rIns="0" bIns="0" rtlCol="0" anchor="ctr"/>
          <a:lstStyle/>
          <a:p>
            <a:r>
              <a:rPr lang="en-US" sz="1400" i="1" dirty="0">
                <a:solidFill>
                  <a:srgbClr val="64748B"/>
                </a:solidFill>
                <a:latin typeface="Calibri" pitchFamily="34" charset="0"/>
                <a:ea typeface="Calibri" pitchFamily="34" charset="-122"/>
                <a:cs typeface="Calibri" pitchFamily="34" charset="-120"/>
              </a:rPr>
              <a:t>Claims DB</a:t>
            </a:r>
            <a:endParaRPr lang="en-US" sz="1267" dirty="0"/>
          </a:p>
        </p:txBody>
      </p:sp>
      <p:sp>
        <p:nvSpPr>
          <p:cNvPr id="8" name="Shape 5"/>
          <p:cNvSpPr/>
          <p:nvPr/>
        </p:nvSpPr>
        <p:spPr>
          <a:xfrm>
            <a:off x="2645664" y="2072640"/>
            <a:ext cx="1889760" cy="1097280"/>
          </a:xfrm>
          <a:prstGeom prst="rect">
            <a:avLst/>
          </a:prstGeom>
          <a:solidFill>
            <a:srgbClr val="FFFFFF"/>
          </a:solidFill>
          <a:ln w="19050">
            <a:solidFill>
              <a:srgbClr val="8B5CF6"/>
            </a:solidFill>
            <a:prstDash val="solid"/>
          </a:ln>
        </p:spPr>
        <p:txBody>
          <a:bodyPr/>
          <a:lstStyle/>
          <a:p>
            <a:endParaRPr lang="en-US" sz="2400"/>
          </a:p>
        </p:txBody>
      </p:sp>
      <p:pic>
        <p:nvPicPr>
          <p:cNvPr id="9" name="Image 1" descr="preencoded.png"/>
          <p:cNvPicPr>
            <a:picLocks noChangeAspect="1"/>
          </p:cNvPicPr>
          <p:nvPr/>
        </p:nvPicPr>
        <p:blipFill>
          <a:blip r:embed="rId4"/>
          <a:stretch>
            <a:fillRect/>
          </a:stretch>
        </p:blipFill>
        <p:spPr>
          <a:xfrm>
            <a:off x="2767584" y="2316480"/>
            <a:ext cx="609600" cy="609600"/>
          </a:xfrm>
          <a:prstGeom prst="rect">
            <a:avLst/>
          </a:prstGeom>
        </p:spPr>
      </p:pic>
      <p:sp>
        <p:nvSpPr>
          <p:cNvPr id="10" name="Text 6"/>
          <p:cNvSpPr/>
          <p:nvPr/>
        </p:nvSpPr>
        <p:spPr>
          <a:xfrm>
            <a:off x="3438144" y="2218944"/>
            <a:ext cx="1036320" cy="426720"/>
          </a:xfrm>
          <a:prstGeom prst="rect">
            <a:avLst/>
          </a:prstGeom>
          <a:noFill/>
          <a:ln/>
        </p:spPr>
        <p:txBody>
          <a:bodyPr wrap="square" lIns="0" tIns="0" rIns="0" bIns="0" rtlCol="0" anchor="ctr"/>
          <a:lstStyle/>
          <a:p>
            <a:r>
              <a:rPr lang="en-US" sz="1600" b="1" dirty="0">
                <a:solidFill>
                  <a:srgbClr val="1A1D3A"/>
                </a:solidFill>
                <a:latin typeface="Calibri" pitchFamily="34" charset="0"/>
                <a:ea typeface="Calibri" pitchFamily="34" charset="-122"/>
                <a:cs typeface="Calibri" pitchFamily="34" charset="-120"/>
              </a:rPr>
              <a:t>Fabric</a:t>
            </a:r>
            <a:endParaRPr lang="en-US" sz="1600" dirty="0"/>
          </a:p>
        </p:txBody>
      </p:sp>
      <p:sp>
        <p:nvSpPr>
          <p:cNvPr id="11" name="Text 7"/>
          <p:cNvSpPr/>
          <p:nvPr/>
        </p:nvSpPr>
        <p:spPr>
          <a:xfrm>
            <a:off x="3438144" y="2657856"/>
            <a:ext cx="1036320" cy="365760"/>
          </a:xfrm>
          <a:prstGeom prst="rect">
            <a:avLst/>
          </a:prstGeom>
          <a:noFill/>
          <a:ln/>
        </p:spPr>
        <p:txBody>
          <a:bodyPr wrap="square" lIns="0" tIns="0" rIns="0" bIns="0" rtlCol="0" anchor="ctr"/>
          <a:lstStyle/>
          <a:p>
            <a:r>
              <a:rPr lang="en-US" sz="1400" i="1" dirty="0">
                <a:solidFill>
                  <a:srgbClr val="64748B"/>
                </a:solidFill>
                <a:latin typeface="Calibri" pitchFamily="34" charset="0"/>
                <a:ea typeface="Calibri" pitchFamily="34" charset="-122"/>
                <a:cs typeface="Calibri" pitchFamily="34" charset="-120"/>
              </a:rPr>
              <a:t>Lakehouse</a:t>
            </a:r>
            <a:endParaRPr lang="en-US" sz="1267" dirty="0"/>
          </a:p>
        </p:txBody>
      </p:sp>
      <p:sp>
        <p:nvSpPr>
          <p:cNvPr id="12" name="Shape 8"/>
          <p:cNvSpPr/>
          <p:nvPr/>
        </p:nvSpPr>
        <p:spPr>
          <a:xfrm>
            <a:off x="4681728" y="2072640"/>
            <a:ext cx="1889760" cy="1097280"/>
          </a:xfrm>
          <a:prstGeom prst="rect">
            <a:avLst/>
          </a:prstGeom>
          <a:solidFill>
            <a:srgbClr val="FFFFFF"/>
          </a:solidFill>
          <a:ln w="19050">
            <a:solidFill>
              <a:srgbClr val="0D9488"/>
            </a:solidFill>
            <a:prstDash val="solid"/>
          </a:ln>
        </p:spPr>
        <p:txBody>
          <a:bodyPr/>
          <a:lstStyle/>
          <a:p>
            <a:endParaRPr lang="en-US" sz="2400"/>
          </a:p>
        </p:txBody>
      </p:sp>
      <p:pic>
        <p:nvPicPr>
          <p:cNvPr id="13" name="Image 2" descr="preencoded.png"/>
          <p:cNvPicPr>
            <a:picLocks noChangeAspect="1"/>
          </p:cNvPicPr>
          <p:nvPr/>
        </p:nvPicPr>
        <p:blipFill>
          <a:blip r:embed="rId5"/>
          <a:stretch>
            <a:fillRect/>
          </a:stretch>
        </p:blipFill>
        <p:spPr>
          <a:xfrm>
            <a:off x="4803648" y="2316480"/>
            <a:ext cx="609600" cy="609600"/>
          </a:xfrm>
          <a:prstGeom prst="rect">
            <a:avLst/>
          </a:prstGeom>
        </p:spPr>
      </p:pic>
      <p:sp>
        <p:nvSpPr>
          <p:cNvPr id="14" name="Text 9"/>
          <p:cNvSpPr/>
          <p:nvPr/>
        </p:nvSpPr>
        <p:spPr>
          <a:xfrm>
            <a:off x="5474208" y="2218944"/>
            <a:ext cx="1036320" cy="426720"/>
          </a:xfrm>
          <a:prstGeom prst="rect">
            <a:avLst/>
          </a:prstGeom>
          <a:noFill/>
          <a:ln/>
        </p:spPr>
        <p:txBody>
          <a:bodyPr wrap="square" lIns="0" tIns="0" rIns="0" bIns="0" rtlCol="0" anchor="ctr"/>
          <a:lstStyle/>
          <a:p>
            <a:r>
              <a:rPr lang="en-US" sz="1600" b="1" dirty="0">
                <a:solidFill>
                  <a:srgbClr val="1A1D3A"/>
                </a:solidFill>
                <a:latin typeface="Calibri" pitchFamily="34" charset="0"/>
                <a:ea typeface="Calibri" pitchFamily="34" charset="-122"/>
                <a:cs typeface="Calibri" pitchFamily="34" charset="-120"/>
              </a:rPr>
              <a:t>Snowflake</a:t>
            </a:r>
            <a:endParaRPr lang="en-US" sz="1600" dirty="0"/>
          </a:p>
        </p:txBody>
      </p:sp>
      <p:sp>
        <p:nvSpPr>
          <p:cNvPr id="15" name="Text 10"/>
          <p:cNvSpPr/>
          <p:nvPr/>
        </p:nvSpPr>
        <p:spPr>
          <a:xfrm>
            <a:off x="5474208" y="2657856"/>
            <a:ext cx="1036320" cy="365760"/>
          </a:xfrm>
          <a:prstGeom prst="rect">
            <a:avLst/>
          </a:prstGeom>
          <a:noFill/>
          <a:ln/>
        </p:spPr>
        <p:txBody>
          <a:bodyPr wrap="square" lIns="0" tIns="0" rIns="0" bIns="0" rtlCol="0" anchor="ctr"/>
          <a:lstStyle/>
          <a:p>
            <a:r>
              <a:rPr lang="en-US" sz="1400" i="1" dirty="0">
                <a:solidFill>
                  <a:srgbClr val="64748B"/>
                </a:solidFill>
                <a:latin typeface="Calibri" pitchFamily="34" charset="0"/>
                <a:ea typeface="Calibri" pitchFamily="34" charset="-122"/>
                <a:cs typeface="Calibri" pitchFamily="34" charset="-120"/>
              </a:rPr>
              <a:t>Analytics</a:t>
            </a:r>
            <a:endParaRPr lang="en-US" sz="1267" dirty="0"/>
          </a:p>
        </p:txBody>
      </p:sp>
      <p:sp>
        <p:nvSpPr>
          <p:cNvPr id="16" name="Shape 11"/>
          <p:cNvSpPr/>
          <p:nvPr/>
        </p:nvSpPr>
        <p:spPr>
          <a:xfrm rot="5400000">
            <a:off x="6766560" y="2316480"/>
            <a:ext cx="548640" cy="609600"/>
          </a:xfrm>
          <a:prstGeom prst="rtTriangle">
            <a:avLst/>
          </a:prstGeom>
          <a:solidFill>
            <a:srgbClr val="8B5CF6"/>
          </a:solidFill>
          <a:ln w="12700">
            <a:solidFill>
              <a:srgbClr val="8B5CF6"/>
            </a:solidFill>
            <a:prstDash val="solid"/>
          </a:ln>
        </p:spPr>
        <p:txBody>
          <a:bodyPr/>
          <a:lstStyle/>
          <a:p>
            <a:endParaRPr lang="en-US" sz="2400"/>
          </a:p>
        </p:txBody>
      </p:sp>
      <p:sp>
        <p:nvSpPr>
          <p:cNvPr id="17" name="Shape 12"/>
          <p:cNvSpPr/>
          <p:nvPr/>
        </p:nvSpPr>
        <p:spPr>
          <a:xfrm>
            <a:off x="7559040" y="1889760"/>
            <a:ext cx="4023360" cy="1524000"/>
          </a:xfrm>
          <a:prstGeom prst="rect">
            <a:avLst/>
          </a:prstGeom>
          <a:solidFill>
            <a:srgbClr val="1E2761"/>
          </a:solidFill>
          <a:ln w="12700">
            <a:solidFill>
              <a:srgbClr val="1E2761"/>
            </a:solidFill>
            <a:prstDash val="solid"/>
          </a:ln>
          <a:effectLst>
            <a:outerShdw blurRad="127000" dist="25400" dir="5400000" algn="bl" rotWithShape="0">
              <a:srgbClr val="000000">
                <a:alpha val="8000"/>
              </a:srgbClr>
            </a:outerShdw>
          </a:effectLst>
        </p:spPr>
        <p:txBody>
          <a:bodyPr/>
          <a:lstStyle/>
          <a:p>
            <a:endParaRPr lang="en-US" sz="2400"/>
          </a:p>
        </p:txBody>
      </p:sp>
      <p:pic>
        <p:nvPicPr>
          <p:cNvPr id="18" name="Image 3" descr="preencoded.png"/>
          <p:cNvPicPr>
            <a:picLocks noChangeAspect="1"/>
          </p:cNvPicPr>
          <p:nvPr/>
        </p:nvPicPr>
        <p:blipFill>
          <a:blip r:embed="rId6"/>
          <a:stretch>
            <a:fillRect/>
          </a:stretch>
        </p:blipFill>
        <p:spPr>
          <a:xfrm>
            <a:off x="7863840" y="2316480"/>
            <a:ext cx="670560" cy="670560"/>
          </a:xfrm>
          <a:prstGeom prst="rect">
            <a:avLst/>
          </a:prstGeom>
        </p:spPr>
      </p:pic>
      <p:sp>
        <p:nvSpPr>
          <p:cNvPr id="19" name="Text 13"/>
          <p:cNvSpPr/>
          <p:nvPr/>
        </p:nvSpPr>
        <p:spPr>
          <a:xfrm>
            <a:off x="8717280" y="2133600"/>
            <a:ext cx="2804160" cy="487680"/>
          </a:xfrm>
          <a:prstGeom prst="rect">
            <a:avLst/>
          </a:prstGeom>
          <a:noFill/>
          <a:ln/>
        </p:spPr>
        <p:txBody>
          <a:bodyPr wrap="square" lIns="0" tIns="0" rIns="0" bIns="0" rtlCol="0" anchor="ctr"/>
          <a:lstStyle/>
          <a:p>
            <a:r>
              <a:rPr lang="en-US" sz="2133" b="1" dirty="0">
                <a:solidFill>
                  <a:srgbClr val="FFFFFF"/>
                </a:solidFill>
                <a:latin typeface="Georgia" pitchFamily="34" charset="0"/>
                <a:ea typeface="Georgia" pitchFamily="34" charset="-122"/>
                <a:cs typeface="Georgia" pitchFamily="34" charset="-120"/>
              </a:rPr>
              <a:t>Purview</a:t>
            </a:r>
            <a:endParaRPr lang="en-US" sz="2133" dirty="0"/>
          </a:p>
        </p:txBody>
      </p:sp>
      <p:sp>
        <p:nvSpPr>
          <p:cNvPr id="20" name="Text 14"/>
          <p:cNvSpPr/>
          <p:nvPr/>
        </p:nvSpPr>
        <p:spPr>
          <a:xfrm>
            <a:off x="8717280" y="2621280"/>
            <a:ext cx="2804160" cy="426720"/>
          </a:xfrm>
          <a:prstGeom prst="rect">
            <a:avLst/>
          </a:prstGeom>
          <a:noFill/>
          <a:ln/>
        </p:spPr>
        <p:txBody>
          <a:bodyPr wrap="square" lIns="0" tIns="0" rIns="0" bIns="0" rtlCol="0" anchor="ctr"/>
          <a:lstStyle/>
          <a:p>
            <a:r>
              <a:rPr lang="en-US" sz="1467" i="1" dirty="0">
                <a:solidFill>
                  <a:srgbClr val="CADCFC"/>
                </a:solidFill>
                <a:latin typeface="Calibri" pitchFamily="34" charset="0"/>
                <a:ea typeface="Calibri" pitchFamily="34" charset="-122"/>
                <a:cs typeface="Calibri" pitchFamily="34" charset="-120"/>
              </a:rPr>
              <a:t>Unified Catalog + Data Map</a:t>
            </a:r>
            <a:endParaRPr lang="en-US" sz="1467" dirty="0"/>
          </a:p>
        </p:txBody>
      </p:sp>
      <p:sp>
        <p:nvSpPr>
          <p:cNvPr id="21" name="Shape 15"/>
          <p:cNvSpPr/>
          <p:nvPr/>
        </p:nvSpPr>
        <p:spPr>
          <a:xfrm>
            <a:off x="609600" y="3779520"/>
            <a:ext cx="2048256" cy="1463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2" name="Shape 16"/>
          <p:cNvSpPr/>
          <p:nvPr/>
        </p:nvSpPr>
        <p:spPr>
          <a:xfrm>
            <a:off x="609600" y="3779520"/>
            <a:ext cx="2048256" cy="97536"/>
          </a:xfrm>
          <a:prstGeom prst="rect">
            <a:avLst/>
          </a:prstGeom>
          <a:solidFill>
            <a:srgbClr val="2B4EC7"/>
          </a:solidFill>
          <a:ln w="12700">
            <a:solidFill>
              <a:srgbClr val="2B4EC7"/>
            </a:solidFill>
            <a:prstDash val="solid"/>
          </a:ln>
        </p:spPr>
        <p:txBody>
          <a:bodyPr/>
          <a:lstStyle/>
          <a:p>
            <a:endParaRPr lang="en-US" sz="2400"/>
          </a:p>
        </p:txBody>
      </p:sp>
      <p:pic>
        <p:nvPicPr>
          <p:cNvPr id="23" name="Image 4" descr="preencoded.png"/>
          <p:cNvPicPr>
            <a:picLocks noChangeAspect="1"/>
          </p:cNvPicPr>
          <p:nvPr/>
        </p:nvPicPr>
        <p:blipFill>
          <a:blip r:embed="rId7"/>
          <a:stretch>
            <a:fillRect/>
          </a:stretch>
        </p:blipFill>
        <p:spPr>
          <a:xfrm>
            <a:off x="1377696" y="4047744"/>
            <a:ext cx="512064" cy="512064"/>
          </a:xfrm>
          <a:prstGeom prst="rect">
            <a:avLst/>
          </a:prstGeom>
        </p:spPr>
      </p:pic>
      <p:sp>
        <p:nvSpPr>
          <p:cNvPr id="24" name="Text 17"/>
          <p:cNvSpPr/>
          <p:nvPr/>
        </p:nvSpPr>
        <p:spPr>
          <a:xfrm>
            <a:off x="731520" y="4632960"/>
            <a:ext cx="1804416" cy="365760"/>
          </a:xfrm>
          <a:prstGeom prst="rect">
            <a:avLst/>
          </a:prstGeom>
          <a:noFill/>
          <a:ln/>
        </p:spPr>
        <p:txBody>
          <a:bodyPr wrap="square" lIns="0" tIns="0" rIns="0" bIns="0" rtlCol="0" anchor="ctr"/>
          <a:lstStyle/>
          <a:p>
            <a:pPr algn="ctr"/>
            <a:r>
              <a:rPr lang="en-US" sz="1733" b="1" dirty="0">
                <a:solidFill>
                  <a:srgbClr val="1A1D3A"/>
                </a:solidFill>
                <a:latin typeface="Calibri" pitchFamily="34" charset="0"/>
                <a:ea typeface="Calibri" pitchFamily="34" charset="-122"/>
                <a:cs typeface="Calibri" pitchFamily="34" charset="-120"/>
              </a:rPr>
              <a:t>Scan</a:t>
            </a:r>
            <a:endParaRPr lang="en-US" sz="1733" dirty="0"/>
          </a:p>
        </p:txBody>
      </p:sp>
      <p:sp>
        <p:nvSpPr>
          <p:cNvPr id="25" name="Text 18"/>
          <p:cNvSpPr/>
          <p:nvPr/>
        </p:nvSpPr>
        <p:spPr>
          <a:xfrm>
            <a:off x="731520" y="4937760"/>
            <a:ext cx="1804416" cy="268224"/>
          </a:xfrm>
          <a:prstGeom prst="rect">
            <a:avLst/>
          </a:prstGeom>
          <a:noFill/>
          <a:ln/>
        </p:spPr>
        <p:txBody>
          <a:bodyPr wrap="square" lIns="0" tIns="0" rIns="0" bIns="0" rtlCol="0" anchor="ctr"/>
          <a:lstStyle/>
          <a:p>
            <a:pPr algn="ctr"/>
            <a:r>
              <a:rPr lang="en-US" sz="1400" i="1" dirty="0">
                <a:solidFill>
                  <a:srgbClr val="64748B"/>
                </a:solidFill>
                <a:latin typeface="Calibri" pitchFamily="34" charset="0"/>
                <a:ea typeface="Calibri" pitchFamily="34" charset="-122"/>
                <a:cs typeface="Calibri" pitchFamily="34" charset="-120"/>
              </a:rPr>
              <a:t>Rule set: PII+PHI</a:t>
            </a:r>
            <a:endParaRPr lang="en-US" sz="1267" dirty="0"/>
          </a:p>
        </p:txBody>
      </p:sp>
      <p:sp>
        <p:nvSpPr>
          <p:cNvPr id="26" name="Shape 19"/>
          <p:cNvSpPr/>
          <p:nvPr/>
        </p:nvSpPr>
        <p:spPr>
          <a:xfrm>
            <a:off x="2840736" y="3779520"/>
            <a:ext cx="2048256" cy="1463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7" name="Shape 20"/>
          <p:cNvSpPr/>
          <p:nvPr/>
        </p:nvSpPr>
        <p:spPr>
          <a:xfrm>
            <a:off x="2840736" y="3779520"/>
            <a:ext cx="2048256" cy="97536"/>
          </a:xfrm>
          <a:prstGeom prst="rect">
            <a:avLst/>
          </a:prstGeom>
          <a:solidFill>
            <a:srgbClr val="8B5CF6"/>
          </a:solidFill>
          <a:ln w="12700">
            <a:solidFill>
              <a:srgbClr val="8B5CF6"/>
            </a:solidFill>
            <a:prstDash val="solid"/>
          </a:ln>
        </p:spPr>
        <p:txBody>
          <a:bodyPr/>
          <a:lstStyle/>
          <a:p>
            <a:endParaRPr lang="en-US" sz="2400"/>
          </a:p>
        </p:txBody>
      </p:sp>
      <p:pic>
        <p:nvPicPr>
          <p:cNvPr id="28" name="Image 5" descr="preencoded.png"/>
          <p:cNvPicPr>
            <a:picLocks noChangeAspect="1"/>
          </p:cNvPicPr>
          <p:nvPr/>
        </p:nvPicPr>
        <p:blipFill>
          <a:blip r:embed="rId8"/>
          <a:stretch>
            <a:fillRect/>
          </a:stretch>
        </p:blipFill>
        <p:spPr>
          <a:xfrm>
            <a:off x="3608832" y="4047744"/>
            <a:ext cx="512064" cy="512064"/>
          </a:xfrm>
          <a:prstGeom prst="rect">
            <a:avLst/>
          </a:prstGeom>
        </p:spPr>
      </p:pic>
      <p:sp>
        <p:nvSpPr>
          <p:cNvPr id="29" name="Text 21"/>
          <p:cNvSpPr/>
          <p:nvPr/>
        </p:nvSpPr>
        <p:spPr>
          <a:xfrm>
            <a:off x="2962656" y="4632960"/>
            <a:ext cx="1804416" cy="365760"/>
          </a:xfrm>
          <a:prstGeom prst="rect">
            <a:avLst/>
          </a:prstGeom>
          <a:noFill/>
          <a:ln/>
        </p:spPr>
        <p:txBody>
          <a:bodyPr wrap="square" lIns="0" tIns="0" rIns="0" bIns="0" rtlCol="0" anchor="ctr"/>
          <a:lstStyle/>
          <a:p>
            <a:pPr algn="ctr"/>
            <a:r>
              <a:rPr lang="en-US" sz="1733" b="1" dirty="0">
                <a:solidFill>
                  <a:srgbClr val="1A1D3A"/>
                </a:solidFill>
                <a:latin typeface="Calibri" pitchFamily="34" charset="0"/>
                <a:ea typeface="Calibri" pitchFamily="34" charset="-122"/>
                <a:cs typeface="Calibri" pitchFamily="34" charset="-120"/>
              </a:rPr>
              <a:t>Classify</a:t>
            </a:r>
            <a:endParaRPr lang="en-US" sz="1733" dirty="0"/>
          </a:p>
        </p:txBody>
      </p:sp>
      <p:sp>
        <p:nvSpPr>
          <p:cNvPr id="30" name="Text 22"/>
          <p:cNvSpPr/>
          <p:nvPr/>
        </p:nvSpPr>
        <p:spPr>
          <a:xfrm>
            <a:off x="2962656" y="4937760"/>
            <a:ext cx="1804416" cy="268224"/>
          </a:xfrm>
          <a:prstGeom prst="rect">
            <a:avLst/>
          </a:prstGeom>
          <a:noFill/>
          <a:ln/>
        </p:spPr>
        <p:txBody>
          <a:bodyPr wrap="square" lIns="0" tIns="0" rIns="0" bIns="0" rtlCol="0" anchor="ctr"/>
          <a:lstStyle/>
          <a:p>
            <a:pPr algn="ctr"/>
            <a:r>
              <a:rPr lang="en-US" sz="1400" i="1" dirty="0">
                <a:solidFill>
                  <a:srgbClr val="64748B"/>
                </a:solidFill>
                <a:latin typeface="Calibri" pitchFamily="34" charset="0"/>
                <a:ea typeface="Calibri" pitchFamily="34" charset="-122"/>
                <a:cs typeface="Calibri" pitchFamily="34" charset="-120"/>
              </a:rPr>
              <a:t>Column-level SITs</a:t>
            </a:r>
            <a:endParaRPr lang="en-US" sz="1267" dirty="0"/>
          </a:p>
        </p:txBody>
      </p:sp>
      <p:sp>
        <p:nvSpPr>
          <p:cNvPr id="31" name="Shape 23"/>
          <p:cNvSpPr/>
          <p:nvPr/>
        </p:nvSpPr>
        <p:spPr>
          <a:xfrm>
            <a:off x="5071872" y="3779520"/>
            <a:ext cx="2048256" cy="1463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2" name="Shape 24"/>
          <p:cNvSpPr/>
          <p:nvPr/>
        </p:nvSpPr>
        <p:spPr>
          <a:xfrm>
            <a:off x="5071872" y="3779520"/>
            <a:ext cx="2048256" cy="97536"/>
          </a:xfrm>
          <a:prstGeom prst="rect">
            <a:avLst/>
          </a:prstGeom>
          <a:solidFill>
            <a:srgbClr val="0D9488"/>
          </a:solidFill>
          <a:ln w="12700">
            <a:solidFill>
              <a:srgbClr val="0D9488"/>
            </a:solidFill>
            <a:prstDash val="solid"/>
          </a:ln>
        </p:spPr>
        <p:txBody>
          <a:bodyPr/>
          <a:lstStyle/>
          <a:p>
            <a:endParaRPr lang="en-US" sz="2400"/>
          </a:p>
        </p:txBody>
      </p:sp>
      <p:pic>
        <p:nvPicPr>
          <p:cNvPr id="33" name="Image 6" descr="preencoded.png"/>
          <p:cNvPicPr>
            <a:picLocks noChangeAspect="1"/>
          </p:cNvPicPr>
          <p:nvPr/>
        </p:nvPicPr>
        <p:blipFill>
          <a:blip r:embed="rId9"/>
          <a:stretch>
            <a:fillRect/>
          </a:stretch>
        </p:blipFill>
        <p:spPr>
          <a:xfrm>
            <a:off x="5839968" y="4047744"/>
            <a:ext cx="512064" cy="512064"/>
          </a:xfrm>
          <a:prstGeom prst="rect">
            <a:avLst/>
          </a:prstGeom>
        </p:spPr>
      </p:pic>
      <p:sp>
        <p:nvSpPr>
          <p:cNvPr id="34" name="Text 25"/>
          <p:cNvSpPr/>
          <p:nvPr/>
        </p:nvSpPr>
        <p:spPr>
          <a:xfrm>
            <a:off x="5193792" y="4632960"/>
            <a:ext cx="1804416" cy="365760"/>
          </a:xfrm>
          <a:prstGeom prst="rect">
            <a:avLst/>
          </a:prstGeom>
          <a:noFill/>
          <a:ln/>
        </p:spPr>
        <p:txBody>
          <a:bodyPr wrap="square" lIns="0" tIns="0" rIns="0" bIns="0" rtlCol="0" anchor="ctr"/>
          <a:lstStyle/>
          <a:p>
            <a:pPr algn="ctr"/>
            <a:r>
              <a:rPr lang="en-US" sz="1733" b="1" dirty="0">
                <a:solidFill>
                  <a:srgbClr val="1A1D3A"/>
                </a:solidFill>
                <a:latin typeface="Calibri" pitchFamily="34" charset="0"/>
                <a:ea typeface="Calibri" pitchFamily="34" charset="-122"/>
                <a:cs typeface="Calibri" pitchFamily="34" charset="-120"/>
              </a:rPr>
              <a:t>Label</a:t>
            </a:r>
            <a:endParaRPr lang="en-US" sz="1733" dirty="0"/>
          </a:p>
        </p:txBody>
      </p:sp>
      <p:sp>
        <p:nvSpPr>
          <p:cNvPr id="35" name="Text 26"/>
          <p:cNvSpPr/>
          <p:nvPr/>
        </p:nvSpPr>
        <p:spPr>
          <a:xfrm>
            <a:off x="5193792" y="4937760"/>
            <a:ext cx="1804416" cy="268224"/>
          </a:xfrm>
          <a:prstGeom prst="rect">
            <a:avLst/>
          </a:prstGeom>
          <a:noFill/>
          <a:ln/>
        </p:spPr>
        <p:txBody>
          <a:bodyPr wrap="square" lIns="0" tIns="0" rIns="0" bIns="0" rtlCol="0" anchor="ctr"/>
          <a:lstStyle/>
          <a:p>
            <a:pPr algn="ctr"/>
            <a:r>
              <a:rPr lang="en-US" sz="1400" i="1" dirty="0">
                <a:solidFill>
                  <a:srgbClr val="64748B"/>
                </a:solidFill>
                <a:latin typeface="Calibri" pitchFamily="34" charset="0"/>
                <a:ea typeface="Calibri" pitchFamily="34" charset="-122"/>
                <a:cs typeface="Calibri" pitchFamily="34" charset="-120"/>
              </a:rPr>
              <a:t>Confidential — PHI</a:t>
            </a:r>
            <a:endParaRPr lang="en-US" sz="1267" dirty="0"/>
          </a:p>
        </p:txBody>
      </p:sp>
      <p:sp>
        <p:nvSpPr>
          <p:cNvPr id="36" name="Shape 27"/>
          <p:cNvSpPr/>
          <p:nvPr/>
        </p:nvSpPr>
        <p:spPr>
          <a:xfrm>
            <a:off x="7303008" y="3779520"/>
            <a:ext cx="2048256" cy="1463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7" name="Shape 28"/>
          <p:cNvSpPr/>
          <p:nvPr/>
        </p:nvSpPr>
        <p:spPr>
          <a:xfrm>
            <a:off x="7303008" y="3779520"/>
            <a:ext cx="2048256" cy="97536"/>
          </a:xfrm>
          <a:prstGeom prst="rect">
            <a:avLst/>
          </a:prstGeom>
          <a:solidFill>
            <a:srgbClr val="F59E0B"/>
          </a:solidFill>
          <a:ln w="12700">
            <a:solidFill>
              <a:srgbClr val="F59E0B"/>
            </a:solidFill>
            <a:prstDash val="solid"/>
          </a:ln>
        </p:spPr>
        <p:txBody>
          <a:bodyPr/>
          <a:lstStyle/>
          <a:p>
            <a:endParaRPr lang="en-US" sz="2400"/>
          </a:p>
        </p:txBody>
      </p:sp>
      <p:pic>
        <p:nvPicPr>
          <p:cNvPr id="38" name="Image 7" descr="preencoded.png"/>
          <p:cNvPicPr>
            <a:picLocks noChangeAspect="1"/>
          </p:cNvPicPr>
          <p:nvPr/>
        </p:nvPicPr>
        <p:blipFill>
          <a:blip r:embed="rId10"/>
          <a:stretch>
            <a:fillRect/>
          </a:stretch>
        </p:blipFill>
        <p:spPr>
          <a:xfrm>
            <a:off x="8071104" y="4047744"/>
            <a:ext cx="512064" cy="512064"/>
          </a:xfrm>
          <a:prstGeom prst="rect">
            <a:avLst/>
          </a:prstGeom>
        </p:spPr>
      </p:pic>
      <p:sp>
        <p:nvSpPr>
          <p:cNvPr id="39" name="Text 29"/>
          <p:cNvSpPr/>
          <p:nvPr/>
        </p:nvSpPr>
        <p:spPr>
          <a:xfrm>
            <a:off x="7424928" y="4632960"/>
            <a:ext cx="1804416" cy="365760"/>
          </a:xfrm>
          <a:prstGeom prst="rect">
            <a:avLst/>
          </a:prstGeom>
          <a:noFill/>
          <a:ln/>
        </p:spPr>
        <p:txBody>
          <a:bodyPr wrap="square" lIns="0" tIns="0" rIns="0" bIns="0" rtlCol="0" anchor="ctr"/>
          <a:lstStyle/>
          <a:p>
            <a:pPr algn="ctr"/>
            <a:r>
              <a:rPr lang="en-US" sz="1733" b="1" dirty="0">
                <a:solidFill>
                  <a:srgbClr val="1A1D3A"/>
                </a:solidFill>
                <a:latin typeface="Calibri" pitchFamily="34" charset="0"/>
                <a:ea typeface="Calibri" pitchFamily="34" charset="-122"/>
                <a:cs typeface="Calibri" pitchFamily="34" charset="-120"/>
              </a:rPr>
              <a:t>Lineage</a:t>
            </a:r>
            <a:endParaRPr lang="en-US" sz="1733" dirty="0"/>
          </a:p>
        </p:txBody>
      </p:sp>
      <p:sp>
        <p:nvSpPr>
          <p:cNvPr id="40" name="Text 30"/>
          <p:cNvSpPr/>
          <p:nvPr/>
        </p:nvSpPr>
        <p:spPr>
          <a:xfrm>
            <a:off x="7424928" y="4937760"/>
            <a:ext cx="1804416" cy="268224"/>
          </a:xfrm>
          <a:prstGeom prst="rect">
            <a:avLst/>
          </a:prstGeom>
          <a:noFill/>
          <a:ln/>
        </p:spPr>
        <p:txBody>
          <a:bodyPr wrap="square" lIns="0" tIns="0" rIns="0" bIns="0" rtlCol="0" anchor="ctr"/>
          <a:lstStyle/>
          <a:p>
            <a:pPr algn="ctr"/>
            <a:r>
              <a:rPr lang="en-US" sz="1400" i="1" dirty="0">
                <a:solidFill>
                  <a:srgbClr val="64748B"/>
                </a:solidFill>
                <a:latin typeface="Calibri" pitchFamily="34" charset="0"/>
                <a:ea typeface="Calibri" pitchFamily="34" charset="-122"/>
                <a:cs typeface="Calibri" pitchFamily="34" charset="-120"/>
              </a:rPr>
              <a:t>Propagate downstream</a:t>
            </a:r>
            <a:endParaRPr lang="en-US" sz="1267" dirty="0"/>
          </a:p>
        </p:txBody>
      </p:sp>
      <p:sp>
        <p:nvSpPr>
          <p:cNvPr id="41" name="Shape 31"/>
          <p:cNvSpPr/>
          <p:nvPr/>
        </p:nvSpPr>
        <p:spPr>
          <a:xfrm>
            <a:off x="9534144" y="3779520"/>
            <a:ext cx="2048256" cy="14630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42" name="Shape 32"/>
          <p:cNvSpPr/>
          <p:nvPr/>
        </p:nvSpPr>
        <p:spPr>
          <a:xfrm>
            <a:off x="9534144" y="3779520"/>
            <a:ext cx="2048256" cy="97536"/>
          </a:xfrm>
          <a:prstGeom prst="rect">
            <a:avLst/>
          </a:prstGeom>
          <a:solidFill>
            <a:srgbClr val="EC4899"/>
          </a:solidFill>
          <a:ln w="12700">
            <a:solidFill>
              <a:srgbClr val="EC4899"/>
            </a:solidFill>
            <a:prstDash val="solid"/>
          </a:ln>
        </p:spPr>
        <p:txBody>
          <a:bodyPr/>
          <a:lstStyle/>
          <a:p>
            <a:endParaRPr lang="en-US" sz="2400"/>
          </a:p>
        </p:txBody>
      </p:sp>
      <p:pic>
        <p:nvPicPr>
          <p:cNvPr id="43" name="Image 8" descr="preencoded.png"/>
          <p:cNvPicPr>
            <a:picLocks noChangeAspect="1"/>
          </p:cNvPicPr>
          <p:nvPr/>
        </p:nvPicPr>
        <p:blipFill>
          <a:blip r:embed="rId11"/>
          <a:stretch>
            <a:fillRect/>
          </a:stretch>
        </p:blipFill>
        <p:spPr>
          <a:xfrm>
            <a:off x="10302240" y="4047744"/>
            <a:ext cx="512064" cy="512064"/>
          </a:xfrm>
          <a:prstGeom prst="rect">
            <a:avLst/>
          </a:prstGeom>
        </p:spPr>
      </p:pic>
      <p:sp>
        <p:nvSpPr>
          <p:cNvPr id="44" name="Text 33"/>
          <p:cNvSpPr/>
          <p:nvPr/>
        </p:nvSpPr>
        <p:spPr>
          <a:xfrm>
            <a:off x="9656064" y="4632960"/>
            <a:ext cx="1804416" cy="365760"/>
          </a:xfrm>
          <a:prstGeom prst="rect">
            <a:avLst/>
          </a:prstGeom>
          <a:noFill/>
          <a:ln/>
        </p:spPr>
        <p:txBody>
          <a:bodyPr wrap="square" lIns="0" tIns="0" rIns="0" bIns="0" rtlCol="0" anchor="ctr"/>
          <a:lstStyle/>
          <a:p>
            <a:pPr algn="ctr"/>
            <a:r>
              <a:rPr lang="en-US" sz="1733" b="1" dirty="0">
                <a:solidFill>
                  <a:srgbClr val="1A1D3A"/>
                </a:solidFill>
                <a:latin typeface="Calibri" pitchFamily="34" charset="0"/>
                <a:ea typeface="Calibri" pitchFamily="34" charset="-122"/>
                <a:cs typeface="Calibri" pitchFamily="34" charset="-120"/>
              </a:rPr>
              <a:t>Protect</a:t>
            </a:r>
            <a:endParaRPr lang="en-US" sz="1733" dirty="0"/>
          </a:p>
        </p:txBody>
      </p:sp>
      <p:sp>
        <p:nvSpPr>
          <p:cNvPr id="45" name="Text 34"/>
          <p:cNvSpPr/>
          <p:nvPr/>
        </p:nvSpPr>
        <p:spPr>
          <a:xfrm>
            <a:off x="9656064" y="4937760"/>
            <a:ext cx="1804416" cy="268224"/>
          </a:xfrm>
          <a:prstGeom prst="rect">
            <a:avLst/>
          </a:prstGeom>
          <a:noFill/>
          <a:ln/>
        </p:spPr>
        <p:txBody>
          <a:bodyPr wrap="square" lIns="0" tIns="0" rIns="0" bIns="0" rtlCol="0" anchor="ctr"/>
          <a:lstStyle/>
          <a:p>
            <a:pPr algn="ctr"/>
            <a:r>
              <a:rPr lang="en-US" sz="1400" i="1" dirty="0">
                <a:solidFill>
                  <a:srgbClr val="64748B"/>
                </a:solidFill>
                <a:latin typeface="Calibri" pitchFamily="34" charset="0"/>
                <a:ea typeface="Calibri" pitchFamily="34" charset="-122"/>
                <a:cs typeface="Calibri" pitchFamily="34" charset="-120"/>
              </a:rPr>
              <a:t>DLP + access policies</a:t>
            </a:r>
            <a:endParaRPr lang="en-US" sz="1267" dirty="0"/>
          </a:p>
        </p:txBody>
      </p:sp>
      <p:sp>
        <p:nvSpPr>
          <p:cNvPr id="46" name="Shape 35"/>
          <p:cNvSpPr/>
          <p:nvPr/>
        </p:nvSpPr>
        <p:spPr>
          <a:xfrm>
            <a:off x="609600" y="5547360"/>
            <a:ext cx="10972800" cy="670560"/>
          </a:xfrm>
          <a:prstGeom prst="rect">
            <a:avLst/>
          </a:prstGeom>
          <a:solidFill>
            <a:srgbClr val="1E2761"/>
          </a:solidFill>
          <a:ln w="12700">
            <a:solidFill>
              <a:srgbClr val="1E2761"/>
            </a:solidFill>
            <a:prstDash val="solid"/>
          </a:ln>
        </p:spPr>
        <p:txBody>
          <a:bodyPr/>
          <a:lstStyle/>
          <a:p>
            <a:endParaRPr lang="en-US" sz="2400"/>
          </a:p>
        </p:txBody>
      </p:sp>
      <p:sp>
        <p:nvSpPr>
          <p:cNvPr id="47" name="Text 36"/>
          <p:cNvSpPr/>
          <p:nvPr/>
        </p:nvSpPr>
        <p:spPr>
          <a:xfrm>
            <a:off x="609600" y="5583936"/>
            <a:ext cx="10972800" cy="609600"/>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Consumers: Data Stewards  •  Analysts  •  DLP Engine  •  Purview Policies  •  Copilot for Security</a:t>
            </a:r>
            <a:endParaRPr lang="en-US" sz="1600" dirty="0"/>
          </a:p>
        </p:txBody>
      </p:sp>
      <p:sp>
        <p:nvSpPr>
          <p:cNvPr id="48" name="Shape 37"/>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9" name="Text 38"/>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50" name="Text 39"/>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3 / 9</a:t>
            </a:r>
            <a:endParaRPr lang="en-US" sz="1200" dirty="0"/>
          </a:p>
        </p:txBody>
      </p:sp>
      <p:sp>
        <p:nvSpPr>
          <p:cNvPr id="51" name="Hidden Title 51" descr="Slide title: Demo Architecture"/>
          <p:cNvSpPr>
            <a:spLocks noGrp="1"/>
          </p:cNvSpPr>
          <p:nvPr>
            <p:ph type="title"/>
          </p:nvPr>
        </p:nvSpPr>
        <p:spPr>
          <a:xfrm>
            <a:off x="0" y="-457200"/>
            <a:ext cx="9144000" cy="457200"/>
          </a:xfrm>
        </p:spPr>
        <p:txBody>
          <a:bodyPr/>
          <a:lstStyle/>
          <a:p>
            <a:r>
              <a:rPr lang="en-US" sz="100" dirty="0"/>
              <a:t>Demo Architecture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Prerequisites &amp; Setup</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What you need before the demo kicks off.</a:t>
            </a:r>
            <a:endParaRPr lang="en-US" sz="1733" dirty="0"/>
          </a:p>
        </p:txBody>
      </p:sp>
      <p:sp>
        <p:nvSpPr>
          <p:cNvPr id="4" name="Shape 2"/>
          <p:cNvSpPr/>
          <p:nvPr/>
        </p:nvSpPr>
        <p:spPr>
          <a:xfrm>
            <a:off x="609600" y="1889760"/>
            <a:ext cx="5242560" cy="41452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609600" y="1889760"/>
            <a:ext cx="5242560" cy="731520"/>
          </a:xfrm>
          <a:prstGeom prst="rect">
            <a:avLst/>
          </a:prstGeom>
          <a:solidFill>
            <a:srgbClr val="2B4EC7"/>
          </a:solidFill>
          <a:ln w="12700">
            <a:solidFill>
              <a:srgbClr val="2B4EC7"/>
            </a:solidFill>
            <a:prstDash val="solid"/>
          </a:ln>
        </p:spPr>
        <p:txBody>
          <a:bodyPr/>
          <a:lstStyle/>
          <a:p>
            <a:endParaRPr lang="en-US" sz="2400"/>
          </a:p>
        </p:txBody>
      </p:sp>
      <p:pic>
        <p:nvPicPr>
          <p:cNvPr id="6" name="Image 0" descr="preencoded.png"/>
          <p:cNvPicPr>
            <a:picLocks noChangeAspect="1"/>
          </p:cNvPicPr>
          <p:nvPr/>
        </p:nvPicPr>
        <p:blipFill>
          <a:blip r:embed="rId3"/>
          <a:stretch>
            <a:fillRect/>
          </a:stretch>
        </p:blipFill>
        <p:spPr>
          <a:xfrm>
            <a:off x="853440" y="2072640"/>
            <a:ext cx="390144" cy="390144"/>
          </a:xfrm>
          <a:prstGeom prst="rect">
            <a:avLst/>
          </a:prstGeom>
        </p:spPr>
      </p:pic>
      <p:sp>
        <p:nvSpPr>
          <p:cNvPr id="7" name="Text 4"/>
          <p:cNvSpPr/>
          <p:nvPr/>
        </p:nvSpPr>
        <p:spPr>
          <a:xfrm>
            <a:off x="1341120" y="1987296"/>
            <a:ext cx="438912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Environment</a:t>
            </a:r>
            <a:endParaRPr lang="en-US" sz="2000" dirty="0"/>
          </a:p>
        </p:txBody>
      </p:sp>
      <p:sp>
        <p:nvSpPr>
          <p:cNvPr id="8" name="Text 5"/>
          <p:cNvSpPr/>
          <p:nvPr/>
        </p:nvSpPr>
        <p:spPr>
          <a:xfrm>
            <a:off x="975360" y="2926080"/>
            <a:ext cx="4632960" cy="2987040"/>
          </a:xfrm>
          <a:prstGeom prst="rect">
            <a:avLst/>
          </a:prstGeom>
          <a:noFill/>
          <a:ln/>
        </p:spPr>
        <p:txBody>
          <a:bodyPr wrap="square" lIns="0" tIns="0" rIns="0" bIns="0" rtlCol="0" anchor="ctr"/>
          <a:lstStyle/>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Purview account with Unified Catalog enabled</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Data sources registered in a Collection</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Azure SQL DB with sample claims + patients tables</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Fabric lakehouse with bronze/silver/gold layers</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Managed identity or SP with Reader on data sources</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Sensitivity label taxonomy published from M365</a:t>
            </a:r>
            <a:endParaRPr lang="en-US" sz="1600" dirty="0"/>
          </a:p>
        </p:txBody>
      </p:sp>
      <p:sp>
        <p:nvSpPr>
          <p:cNvPr id="9" name="Shape 6"/>
          <p:cNvSpPr/>
          <p:nvPr/>
        </p:nvSpPr>
        <p:spPr>
          <a:xfrm>
            <a:off x="6339840" y="1889760"/>
            <a:ext cx="5242560" cy="41452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0" name="Shape 7"/>
          <p:cNvSpPr/>
          <p:nvPr/>
        </p:nvSpPr>
        <p:spPr>
          <a:xfrm>
            <a:off x="6339840" y="1889760"/>
            <a:ext cx="5242560" cy="731520"/>
          </a:xfrm>
          <a:prstGeom prst="rect">
            <a:avLst/>
          </a:prstGeom>
          <a:solidFill>
            <a:srgbClr val="8B5CF6"/>
          </a:solidFill>
          <a:ln w="12700">
            <a:solidFill>
              <a:srgbClr val="8B5CF6"/>
            </a:solidFill>
            <a:prstDash val="solid"/>
          </a:ln>
        </p:spPr>
        <p:txBody>
          <a:bodyPr/>
          <a:lstStyle/>
          <a:p>
            <a:endParaRPr lang="en-US" sz="2400"/>
          </a:p>
        </p:txBody>
      </p:sp>
      <p:pic>
        <p:nvPicPr>
          <p:cNvPr id="11" name="Image 1" descr="preencoded.png"/>
          <p:cNvPicPr>
            <a:picLocks noChangeAspect="1"/>
          </p:cNvPicPr>
          <p:nvPr/>
        </p:nvPicPr>
        <p:blipFill>
          <a:blip r:embed="rId4"/>
          <a:stretch>
            <a:fillRect/>
          </a:stretch>
        </p:blipFill>
        <p:spPr>
          <a:xfrm>
            <a:off x="6583680" y="2072640"/>
            <a:ext cx="390144" cy="390144"/>
          </a:xfrm>
          <a:prstGeom prst="rect">
            <a:avLst/>
          </a:prstGeom>
        </p:spPr>
      </p:pic>
      <p:sp>
        <p:nvSpPr>
          <p:cNvPr id="12" name="Text 8"/>
          <p:cNvSpPr/>
          <p:nvPr/>
        </p:nvSpPr>
        <p:spPr>
          <a:xfrm>
            <a:off x="7071360" y="1987296"/>
            <a:ext cx="4389120" cy="54864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Roles &amp; Permissions</a:t>
            </a:r>
            <a:endParaRPr lang="en-US" sz="2000" dirty="0"/>
          </a:p>
        </p:txBody>
      </p:sp>
      <p:sp>
        <p:nvSpPr>
          <p:cNvPr id="13" name="Text 9"/>
          <p:cNvSpPr/>
          <p:nvPr/>
        </p:nvSpPr>
        <p:spPr>
          <a:xfrm>
            <a:off x="6705600" y="2926080"/>
            <a:ext cx="4632960" cy="2987040"/>
          </a:xfrm>
          <a:prstGeom prst="rect">
            <a:avLst/>
          </a:prstGeom>
          <a:noFill/>
          <a:ln/>
        </p:spPr>
        <p:txBody>
          <a:bodyPr wrap="square" lIns="0" tIns="0" rIns="0" bIns="0" rtlCol="0" anchor="ctr"/>
          <a:lstStyle/>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Collection Admin — manage sources &amp; scans</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Data Source Admin — register Azure SQL / Fabric</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Data Curator — apply labels, glossary, classifications</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Data Reader — search catalog, view lineage</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Compliance Admin (M365) — publish label policies</a:t>
            </a:r>
            <a:endParaRPr lang="en-US" sz="1600" dirty="0"/>
          </a:p>
          <a:p>
            <a:pPr marL="457189" indent="-457189">
              <a:spcAft>
                <a:spcPts val="800"/>
              </a:spcAft>
              <a:buSzPct val="100000"/>
              <a:buChar char="•"/>
            </a:pPr>
            <a:r>
              <a:rPr lang="en-US" sz="1600" dirty="0">
                <a:solidFill>
                  <a:srgbClr val="1A1D3A"/>
                </a:solidFill>
                <a:latin typeface="Calibri" pitchFamily="34" charset="0"/>
                <a:ea typeface="Calibri" pitchFamily="34" charset="-122"/>
                <a:cs typeface="Calibri" pitchFamily="34" charset="-120"/>
              </a:rPr>
              <a:t>Information Protection Admin — auto-label policies</a:t>
            </a:r>
            <a:endParaRPr lang="en-US" sz="1600" dirty="0"/>
          </a:p>
        </p:txBody>
      </p:sp>
      <p:sp>
        <p:nvSpPr>
          <p:cNvPr id="14" name="Shape 10"/>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15" name="Text 11"/>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16" name="Text 12"/>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4 / 9</a:t>
            </a:r>
            <a:endParaRPr lang="en-US" sz="1200" dirty="0"/>
          </a:p>
        </p:txBody>
      </p:sp>
      <p:sp>
        <p:nvSpPr>
          <p:cNvPr id="17" name="Hidden Title 17" descr="Slide title: Prerequisites &amp; Setup"/>
          <p:cNvSpPr>
            <a:spLocks noGrp="1"/>
          </p:cNvSpPr>
          <p:nvPr>
            <p:ph type="title"/>
          </p:nvPr>
        </p:nvSpPr>
        <p:spPr>
          <a:xfrm>
            <a:off x="0" y="-457200"/>
            <a:ext cx="9144000" cy="457200"/>
          </a:xfrm>
        </p:spPr>
        <p:txBody>
          <a:bodyPr/>
          <a:lstStyle/>
          <a:p>
            <a:r>
              <a:rPr lang="en-US" sz="100" dirty="0"/>
              <a:t>Prerequisites &amp; Setup</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Demo Dataset — Claims &amp; Patients</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Two tables in Azure SQL that should trigger both PII and PHI detectors on scan.</a:t>
            </a:r>
            <a:endParaRPr lang="en-US" sz="1733" dirty="0"/>
          </a:p>
        </p:txBody>
      </p:sp>
      <p:graphicFrame>
        <p:nvGraphicFramePr>
          <p:cNvPr id="6" name="Table 0"/>
          <p:cNvGraphicFramePr>
            <a:graphicFrameLocks noGrp="1"/>
          </p:cNvGraphicFramePr>
          <p:nvPr/>
        </p:nvGraphicFramePr>
        <p:xfrm>
          <a:off x="609600" y="1828800"/>
          <a:ext cx="10972800" cy="3511296"/>
        </p:xfrm>
        <a:graphic>
          <a:graphicData uri="http://schemas.openxmlformats.org/drawingml/2006/table">
            <a:tbl>
              <a:tblPr/>
              <a:tblGrid>
                <a:gridCol w="4023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438912">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TABLE.COLUMN</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EXPECTED CLASSIFICATION</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CATEGORY</a:t>
                      </a:r>
                      <a:endParaRPr lang="en-US" sz="16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dbo.Patients.FullName</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nvarchar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Person Name</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4EC7"/>
                    </a:solidFill>
                  </a:tcPr>
                </a:tc>
                <a:extLst>
                  <a:ext uri="{0D108BD9-81ED-4DB2-BD59-A6C34878D82A}">
                    <a16:rowId xmlns:a16="http://schemas.microsoft.com/office/drawing/2014/main" val="10001"/>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dbo.Patients.SSN</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char(11)</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U.S. Social Security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4EC7"/>
                    </a:solidFill>
                  </a:tcPr>
                </a:tc>
                <a:extLst>
                  <a:ext uri="{0D108BD9-81ED-4DB2-BD59-A6C34878D82A}">
                    <a16:rowId xmlns:a16="http://schemas.microsoft.com/office/drawing/2014/main" val="10002"/>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dbo.Patients.DOB</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date</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Date of Birth</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4EC7"/>
                    </a:solidFill>
                  </a:tcPr>
                </a:tc>
                <a:extLst>
                  <a:ext uri="{0D108BD9-81ED-4DB2-BD59-A6C34878D82A}">
                    <a16:rowId xmlns:a16="http://schemas.microsoft.com/office/drawing/2014/main" val="10003"/>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dbo.Patients.MRN</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varchar(20)</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U.S. Medical Record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4"/>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dbo.Claims.DiagnosisCode</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varchar(10)</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ICD-10 Code</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5"/>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dbo.Claims.PrescriberDEA</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char(9)</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DEA Number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6"/>
                  </a:ext>
                </a:extLst>
              </a:tr>
              <a:tr h="438912">
                <a:tc>
                  <a:txBody>
                    <a:bodyPr/>
                    <a:lstStyle/>
                    <a:p>
                      <a:pPr marL="0" indent="0">
                        <a:buNone/>
                      </a:pPr>
                      <a:r>
                        <a:rPr lang="en-US" sz="1500" b="1" dirty="0">
                          <a:solidFill>
                            <a:srgbClr val="1A1D3A"/>
                          </a:solidFill>
                          <a:latin typeface="Courier New" pitchFamily="34" charset="0"/>
                          <a:ea typeface="Courier New" pitchFamily="34" charset="-122"/>
                          <a:cs typeface="Courier New" pitchFamily="34" charset="-120"/>
                        </a:rPr>
                        <a:t>dbo.Claims.ClaimAmount</a:t>
                      </a:r>
                      <a:endParaRPr lang="en-US" sz="1500" dirty="0">
                        <a:latin typeface="Courier New" charset="0"/>
                        <a:ea typeface="Courier New" charset="0"/>
                        <a:cs typeface="Courier New"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decimal(12,2)</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500" i="1" dirty="0">
                          <a:solidFill>
                            <a:srgbClr val="64748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7"/>
                  </a:ext>
                </a:extLst>
              </a:tr>
            </a:tbl>
          </a:graphicData>
        </a:graphic>
      </p:graphicFrame>
      <p:sp>
        <p:nvSpPr>
          <p:cNvPr id="5" name="Text 2"/>
          <p:cNvSpPr/>
          <p:nvPr/>
        </p:nvSpPr>
        <p:spPr>
          <a:xfrm>
            <a:off x="609600" y="5791200"/>
            <a:ext cx="10972800" cy="487680"/>
          </a:xfrm>
          <a:prstGeom prst="rect">
            <a:avLst/>
          </a:prstGeom>
          <a:noFill/>
          <a:ln/>
        </p:spPr>
        <p:txBody>
          <a:bodyPr wrap="square" lIns="0" tIns="0" rIns="0" bIns="0" rtlCol="0" anchor="ctr"/>
          <a:lstStyle/>
          <a:p>
            <a:r>
              <a:rPr lang="en-US" sz="1533" b="1" i="1" dirty="0">
                <a:solidFill>
                  <a:srgbClr val="1E2761"/>
                </a:solidFill>
                <a:latin typeface="Calibri" pitchFamily="34" charset="0"/>
                <a:ea typeface="Calibri" pitchFamily="34" charset="-122"/>
                <a:cs typeface="Calibri" pitchFamily="34" charset="-120"/>
              </a:rPr>
              <a:t>Result: 6 of 7 columns auto-classify on first scan. The Claims.ClaimAmount column stays unclassified.</a:t>
            </a:r>
            <a:endParaRPr lang="en-US" sz="1533" dirty="0"/>
          </a:p>
        </p:txBody>
      </p:sp>
      <p:sp>
        <p:nvSpPr>
          <p:cNvPr id="4" name="Shape 3"/>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7" name="Text 4"/>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8" name="Text 5"/>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5 / 9</a:t>
            </a:r>
            <a:endParaRPr lang="en-US" sz="1200" dirty="0"/>
          </a:p>
        </p:txBody>
      </p:sp>
      <p:sp>
        <p:nvSpPr>
          <p:cNvPr id="9" name="Hidden Title 9" descr="Slide title: Demo Dataset — Claims &amp; Patients"/>
          <p:cNvSpPr>
            <a:spLocks noGrp="1"/>
          </p:cNvSpPr>
          <p:nvPr>
            <p:ph type="title"/>
          </p:nvPr>
        </p:nvSpPr>
        <p:spPr>
          <a:xfrm>
            <a:off x="0" y="-457200"/>
            <a:ext cx="9144000" cy="457200"/>
          </a:xfrm>
        </p:spPr>
        <p:txBody>
          <a:bodyPr/>
          <a:lstStyle/>
          <a:p>
            <a:r>
              <a:rPr lang="en-US" sz="100" dirty="0"/>
              <a:t>Demo Dataset — Claims &amp; Patients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Demo Flow — Six Steps in the Catalog</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From source registration to a labeled, searchable, policy-governed asset.</a:t>
            </a:r>
            <a:endParaRPr lang="en-US" sz="1733" dirty="0"/>
          </a:p>
        </p:txBody>
      </p:sp>
      <p:sp>
        <p:nvSpPr>
          <p:cNvPr id="4" name="Shape 2"/>
          <p:cNvSpPr/>
          <p:nvPr/>
        </p:nvSpPr>
        <p:spPr>
          <a:xfrm>
            <a:off x="54864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731520" y="207264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6" name="Text 4"/>
          <p:cNvSpPr/>
          <p:nvPr/>
        </p:nvSpPr>
        <p:spPr>
          <a:xfrm>
            <a:off x="731520" y="209702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1</a:t>
            </a:r>
            <a:endParaRPr lang="en-US" sz="2133" dirty="0"/>
          </a:p>
        </p:txBody>
      </p:sp>
      <p:pic>
        <p:nvPicPr>
          <p:cNvPr id="7" name="Image 0" descr="preencoded.png"/>
          <p:cNvPicPr>
            <a:picLocks noChangeAspect="1"/>
          </p:cNvPicPr>
          <p:nvPr/>
        </p:nvPicPr>
        <p:blipFill>
          <a:blip r:embed="rId3"/>
          <a:stretch>
            <a:fillRect/>
          </a:stretch>
        </p:blipFill>
        <p:spPr>
          <a:xfrm>
            <a:off x="3413760" y="2133600"/>
            <a:ext cx="487680" cy="487680"/>
          </a:xfrm>
          <a:prstGeom prst="rect">
            <a:avLst/>
          </a:prstGeom>
        </p:spPr>
      </p:pic>
      <p:sp>
        <p:nvSpPr>
          <p:cNvPr id="8" name="Text 5"/>
          <p:cNvSpPr/>
          <p:nvPr/>
        </p:nvSpPr>
        <p:spPr>
          <a:xfrm>
            <a:off x="792480" y="2779776"/>
            <a:ext cx="3048000" cy="42672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Register Source</a:t>
            </a:r>
            <a:endParaRPr lang="en-US" sz="1933" dirty="0"/>
          </a:p>
        </p:txBody>
      </p:sp>
      <p:sp>
        <p:nvSpPr>
          <p:cNvPr id="9" name="Text 6"/>
          <p:cNvSpPr/>
          <p:nvPr/>
        </p:nvSpPr>
        <p:spPr>
          <a:xfrm>
            <a:off x="792480" y="3230880"/>
            <a:ext cx="3048000" cy="60960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Add Azure SQL and Fabric into Purview Collection with managed identity.</a:t>
            </a:r>
            <a:endParaRPr lang="en-US" sz="1467" dirty="0"/>
          </a:p>
        </p:txBody>
      </p:sp>
      <p:sp>
        <p:nvSpPr>
          <p:cNvPr id="10" name="Shape 7"/>
          <p:cNvSpPr/>
          <p:nvPr/>
        </p:nvSpPr>
        <p:spPr>
          <a:xfrm>
            <a:off x="432816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4511040" y="207264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12" name="Text 9"/>
          <p:cNvSpPr/>
          <p:nvPr/>
        </p:nvSpPr>
        <p:spPr>
          <a:xfrm>
            <a:off x="4511040" y="209702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2</a:t>
            </a:r>
            <a:endParaRPr lang="en-US" sz="2133" dirty="0"/>
          </a:p>
        </p:txBody>
      </p:sp>
      <p:pic>
        <p:nvPicPr>
          <p:cNvPr id="13" name="Image 1" descr="preencoded.png"/>
          <p:cNvPicPr>
            <a:picLocks noChangeAspect="1"/>
          </p:cNvPicPr>
          <p:nvPr/>
        </p:nvPicPr>
        <p:blipFill>
          <a:blip r:embed="rId4"/>
          <a:stretch>
            <a:fillRect/>
          </a:stretch>
        </p:blipFill>
        <p:spPr>
          <a:xfrm>
            <a:off x="7193280" y="2133600"/>
            <a:ext cx="487680" cy="487680"/>
          </a:xfrm>
          <a:prstGeom prst="rect">
            <a:avLst/>
          </a:prstGeom>
        </p:spPr>
      </p:pic>
      <p:sp>
        <p:nvSpPr>
          <p:cNvPr id="14" name="Text 10"/>
          <p:cNvSpPr/>
          <p:nvPr/>
        </p:nvSpPr>
        <p:spPr>
          <a:xfrm>
            <a:off x="4572000" y="2779776"/>
            <a:ext cx="3048000" cy="42672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Build Scan Rule Set</a:t>
            </a:r>
            <a:endParaRPr lang="en-US" sz="1933" dirty="0"/>
          </a:p>
        </p:txBody>
      </p:sp>
      <p:sp>
        <p:nvSpPr>
          <p:cNvPr id="15" name="Text 11"/>
          <p:cNvSpPr/>
          <p:nvPr/>
        </p:nvSpPr>
        <p:spPr>
          <a:xfrm>
            <a:off x="4572000" y="3230880"/>
            <a:ext cx="3048000" cy="60960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Enable PII + PHI system classifications; add custom SITs for MRN format.</a:t>
            </a:r>
            <a:endParaRPr lang="en-US" sz="1467" dirty="0"/>
          </a:p>
        </p:txBody>
      </p:sp>
      <p:sp>
        <p:nvSpPr>
          <p:cNvPr id="16" name="Shape 12"/>
          <p:cNvSpPr/>
          <p:nvPr/>
        </p:nvSpPr>
        <p:spPr>
          <a:xfrm>
            <a:off x="8107680" y="188976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8290560" y="207264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18" name="Text 14"/>
          <p:cNvSpPr/>
          <p:nvPr/>
        </p:nvSpPr>
        <p:spPr>
          <a:xfrm>
            <a:off x="8290560" y="209702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3</a:t>
            </a:r>
            <a:endParaRPr lang="en-US" sz="2133" dirty="0"/>
          </a:p>
        </p:txBody>
      </p:sp>
      <p:pic>
        <p:nvPicPr>
          <p:cNvPr id="19" name="Image 2" descr="preencoded.png"/>
          <p:cNvPicPr>
            <a:picLocks noChangeAspect="1"/>
          </p:cNvPicPr>
          <p:nvPr/>
        </p:nvPicPr>
        <p:blipFill>
          <a:blip r:embed="rId5"/>
          <a:stretch>
            <a:fillRect/>
          </a:stretch>
        </p:blipFill>
        <p:spPr>
          <a:xfrm>
            <a:off x="10972800" y="2133600"/>
            <a:ext cx="487680" cy="487680"/>
          </a:xfrm>
          <a:prstGeom prst="rect">
            <a:avLst/>
          </a:prstGeom>
        </p:spPr>
      </p:pic>
      <p:sp>
        <p:nvSpPr>
          <p:cNvPr id="20" name="Text 15"/>
          <p:cNvSpPr/>
          <p:nvPr/>
        </p:nvSpPr>
        <p:spPr>
          <a:xfrm>
            <a:off x="8351520" y="2779776"/>
            <a:ext cx="3048000" cy="42672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Run First Scan</a:t>
            </a:r>
            <a:endParaRPr lang="en-US" sz="1933" dirty="0"/>
          </a:p>
        </p:txBody>
      </p:sp>
      <p:sp>
        <p:nvSpPr>
          <p:cNvPr id="21" name="Text 16"/>
          <p:cNvSpPr/>
          <p:nvPr/>
        </p:nvSpPr>
        <p:spPr>
          <a:xfrm>
            <a:off x="8351520" y="3230880"/>
            <a:ext cx="3048000" cy="60960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Trigger an incremental scan; watch column-level classifications appear.</a:t>
            </a:r>
            <a:endParaRPr lang="en-US" sz="1467" dirty="0"/>
          </a:p>
        </p:txBody>
      </p:sp>
      <p:sp>
        <p:nvSpPr>
          <p:cNvPr id="22" name="Shape 17"/>
          <p:cNvSpPr/>
          <p:nvPr/>
        </p:nvSpPr>
        <p:spPr>
          <a:xfrm>
            <a:off x="54864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731520" y="426720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24" name="Text 19"/>
          <p:cNvSpPr/>
          <p:nvPr/>
        </p:nvSpPr>
        <p:spPr>
          <a:xfrm>
            <a:off x="731520" y="429158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4</a:t>
            </a:r>
            <a:endParaRPr lang="en-US" sz="2133" dirty="0"/>
          </a:p>
        </p:txBody>
      </p:sp>
      <p:pic>
        <p:nvPicPr>
          <p:cNvPr id="25" name="Image 3" descr="preencoded.png"/>
          <p:cNvPicPr>
            <a:picLocks noChangeAspect="1"/>
          </p:cNvPicPr>
          <p:nvPr/>
        </p:nvPicPr>
        <p:blipFill>
          <a:blip r:embed="rId6"/>
          <a:stretch>
            <a:fillRect/>
          </a:stretch>
        </p:blipFill>
        <p:spPr>
          <a:xfrm>
            <a:off x="3413760" y="4328160"/>
            <a:ext cx="487680" cy="487680"/>
          </a:xfrm>
          <a:prstGeom prst="rect">
            <a:avLst/>
          </a:prstGeom>
        </p:spPr>
      </p:pic>
      <p:sp>
        <p:nvSpPr>
          <p:cNvPr id="26" name="Text 20"/>
          <p:cNvSpPr/>
          <p:nvPr/>
        </p:nvSpPr>
        <p:spPr>
          <a:xfrm>
            <a:off x="792480" y="4974336"/>
            <a:ext cx="3048000" cy="42672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Apply Sensitivity Label</a:t>
            </a:r>
            <a:endParaRPr lang="en-US" sz="1933" dirty="0"/>
          </a:p>
        </p:txBody>
      </p:sp>
      <p:sp>
        <p:nvSpPr>
          <p:cNvPr id="27" name="Text 21"/>
          <p:cNvSpPr/>
          <p:nvPr/>
        </p:nvSpPr>
        <p:spPr>
          <a:xfrm>
            <a:off x="792480" y="5425440"/>
            <a:ext cx="3048000" cy="60960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On dbo.Patients &amp; dbo.Claims, apply 'Confidential — PHI' at table level.</a:t>
            </a:r>
            <a:endParaRPr lang="en-US" sz="1467" dirty="0"/>
          </a:p>
        </p:txBody>
      </p:sp>
      <p:sp>
        <p:nvSpPr>
          <p:cNvPr id="28" name="Shape 22"/>
          <p:cNvSpPr/>
          <p:nvPr/>
        </p:nvSpPr>
        <p:spPr>
          <a:xfrm>
            <a:off x="432816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9" name="Shape 23"/>
          <p:cNvSpPr/>
          <p:nvPr/>
        </p:nvSpPr>
        <p:spPr>
          <a:xfrm>
            <a:off x="4511040" y="426720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30" name="Text 24"/>
          <p:cNvSpPr/>
          <p:nvPr/>
        </p:nvSpPr>
        <p:spPr>
          <a:xfrm>
            <a:off x="4511040" y="429158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5</a:t>
            </a:r>
            <a:endParaRPr lang="en-US" sz="2133" dirty="0"/>
          </a:p>
        </p:txBody>
      </p:sp>
      <p:pic>
        <p:nvPicPr>
          <p:cNvPr id="31" name="Image 4" descr="preencoded.png"/>
          <p:cNvPicPr>
            <a:picLocks noChangeAspect="1"/>
          </p:cNvPicPr>
          <p:nvPr/>
        </p:nvPicPr>
        <p:blipFill>
          <a:blip r:embed="rId7"/>
          <a:stretch>
            <a:fillRect/>
          </a:stretch>
        </p:blipFill>
        <p:spPr>
          <a:xfrm>
            <a:off x="7193280" y="4328160"/>
            <a:ext cx="487680" cy="487680"/>
          </a:xfrm>
          <a:prstGeom prst="rect">
            <a:avLst/>
          </a:prstGeom>
        </p:spPr>
      </p:pic>
      <p:sp>
        <p:nvSpPr>
          <p:cNvPr id="32" name="Text 25"/>
          <p:cNvSpPr/>
          <p:nvPr/>
        </p:nvSpPr>
        <p:spPr>
          <a:xfrm>
            <a:off x="4572000" y="4974336"/>
            <a:ext cx="3048000" cy="42672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Catalog Search</a:t>
            </a:r>
            <a:endParaRPr lang="en-US" sz="1933" dirty="0"/>
          </a:p>
        </p:txBody>
      </p:sp>
      <p:sp>
        <p:nvSpPr>
          <p:cNvPr id="33" name="Text 26"/>
          <p:cNvSpPr/>
          <p:nvPr/>
        </p:nvSpPr>
        <p:spPr>
          <a:xfrm>
            <a:off x="4572000" y="5425440"/>
            <a:ext cx="3048000" cy="60960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Filter all assets by label = PHI; show cross-source view (SQL + Fabric).</a:t>
            </a:r>
            <a:endParaRPr lang="en-US" sz="1467" dirty="0"/>
          </a:p>
        </p:txBody>
      </p:sp>
      <p:sp>
        <p:nvSpPr>
          <p:cNvPr id="34" name="Shape 27"/>
          <p:cNvSpPr/>
          <p:nvPr/>
        </p:nvSpPr>
        <p:spPr>
          <a:xfrm>
            <a:off x="8107680" y="4084320"/>
            <a:ext cx="35356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35" name="Shape 28"/>
          <p:cNvSpPr/>
          <p:nvPr/>
        </p:nvSpPr>
        <p:spPr>
          <a:xfrm>
            <a:off x="8290560" y="4267200"/>
            <a:ext cx="609600" cy="609600"/>
          </a:xfrm>
          <a:prstGeom prst="ellipse">
            <a:avLst/>
          </a:prstGeom>
          <a:solidFill>
            <a:srgbClr val="8B5CF6"/>
          </a:solidFill>
          <a:ln w="12700">
            <a:solidFill>
              <a:srgbClr val="8B5CF6"/>
            </a:solidFill>
            <a:prstDash val="solid"/>
          </a:ln>
        </p:spPr>
        <p:txBody>
          <a:bodyPr/>
          <a:lstStyle/>
          <a:p>
            <a:endParaRPr lang="en-US" sz="2400"/>
          </a:p>
        </p:txBody>
      </p:sp>
      <p:sp>
        <p:nvSpPr>
          <p:cNvPr id="36" name="Text 29"/>
          <p:cNvSpPr/>
          <p:nvPr/>
        </p:nvSpPr>
        <p:spPr>
          <a:xfrm>
            <a:off x="8290560" y="4291584"/>
            <a:ext cx="609600" cy="609600"/>
          </a:xfrm>
          <a:prstGeom prst="rect">
            <a:avLst/>
          </a:prstGeom>
          <a:noFill/>
          <a:ln/>
        </p:spPr>
        <p:txBody>
          <a:bodyPr wrap="square" lIns="0" tIns="0" rIns="0" bIns="0" rtlCol="0" anchor="ctr"/>
          <a:lstStyle/>
          <a:p>
            <a:pPr algn="ctr"/>
            <a:r>
              <a:rPr lang="en-US" sz="2133" b="1" dirty="0">
                <a:solidFill>
                  <a:srgbClr val="FFFFFF"/>
                </a:solidFill>
                <a:latin typeface="Georgia" pitchFamily="34" charset="0"/>
                <a:ea typeface="Georgia" pitchFamily="34" charset="-122"/>
                <a:cs typeface="Georgia" pitchFamily="34" charset="-120"/>
              </a:rPr>
              <a:t>6</a:t>
            </a:r>
            <a:endParaRPr lang="en-US" sz="2133" dirty="0"/>
          </a:p>
        </p:txBody>
      </p:sp>
      <p:pic>
        <p:nvPicPr>
          <p:cNvPr id="37" name="Image 5" descr="preencoded.png"/>
          <p:cNvPicPr>
            <a:picLocks noChangeAspect="1"/>
          </p:cNvPicPr>
          <p:nvPr/>
        </p:nvPicPr>
        <p:blipFill>
          <a:blip r:embed="rId8"/>
          <a:stretch>
            <a:fillRect/>
          </a:stretch>
        </p:blipFill>
        <p:spPr>
          <a:xfrm>
            <a:off x="10972800" y="4328160"/>
            <a:ext cx="487680" cy="487680"/>
          </a:xfrm>
          <a:prstGeom prst="rect">
            <a:avLst/>
          </a:prstGeom>
        </p:spPr>
      </p:pic>
      <p:sp>
        <p:nvSpPr>
          <p:cNvPr id="38" name="Text 30"/>
          <p:cNvSpPr/>
          <p:nvPr/>
        </p:nvSpPr>
        <p:spPr>
          <a:xfrm>
            <a:off x="8351520" y="4974336"/>
            <a:ext cx="3048000" cy="426720"/>
          </a:xfrm>
          <a:prstGeom prst="rect">
            <a:avLst/>
          </a:prstGeom>
          <a:noFill/>
          <a:ln/>
        </p:spPr>
        <p:txBody>
          <a:bodyPr wrap="square" lIns="0" tIns="0" rIns="0" bIns="0" rtlCol="0" anchor="ctr"/>
          <a:lstStyle/>
          <a:p>
            <a:r>
              <a:rPr lang="en-US" sz="1933" b="1" dirty="0">
                <a:solidFill>
                  <a:srgbClr val="1A1D3A"/>
                </a:solidFill>
                <a:latin typeface="Georgia" pitchFamily="34" charset="0"/>
                <a:ea typeface="Georgia" pitchFamily="34" charset="-122"/>
                <a:cs typeface="Georgia" pitchFamily="34" charset="-120"/>
              </a:rPr>
              <a:t>Attach a Policy</a:t>
            </a:r>
            <a:endParaRPr lang="en-US" sz="1933" dirty="0"/>
          </a:p>
        </p:txBody>
      </p:sp>
      <p:sp>
        <p:nvSpPr>
          <p:cNvPr id="39" name="Text 31"/>
          <p:cNvSpPr/>
          <p:nvPr/>
        </p:nvSpPr>
        <p:spPr>
          <a:xfrm>
            <a:off x="8351520" y="5425440"/>
            <a:ext cx="3048000" cy="609600"/>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Bind DLP + access policy to the label; restrict export and mask columns.</a:t>
            </a:r>
            <a:endParaRPr lang="en-US" sz="1467" dirty="0"/>
          </a:p>
        </p:txBody>
      </p:sp>
      <p:sp>
        <p:nvSpPr>
          <p:cNvPr id="40" name="Shape 3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41" name="Text 33"/>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42" name="Text 3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6 / 9</a:t>
            </a:r>
            <a:endParaRPr lang="en-US" sz="1200" dirty="0"/>
          </a:p>
        </p:txBody>
      </p:sp>
      <p:sp>
        <p:nvSpPr>
          <p:cNvPr id="43" name="Hidden Title 43" descr="Slide title: Demo Flow — Six Steps in the Catalog"/>
          <p:cNvSpPr>
            <a:spLocks noGrp="1"/>
          </p:cNvSpPr>
          <p:nvPr>
            <p:ph type="title"/>
          </p:nvPr>
        </p:nvSpPr>
        <p:spPr>
          <a:xfrm>
            <a:off x="0" y="-457200"/>
            <a:ext cx="9144000" cy="457200"/>
          </a:xfrm>
        </p:spPr>
        <p:txBody>
          <a:bodyPr/>
          <a:lstStyle/>
          <a:p>
            <a:r>
              <a:rPr lang="en-US" sz="100" dirty="0"/>
              <a:t>Demo Flow — Six Steps in the Catalog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Sensitivity Label — 'Confidential — PHI'</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One label. Applied from the Unified Catalog. Enforced end-to-end.</a:t>
            </a:r>
            <a:endParaRPr lang="en-US" sz="1733" dirty="0"/>
          </a:p>
        </p:txBody>
      </p:sp>
      <p:sp>
        <p:nvSpPr>
          <p:cNvPr id="4" name="Shape 2"/>
          <p:cNvSpPr/>
          <p:nvPr/>
        </p:nvSpPr>
        <p:spPr>
          <a:xfrm>
            <a:off x="609600" y="1889760"/>
            <a:ext cx="5364480" cy="4206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609600" y="1889760"/>
            <a:ext cx="121920" cy="4206240"/>
          </a:xfrm>
          <a:prstGeom prst="rect">
            <a:avLst/>
          </a:prstGeom>
          <a:solidFill>
            <a:srgbClr val="0D9488"/>
          </a:solidFill>
          <a:ln w="12700">
            <a:solidFill>
              <a:srgbClr val="0D9488"/>
            </a:solidFill>
            <a:prstDash val="solid"/>
          </a:ln>
        </p:spPr>
        <p:txBody>
          <a:bodyPr/>
          <a:lstStyle/>
          <a:p>
            <a:endParaRPr lang="en-US" sz="2400"/>
          </a:p>
        </p:txBody>
      </p:sp>
      <p:sp>
        <p:nvSpPr>
          <p:cNvPr id="6" name="Shape 4"/>
          <p:cNvSpPr/>
          <p:nvPr/>
        </p:nvSpPr>
        <p:spPr>
          <a:xfrm>
            <a:off x="975360" y="2194560"/>
            <a:ext cx="853440" cy="853440"/>
          </a:xfrm>
          <a:prstGeom prst="ellipse">
            <a:avLst/>
          </a:prstGeom>
          <a:solidFill>
            <a:srgbClr val="0D9488"/>
          </a:solidFill>
          <a:ln w="12700">
            <a:solidFill>
              <a:srgbClr val="0D9488"/>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1121664" y="2340864"/>
            <a:ext cx="560832" cy="560832"/>
          </a:xfrm>
          <a:prstGeom prst="rect">
            <a:avLst/>
          </a:prstGeom>
        </p:spPr>
      </p:pic>
      <p:sp>
        <p:nvSpPr>
          <p:cNvPr id="8" name="Text 5"/>
          <p:cNvSpPr/>
          <p:nvPr/>
        </p:nvSpPr>
        <p:spPr>
          <a:xfrm>
            <a:off x="2011680" y="2255520"/>
            <a:ext cx="3779520" cy="487680"/>
          </a:xfrm>
          <a:prstGeom prst="rect">
            <a:avLst/>
          </a:prstGeom>
          <a:noFill/>
          <a:ln/>
        </p:spPr>
        <p:txBody>
          <a:bodyPr wrap="square" lIns="0" tIns="0" rIns="0" bIns="0" rtlCol="0" anchor="ctr"/>
          <a:lstStyle/>
          <a:p>
            <a:r>
              <a:rPr lang="en-US" sz="2267" b="1" dirty="0">
                <a:solidFill>
                  <a:srgbClr val="1A1D3A"/>
                </a:solidFill>
                <a:latin typeface="Georgia" pitchFamily="34" charset="0"/>
                <a:ea typeface="Georgia" pitchFamily="34" charset="-122"/>
                <a:cs typeface="Georgia" pitchFamily="34" charset="-120"/>
              </a:rPr>
              <a:t>Label Anatomy</a:t>
            </a:r>
            <a:endParaRPr lang="en-US" sz="2267" dirty="0"/>
          </a:p>
        </p:txBody>
      </p:sp>
      <p:sp>
        <p:nvSpPr>
          <p:cNvPr id="9" name="Text 6"/>
          <p:cNvSpPr/>
          <p:nvPr/>
        </p:nvSpPr>
        <p:spPr>
          <a:xfrm>
            <a:off x="2011680" y="2743200"/>
            <a:ext cx="3779520" cy="365760"/>
          </a:xfrm>
          <a:prstGeom prst="rect">
            <a:avLst/>
          </a:prstGeom>
          <a:noFill/>
          <a:ln/>
        </p:spPr>
        <p:txBody>
          <a:bodyPr wrap="square" lIns="0" tIns="0" rIns="0" bIns="0" rtlCol="0" anchor="ctr"/>
          <a:lstStyle/>
          <a:p>
            <a:r>
              <a:rPr lang="en-US" sz="1400" i="1" dirty="0">
                <a:solidFill>
                  <a:srgbClr val="64748B"/>
                </a:solidFill>
                <a:latin typeface="Calibri" pitchFamily="34" charset="0"/>
                <a:ea typeface="Calibri" pitchFamily="34" charset="-122"/>
                <a:cs typeface="Calibri" pitchFamily="34" charset="-120"/>
              </a:rPr>
              <a:t>Configured once in Purview Compliance, reused everywhere.</a:t>
            </a:r>
            <a:endParaRPr lang="en-US" sz="1400" dirty="0"/>
          </a:p>
        </p:txBody>
      </p:sp>
      <p:sp>
        <p:nvSpPr>
          <p:cNvPr id="10" name="Text 7"/>
          <p:cNvSpPr/>
          <p:nvPr/>
        </p:nvSpPr>
        <p:spPr>
          <a:xfrm>
            <a:off x="975360" y="3291840"/>
            <a:ext cx="4754880" cy="2682240"/>
          </a:xfrm>
          <a:prstGeom prst="rect">
            <a:avLst/>
          </a:prstGeom>
          <a:noFill/>
          <a:ln/>
        </p:spPr>
        <p:txBody>
          <a:bodyPr wrap="square" lIns="0" tIns="0" rIns="0" bIns="0" rtlCol="0" anchor="ctr"/>
          <a:lstStyle/>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Scope: Files, Emails, Schematized data assets</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Encryption: Permission = Co-Author for HR-PHI group</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Content marking: Watermark "PHI — Handle Per HIPAA"</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Auto-labeling condition: MRN + ICD-10 + Name</a:t>
            </a:r>
            <a:endParaRPr lang="en-US" sz="1533" dirty="0"/>
          </a:p>
          <a:p>
            <a:pPr marL="457189" indent="-457189">
              <a:spcAft>
                <a:spcPts val="667"/>
              </a:spcAft>
              <a:buSzPct val="100000"/>
              <a:buChar char="•"/>
            </a:pPr>
            <a:r>
              <a:rPr lang="en-US" sz="1533" dirty="0">
                <a:solidFill>
                  <a:srgbClr val="1A1D3A"/>
                </a:solidFill>
                <a:latin typeface="Calibri" pitchFamily="34" charset="0"/>
                <a:ea typeface="Calibri" pitchFamily="34" charset="-122"/>
                <a:cs typeface="Calibri" pitchFamily="34" charset="-120"/>
              </a:rPr>
              <a:t>Downgrade: Requires justification + audit event</a:t>
            </a:r>
            <a:endParaRPr lang="en-US" sz="1533" dirty="0"/>
          </a:p>
        </p:txBody>
      </p:sp>
      <p:sp>
        <p:nvSpPr>
          <p:cNvPr id="11" name="Shape 8"/>
          <p:cNvSpPr/>
          <p:nvPr/>
        </p:nvSpPr>
        <p:spPr>
          <a:xfrm>
            <a:off x="6217920" y="1889760"/>
            <a:ext cx="5364480" cy="420624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2" name="Shape 9"/>
          <p:cNvSpPr/>
          <p:nvPr/>
        </p:nvSpPr>
        <p:spPr>
          <a:xfrm>
            <a:off x="6217920" y="1889760"/>
            <a:ext cx="121920" cy="4206240"/>
          </a:xfrm>
          <a:prstGeom prst="rect">
            <a:avLst/>
          </a:prstGeom>
          <a:solidFill>
            <a:srgbClr val="8B5CF6"/>
          </a:solidFill>
          <a:ln w="12700">
            <a:solidFill>
              <a:srgbClr val="8B5CF6"/>
            </a:solidFill>
            <a:prstDash val="solid"/>
          </a:ln>
        </p:spPr>
        <p:txBody>
          <a:bodyPr/>
          <a:lstStyle/>
          <a:p>
            <a:endParaRPr lang="en-US" sz="2400"/>
          </a:p>
        </p:txBody>
      </p:sp>
      <p:sp>
        <p:nvSpPr>
          <p:cNvPr id="13" name="Shape 10"/>
          <p:cNvSpPr/>
          <p:nvPr/>
        </p:nvSpPr>
        <p:spPr>
          <a:xfrm>
            <a:off x="6583680" y="2194560"/>
            <a:ext cx="853440" cy="853440"/>
          </a:xfrm>
          <a:prstGeom prst="ellipse">
            <a:avLst/>
          </a:prstGeom>
          <a:solidFill>
            <a:srgbClr val="8B5CF6"/>
          </a:solidFill>
          <a:ln w="12700">
            <a:solidFill>
              <a:srgbClr val="8B5CF6"/>
            </a:solidFill>
            <a:prstDash val="solid"/>
          </a:ln>
        </p:spPr>
        <p:txBody>
          <a:bodyPr/>
          <a:lstStyle/>
          <a:p>
            <a:endParaRPr lang="en-US" sz="2400"/>
          </a:p>
        </p:txBody>
      </p:sp>
      <p:pic>
        <p:nvPicPr>
          <p:cNvPr id="14" name="Image 1" descr="preencoded.png"/>
          <p:cNvPicPr>
            <a:picLocks noChangeAspect="1"/>
          </p:cNvPicPr>
          <p:nvPr/>
        </p:nvPicPr>
        <p:blipFill>
          <a:blip r:embed="rId4"/>
          <a:stretch>
            <a:fillRect/>
          </a:stretch>
        </p:blipFill>
        <p:spPr>
          <a:xfrm>
            <a:off x="6729984" y="2340864"/>
            <a:ext cx="560832" cy="560832"/>
          </a:xfrm>
          <a:prstGeom prst="rect">
            <a:avLst/>
          </a:prstGeom>
        </p:spPr>
      </p:pic>
      <p:sp>
        <p:nvSpPr>
          <p:cNvPr id="15" name="Text 11"/>
          <p:cNvSpPr/>
          <p:nvPr/>
        </p:nvSpPr>
        <p:spPr>
          <a:xfrm>
            <a:off x="7620000" y="2255520"/>
            <a:ext cx="3779520" cy="487680"/>
          </a:xfrm>
          <a:prstGeom prst="rect">
            <a:avLst/>
          </a:prstGeom>
          <a:noFill/>
          <a:ln/>
        </p:spPr>
        <p:txBody>
          <a:bodyPr wrap="square" lIns="0" tIns="0" rIns="0" bIns="0" rtlCol="0" anchor="ctr"/>
          <a:lstStyle/>
          <a:p>
            <a:r>
              <a:rPr lang="en-US" sz="2267" b="1" dirty="0">
                <a:solidFill>
                  <a:srgbClr val="1A1D3A"/>
                </a:solidFill>
                <a:latin typeface="Georgia" pitchFamily="34" charset="0"/>
                <a:ea typeface="Georgia" pitchFamily="34" charset="-122"/>
                <a:cs typeface="Georgia" pitchFamily="34" charset="-120"/>
              </a:rPr>
              <a:t>Downstream Enforcement</a:t>
            </a:r>
            <a:endParaRPr lang="en-US" sz="2267" dirty="0"/>
          </a:p>
        </p:txBody>
      </p:sp>
      <p:sp>
        <p:nvSpPr>
          <p:cNvPr id="16" name="Text 12"/>
          <p:cNvSpPr/>
          <p:nvPr/>
        </p:nvSpPr>
        <p:spPr>
          <a:xfrm>
            <a:off x="7620000" y="2743200"/>
            <a:ext cx="3779520" cy="365760"/>
          </a:xfrm>
          <a:prstGeom prst="rect">
            <a:avLst/>
          </a:prstGeom>
          <a:noFill/>
          <a:ln/>
        </p:spPr>
        <p:txBody>
          <a:bodyPr wrap="square" lIns="0" tIns="0" rIns="0" bIns="0" rtlCol="0" anchor="ctr"/>
          <a:lstStyle/>
          <a:p>
            <a:r>
              <a:rPr lang="en-US" sz="1400" i="1" dirty="0">
                <a:solidFill>
                  <a:srgbClr val="64748B"/>
                </a:solidFill>
                <a:latin typeface="Calibri" pitchFamily="34" charset="0"/>
                <a:ea typeface="Calibri" pitchFamily="34" charset="-122"/>
                <a:cs typeface="Calibri" pitchFamily="34" charset="-120"/>
              </a:rPr>
              <a:t>The same label triggers protection across every surface.</a:t>
            </a:r>
            <a:endParaRPr lang="en-US" sz="1400" dirty="0"/>
          </a:p>
        </p:txBody>
      </p:sp>
      <p:sp>
        <p:nvSpPr>
          <p:cNvPr id="17" name="Shape 13"/>
          <p:cNvSpPr/>
          <p:nvPr/>
        </p:nvSpPr>
        <p:spPr>
          <a:xfrm>
            <a:off x="6644640" y="3377184"/>
            <a:ext cx="438912" cy="438912"/>
          </a:xfrm>
          <a:prstGeom prst="ellipse">
            <a:avLst/>
          </a:prstGeom>
          <a:solidFill>
            <a:srgbClr val="8B5CF6"/>
          </a:solidFill>
          <a:ln w="12700">
            <a:solidFill>
              <a:srgbClr val="8B5CF6"/>
            </a:solidFill>
            <a:prstDash val="solid"/>
          </a:ln>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729984" y="3462528"/>
            <a:ext cx="268224" cy="268224"/>
          </a:xfrm>
          <a:prstGeom prst="rect">
            <a:avLst/>
          </a:prstGeom>
        </p:spPr>
      </p:pic>
      <p:sp>
        <p:nvSpPr>
          <p:cNvPr id="19" name="Text 14"/>
          <p:cNvSpPr/>
          <p:nvPr/>
        </p:nvSpPr>
        <p:spPr>
          <a:xfrm>
            <a:off x="7254240" y="3352800"/>
            <a:ext cx="4145280" cy="487680"/>
          </a:xfrm>
          <a:prstGeom prst="rect">
            <a:avLst/>
          </a:prstGeom>
          <a:noFill/>
          <a:ln/>
        </p:spPr>
        <p:txBody>
          <a:bodyPr wrap="square" lIns="0" tIns="0" rIns="0" bIns="0" rtlCol="0" anchor="ctr"/>
          <a:lstStyle/>
          <a:p>
            <a:r>
              <a:rPr lang="en-US" sz="1667" b="1" dirty="0">
                <a:solidFill>
                  <a:srgbClr val="1A1D3A"/>
                </a:solidFill>
                <a:latin typeface="Calibri" pitchFamily="34" charset="0"/>
                <a:ea typeface="Calibri" pitchFamily="34" charset="-122"/>
                <a:cs typeface="Calibri" pitchFamily="34" charset="-120"/>
              </a:rPr>
              <a:t>DLP  </a:t>
            </a:r>
            <a:r>
              <a:rPr lang="en-US" sz="1467" dirty="0">
                <a:solidFill>
                  <a:srgbClr val="64748B"/>
                </a:solidFill>
                <a:latin typeface="Calibri" pitchFamily="34" charset="0"/>
                <a:ea typeface="Calibri" pitchFamily="34" charset="-122"/>
                <a:cs typeface="Calibri" pitchFamily="34" charset="-120"/>
              </a:rPr>
              <a:t>Blocks copy to non-HIPAA locations</a:t>
            </a:r>
            <a:endParaRPr lang="en-US" sz="1667" dirty="0"/>
          </a:p>
        </p:txBody>
      </p:sp>
      <p:sp>
        <p:nvSpPr>
          <p:cNvPr id="20" name="Shape 15"/>
          <p:cNvSpPr/>
          <p:nvPr/>
        </p:nvSpPr>
        <p:spPr>
          <a:xfrm>
            <a:off x="6644640" y="3986784"/>
            <a:ext cx="438912" cy="438912"/>
          </a:xfrm>
          <a:prstGeom prst="ellipse">
            <a:avLst/>
          </a:prstGeom>
          <a:solidFill>
            <a:srgbClr val="8B5CF6"/>
          </a:solidFill>
          <a:ln w="12700">
            <a:solidFill>
              <a:srgbClr val="8B5CF6"/>
            </a:solidFill>
            <a:prstDash val="solid"/>
          </a:ln>
        </p:spPr>
        <p:txBody>
          <a:bodyPr/>
          <a:lstStyle/>
          <a:p>
            <a:endParaRPr lang="en-US" sz="2400"/>
          </a:p>
        </p:txBody>
      </p:sp>
      <p:pic>
        <p:nvPicPr>
          <p:cNvPr id="21" name="Image 3" descr="preencoded.png"/>
          <p:cNvPicPr>
            <a:picLocks noChangeAspect="1"/>
          </p:cNvPicPr>
          <p:nvPr/>
        </p:nvPicPr>
        <p:blipFill>
          <a:blip r:embed="rId6"/>
          <a:stretch>
            <a:fillRect/>
          </a:stretch>
        </p:blipFill>
        <p:spPr>
          <a:xfrm>
            <a:off x="6729984" y="4072128"/>
            <a:ext cx="268224" cy="268224"/>
          </a:xfrm>
          <a:prstGeom prst="rect">
            <a:avLst/>
          </a:prstGeom>
        </p:spPr>
      </p:pic>
      <p:sp>
        <p:nvSpPr>
          <p:cNvPr id="22" name="Text 16"/>
          <p:cNvSpPr/>
          <p:nvPr/>
        </p:nvSpPr>
        <p:spPr>
          <a:xfrm>
            <a:off x="7254240" y="3962400"/>
            <a:ext cx="4145280" cy="487680"/>
          </a:xfrm>
          <a:prstGeom prst="rect">
            <a:avLst/>
          </a:prstGeom>
          <a:noFill/>
          <a:ln/>
        </p:spPr>
        <p:txBody>
          <a:bodyPr wrap="square" lIns="0" tIns="0" rIns="0" bIns="0" rtlCol="0" anchor="ctr"/>
          <a:lstStyle/>
          <a:p>
            <a:r>
              <a:rPr lang="en-US" sz="1667" b="1" dirty="0">
                <a:solidFill>
                  <a:srgbClr val="1A1D3A"/>
                </a:solidFill>
                <a:latin typeface="Calibri" pitchFamily="34" charset="0"/>
                <a:ea typeface="Calibri" pitchFamily="34" charset="-122"/>
                <a:cs typeface="Calibri" pitchFamily="34" charset="-120"/>
              </a:rPr>
              <a:t>Access Policy  </a:t>
            </a:r>
            <a:r>
              <a:rPr lang="en-US" sz="1467" dirty="0">
                <a:solidFill>
                  <a:srgbClr val="64748B"/>
                </a:solidFill>
                <a:latin typeface="Calibri" pitchFamily="34" charset="0"/>
                <a:ea typeface="Calibri" pitchFamily="34" charset="-122"/>
                <a:cs typeface="Calibri" pitchFamily="34" charset="-120"/>
              </a:rPr>
              <a:t>Row- and column-level masking in SQL</a:t>
            </a:r>
            <a:endParaRPr lang="en-US" sz="1667" dirty="0"/>
          </a:p>
        </p:txBody>
      </p:sp>
      <p:sp>
        <p:nvSpPr>
          <p:cNvPr id="23" name="Shape 17"/>
          <p:cNvSpPr/>
          <p:nvPr/>
        </p:nvSpPr>
        <p:spPr>
          <a:xfrm>
            <a:off x="6644640" y="4596384"/>
            <a:ext cx="438912" cy="438912"/>
          </a:xfrm>
          <a:prstGeom prst="ellipse">
            <a:avLst/>
          </a:prstGeom>
          <a:solidFill>
            <a:srgbClr val="8B5CF6"/>
          </a:solidFill>
          <a:ln w="12700">
            <a:solidFill>
              <a:srgbClr val="8B5CF6"/>
            </a:solidFill>
            <a:prstDash val="solid"/>
          </a:ln>
        </p:spPr>
        <p:txBody>
          <a:bodyPr/>
          <a:lstStyle/>
          <a:p>
            <a:endParaRPr lang="en-US" sz="2400"/>
          </a:p>
        </p:txBody>
      </p:sp>
      <p:pic>
        <p:nvPicPr>
          <p:cNvPr id="24" name="Image 4" descr="preencoded.png"/>
          <p:cNvPicPr>
            <a:picLocks noChangeAspect="1"/>
          </p:cNvPicPr>
          <p:nvPr/>
        </p:nvPicPr>
        <p:blipFill>
          <a:blip r:embed="rId7"/>
          <a:stretch>
            <a:fillRect/>
          </a:stretch>
        </p:blipFill>
        <p:spPr>
          <a:xfrm>
            <a:off x="6729984" y="4681728"/>
            <a:ext cx="268224" cy="268224"/>
          </a:xfrm>
          <a:prstGeom prst="rect">
            <a:avLst/>
          </a:prstGeom>
        </p:spPr>
      </p:pic>
      <p:sp>
        <p:nvSpPr>
          <p:cNvPr id="25" name="Text 18"/>
          <p:cNvSpPr/>
          <p:nvPr/>
        </p:nvSpPr>
        <p:spPr>
          <a:xfrm>
            <a:off x="7254240" y="4572000"/>
            <a:ext cx="4145280" cy="487680"/>
          </a:xfrm>
          <a:prstGeom prst="rect">
            <a:avLst/>
          </a:prstGeom>
          <a:noFill/>
          <a:ln/>
        </p:spPr>
        <p:txBody>
          <a:bodyPr wrap="square" lIns="0" tIns="0" rIns="0" bIns="0" rtlCol="0" anchor="ctr"/>
          <a:lstStyle/>
          <a:p>
            <a:r>
              <a:rPr lang="en-US" sz="1667" b="1" dirty="0">
                <a:solidFill>
                  <a:srgbClr val="1A1D3A"/>
                </a:solidFill>
                <a:latin typeface="Calibri" pitchFamily="34" charset="0"/>
                <a:ea typeface="Calibri" pitchFamily="34" charset="-122"/>
                <a:cs typeface="Calibri" pitchFamily="34" charset="-120"/>
              </a:rPr>
              <a:t>Power BI  </a:t>
            </a:r>
            <a:r>
              <a:rPr lang="en-US" sz="1467" dirty="0">
                <a:solidFill>
                  <a:srgbClr val="64748B"/>
                </a:solidFill>
                <a:latin typeface="Calibri" pitchFamily="34" charset="0"/>
                <a:ea typeface="Calibri" pitchFamily="34" charset="-122"/>
                <a:cs typeface="Calibri" pitchFamily="34" charset="-120"/>
              </a:rPr>
              <a:t>Inherits label, enforces export rules</a:t>
            </a:r>
            <a:endParaRPr lang="en-US" sz="1667" dirty="0"/>
          </a:p>
        </p:txBody>
      </p:sp>
      <p:sp>
        <p:nvSpPr>
          <p:cNvPr id="26" name="Shape 19"/>
          <p:cNvSpPr/>
          <p:nvPr/>
        </p:nvSpPr>
        <p:spPr>
          <a:xfrm>
            <a:off x="6644640" y="5205984"/>
            <a:ext cx="438912" cy="438912"/>
          </a:xfrm>
          <a:prstGeom prst="ellipse">
            <a:avLst/>
          </a:prstGeom>
          <a:solidFill>
            <a:srgbClr val="8B5CF6"/>
          </a:solidFill>
          <a:ln w="12700">
            <a:solidFill>
              <a:srgbClr val="8B5CF6"/>
            </a:solidFill>
            <a:prstDash val="solid"/>
          </a:ln>
        </p:spPr>
        <p:txBody>
          <a:bodyPr/>
          <a:lstStyle/>
          <a:p>
            <a:endParaRPr lang="en-US" sz="2400"/>
          </a:p>
        </p:txBody>
      </p:sp>
      <p:pic>
        <p:nvPicPr>
          <p:cNvPr id="27" name="Image 5" descr="preencoded.png"/>
          <p:cNvPicPr>
            <a:picLocks noChangeAspect="1"/>
          </p:cNvPicPr>
          <p:nvPr/>
        </p:nvPicPr>
        <p:blipFill>
          <a:blip r:embed="rId8"/>
          <a:stretch>
            <a:fillRect/>
          </a:stretch>
        </p:blipFill>
        <p:spPr>
          <a:xfrm>
            <a:off x="6729984" y="5291328"/>
            <a:ext cx="268224" cy="268224"/>
          </a:xfrm>
          <a:prstGeom prst="rect">
            <a:avLst/>
          </a:prstGeom>
        </p:spPr>
      </p:pic>
      <p:sp>
        <p:nvSpPr>
          <p:cNvPr id="28" name="Text 20"/>
          <p:cNvSpPr/>
          <p:nvPr/>
        </p:nvSpPr>
        <p:spPr>
          <a:xfrm>
            <a:off x="7254240" y="5181600"/>
            <a:ext cx="4145280" cy="487680"/>
          </a:xfrm>
          <a:prstGeom prst="rect">
            <a:avLst/>
          </a:prstGeom>
          <a:noFill/>
          <a:ln/>
        </p:spPr>
        <p:txBody>
          <a:bodyPr wrap="square" lIns="0" tIns="0" rIns="0" bIns="0" rtlCol="0" anchor="ctr"/>
          <a:lstStyle/>
          <a:p>
            <a:r>
              <a:rPr lang="en-US" sz="1667" b="1" dirty="0">
                <a:solidFill>
                  <a:srgbClr val="1A1D3A"/>
                </a:solidFill>
                <a:latin typeface="Calibri" pitchFamily="34" charset="0"/>
                <a:ea typeface="Calibri" pitchFamily="34" charset="-122"/>
                <a:cs typeface="Calibri" pitchFamily="34" charset="-120"/>
              </a:rPr>
              <a:t>Insider Risk  </a:t>
            </a:r>
            <a:r>
              <a:rPr lang="en-US" sz="1467" dirty="0">
                <a:solidFill>
                  <a:srgbClr val="64748B"/>
                </a:solidFill>
                <a:latin typeface="Calibri" pitchFamily="34" charset="0"/>
                <a:ea typeface="Calibri" pitchFamily="34" charset="-122"/>
                <a:cs typeface="Calibri" pitchFamily="34" charset="-120"/>
              </a:rPr>
              <a:t>Alerts on bulk PHI exfil signals</a:t>
            </a:r>
            <a:endParaRPr lang="en-US" sz="1667" dirty="0"/>
          </a:p>
        </p:txBody>
      </p:sp>
      <p:sp>
        <p:nvSpPr>
          <p:cNvPr id="29" name="Shape 21"/>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30" name="Text 22"/>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31" name="Text 23"/>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7 / 9</a:t>
            </a:r>
            <a:endParaRPr lang="en-US" sz="1200" dirty="0"/>
          </a:p>
        </p:txBody>
      </p:sp>
      <p:sp>
        <p:nvSpPr>
          <p:cNvPr id="32" name="Hidden Title 32" descr="Slide title: Sensitivity Label — 'Confidential — PHI'"/>
          <p:cNvSpPr>
            <a:spLocks noGrp="1"/>
          </p:cNvSpPr>
          <p:nvPr>
            <p:ph type="title"/>
          </p:nvPr>
        </p:nvSpPr>
        <p:spPr>
          <a:xfrm>
            <a:off x="0" y="-457200"/>
            <a:ext cx="9144000" cy="457200"/>
          </a:xfrm>
        </p:spPr>
        <p:txBody>
          <a:bodyPr/>
          <a:lstStyle/>
          <a:p>
            <a:r>
              <a:rPr lang="en-US" sz="100" dirty="0"/>
              <a:t>Sensitivity Label — 'Confidential — PHI'</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670560"/>
          </a:xfrm>
          <a:prstGeom prst="rect">
            <a:avLst/>
          </a:prstGeom>
          <a:noFill/>
          <a:ln/>
        </p:spPr>
        <p:txBody>
          <a:bodyPr wrap="square" lIns="0" tIns="0" rIns="0" bIns="0" rtlCol="0" anchor="ctr"/>
          <a:lstStyle/>
          <a:p>
            <a:r>
              <a:rPr lang="en-US" sz="4000" b="1" dirty="0">
                <a:solidFill>
                  <a:srgbClr val="1A1D3A"/>
                </a:solidFill>
                <a:latin typeface="Georgia" pitchFamily="34" charset="0"/>
                <a:ea typeface="Georgia" pitchFamily="34" charset="-122"/>
                <a:cs typeface="Georgia" pitchFamily="34" charset="-120"/>
              </a:rPr>
              <a:t>What the Audience Will See</a:t>
            </a:r>
            <a:endParaRPr lang="en-US" sz="4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r>
              <a:rPr lang="en-US" sz="1733" i="1" dirty="0">
                <a:solidFill>
                  <a:srgbClr val="64748B"/>
                </a:solidFill>
                <a:latin typeface="Calibri" pitchFamily="34" charset="0"/>
                <a:ea typeface="Calibri" pitchFamily="34" charset="-122"/>
                <a:cs typeface="Calibri" pitchFamily="34" charset="-120"/>
              </a:rPr>
              <a:t>Four concrete moments to call out during the live walkthrough.</a:t>
            </a:r>
            <a:endParaRPr lang="en-US" sz="1733" dirty="0"/>
          </a:p>
        </p:txBody>
      </p:sp>
      <p:sp>
        <p:nvSpPr>
          <p:cNvPr id="4" name="Shape 2"/>
          <p:cNvSpPr/>
          <p:nvPr/>
        </p:nvSpPr>
        <p:spPr>
          <a:xfrm>
            <a:off x="54864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5" name="Shape 3"/>
          <p:cNvSpPr/>
          <p:nvPr/>
        </p:nvSpPr>
        <p:spPr>
          <a:xfrm>
            <a:off x="548640" y="1889760"/>
            <a:ext cx="121920" cy="2011680"/>
          </a:xfrm>
          <a:prstGeom prst="rect">
            <a:avLst/>
          </a:prstGeom>
          <a:solidFill>
            <a:srgbClr val="2B4EC7"/>
          </a:solidFill>
          <a:ln w="12700">
            <a:solidFill>
              <a:srgbClr val="2B4EC7"/>
            </a:solidFill>
            <a:prstDash val="solid"/>
          </a:ln>
        </p:spPr>
        <p:txBody>
          <a:bodyPr/>
          <a:lstStyle/>
          <a:p>
            <a:endParaRPr lang="en-US" sz="2400"/>
          </a:p>
        </p:txBody>
      </p:sp>
      <p:sp>
        <p:nvSpPr>
          <p:cNvPr id="6" name="Shape 4"/>
          <p:cNvSpPr/>
          <p:nvPr/>
        </p:nvSpPr>
        <p:spPr>
          <a:xfrm>
            <a:off x="914400" y="2316480"/>
            <a:ext cx="853440" cy="853440"/>
          </a:xfrm>
          <a:prstGeom prst="ellipse">
            <a:avLst/>
          </a:prstGeom>
          <a:solidFill>
            <a:srgbClr val="2B4EC7"/>
          </a:solidFill>
          <a:ln w="12700">
            <a:solidFill>
              <a:srgbClr val="2B4EC7"/>
            </a:solidFill>
            <a:prstDash val="solid"/>
          </a:ln>
        </p:spPr>
        <p:txBody>
          <a:bodyPr/>
          <a:lstStyle/>
          <a:p>
            <a:endParaRPr lang="en-US" sz="2400"/>
          </a:p>
        </p:txBody>
      </p:sp>
      <p:pic>
        <p:nvPicPr>
          <p:cNvPr id="7" name="Image 0" descr="preencoded.png"/>
          <p:cNvPicPr>
            <a:picLocks noChangeAspect="1"/>
          </p:cNvPicPr>
          <p:nvPr/>
        </p:nvPicPr>
        <p:blipFill>
          <a:blip r:embed="rId3"/>
          <a:stretch>
            <a:fillRect/>
          </a:stretch>
        </p:blipFill>
        <p:spPr>
          <a:xfrm>
            <a:off x="1060704" y="2462784"/>
            <a:ext cx="560832" cy="560832"/>
          </a:xfrm>
          <a:prstGeom prst="rect">
            <a:avLst/>
          </a:prstGeom>
        </p:spPr>
      </p:pic>
      <p:sp>
        <p:nvSpPr>
          <p:cNvPr id="8" name="Text 5"/>
          <p:cNvSpPr/>
          <p:nvPr/>
        </p:nvSpPr>
        <p:spPr>
          <a:xfrm>
            <a:off x="1950720" y="225552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Column-level classification badges</a:t>
            </a:r>
            <a:endParaRPr lang="en-US" sz="2000" dirty="0"/>
          </a:p>
        </p:txBody>
      </p:sp>
      <p:sp>
        <p:nvSpPr>
          <p:cNvPr id="9" name="Text 6"/>
          <p:cNvSpPr/>
          <p:nvPr/>
        </p:nvSpPr>
        <p:spPr>
          <a:xfrm>
            <a:off x="195072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SSN, MRN, DEA, ICD-10 tags appear under each column in the Unified Catalog schema view.</a:t>
            </a:r>
            <a:endParaRPr lang="en-US" sz="1533" dirty="0"/>
          </a:p>
        </p:txBody>
      </p:sp>
      <p:sp>
        <p:nvSpPr>
          <p:cNvPr id="10" name="Shape 7"/>
          <p:cNvSpPr/>
          <p:nvPr/>
        </p:nvSpPr>
        <p:spPr>
          <a:xfrm>
            <a:off x="6278880" y="188976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1" name="Shape 8"/>
          <p:cNvSpPr/>
          <p:nvPr/>
        </p:nvSpPr>
        <p:spPr>
          <a:xfrm>
            <a:off x="6278880" y="1889760"/>
            <a:ext cx="121920" cy="2011680"/>
          </a:xfrm>
          <a:prstGeom prst="rect">
            <a:avLst/>
          </a:prstGeom>
          <a:solidFill>
            <a:srgbClr val="0D9488"/>
          </a:solidFill>
          <a:ln w="12700">
            <a:solidFill>
              <a:srgbClr val="0D9488"/>
            </a:solidFill>
            <a:prstDash val="solid"/>
          </a:ln>
        </p:spPr>
        <p:txBody>
          <a:bodyPr/>
          <a:lstStyle/>
          <a:p>
            <a:endParaRPr lang="en-US" sz="2400"/>
          </a:p>
        </p:txBody>
      </p:sp>
      <p:sp>
        <p:nvSpPr>
          <p:cNvPr id="12" name="Shape 9"/>
          <p:cNvSpPr/>
          <p:nvPr/>
        </p:nvSpPr>
        <p:spPr>
          <a:xfrm>
            <a:off x="6644640" y="2316480"/>
            <a:ext cx="853440" cy="853440"/>
          </a:xfrm>
          <a:prstGeom prst="ellipse">
            <a:avLst/>
          </a:prstGeom>
          <a:solidFill>
            <a:srgbClr val="0D9488"/>
          </a:solidFill>
          <a:ln w="12700">
            <a:solidFill>
              <a:srgbClr val="0D9488"/>
            </a:solidFill>
            <a:prstDash val="solid"/>
          </a:ln>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6790944" y="2462784"/>
            <a:ext cx="560832" cy="560832"/>
          </a:xfrm>
          <a:prstGeom prst="rect">
            <a:avLst/>
          </a:prstGeom>
        </p:spPr>
      </p:pic>
      <p:sp>
        <p:nvSpPr>
          <p:cNvPr id="14" name="Text 10"/>
          <p:cNvSpPr/>
          <p:nvPr/>
        </p:nvSpPr>
        <p:spPr>
          <a:xfrm>
            <a:off x="7680960" y="225552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Label applied at table scope</a:t>
            </a:r>
            <a:endParaRPr lang="en-US" sz="2000" dirty="0"/>
          </a:p>
        </p:txBody>
      </p:sp>
      <p:sp>
        <p:nvSpPr>
          <p:cNvPr id="15" name="Text 11"/>
          <p:cNvSpPr/>
          <p:nvPr/>
        </p:nvSpPr>
        <p:spPr>
          <a:xfrm>
            <a:off x="7680960" y="276758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Confidential — PHI shows on dbo.Patients and dbo.Claims — inherited to all columns.</a:t>
            </a:r>
            <a:endParaRPr lang="en-US" sz="1533" dirty="0"/>
          </a:p>
        </p:txBody>
      </p:sp>
      <p:sp>
        <p:nvSpPr>
          <p:cNvPr id="16" name="Shape 12"/>
          <p:cNvSpPr/>
          <p:nvPr/>
        </p:nvSpPr>
        <p:spPr>
          <a:xfrm>
            <a:off x="54864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17" name="Shape 13"/>
          <p:cNvSpPr/>
          <p:nvPr/>
        </p:nvSpPr>
        <p:spPr>
          <a:xfrm>
            <a:off x="548640" y="4084320"/>
            <a:ext cx="121920" cy="2011680"/>
          </a:xfrm>
          <a:prstGeom prst="rect">
            <a:avLst/>
          </a:prstGeom>
          <a:solidFill>
            <a:srgbClr val="8B5CF6"/>
          </a:solidFill>
          <a:ln w="12700">
            <a:solidFill>
              <a:srgbClr val="8B5CF6"/>
            </a:solidFill>
            <a:prstDash val="solid"/>
          </a:ln>
        </p:spPr>
        <p:txBody>
          <a:bodyPr/>
          <a:lstStyle/>
          <a:p>
            <a:endParaRPr lang="en-US" sz="2400"/>
          </a:p>
        </p:txBody>
      </p:sp>
      <p:sp>
        <p:nvSpPr>
          <p:cNvPr id="18" name="Shape 14"/>
          <p:cNvSpPr/>
          <p:nvPr/>
        </p:nvSpPr>
        <p:spPr>
          <a:xfrm>
            <a:off x="914400" y="4511040"/>
            <a:ext cx="853440" cy="853440"/>
          </a:xfrm>
          <a:prstGeom prst="ellipse">
            <a:avLst/>
          </a:prstGeom>
          <a:solidFill>
            <a:srgbClr val="8B5CF6"/>
          </a:solidFill>
          <a:ln w="12700">
            <a:solidFill>
              <a:srgbClr val="8B5CF6"/>
            </a:solidFill>
            <a:prstDash val="solid"/>
          </a:ln>
        </p:spPr>
        <p:txBody>
          <a:bodyPr/>
          <a:lstStyle/>
          <a:p>
            <a:endParaRPr lang="en-US" sz="2400"/>
          </a:p>
        </p:txBody>
      </p:sp>
      <p:pic>
        <p:nvPicPr>
          <p:cNvPr id="19" name="Image 2" descr="preencoded.png"/>
          <p:cNvPicPr>
            <a:picLocks noChangeAspect="1"/>
          </p:cNvPicPr>
          <p:nvPr/>
        </p:nvPicPr>
        <p:blipFill>
          <a:blip r:embed="rId5"/>
          <a:stretch>
            <a:fillRect/>
          </a:stretch>
        </p:blipFill>
        <p:spPr>
          <a:xfrm>
            <a:off x="1060704" y="4657344"/>
            <a:ext cx="560832" cy="560832"/>
          </a:xfrm>
          <a:prstGeom prst="rect">
            <a:avLst/>
          </a:prstGeom>
        </p:spPr>
      </p:pic>
      <p:sp>
        <p:nvSpPr>
          <p:cNvPr id="20" name="Text 15"/>
          <p:cNvSpPr/>
          <p:nvPr/>
        </p:nvSpPr>
        <p:spPr>
          <a:xfrm>
            <a:off x="1950720" y="445008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One search, every PHI asset</a:t>
            </a:r>
            <a:endParaRPr lang="en-US" sz="2000" dirty="0"/>
          </a:p>
        </p:txBody>
      </p:sp>
      <p:sp>
        <p:nvSpPr>
          <p:cNvPr id="21" name="Text 16"/>
          <p:cNvSpPr/>
          <p:nvPr/>
        </p:nvSpPr>
        <p:spPr>
          <a:xfrm>
            <a:off x="195072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Catalog filter "label:Confidential-PHI" returns SQL tables and Fabric lakehouse tables together.</a:t>
            </a:r>
            <a:endParaRPr lang="en-US" sz="1533" dirty="0"/>
          </a:p>
        </p:txBody>
      </p:sp>
      <p:sp>
        <p:nvSpPr>
          <p:cNvPr id="22" name="Shape 17"/>
          <p:cNvSpPr/>
          <p:nvPr/>
        </p:nvSpPr>
        <p:spPr>
          <a:xfrm>
            <a:off x="6278880" y="4084320"/>
            <a:ext cx="5364480" cy="2011680"/>
          </a:xfrm>
          <a:prstGeom prst="rect">
            <a:avLst/>
          </a:prstGeom>
          <a:solidFill>
            <a:srgbClr val="FFFFFF"/>
          </a:solidFill>
          <a:ln w="9525">
            <a:solidFill>
              <a:srgbClr val="E2E8F0"/>
            </a:solidFill>
            <a:prstDash val="solid"/>
          </a:ln>
          <a:effectLst>
            <a:outerShdw blurRad="127000" dist="25400" dir="5400000" algn="bl" rotWithShape="0">
              <a:srgbClr val="000000">
                <a:alpha val="8000"/>
              </a:srgbClr>
            </a:outerShdw>
          </a:effectLst>
        </p:spPr>
        <p:txBody>
          <a:bodyPr/>
          <a:lstStyle/>
          <a:p>
            <a:endParaRPr lang="en-US" sz="2400"/>
          </a:p>
        </p:txBody>
      </p:sp>
      <p:sp>
        <p:nvSpPr>
          <p:cNvPr id="23" name="Shape 18"/>
          <p:cNvSpPr/>
          <p:nvPr/>
        </p:nvSpPr>
        <p:spPr>
          <a:xfrm>
            <a:off x="6278880" y="4084320"/>
            <a:ext cx="121920" cy="2011680"/>
          </a:xfrm>
          <a:prstGeom prst="rect">
            <a:avLst/>
          </a:prstGeom>
          <a:solidFill>
            <a:srgbClr val="EC4899"/>
          </a:solidFill>
          <a:ln w="12700">
            <a:solidFill>
              <a:srgbClr val="EC4899"/>
            </a:solidFill>
            <a:prstDash val="solid"/>
          </a:ln>
        </p:spPr>
        <p:txBody>
          <a:bodyPr/>
          <a:lstStyle/>
          <a:p>
            <a:endParaRPr lang="en-US" sz="2400"/>
          </a:p>
        </p:txBody>
      </p:sp>
      <p:sp>
        <p:nvSpPr>
          <p:cNvPr id="24" name="Shape 19"/>
          <p:cNvSpPr/>
          <p:nvPr/>
        </p:nvSpPr>
        <p:spPr>
          <a:xfrm>
            <a:off x="6644640" y="4511040"/>
            <a:ext cx="853440" cy="853440"/>
          </a:xfrm>
          <a:prstGeom prst="ellipse">
            <a:avLst/>
          </a:prstGeom>
          <a:solidFill>
            <a:srgbClr val="EC4899"/>
          </a:solidFill>
          <a:ln w="12700">
            <a:solidFill>
              <a:srgbClr val="EC4899"/>
            </a:solidFill>
            <a:prstDash val="solid"/>
          </a:ln>
        </p:spPr>
        <p:txBody>
          <a:bodyPr/>
          <a:lstStyle/>
          <a:p>
            <a:endParaRPr lang="en-US" sz="2400"/>
          </a:p>
        </p:txBody>
      </p:sp>
      <p:pic>
        <p:nvPicPr>
          <p:cNvPr id="25" name="Image 3" descr="preencoded.png"/>
          <p:cNvPicPr>
            <a:picLocks noChangeAspect="1"/>
          </p:cNvPicPr>
          <p:nvPr/>
        </p:nvPicPr>
        <p:blipFill>
          <a:blip r:embed="rId6"/>
          <a:stretch>
            <a:fillRect/>
          </a:stretch>
        </p:blipFill>
        <p:spPr>
          <a:xfrm>
            <a:off x="6790944" y="4657344"/>
            <a:ext cx="560832" cy="560832"/>
          </a:xfrm>
          <a:prstGeom prst="rect">
            <a:avLst/>
          </a:prstGeom>
        </p:spPr>
      </p:pic>
      <p:sp>
        <p:nvSpPr>
          <p:cNvPr id="26" name="Text 20"/>
          <p:cNvSpPr/>
          <p:nvPr/>
        </p:nvSpPr>
        <p:spPr>
          <a:xfrm>
            <a:off x="7680960" y="4450080"/>
            <a:ext cx="3779520" cy="487680"/>
          </a:xfrm>
          <a:prstGeom prst="rect">
            <a:avLst/>
          </a:prstGeom>
          <a:noFill/>
          <a:ln/>
        </p:spPr>
        <p:txBody>
          <a:bodyPr wrap="square" lIns="0" tIns="0" rIns="0" bIns="0" rtlCol="0" anchor="ctr"/>
          <a:lstStyle/>
          <a:p>
            <a:r>
              <a:rPr lang="en-US" sz="2000" b="1" dirty="0">
                <a:solidFill>
                  <a:srgbClr val="1A1D3A"/>
                </a:solidFill>
                <a:latin typeface="Georgia" pitchFamily="34" charset="0"/>
                <a:ea typeface="Georgia" pitchFamily="34" charset="-122"/>
                <a:cs typeface="Georgia" pitchFamily="34" charset="-120"/>
              </a:rPr>
              <a:t>Lineage + protection in one view</a:t>
            </a:r>
            <a:endParaRPr lang="en-US" sz="2000" dirty="0"/>
          </a:p>
        </p:txBody>
      </p:sp>
      <p:sp>
        <p:nvSpPr>
          <p:cNvPr id="27" name="Text 21"/>
          <p:cNvSpPr/>
          <p:nvPr/>
        </p:nvSpPr>
        <p:spPr>
          <a:xfrm>
            <a:off x="7680960" y="4962144"/>
            <a:ext cx="3779520" cy="1036320"/>
          </a:xfrm>
          <a:prstGeom prst="rect">
            <a:avLst/>
          </a:prstGeom>
          <a:noFill/>
          <a:ln/>
        </p:spPr>
        <p:txBody>
          <a:bodyPr wrap="square" lIns="0" tIns="0" rIns="0" bIns="0" rtlCol="0" anchor="ctr"/>
          <a:lstStyle/>
          <a:p>
            <a:r>
              <a:rPr lang="en-US" sz="1533" dirty="0">
                <a:solidFill>
                  <a:srgbClr val="64748B"/>
                </a:solidFill>
                <a:latin typeface="Calibri" pitchFamily="34" charset="0"/>
                <a:ea typeface="Calibri" pitchFamily="34" charset="-122"/>
                <a:cs typeface="Calibri" pitchFamily="34" charset="-120"/>
              </a:rPr>
              <a:t>Open asset → see upstream sources, downstream reports, and attached DLP + access policies.</a:t>
            </a:r>
            <a:endParaRPr lang="en-US" sz="1533" dirty="0"/>
          </a:p>
        </p:txBody>
      </p:sp>
      <p:sp>
        <p:nvSpPr>
          <p:cNvPr id="28" name="Shape 22"/>
          <p:cNvSpPr/>
          <p:nvPr/>
        </p:nvSpPr>
        <p:spPr>
          <a:xfrm>
            <a:off x="609600" y="6400800"/>
            <a:ext cx="10972800" cy="0"/>
          </a:xfrm>
          <a:prstGeom prst="line">
            <a:avLst/>
          </a:prstGeom>
          <a:noFill/>
          <a:ln w="9525">
            <a:solidFill>
              <a:srgbClr val="E2E8F0"/>
            </a:solidFill>
            <a:prstDash val="solid"/>
          </a:ln>
        </p:spPr>
        <p:txBody>
          <a:bodyPr/>
          <a:lstStyle/>
          <a:p>
            <a:endParaRPr lang="en-US" sz="2400"/>
          </a:p>
        </p:txBody>
      </p:sp>
      <p:sp>
        <p:nvSpPr>
          <p:cNvPr id="29" name="Text 23"/>
          <p:cNvSpPr/>
          <p:nvPr/>
        </p:nvSpPr>
        <p:spPr>
          <a:xfrm>
            <a:off x="609600" y="6486144"/>
            <a:ext cx="8534400" cy="304800"/>
          </a:xfrm>
          <a:prstGeom prst="rect">
            <a:avLst/>
          </a:prstGeom>
          <a:noFill/>
          <a:ln/>
        </p:spPr>
        <p:txBody>
          <a:bodyPr wrap="square" lIns="0" tIns="0" rIns="0" bIns="0" rtlCol="0" anchor="ctr"/>
          <a:lstStyle/>
          <a:p>
            <a:r>
              <a:rPr lang="en-US" sz="1400" dirty="0">
                <a:solidFill>
                  <a:srgbClr val="64748B"/>
                </a:solidFill>
                <a:latin typeface="Calibri" pitchFamily="34" charset="0"/>
                <a:ea typeface="Calibri" pitchFamily="34" charset="-122"/>
                <a:cs typeface="Calibri" pitchFamily="34" charset="-120"/>
              </a:rPr>
              <a:t>Purview Unified Catalog  |  Structured Data Demo — PII &amp; PHI</a:t>
            </a:r>
            <a:endParaRPr lang="en-US" sz="1200" dirty="0"/>
          </a:p>
        </p:txBody>
      </p:sp>
      <p:sp>
        <p:nvSpPr>
          <p:cNvPr id="30" name="Text 24"/>
          <p:cNvSpPr/>
          <p:nvPr/>
        </p:nvSpPr>
        <p:spPr>
          <a:xfrm>
            <a:off x="10363200" y="6486144"/>
            <a:ext cx="1219200" cy="304800"/>
          </a:xfrm>
          <a:prstGeom prst="rect">
            <a:avLst/>
          </a:prstGeom>
          <a:noFill/>
          <a:ln/>
        </p:spPr>
        <p:txBody>
          <a:bodyPr wrap="square" lIns="0" tIns="0" rIns="0" bIns="0" rtlCol="0" anchor="ctr"/>
          <a:lstStyle/>
          <a:p>
            <a:pPr algn="r"/>
            <a:r>
              <a:rPr lang="en-US" sz="1400" dirty="0">
                <a:solidFill>
                  <a:srgbClr val="64748B"/>
                </a:solidFill>
                <a:latin typeface="Calibri" pitchFamily="34" charset="0"/>
                <a:ea typeface="Calibri" pitchFamily="34" charset="-122"/>
                <a:cs typeface="Calibri" pitchFamily="34" charset="-120"/>
              </a:rPr>
              <a:t>8 / 9</a:t>
            </a:r>
            <a:endParaRPr lang="en-US" sz="1200" dirty="0"/>
          </a:p>
        </p:txBody>
      </p:sp>
      <p:sp>
        <p:nvSpPr>
          <p:cNvPr id="31" name="Hidden Title 31" descr="Slide title: What the Audience Will See"/>
          <p:cNvSpPr>
            <a:spLocks noGrp="1"/>
          </p:cNvSpPr>
          <p:nvPr>
            <p:ph type="title"/>
          </p:nvPr>
        </p:nvSpPr>
        <p:spPr>
          <a:xfrm>
            <a:off x="0" y="-457200"/>
            <a:ext cx="9144000" cy="457200"/>
          </a:xfrm>
        </p:spPr>
        <p:txBody>
          <a:bodyPr/>
          <a:lstStyle/>
          <a:p>
            <a:r>
              <a:rPr lang="en-US" sz="100" dirty="0"/>
              <a:t>What the Audience Will See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6286-90BE-9BC6-D20E-7FF43B7C01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CC6E32-6412-4E52-C70C-8EF0623BE4EF}"/>
              </a:ext>
            </a:extLst>
          </p:cNvPr>
          <p:cNvSpPr>
            <a:spLocks noGrp="1"/>
          </p:cNvSpPr>
          <p:nvPr>
            <p:ph type="title"/>
            <p:custDataLst>
              <p:custData r:id="rId2"/>
            </p:custDataLst>
          </p:nvPr>
        </p:nvSpPr>
        <p:spPr>
          <a:xfrm>
            <a:off x="584200" y="4334637"/>
            <a:ext cx="11517312" cy="1015663"/>
          </a:xfrm>
        </p:spPr>
        <p:txBody>
          <a:bodyPr/>
          <a:lstStyle/>
          <a:p>
            <a:r>
              <a:rPr lang="en-US" dirty="0"/>
              <a:t>Access &amp; Residency Controls</a:t>
            </a:r>
          </a:p>
        </p:txBody>
      </p:sp>
      <p:sp>
        <p:nvSpPr>
          <p:cNvPr id="2" name="Text Placeholder 1">
            <a:extLst>
              <a:ext uri="{FF2B5EF4-FFF2-40B4-BE49-F238E27FC236}">
                <a16:creationId xmlns:a16="http://schemas.microsoft.com/office/drawing/2014/main" id="{E52272A6-0774-C555-8EF3-5F108C0A55B4}"/>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D7677392-FEDB-C77C-53A2-AA3D0ADA848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321CBB5F-D64D-CDD2-3889-EFB8D5DA1E7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61</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048968507"/>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AB874-D6D6-FAC2-FEB2-28DA7F5EF58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B97E34A-1164-5CE1-ADB9-525146DA56C1}"/>
              </a:ext>
            </a:extLst>
          </p:cNvPr>
          <p:cNvSpPr>
            <a:spLocks noGrp="1"/>
          </p:cNvSpPr>
          <p:nvPr>
            <p:ph type="title"/>
          </p:nvPr>
        </p:nvSpPr>
        <p:spPr/>
        <p:txBody>
          <a:bodyPr/>
          <a:lstStyle/>
          <a:p>
            <a:r>
              <a:rPr lang="en-US"/>
              <a:t>Objectives — Access &amp; Residency Controls</a:t>
            </a:r>
          </a:p>
        </p:txBody>
      </p:sp>
      <p:sp>
        <p:nvSpPr>
          <p:cNvPr id="4" name="Text Placeholder 3">
            <a:extLst>
              <a:ext uri="{FF2B5EF4-FFF2-40B4-BE49-F238E27FC236}">
                <a16:creationId xmlns:a16="http://schemas.microsoft.com/office/drawing/2014/main" id="{6415BFD7-40CF-8522-90A9-AB42C51D1EF8}"/>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graphicFrame>
        <p:nvGraphicFramePr>
          <p:cNvPr id="41" name="Table 2">
            <a:extLst>
              <a:ext uri="{FF2B5EF4-FFF2-40B4-BE49-F238E27FC236}">
                <a16:creationId xmlns:a16="http://schemas.microsoft.com/office/drawing/2014/main" id="{D0B60F19-4698-4746-2A98-56D07BB8470F}"/>
              </a:ext>
            </a:extLst>
          </p:cNvPr>
          <p:cNvGraphicFramePr>
            <a:graphicFrameLocks noGrp="1"/>
          </p:cNvGraphicFramePr>
          <p:nvPr>
            <p:extLst>
              <p:ext uri="{D42A27DB-BD31-4B8C-83A1-F6EECF244321}">
                <p14:modId xmlns:p14="http://schemas.microsoft.com/office/powerpoint/2010/main" val="2705810011"/>
              </p:ext>
            </p:extLst>
          </p:nvPr>
        </p:nvGraphicFramePr>
        <p:xfrm>
          <a:off x="432526" y="1835202"/>
          <a:ext cx="8188960" cy="1814078"/>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473442237"/>
                    </a:ext>
                  </a:extLst>
                </a:gridCol>
                <a:gridCol w="548640">
                  <a:extLst>
                    <a:ext uri="{9D8B030D-6E8A-4147-A177-3AD203B41FA5}">
                      <a16:colId xmlns:a16="http://schemas.microsoft.com/office/drawing/2014/main" val="108120203"/>
                    </a:ext>
                  </a:extLst>
                </a:gridCol>
                <a:gridCol w="7223760">
                  <a:extLst>
                    <a:ext uri="{9D8B030D-6E8A-4147-A177-3AD203B41FA5}">
                      <a16:colId xmlns:a16="http://schemas.microsoft.com/office/drawing/2014/main" val="2189273595"/>
                    </a:ext>
                  </a:extLst>
                </a:gridCol>
                <a:gridCol w="208280">
                  <a:extLst>
                    <a:ext uri="{9D8B030D-6E8A-4147-A177-3AD203B41FA5}">
                      <a16:colId xmlns:a16="http://schemas.microsoft.com/office/drawing/2014/main" val="518262350"/>
                    </a:ext>
                  </a:extLst>
                </a:gridCol>
              </a:tblGrid>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1</a:t>
                      </a:r>
                    </a:p>
                  </a:txBody>
                  <a:tcPr marT="73152" marB="73152" anchor="ctr">
                    <a:lnL w="3175" cap="flat" cmpd="sng" algn="ctr">
                      <a:noFill/>
                      <a:prstDash val="solid"/>
                      <a:round/>
                      <a:headEnd type="none" w="med" len="med"/>
                      <a:tailEnd type="none" w="med" len="med"/>
                    </a:lnL>
                    <a:lnR w="12700" cmpd="sng">
                      <a:noFill/>
                    </a:lnR>
                    <a:lnT w="381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defTabSz="914192">
                        <a:spcBef>
                          <a:spcPts val="100"/>
                        </a:spcBef>
                        <a:spcAft>
                          <a:spcPts val="200"/>
                        </a:spcAft>
                      </a:pPr>
                      <a:r>
                        <a:rPr lang="en-US" sz="1400" b="0" kern="1200" dirty="0">
                          <a:solidFill>
                            <a:schemeClr val="tx1"/>
                          </a:solidFill>
                          <a:latin typeface="+mj-lt"/>
                          <a:ea typeface="+mn-ea"/>
                          <a:cs typeface="Segoe UI Semibold"/>
                        </a:rPr>
                        <a:t>Understand….</a:t>
                      </a: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Access Control &amp; Identity — RBAC, Conditional Access, Information Barriers</a:t>
                      </a:r>
                    </a:p>
                  </a:txBody>
                  <a:tcPr marT="73152" marB="73152">
                    <a:lnL w="12700" cmpd="sng">
                      <a:noFill/>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228600" defTabSz="914192">
                        <a:spcBef>
                          <a:spcPts val="100"/>
                        </a:spcBef>
                        <a:spcAft>
                          <a:spcPts val="200"/>
                        </a:spcAft>
                        <a:buFont typeface="Wingdings" panose="05000000000000000000" pitchFamily="2" charset="2"/>
                        <a:buChar char="ü"/>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179405"/>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2</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 </a:t>
                      </a:r>
                      <a:endPar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endParaRP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Residency &amp; Sovereignty — region pinning, EU Data Boundary, sovereign clouds</a:t>
                      </a:r>
                    </a:p>
                    <a:p>
                      <a:endParaRPr lang="en-US" sz="1800" b="0" i="0" kern="1200" dirty="0">
                        <a:solidFill>
                          <a:schemeClr val="dk1"/>
                        </a:solidFill>
                        <a:effectLst/>
                        <a:latin typeface="+mn-lt"/>
                        <a:ea typeface="+mn-ea"/>
                        <a:cs typeface="+mn-cs"/>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743437"/>
                  </a:ext>
                </a:extLst>
              </a:tr>
            </a:tbl>
          </a:graphicData>
        </a:graphic>
      </p:graphicFrame>
      <p:cxnSp>
        <p:nvCxnSpPr>
          <p:cNvPr id="50" name="Straight Connector 49">
            <a:extLst>
              <a:ext uri="{FF2B5EF4-FFF2-40B4-BE49-F238E27FC236}">
                <a16:creationId xmlns:a16="http://schemas.microsoft.com/office/drawing/2014/main" id="{FED1ED08-17AB-38F9-6054-B691F0EF3DC2}"/>
              </a:ext>
              <a:ext uri="{C183D7F6-B498-43B3-948B-1728B52AA6E4}">
                <adec:decorative xmlns:adec="http://schemas.microsoft.com/office/drawing/2017/decorative" val="1"/>
              </a:ext>
            </a:extLst>
          </p:cNvPr>
          <p:cNvCxnSpPr>
            <a:cxnSpLocks/>
          </p:cNvCxnSpPr>
          <p:nvPr/>
        </p:nvCxnSpPr>
        <p:spPr>
          <a:xfrm>
            <a:off x="8057878" y="26511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60B13C2-8BAF-A6DD-B5E4-A3A3FDCCA004}"/>
              </a:ext>
              <a:ext uri="{C183D7F6-B498-43B3-948B-1728B52AA6E4}">
                <adec:decorative xmlns:adec="http://schemas.microsoft.com/office/drawing/2017/decorative" val="1"/>
              </a:ext>
            </a:extLst>
          </p:cNvPr>
          <p:cNvCxnSpPr>
            <a:cxnSpLocks/>
          </p:cNvCxnSpPr>
          <p:nvPr/>
        </p:nvCxnSpPr>
        <p:spPr>
          <a:xfrm>
            <a:off x="8057878" y="35528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DF3F6BE-0943-A171-9D2A-8F9CF9538784}"/>
              </a:ext>
              <a:ext uri="{C183D7F6-B498-43B3-948B-1728B52AA6E4}">
                <adec:decorative xmlns:adec="http://schemas.microsoft.com/office/drawing/2017/decorative" val="1"/>
              </a:ext>
            </a:extLst>
          </p:cNvPr>
          <p:cNvCxnSpPr>
            <a:cxnSpLocks/>
          </p:cNvCxnSpPr>
          <p:nvPr/>
        </p:nvCxnSpPr>
        <p:spPr>
          <a:xfrm>
            <a:off x="8057878" y="445965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3" name="Footer Placeholder 2">
            <a:extLst>
              <a:ext uri="{FF2B5EF4-FFF2-40B4-BE49-F238E27FC236}">
                <a16:creationId xmlns:a16="http://schemas.microsoft.com/office/drawing/2014/main" id="{0D1421E5-8262-501D-9977-207530F9887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96" name="Picture 95" descr="Two co-workers walking in an office hallway, and having a discussions a surface laptop on their hands.">
            <a:extLst>
              <a:ext uri="{FF2B5EF4-FFF2-40B4-BE49-F238E27FC236}">
                <a16:creationId xmlns:a16="http://schemas.microsoft.com/office/drawing/2014/main" id="{328BCF10-AD10-621C-BFAE-82B4DAA7C45B}"/>
              </a:ext>
            </a:extLst>
          </p:cNvPr>
          <p:cNvPicPr>
            <a:picLocks noChangeAspect="1"/>
          </p:cNvPicPr>
          <p:nvPr/>
        </p:nvPicPr>
        <p:blipFill rotWithShape="1">
          <a:blip r:embed="rId5"/>
          <a:srcRect l="16228" t="2311" r="13881" b="2311"/>
          <a:stretch/>
        </p:blipFill>
        <p:spPr>
          <a:xfrm>
            <a:off x="8914424" y="0"/>
            <a:ext cx="3277576" cy="6858000"/>
          </a:xfrm>
          <a:custGeom>
            <a:avLst/>
            <a:gdLst>
              <a:gd name="connsiteX0" fmla="*/ 0 w 3627769"/>
              <a:gd name="connsiteY0" fmla="*/ 0 h 4875667"/>
              <a:gd name="connsiteX1" fmla="*/ 3627769 w 3627769"/>
              <a:gd name="connsiteY1" fmla="*/ 0 h 4875667"/>
              <a:gd name="connsiteX2" fmla="*/ 3627769 w 3627769"/>
              <a:gd name="connsiteY2" fmla="*/ 4875667 h 4875667"/>
              <a:gd name="connsiteX3" fmla="*/ 0 w 3627769"/>
              <a:gd name="connsiteY3" fmla="*/ 4875667 h 4875667"/>
            </a:gdLst>
            <a:ahLst/>
            <a:cxnLst>
              <a:cxn ang="0">
                <a:pos x="connsiteX0" y="connsiteY0"/>
              </a:cxn>
              <a:cxn ang="0">
                <a:pos x="connsiteX1" y="connsiteY1"/>
              </a:cxn>
              <a:cxn ang="0">
                <a:pos x="connsiteX2" y="connsiteY2"/>
              </a:cxn>
              <a:cxn ang="0">
                <a:pos x="connsiteX3" y="connsiteY3"/>
              </a:cxn>
            </a:cxnLst>
            <a:rect l="l" t="t" r="r" b="b"/>
            <a:pathLst>
              <a:path w="3627769" h="4875667">
                <a:moveTo>
                  <a:pt x="0" y="0"/>
                </a:moveTo>
                <a:lnTo>
                  <a:pt x="3627769" y="0"/>
                </a:lnTo>
                <a:lnTo>
                  <a:pt x="3627769" y="4875667"/>
                </a:lnTo>
                <a:lnTo>
                  <a:pt x="0" y="4875667"/>
                </a:lnTo>
                <a:close/>
              </a:path>
            </a:pathLst>
          </a:custGeom>
        </p:spPr>
      </p:pic>
      <p:sp>
        <p:nvSpPr>
          <p:cNvPr id="98" name="Slide Number Placeholder 5">
            <a:extLst>
              <a:ext uri="{FF2B5EF4-FFF2-40B4-BE49-F238E27FC236}">
                <a16:creationId xmlns:a16="http://schemas.microsoft.com/office/drawing/2014/main" id="{5F5B734E-2B66-30AD-118A-917F810F491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702546554"/>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Access Control for AI Workloads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Ensure the right identities access the right data at every stage of the AI pipeline.</a:t>
            </a:r>
          </a:p>
        </p:txBody>
      </p:sp>
      <p:sp>
        <p:nvSpPr>
          <p:cNvPr id="4" name="TextBox 3"/>
          <p:cNvSpPr txBox="1"/>
          <p:nvPr/>
        </p:nvSpPr>
        <p:spPr>
          <a:xfrm>
            <a:off x="548640" y="1417320"/>
            <a:ext cx="11094720" cy="3144451"/>
          </a:xfrm>
          <a:prstGeom prst="rect">
            <a:avLst/>
          </a:prstGeom>
          <a:noFill/>
        </p:spPr>
        <p:txBody>
          <a:bodyPr wrap="square">
            <a:spAutoFit/>
          </a:bodyPr>
          <a:lstStyle/>
          <a:p>
            <a:r>
              <a:rPr sz="1500" b="1">
                <a:solidFill>
                  <a:srgbClr val="243A5E"/>
                </a:solidFill>
              </a:rPr>
              <a:t>RBAC for AI Resources
</a:t>
            </a:r>
            <a:r>
              <a:rPr sz="1400">
                <a:solidFill>
                  <a:srgbClr val="505050"/>
                </a:solidFill>
              </a:rPr>
              <a:t>Role-based access on Foundry, Azure AI Search, and storage accounts. Separate roles for model training, deployment, and inference.</a:t>
            </a:r>
          </a:p>
          <a:p>
            <a:pPr>
              <a:spcBef>
                <a:spcPts val="800"/>
              </a:spcBef>
            </a:pPr>
            <a:r>
              <a:rPr sz="1500" b="1">
                <a:solidFill>
                  <a:srgbClr val="243A5E"/>
                </a:solidFill>
              </a:rPr>
              <a:t>Conditional Access Policies
</a:t>
            </a:r>
            <a:r>
              <a:rPr sz="1400">
                <a:solidFill>
                  <a:srgbClr val="505050"/>
                </a:solidFill>
              </a:rPr>
              <a:t>Enforce MFA, compliant devices, and approved locations for access to AI training data and model management endpoints.</a:t>
            </a:r>
          </a:p>
          <a:p>
            <a:pPr>
              <a:spcBef>
                <a:spcPts val="800"/>
              </a:spcBef>
            </a:pPr>
            <a:r>
              <a:rPr sz="1500" b="1">
                <a:solidFill>
                  <a:srgbClr val="243A5E"/>
                </a:solidFill>
              </a:rPr>
              <a:t>Information Barriers
</a:t>
            </a:r>
            <a:r>
              <a:rPr sz="1400">
                <a:solidFill>
                  <a:srgbClr val="505050"/>
                </a:solidFill>
              </a:rPr>
              <a:t>Prevent data sharing between business units where regulatory walls exist — critical for financial services and healthcare AI deployments.</a:t>
            </a:r>
          </a:p>
          <a:p>
            <a:pPr>
              <a:spcBef>
                <a:spcPts val="800"/>
              </a:spcBef>
            </a:pPr>
            <a:r>
              <a:rPr sz="1500" b="1">
                <a:solidFill>
                  <a:srgbClr val="243A5E"/>
                </a:solidFill>
              </a:rPr>
              <a:t>Managed Identity
</a:t>
            </a:r>
            <a:r>
              <a:rPr sz="1400">
                <a:solidFill>
                  <a:srgbClr val="505050"/>
                </a:solidFill>
              </a:rPr>
              <a:t>Use managed identities for AI service-to-service calls. Eliminate stored credentials in training pipelines and inference endpoints.</a:t>
            </a:r>
          </a:p>
          <a:p>
            <a:pPr>
              <a:spcBef>
                <a:spcPts val="800"/>
              </a:spcBef>
            </a:pPr>
            <a:r>
              <a:rPr sz="1500" b="1">
                <a:solidFill>
                  <a:srgbClr val="243A5E"/>
                </a:solidFill>
              </a:rPr>
              <a:t>Purview Access Policies
</a:t>
            </a:r>
            <a:r>
              <a:rPr sz="1400">
                <a:solidFill>
                  <a:srgbClr val="505050"/>
                </a:solidFill>
              </a:rPr>
              <a:t>Catalog-driven access governance — data reader, curator, and owner scopes enforced at the asset level through Purview Unified Catalog.</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Access &amp; Residency Controls  |  AI Governance Workshop</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 / 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AI-Specific Access Patterns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Common access scenarios unique to AI workloads and how to govern them.</a:t>
            </a:r>
          </a:p>
        </p:txBody>
      </p:sp>
      <p:sp>
        <p:nvSpPr>
          <p:cNvPr id="4" name="TextBox 3"/>
          <p:cNvSpPr txBox="1"/>
          <p:nvPr/>
        </p:nvSpPr>
        <p:spPr>
          <a:xfrm>
            <a:off x="548640" y="1417320"/>
            <a:ext cx="11094720" cy="3144451"/>
          </a:xfrm>
          <a:prstGeom prst="rect">
            <a:avLst/>
          </a:prstGeom>
          <a:noFill/>
        </p:spPr>
        <p:txBody>
          <a:bodyPr wrap="square">
            <a:spAutoFit/>
          </a:bodyPr>
          <a:lstStyle/>
          <a:p>
            <a:r>
              <a:rPr sz="1500" b="1">
                <a:solidFill>
                  <a:srgbClr val="243A5E"/>
                </a:solidFill>
              </a:rPr>
              <a:t>Training Data Export
</a:t>
            </a:r>
            <a:r>
              <a:rPr sz="1400">
                <a:solidFill>
                  <a:srgbClr val="505050"/>
                </a:solidFill>
              </a:rPr>
              <a:t>Only approved Data Curators should export datasets from Purview for fine-tuning. Use Access Policies to gate export permissions.</a:t>
            </a:r>
          </a:p>
          <a:p>
            <a:pPr>
              <a:spcBef>
                <a:spcPts val="800"/>
              </a:spcBef>
            </a:pPr>
            <a:r>
              <a:rPr sz="1500" b="1">
                <a:solidFill>
                  <a:srgbClr val="243A5E"/>
                </a:solidFill>
              </a:rPr>
              <a:t>Vector Index Queries
</a:t>
            </a:r>
            <a:r>
              <a:rPr sz="1400">
                <a:solidFill>
                  <a:srgbClr val="505050"/>
                </a:solidFill>
              </a:rPr>
              <a:t>AI Search security trimming ensures users only retrieve documents they're authorized to see — even through the AI agent.</a:t>
            </a:r>
          </a:p>
          <a:p>
            <a:pPr>
              <a:spcBef>
                <a:spcPts val="800"/>
              </a:spcBef>
            </a:pPr>
            <a:r>
              <a:rPr sz="1500" b="1">
                <a:solidFill>
                  <a:srgbClr val="243A5E"/>
                </a:solidFill>
              </a:rPr>
              <a:t>Model Registry Access
</a:t>
            </a:r>
            <a:r>
              <a:rPr sz="1400">
                <a:solidFill>
                  <a:srgbClr val="505050"/>
                </a:solidFill>
              </a:rPr>
              <a:t>Separate read (deploy) from write (publish) access on Foundry model registry. Risk-tier drives who can publish to production.</a:t>
            </a:r>
          </a:p>
          <a:p>
            <a:pPr>
              <a:spcBef>
                <a:spcPts val="800"/>
              </a:spcBef>
            </a:pPr>
            <a:r>
              <a:rPr sz="1500" b="1">
                <a:solidFill>
                  <a:srgbClr val="243A5E"/>
                </a:solidFill>
              </a:rPr>
              <a:t>Prompt &amp; Response Logs
</a:t>
            </a:r>
            <a:r>
              <a:rPr sz="1400">
                <a:solidFill>
                  <a:srgbClr val="505050"/>
                </a:solidFill>
              </a:rPr>
              <a:t>Restrict access to conversation logs — these may contain PII, PHI, or proprietary information shared by users.</a:t>
            </a:r>
          </a:p>
          <a:p>
            <a:pPr>
              <a:spcBef>
                <a:spcPts val="800"/>
              </a:spcBef>
            </a:pPr>
            <a:r>
              <a:rPr sz="1500" b="1">
                <a:solidFill>
                  <a:srgbClr val="243A5E"/>
                </a:solidFill>
              </a:rPr>
              <a:t>Cross-Tenant Sharing
</a:t>
            </a:r>
            <a:r>
              <a:rPr sz="1400">
                <a:solidFill>
                  <a:srgbClr val="505050"/>
                </a:solidFill>
              </a:rPr>
              <a:t>When AI workloads span tenants (e.g., partner models), use Azure Lighthouse and cross-tenant access policies with Purview visibility.</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Access &amp; Residency Controls  |  AI Governance Workshop</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2 / 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EA896-D0F4-3960-41F2-867BD10CDF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1D5860E-D84C-61B5-6C60-966255B364E5}"/>
              </a:ext>
            </a:extLst>
          </p:cNvPr>
          <p:cNvSpPr>
            <a:spLocks noGrp="1"/>
          </p:cNvSpPr>
          <p:nvPr>
            <p:ph type="title"/>
            <p:custDataLst>
              <p:custData r:id="rId2"/>
            </p:custDataLst>
          </p:nvPr>
        </p:nvSpPr>
        <p:spPr>
          <a:xfrm>
            <a:off x="584200" y="3318975"/>
            <a:ext cx="11517312" cy="2031325"/>
          </a:xfrm>
        </p:spPr>
        <p:txBody>
          <a:bodyPr/>
          <a:lstStyle/>
          <a:p>
            <a:r>
              <a:rPr lang="en-US" dirty="0"/>
              <a:t>Compliance &amp; Lifecycle Governance</a:t>
            </a:r>
          </a:p>
        </p:txBody>
      </p:sp>
      <p:sp>
        <p:nvSpPr>
          <p:cNvPr id="2" name="Text Placeholder 1">
            <a:extLst>
              <a:ext uri="{FF2B5EF4-FFF2-40B4-BE49-F238E27FC236}">
                <a16:creationId xmlns:a16="http://schemas.microsoft.com/office/drawing/2014/main" id="{529F6609-0FC4-DF33-17C7-4E66A0D91348}"/>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3FEDCCB2-2DC4-EC27-FEA4-857C341DD5AC}"/>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79090EB4-9DD5-BB70-4619-7F43C2C83BEF}"/>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656384308"/>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4214-5DAD-62A1-0F1D-DBB84AEFE1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D476D11-69BB-CD04-291C-5A2F6FB34696}"/>
              </a:ext>
            </a:extLst>
          </p:cNvPr>
          <p:cNvSpPr>
            <a:spLocks noGrp="1"/>
          </p:cNvSpPr>
          <p:nvPr>
            <p:ph type="title"/>
          </p:nvPr>
        </p:nvSpPr>
        <p:spPr/>
        <p:txBody>
          <a:bodyPr/>
          <a:lstStyle/>
          <a:p>
            <a:r>
              <a:rPr lang="en-US"/>
              <a:t>Objectives — Compliance &amp; Lifecycle Governance</a:t>
            </a:r>
          </a:p>
        </p:txBody>
      </p:sp>
      <p:sp>
        <p:nvSpPr>
          <p:cNvPr id="4" name="Text Placeholder 3">
            <a:extLst>
              <a:ext uri="{FF2B5EF4-FFF2-40B4-BE49-F238E27FC236}">
                <a16:creationId xmlns:a16="http://schemas.microsoft.com/office/drawing/2014/main" id="{C873EA90-BEA0-03D7-5E94-1315376CE008}"/>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graphicFrame>
        <p:nvGraphicFramePr>
          <p:cNvPr id="41" name="Table 2">
            <a:extLst>
              <a:ext uri="{FF2B5EF4-FFF2-40B4-BE49-F238E27FC236}">
                <a16:creationId xmlns:a16="http://schemas.microsoft.com/office/drawing/2014/main" id="{7F848159-D4E9-C31F-7FD4-643EAC8245FC}"/>
              </a:ext>
            </a:extLst>
          </p:cNvPr>
          <p:cNvGraphicFramePr>
            <a:graphicFrameLocks noGrp="1"/>
          </p:cNvGraphicFramePr>
          <p:nvPr>
            <p:extLst>
              <p:ext uri="{D42A27DB-BD31-4B8C-83A1-F6EECF244321}">
                <p14:modId xmlns:p14="http://schemas.microsoft.com/office/powerpoint/2010/main" val="889453586"/>
              </p:ext>
            </p:extLst>
          </p:nvPr>
        </p:nvGraphicFramePr>
        <p:xfrm>
          <a:off x="432526" y="1835202"/>
          <a:ext cx="8188960" cy="452378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473442237"/>
                    </a:ext>
                  </a:extLst>
                </a:gridCol>
                <a:gridCol w="548640">
                  <a:extLst>
                    <a:ext uri="{9D8B030D-6E8A-4147-A177-3AD203B41FA5}">
                      <a16:colId xmlns:a16="http://schemas.microsoft.com/office/drawing/2014/main" val="108120203"/>
                    </a:ext>
                  </a:extLst>
                </a:gridCol>
                <a:gridCol w="7223760">
                  <a:extLst>
                    <a:ext uri="{9D8B030D-6E8A-4147-A177-3AD203B41FA5}">
                      <a16:colId xmlns:a16="http://schemas.microsoft.com/office/drawing/2014/main" val="2189273595"/>
                    </a:ext>
                  </a:extLst>
                </a:gridCol>
                <a:gridCol w="208280">
                  <a:extLst>
                    <a:ext uri="{9D8B030D-6E8A-4147-A177-3AD203B41FA5}">
                      <a16:colId xmlns:a16="http://schemas.microsoft.com/office/drawing/2014/main" val="518262350"/>
                    </a:ext>
                  </a:extLst>
                </a:gridCol>
              </a:tblGrid>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1</a:t>
                      </a:r>
                    </a:p>
                  </a:txBody>
                  <a:tcPr marT="73152" marB="73152" anchor="ctr">
                    <a:lnL w="3175" cap="flat" cmpd="sng" algn="ctr">
                      <a:noFill/>
                      <a:prstDash val="solid"/>
                      <a:round/>
                      <a:headEnd type="none" w="med" len="med"/>
                      <a:tailEnd type="none" w="med" len="med"/>
                    </a:lnL>
                    <a:lnR w="12700" cmpd="sng">
                      <a:noFill/>
                    </a:lnR>
                    <a:lnT w="381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defTabSz="914192">
                        <a:spcBef>
                          <a:spcPts val="100"/>
                        </a:spcBef>
                        <a:spcAft>
                          <a:spcPts val="200"/>
                        </a:spcAft>
                      </a:pPr>
                      <a:r>
                        <a:rPr lang="en-US" sz="1400" b="0" kern="1200" dirty="0">
                          <a:solidFill>
                            <a:schemeClr val="tx1"/>
                          </a:solidFill>
                          <a:latin typeface="+mj-lt"/>
                          <a:ea typeface="+mn-ea"/>
                          <a:cs typeface="Segoe UI Semibold"/>
                        </a:rPr>
                        <a:t>Understand….</a:t>
                      </a: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Privacy &amp; Regulatory Compliance — GDPR, HIPAA, CCPA, NIST AI RMF, ISO 42001</a:t>
                      </a:r>
                    </a:p>
                  </a:txBody>
                  <a:tcPr marT="73152" marB="73152">
                    <a:lnL w="12700" cmpd="sng">
                      <a:noFill/>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228600" defTabSz="914192">
                        <a:spcBef>
                          <a:spcPts val="100"/>
                        </a:spcBef>
                        <a:spcAft>
                          <a:spcPts val="200"/>
                        </a:spcAft>
                        <a:buFont typeface="Wingdings" panose="05000000000000000000" pitchFamily="2" charset="2"/>
                        <a:buChar char="ü"/>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179405"/>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2</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 </a:t>
                      </a:r>
                      <a:endPar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endParaRP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Retention &amp; Lifecycle — purge policies, right-to-erasure, refresh cadence</a:t>
                      </a:r>
                    </a:p>
                    <a:p>
                      <a:endParaRPr lang="en-US" sz="1800" b="0" i="0" kern="1200" dirty="0">
                        <a:solidFill>
                          <a:schemeClr val="dk1"/>
                        </a:solidFill>
                        <a:effectLst/>
                        <a:latin typeface="+mn-lt"/>
                        <a:ea typeface="+mn-ea"/>
                        <a:cs typeface="+mn-cs"/>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743437"/>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3</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Monitoring, Audit &amp; Incident Response — activity logs, DLP incidents, compliance reports</a:t>
                      </a: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2214051"/>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dirty="0">
                          <a:solidFill>
                            <a:schemeClr val="tx2"/>
                          </a:solidFill>
                          <a:latin typeface="+mn-lt"/>
                        </a:rPr>
                        <a:t>4</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indent="-228600" algn="l" defTabSz="914192" rtl="0" eaLnBrk="1" latinLnBrk="0" hangingPunct="1">
                        <a:spcBef>
                          <a:spcPts val="100"/>
                        </a:spcBef>
                        <a:spcAft>
                          <a:spcPts val="200"/>
                        </a:spcAft>
                        <a:buFont typeface="Wingdings" panose="05000000000000000000" pitchFamily="2" charset="2"/>
                        <a:buChar char="ü"/>
                      </a:pPr>
                      <a:r>
                        <a:rPr lang="en-US" sz="1400" b="0" kern="1200" dirty="0">
                          <a:solidFill>
                            <a:schemeClr val="tx1"/>
                          </a:solidFill>
                          <a:latin typeface="+mn-lt"/>
                          <a:ea typeface="+mn-ea"/>
                          <a:cs typeface="Segoe UI Semibold"/>
                        </a:rPr>
                        <a:t>Responsible AI Controls — content safety, bias, </a:t>
                      </a:r>
                      <a:r>
                        <a:rPr lang="en-US" sz="1400" b="0" kern="1200" dirty="0" err="1">
                          <a:solidFill>
                            <a:schemeClr val="tx1"/>
                          </a:solidFill>
                          <a:latin typeface="+mn-lt"/>
                          <a:ea typeface="+mn-ea"/>
                          <a:cs typeface="Segoe UI Semibold"/>
                        </a:rPr>
                        <a:t>groundedness</a:t>
                      </a:r>
                      <a:r>
                        <a:rPr lang="en-US" sz="1400" b="0" kern="1200" dirty="0">
                          <a:solidFill>
                            <a:schemeClr val="tx1"/>
                          </a:solidFill>
                          <a:latin typeface="+mn-lt"/>
                          <a:ea typeface="+mn-ea"/>
                          <a:cs typeface="Segoe UI Semibold"/>
                        </a:rPr>
                        <a:t>, Prompt Shield</a:t>
                      </a:r>
                    </a:p>
                    <a:p>
                      <a:pPr marL="342900" indent="-228600" defTabSz="914192">
                        <a:spcBef>
                          <a:spcPts val="100"/>
                        </a:spcBef>
                        <a:spcAft>
                          <a:spcPts val="200"/>
                        </a:spcAft>
                        <a:buFont typeface="Wingdings" panose="05000000000000000000" pitchFamily="2" charset="2"/>
                        <a:buChar char="ü"/>
                      </a:pP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957248"/>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dirty="0">
                          <a:solidFill>
                            <a:schemeClr val="tx2"/>
                          </a:solidFill>
                          <a:latin typeface="+mn-lt"/>
                        </a:rPr>
                        <a:t>5</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b="0" kern="1200" dirty="0">
                          <a:solidFill>
                            <a:schemeClr val="tx1"/>
                          </a:solidFill>
                          <a:latin typeface="+mn-lt"/>
                          <a:ea typeface="+mn-ea"/>
                          <a:cs typeface="Segoe UI Semibold"/>
                        </a:rPr>
                        <a:t>Agent-Specific Governance — tool/plugin authorization, action audit, output attribution</a:t>
                      </a:r>
                    </a:p>
                    <a:p>
                      <a:pPr marL="342900" indent="-228600" defTabSz="914192">
                        <a:spcBef>
                          <a:spcPts val="100"/>
                        </a:spcBef>
                        <a:spcAft>
                          <a:spcPts val="200"/>
                        </a:spcAft>
                        <a:buFont typeface="Wingdings" panose="05000000000000000000" pitchFamily="2" charset="2"/>
                        <a:buChar char="ü"/>
                      </a:pP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498119"/>
                  </a:ext>
                </a:extLst>
              </a:tr>
            </a:tbl>
          </a:graphicData>
        </a:graphic>
      </p:graphicFrame>
      <p:cxnSp>
        <p:nvCxnSpPr>
          <p:cNvPr id="50" name="Straight Connector 49">
            <a:extLst>
              <a:ext uri="{FF2B5EF4-FFF2-40B4-BE49-F238E27FC236}">
                <a16:creationId xmlns:a16="http://schemas.microsoft.com/office/drawing/2014/main" id="{2BC79586-B9D4-D7D8-EA4B-93AA820FAD18}"/>
              </a:ext>
              <a:ext uri="{C183D7F6-B498-43B3-948B-1728B52AA6E4}">
                <adec:decorative xmlns:adec="http://schemas.microsoft.com/office/drawing/2017/decorative" val="1"/>
              </a:ext>
            </a:extLst>
          </p:cNvPr>
          <p:cNvCxnSpPr>
            <a:cxnSpLocks/>
          </p:cNvCxnSpPr>
          <p:nvPr/>
        </p:nvCxnSpPr>
        <p:spPr>
          <a:xfrm>
            <a:off x="8057878" y="26511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51F7C96-D392-FDCF-2287-F83F428813D6}"/>
              </a:ext>
              <a:ext uri="{C183D7F6-B498-43B3-948B-1728B52AA6E4}">
                <adec:decorative xmlns:adec="http://schemas.microsoft.com/office/drawing/2017/decorative" val="1"/>
              </a:ext>
            </a:extLst>
          </p:cNvPr>
          <p:cNvCxnSpPr>
            <a:cxnSpLocks/>
          </p:cNvCxnSpPr>
          <p:nvPr/>
        </p:nvCxnSpPr>
        <p:spPr>
          <a:xfrm>
            <a:off x="8057878" y="35528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549216B-0098-B301-F5C2-39B59D10141B}"/>
              </a:ext>
              <a:ext uri="{C183D7F6-B498-43B3-948B-1728B52AA6E4}">
                <adec:decorative xmlns:adec="http://schemas.microsoft.com/office/drawing/2017/decorative" val="1"/>
              </a:ext>
            </a:extLst>
          </p:cNvPr>
          <p:cNvCxnSpPr>
            <a:cxnSpLocks/>
          </p:cNvCxnSpPr>
          <p:nvPr/>
        </p:nvCxnSpPr>
        <p:spPr>
          <a:xfrm>
            <a:off x="8057878" y="445965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3" name="Footer Placeholder 2">
            <a:extLst>
              <a:ext uri="{FF2B5EF4-FFF2-40B4-BE49-F238E27FC236}">
                <a16:creationId xmlns:a16="http://schemas.microsoft.com/office/drawing/2014/main" id="{D696A37B-7AFB-4816-2EC6-147E0C2FBA3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96" name="Picture 95" descr="Two co-workers walking in an office hallway, and having a discussions a surface laptop on their hands.">
            <a:extLst>
              <a:ext uri="{FF2B5EF4-FFF2-40B4-BE49-F238E27FC236}">
                <a16:creationId xmlns:a16="http://schemas.microsoft.com/office/drawing/2014/main" id="{0B0051CC-B4E9-12B2-D753-C1F122F23A9D}"/>
              </a:ext>
            </a:extLst>
          </p:cNvPr>
          <p:cNvPicPr>
            <a:picLocks noChangeAspect="1"/>
          </p:cNvPicPr>
          <p:nvPr/>
        </p:nvPicPr>
        <p:blipFill rotWithShape="1">
          <a:blip r:embed="rId5"/>
          <a:srcRect l="16228" t="2311" r="13881" b="2311"/>
          <a:stretch/>
        </p:blipFill>
        <p:spPr>
          <a:xfrm>
            <a:off x="8914424" y="0"/>
            <a:ext cx="3277576" cy="6858000"/>
          </a:xfrm>
          <a:custGeom>
            <a:avLst/>
            <a:gdLst>
              <a:gd name="connsiteX0" fmla="*/ 0 w 3627769"/>
              <a:gd name="connsiteY0" fmla="*/ 0 h 4875667"/>
              <a:gd name="connsiteX1" fmla="*/ 3627769 w 3627769"/>
              <a:gd name="connsiteY1" fmla="*/ 0 h 4875667"/>
              <a:gd name="connsiteX2" fmla="*/ 3627769 w 3627769"/>
              <a:gd name="connsiteY2" fmla="*/ 4875667 h 4875667"/>
              <a:gd name="connsiteX3" fmla="*/ 0 w 3627769"/>
              <a:gd name="connsiteY3" fmla="*/ 4875667 h 4875667"/>
            </a:gdLst>
            <a:ahLst/>
            <a:cxnLst>
              <a:cxn ang="0">
                <a:pos x="connsiteX0" y="connsiteY0"/>
              </a:cxn>
              <a:cxn ang="0">
                <a:pos x="connsiteX1" y="connsiteY1"/>
              </a:cxn>
              <a:cxn ang="0">
                <a:pos x="connsiteX2" y="connsiteY2"/>
              </a:cxn>
              <a:cxn ang="0">
                <a:pos x="connsiteX3" y="connsiteY3"/>
              </a:cxn>
            </a:cxnLst>
            <a:rect l="l" t="t" r="r" b="b"/>
            <a:pathLst>
              <a:path w="3627769" h="4875667">
                <a:moveTo>
                  <a:pt x="0" y="0"/>
                </a:moveTo>
                <a:lnTo>
                  <a:pt x="3627769" y="0"/>
                </a:lnTo>
                <a:lnTo>
                  <a:pt x="3627769" y="4875667"/>
                </a:lnTo>
                <a:lnTo>
                  <a:pt x="0" y="4875667"/>
                </a:lnTo>
                <a:close/>
              </a:path>
            </a:pathLst>
          </a:custGeom>
        </p:spPr>
      </p:pic>
      <p:sp>
        <p:nvSpPr>
          <p:cNvPr id="98" name="Slide Number Placeholder 5">
            <a:extLst>
              <a:ext uri="{FF2B5EF4-FFF2-40B4-BE49-F238E27FC236}">
                <a16:creationId xmlns:a16="http://schemas.microsoft.com/office/drawing/2014/main" id="{D10DE2C7-400B-E804-EAEC-776C700AB55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66</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193524263"/>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Why Residency &amp; Sovereignty Matter for AI</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AI workloads move data across new boundaries — governance must keep pace.</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Data Residency
</a:t>
            </a:r>
            <a:r>
              <a:rPr sz="1400">
                <a:solidFill>
                  <a:srgbClr val="505050"/>
                </a:solidFill>
              </a:rPr>
              <a:t>Training data, embeddings, indexes, and model weights must stay in approved geographic regions.</a:t>
            </a:r>
          </a:p>
          <a:p>
            <a:pPr>
              <a:spcBef>
                <a:spcPts val="800"/>
              </a:spcBef>
            </a:pPr>
            <a:r>
              <a:rPr sz="1500" b="1">
                <a:solidFill>
                  <a:srgbClr val="243A5E"/>
                </a:solidFill>
              </a:rPr>
              <a:t>Data Sovereignty
</a:t>
            </a:r>
            <a:r>
              <a:rPr sz="1400">
                <a:solidFill>
                  <a:srgbClr val="505050"/>
                </a:solidFill>
              </a:rPr>
              <a:t>Data is subject to the laws and governance structures of the country where it resides — not just where the organization is headquartered.</a:t>
            </a:r>
          </a:p>
          <a:p>
            <a:pPr>
              <a:spcBef>
                <a:spcPts val="800"/>
              </a:spcBef>
            </a:pPr>
            <a:r>
              <a:rPr sz="1500" b="1">
                <a:solidFill>
                  <a:srgbClr val="243A5E"/>
                </a:solidFill>
              </a:rPr>
              <a:t>AI-Specific Risks
</a:t>
            </a:r>
            <a:r>
              <a:rPr sz="1400">
                <a:solidFill>
                  <a:srgbClr val="505050"/>
                </a:solidFill>
              </a:rPr>
              <a:t>Model inference endpoints, vector stores, and fine-tuning jobs can inadvertently route data across borders if not explicitly pinned.</a:t>
            </a:r>
          </a:p>
          <a:p>
            <a:pPr>
              <a:spcBef>
                <a:spcPts val="800"/>
              </a:spcBef>
            </a:pPr>
            <a:r>
              <a:rPr sz="1500" b="1">
                <a:solidFill>
                  <a:srgbClr val="243A5E"/>
                </a:solidFill>
              </a:rPr>
              <a:t>Regulatory Pressure
</a:t>
            </a:r>
            <a:r>
              <a:rPr sz="1400">
                <a:solidFill>
                  <a:srgbClr val="505050"/>
                </a:solidFill>
              </a:rPr>
              <a:t>GDPR (EU), PIPL (China), LGPD (Brazil), POPIA (South Africa), and sector-specific rules all impose residency requirements.</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Residency &amp; Sovereignty  |  Compliance &amp; Lifecycle Governance</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 / 6</a:t>
            </a:r>
          </a:p>
        </p:txBody>
      </p:sp>
      <p:sp>
        <p:nvSpPr>
          <p:cNvPr id="7" name="Hidden Title 7" descr="Slide title: Why Residency &amp; Sovereignty Matter for AI"/>
          <p:cNvSpPr>
            <a:spLocks noGrp="1"/>
          </p:cNvSpPr>
          <p:nvPr>
            <p:ph type="title"/>
          </p:nvPr>
        </p:nvSpPr>
        <p:spPr>
          <a:xfrm>
            <a:off x="0" y="-457200"/>
            <a:ext cx="9144000" cy="457200"/>
          </a:xfrm>
        </p:spPr>
        <p:txBody>
          <a:bodyPr/>
          <a:lstStyle/>
          <a:p>
            <a:r>
              <a:rPr lang="en-US" sz="100" dirty="0"/>
              <a:t>Why Residency &amp; Sovereignty Matter for AI</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Key Residency Concepts for AI Workloads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Six data surfaces that must be region-pinned in every AI deployment.</a:t>
            </a:r>
          </a:p>
        </p:txBody>
      </p:sp>
      <p:sp>
        <p:nvSpPr>
          <p:cNvPr id="4" name="TextBox 3"/>
          <p:cNvSpPr txBox="1"/>
          <p:nvPr/>
        </p:nvSpPr>
        <p:spPr>
          <a:xfrm>
            <a:off x="548640" y="1417320"/>
            <a:ext cx="11094720" cy="3795911"/>
          </a:xfrm>
          <a:prstGeom prst="rect">
            <a:avLst/>
          </a:prstGeom>
          <a:noFill/>
        </p:spPr>
        <p:txBody>
          <a:bodyPr wrap="square">
            <a:spAutoFit/>
          </a:bodyPr>
          <a:lstStyle/>
          <a:p>
            <a:r>
              <a:rPr sz="1500" b="1">
                <a:solidFill>
                  <a:srgbClr val="243A5E"/>
                </a:solidFill>
              </a:rPr>
              <a:t>Training Data Storage
</a:t>
            </a:r>
            <a:r>
              <a:rPr sz="1400">
                <a:solidFill>
                  <a:srgbClr val="505050"/>
                </a:solidFill>
              </a:rPr>
              <a:t>Raw datasets and curated training sets must reside in approved regions. Use Purview Data Map to verify source locations.</a:t>
            </a:r>
          </a:p>
          <a:p>
            <a:pPr>
              <a:spcBef>
                <a:spcPts val="800"/>
              </a:spcBef>
            </a:pPr>
            <a:r>
              <a:rPr sz="1500" b="1">
                <a:solidFill>
                  <a:srgbClr val="243A5E"/>
                </a:solidFill>
              </a:rPr>
              <a:t>Vector Index / Embeddings
</a:t>
            </a:r>
            <a:r>
              <a:rPr sz="1400">
                <a:solidFill>
                  <a:srgbClr val="505050"/>
                </a:solidFill>
              </a:rPr>
              <a:t>Azure AI Search indexes storing embeddings must be created in compliant regions with customer-managed keys (CMK).</a:t>
            </a:r>
          </a:p>
          <a:p>
            <a:pPr>
              <a:spcBef>
                <a:spcPts val="800"/>
              </a:spcBef>
            </a:pPr>
            <a:r>
              <a:rPr sz="1500" b="1">
                <a:solidFill>
                  <a:srgbClr val="243A5E"/>
                </a:solidFill>
              </a:rPr>
              <a:t>Model Weights &amp; Artifacts
</a:t>
            </a:r>
            <a:r>
              <a:rPr sz="1400">
                <a:solidFill>
                  <a:srgbClr val="505050"/>
                </a:solidFill>
              </a:rPr>
              <a:t>Fine-tuned model files in Foundry must be stored and served from approved regions.</a:t>
            </a:r>
          </a:p>
          <a:p>
            <a:pPr>
              <a:spcBef>
                <a:spcPts val="800"/>
              </a:spcBef>
            </a:pPr>
            <a:r>
              <a:rPr sz="1500" b="1">
                <a:solidFill>
                  <a:srgbClr val="243A5E"/>
                </a:solidFill>
              </a:rPr>
              <a:t>Inference Endpoints
</a:t>
            </a:r>
            <a:r>
              <a:rPr sz="1400">
                <a:solidFill>
                  <a:srgbClr val="505050"/>
                </a:solidFill>
              </a:rPr>
              <a:t>API endpoints processing prompts and responses must be deployed in-region to avoid cross-border data transit.</a:t>
            </a:r>
          </a:p>
          <a:p>
            <a:pPr>
              <a:spcBef>
                <a:spcPts val="800"/>
              </a:spcBef>
            </a:pPr>
            <a:r>
              <a:rPr sz="1500" b="1">
                <a:solidFill>
                  <a:srgbClr val="243A5E"/>
                </a:solidFill>
              </a:rPr>
              <a:t>Prompt &amp; Response Logs
</a:t>
            </a:r>
            <a:r>
              <a:rPr sz="1400">
                <a:solidFill>
                  <a:srgbClr val="505050"/>
                </a:solidFill>
              </a:rPr>
              <a:t>Audit logs, monitoring traces, and conversation history must be retained in approved geographies.</a:t>
            </a:r>
          </a:p>
          <a:p>
            <a:pPr>
              <a:spcBef>
                <a:spcPts val="800"/>
              </a:spcBef>
            </a:pPr>
            <a:r>
              <a:rPr sz="1500" b="1">
                <a:solidFill>
                  <a:srgbClr val="243A5E"/>
                </a:solidFill>
              </a:rPr>
              <a:t>Backup &amp; Disaster Recovery
</a:t>
            </a:r>
            <a:r>
              <a:rPr sz="1400">
                <a:solidFill>
                  <a:srgbClr val="505050"/>
                </a:solidFill>
              </a:rPr>
              <a:t>Geo-redundant backups must respect residency constraints — paired regions must both be compliant.</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Residency &amp; Sovereignty  |  Compliance &amp; Lifecycle Governance</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2 / 6</a:t>
            </a:r>
          </a:p>
        </p:txBody>
      </p:sp>
      <p:sp>
        <p:nvSpPr>
          <p:cNvPr id="7" name="Hidden Title 7" descr="Slide title: Key Residency Concepts for AI Workloads"/>
          <p:cNvSpPr>
            <a:spLocks noGrp="1"/>
          </p:cNvSpPr>
          <p:nvPr>
            <p:ph type="title"/>
          </p:nvPr>
        </p:nvSpPr>
        <p:spPr>
          <a:xfrm>
            <a:off x="0" y="-457200"/>
            <a:ext cx="9144000" cy="457200"/>
          </a:xfrm>
        </p:spPr>
        <p:txBody>
          <a:bodyPr/>
          <a:lstStyle/>
          <a:p>
            <a:r>
              <a:rPr lang="en-US" sz="100" dirty="0"/>
              <a:t>Key Residency Concepts for AI Workloads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Azure Region Controls for AI</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Built-in capabilities to enforce data residency across the AI stack.</a:t>
            </a:r>
          </a:p>
        </p:txBody>
      </p:sp>
      <p:sp>
        <p:nvSpPr>
          <p:cNvPr id="4" name="TextBox 3"/>
          <p:cNvSpPr txBox="1"/>
          <p:nvPr/>
        </p:nvSpPr>
        <p:spPr>
          <a:xfrm>
            <a:off x="548640" y="1417320"/>
            <a:ext cx="11094720" cy="3144451"/>
          </a:xfrm>
          <a:prstGeom prst="rect">
            <a:avLst/>
          </a:prstGeom>
          <a:noFill/>
        </p:spPr>
        <p:txBody>
          <a:bodyPr wrap="square">
            <a:spAutoFit/>
          </a:bodyPr>
          <a:lstStyle/>
          <a:p>
            <a:r>
              <a:rPr lang="en-US" sz="1500" b="1">
                <a:solidFill>
                  <a:srgbClr val="243A5E"/>
                </a:solidFill>
              </a:rPr>
              <a:t>Microsoft</a:t>
            </a:r>
            <a:r>
              <a:rPr sz="1500" b="1">
                <a:solidFill>
                  <a:srgbClr val="243A5E"/>
                </a:solidFill>
              </a:rPr>
              <a:t> Foundry — Region Selection
</a:t>
            </a:r>
            <a:r>
              <a:rPr sz="1400">
                <a:solidFill>
                  <a:srgbClr val="505050"/>
                </a:solidFill>
              </a:rPr>
              <a:t>Deploy models, fine-tuning jobs, and endpoints in specific Azure regions. Region is set at resource creation and cannot be changed.</a:t>
            </a:r>
          </a:p>
          <a:p>
            <a:pPr>
              <a:spcBef>
                <a:spcPts val="800"/>
              </a:spcBef>
            </a:pPr>
            <a:r>
              <a:rPr sz="1500" b="1">
                <a:solidFill>
                  <a:srgbClr val="243A5E"/>
                </a:solidFill>
              </a:rPr>
              <a:t>Azure AI Search — Geo Pinning
</a:t>
            </a:r>
            <a:r>
              <a:rPr sz="1400">
                <a:solidFill>
                  <a:srgbClr val="505050"/>
                </a:solidFill>
              </a:rPr>
              <a:t>Create search indexes in chosen regions. Enable CMK encryption. Disable cross-region replication if not compliant.</a:t>
            </a:r>
          </a:p>
          <a:p>
            <a:pPr>
              <a:spcBef>
                <a:spcPts val="800"/>
              </a:spcBef>
            </a:pPr>
            <a:r>
              <a:rPr sz="1500" b="1">
                <a:solidFill>
                  <a:srgbClr val="243A5E"/>
                </a:solidFill>
              </a:rPr>
              <a:t>Azure Storage — Region Lock
</a:t>
            </a:r>
            <a:r>
              <a:rPr sz="1400">
                <a:solidFill>
                  <a:srgbClr val="505050"/>
                </a:solidFill>
              </a:rPr>
              <a:t>Storage accounts for training data and artifacts pinned to specific regions with GRS disabled where required.</a:t>
            </a:r>
          </a:p>
          <a:p>
            <a:pPr>
              <a:spcBef>
                <a:spcPts val="800"/>
              </a:spcBef>
            </a:pPr>
            <a:r>
              <a:rPr sz="1500" b="1">
                <a:solidFill>
                  <a:srgbClr val="243A5E"/>
                </a:solidFill>
              </a:rPr>
              <a:t>Azure Policy — Allowed Locations
</a:t>
            </a:r>
            <a:r>
              <a:rPr sz="1400">
                <a:solidFill>
                  <a:srgbClr val="505050"/>
                </a:solidFill>
              </a:rPr>
              <a:t>Enforce allowed Azure regions at subscription or resource group level. Deny deployments to non-compliant regions.</a:t>
            </a:r>
          </a:p>
          <a:p>
            <a:pPr>
              <a:spcBef>
                <a:spcPts val="800"/>
              </a:spcBef>
            </a:pPr>
            <a:r>
              <a:rPr sz="1500" b="1">
                <a:solidFill>
                  <a:srgbClr val="243A5E"/>
                </a:solidFill>
              </a:rPr>
              <a:t>Network Controls
</a:t>
            </a:r>
            <a:r>
              <a:rPr sz="1400">
                <a:solidFill>
                  <a:srgbClr val="505050"/>
                </a:solidFill>
              </a:rPr>
              <a:t>Private endpoints, VNet injection, and NSGs ensure data does not transit outside approved network boundaries.</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Residency &amp; Sovereignty  |  Compliance &amp; Lifecycle Governance</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3 / 6</a:t>
            </a:r>
          </a:p>
        </p:txBody>
      </p:sp>
      <p:sp>
        <p:nvSpPr>
          <p:cNvPr id="7" name="Hidden Title 7" descr="Slide title: Azure Region Controls for AI"/>
          <p:cNvSpPr>
            <a:spLocks noGrp="1"/>
          </p:cNvSpPr>
          <p:nvPr>
            <p:ph type="title"/>
          </p:nvPr>
        </p:nvSpPr>
        <p:spPr>
          <a:xfrm>
            <a:off x="0" y="-457200"/>
            <a:ext cx="9144000" cy="457200"/>
          </a:xfrm>
        </p:spPr>
        <p:txBody>
          <a:bodyPr/>
          <a:lstStyle/>
          <a:p>
            <a:r>
              <a:rPr lang="en-US" sz="100" dirty="0"/>
              <a:t>Azure Region Controls for AI</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EU Data Boundary &amp; Sovereign Clouds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Microsoft's commitments for the most regulated environments.</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EU Data Boundary
</a:t>
            </a:r>
            <a:r>
              <a:rPr sz="1400">
                <a:solidFill>
                  <a:srgbClr val="505050"/>
                </a:solidFill>
              </a:rPr>
              <a:t>Commitment to store and process EU customer data within the EU. Applies to Azure, M365, Dynamics 365, and Power Platform. AI services included in scope.</a:t>
            </a:r>
          </a:p>
          <a:p>
            <a:pPr>
              <a:spcBef>
                <a:spcPts val="800"/>
              </a:spcBef>
            </a:pPr>
            <a:r>
              <a:rPr sz="1500" b="1">
                <a:solidFill>
                  <a:srgbClr val="243A5E"/>
                </a:solidFill>
              </a:rPr>
              <a:t>Azure Confidential Computing
</a:t>
            </a:r>
            <a:r>
              <a:rPr sz="1400">
                <a:solidFill>
                  <a:srgbClr val="505050"/>
                </a:solidFill>
              </a:rPr>
              <a:t>Process sensitive data in hardware-based Trusted Execution Environments (TEEs). Even Microsoft operators cannot access data in use.</a:t>
            </a:r>
          </a:p>
          <a:p>
            <a:pPr>
              <a:spcBef>
                <a:spcPts val="800"/>
              </a:spcBef>
            </a:pPr>
            <a:r>
              <a:rPr sz="1500" b="1">
                <a:solidFill>
                  <a:srgbClr val="243A5E"/>
                </a:solidFill>
              </a:rPr>
              <a:t>Sovereign Clouds
</a:t>
            </a:r>
            <a:r>
              <a:rPr sz="1400">
                <a:solidFill>
                  <a:srgbClr val="505050"/>
                </a:solidFill>
              </a:rPr>
              <a:t>Azure Government (US), Azure China (21Vianet), and Azure for Sovereignty offer isolated infrastructure with local compliance certifications.</a:t>
            </a:r>
          </a:p>
          <a:p>
            <a:pPr>
              <a:spcBef>
                <a:spcPts val="800"/>
              </a:spcBef>
            </a:pPr>
            <a:r>
              <a:rPr sz="1500" b="1">
                <a:solidFill>
                  <a:srgbClr val="243A5E"/>
                </a:solidFill>
              </a:rPr>
              <a:t>Azure for Sovereignty
</a:t>
            </a:r>
            <a:r>
              <a:rPr sz="1400">
                <a:solidFill>
                  <a:srgbClr val="505050"/>
                </a:solidFill>
              </a:rPr>
              <a:t>Sovereign Landing Zone with policy-driven guardrails, encryption with customer-managed keys, and Azure Confidential VMs for workload isolation.</a:t>
            </a:r>
          </a:p>
          <a:p>
            <a:pPr>
              <a:spcBef>
                <a:spcPts val="800"/>
              </a:spcBef>
            </a:pPr>
            <a:r>
              <a:rPr sz="1500" b="1">
                <a:solidFill>
                  <a:srgbClr val="243A5E"/>
                </a:solidFill>
              </a:rPr>
              <a:t>Purview + Sovereignty
</a:t>
            </a:r>
            <a:r>
              <a:rPr sz="1400">
                <a:solidFill>
                  <a:srgbClr val="505050"/>
                </a:solidFill>
              </a:rPr>
              <a:t>Unified Catalog respects data boundary — metadata, classifications, and labels stay within the sovereign perimeter.</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Residency &amp; Sovereignty  |  Compliance &amp; Lifecycle Governance</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4 / 6</a:t>
            </a:r>
          </a:p>
        </p:txBody>
      </p:sp>
      <p:sp>
        <p:nvSpPr>
          <p:cNvPr id="7" name="Hidden Title 7" descr="Slide title: EU Data Boundary &amp; Sovereign Clouds"/>
          <p:cNvSpPr>
            <a:spLocks noGrp="1"/>
          </p:cNvSpPr>
          <p:nvPr>
            <p:ph type="title"/>
          </p:nvPr>
        </p:nvSpPr>
        <p:spPr>
          <a:xfrm>
            <a:off x="0" y="-457200"/>
            <a:ext cx="9144000" cy="457200"/>
          </a:xfrm>
        </p:spPr>
        <p:txBody>
          <a:bodyPr/>
          <a:lstStyle/>
          <a:p>
            <a:r>
              <a:rPr lang="en-US" sz="100" dirty="0"/>
              <a:t>EU Data Boundary &amp; Sovereign Clouds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Residency Governance Control Mapping</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Which product owns which residency control across the AI data lifecycle.</a:t>
            </a:r>
          </a:p>
        </p:txBody>
      </p:sp>
      <p:graphicFrame>
        <p:nvGraphicFramePr>
          <p:cNvPr id="4" name="Table 3"/>
          <p:cNvGraphicFramePr>
            <a:graphicFrameLocks noGrp="1"/>
          </p:cNvGraphicFramePr>
          <p:nvPr>
            <p:extLst>
              <p:ext uri="{D42A27DB-BD31-4B8C-83A1-F6EECF244321}">
                <p14:modId xmlns:p14="http://schemas.microsoft.com/office/powerpoint/2010/main" val="942837055"/>
              </p:ext>
            </p:extLst>
          </p:nvPr>
        </p:nvGraphicFramePr>
        <p:xfrm>
          <a:off x="548640" y="1417320"/>
          <a:ext cx="11094720" cy="3840480"/>
        </p:xfrm>
        <a:graphic>
          <a:graphicData uri="http://schemas.openxmlformats.org/drawingml/2006/table">
            <a:tbl>
              <a:tblPr firstRow="1" bandRow="1">
                <a:tableStyleId>{5C22544A-7EE6-4342-B048-85BDC9FD1C3A}</a:tableStyleId>
              </a:tblPr>
              <a:tblGrid>
                <a:gridCol w="3698240">
                  <a:extLst>
                    <a:ext uri="{9D8B030D-6E8A-4147-A177-3AD203B41FA5}">
                      <a16:colId xmlns:a16="http://schemas.microsoft.com/office/drawing/2014/main" val="20000"/>
                    </a:ext>
                  </a:extLst>
                </a:gridCol>
                <a:gridCol w="3698240">
                  <a:extLst>
                    <a:ext uri="{9D8B030D-6E8A-4147-A177-3AD203B41FA5}">
                      <a16:colId xmlns:a16="http://schemas.microsoft.com/office/drawing/2014/main" val="20001"/>
                    </a:ext>
                  </a:extLst>
                </a:gridCol>
                <a:gridCol w="3698240">
                  <a:extLst>
                    <a:ext uri="{9D8B030D-6E8A-4147-A177-3AD203B41FA5}">
                      <a16:colId xmlns:a16="http://schemas.microsoft.com/office/drawing/2014/main" val="20002"/>
                    </a:ext>
                  </a:extLst>
                </a:gridCol>
              </a:tblGrid>
              <a:tr h="548640">
                <a:tc>
                  <a:txBody>
                    <a:bodyPr/>
                    <a:lstStyle/>
                    <a:p>
                      <a:pPr>
                        <a:defRPr sz="1400" b="1">
                          <a:solidFill>
                            <a:srgbClr val="FFFFFF"/>
                          </a:solidFill>
                        </a:defRPr>
                      </a:pPr>
                      <a:r>
                        <a:t>GOVERNANCE CONCERN</a:t>
                      </a:r>
                    </a:p>
                  </a:txBody>
                  <a:tcPr>
                    <a:solidFill>
                      <a:srgbClr val="243A5E"/>
                    </a:solidFill>
                  </a:tcPr>
                </a:tc>
                <a:tc>
                  <a:txBody>
                    <a:bodyPr/>
                    <a:lstStyle/>
                    <a:p>
                      <a:pPr>
                        <a:defRPr sz="1400" b="1">
                          <a:solidFill>
                            <a:srgbClr val="FFFFFF"/>
                          </a:solidFill>
                        </a:defRPr>
                      </a:pPr>
                      <a:r>
                        <a:t>AZURE PLATFORM</a:t>
                      </a:r>
                    </a:p>
                  </a:txBody>
                  <a:tcPr>
                    <a:solidFill>
                      <a:srgbClr val="243A5E"/>
                    </a:solidFill>
                  </a:tcPr>
                </a:tc>
                <a:tc>
                  <a:txBody>
                    <a:bodyPr/>
                    <a:lstStyle/>
                    <a:p>
                      <a:pPr>
                        <a:defRPr sz="1400" b="1">
                          <a:solidFill>
                            <a:srgbClr val="FFFFFF"/>
                          </a:solidFill>
                        </a:defRPr>
                      </a:pPr>
                      <a:r>
                        <a:t>MICROSOFT PURVIEW</a:t>
                      </a:r>
                    </a:p>
                  </a:txBody>
                  <a:tcPr>
                    <a:solidFill>
                      <a:srgbClr val="243A5E"/>
                    </a:solidFill>
                  </a:tcPr>
                </a:tc>
                <a:extLst>
                  <a:ext uri="{0D108BD9-81ED-4DB2-BD59-A6C34878D82A}">
                    <a16:rowId xmlns:a16="http://schemas.microsoft.com/office/drawing/2014/main" val="10000"/>
                  </a:ext>
                </a:extLst>
              </a:tr>
              <a:tr h="548640">
                <a:tc>
                  <a:txBody>
                    <a:bodyPr/>
                    <a:lstStyle/>
                    <a:p>
                      <a:pPr>
                        <a:defRPr sz="1400">
                          <a:solidFill>
                            <a:srgbClr val="333333"/>
                          </a:solidFill>
                        </a:defRPr>
                      </a:pPr>
                      <a:r>
                        <a:t>Training data must stay in-region</a:t>
                      </a:r>
                    </a:p>
                  </a:txBody>
                  <a:tcPr/>
                </a:tc>
                <a:tc>
                  <a:txBody>
                    <a:bodyPr/>
                    <a:lstStyle/>
                    <a:p>
                      <a:pPr>
                        <a:defRPr sz="1400">
                          <a:solidFill>
                            <a:srgbClr val="333333"/>
                          </a:solidFill>
                        </a:defRPr>
                      </a:pPr>
                      <a:r>
                        <a:t>Storage account region lock + Azure Policy</a:t>
                      </a:r>
                    </a:p>
                  </a:txBody>
                  <a:tcPr/>
                </a:tc>
                <a:tc>
                  <a:txBody>
                    <a:bodyPr/>
                    <a:lstStyle/>
                    <a:p>
                      <a:pPr>
                        <a:defRPr sz="1400">
                          <a:solidFill>
                            <a:srgbClr val="333333"/>
                          </a:solidFill>
                        </a:defRPr>
                      </a:pPr>
                      <a:r>
                        <a:t>Data Map shows asset locations; lineage tracks cross-region flows</a:t>
                      </a:r>
                    </a:p>
                  </a:txBody>
                  <a:tcPr/>
                </a:tc>
                <a:extLst>
                  <a:ext uri="{0D108BD9-81ED-4DB2-BD59-A6C34878D82A}">
                    <a16:rowId xmlns:a16="http://schemas.microsoft.com/office/drawing/2014/main" val="10001"/>
                  </a:ext>
                </a:extLst>
              </a:tr>
              <a:tr h="548640">
                <a:tc>
                  <a:txBody>
                    <a:bodyPr/>
                    <a:lstStyle/>
                    <a:p>
                      <a:pPr>
                        <a:defRPr sz="1400">
                          <a:solidFill>
                            <a:srgbClr val="333333"/>
                          </a:solidFill>
                        </a:defRPr>
                      </a:pPr>
                      <a:r>
                        <a:t>Embeddings/indexes in approved regions</a:t>
                      </a:r>
                    </a:p>
                  </a:txBody>
                  <a:tcPr/>
                </a:tc>
                <a:tc>
                  <a:txBody>
                    <a:bodyPr/>
                    <a:lstStyle/>
                    <a:p>
                      <a:pPr>
                        <a:defRPr sz="1400">
                          <a:solidFill>
                            <a:srgbClr val="333333"/>
                          </a:solidFill>
                        </a:defRPr>
                      </a:pPr>
                      <a:r>
                        <a:t>AI Search region selection + CMK</a:t>
                      </a:r>
                    </a:p>
                  </a:txBody>
                  <a:tcPr/>
                </a:tc>
                <a:tc>
                  <a:txBody>
                    <a:bodyPr/>
                    <a:lstStyle/>
                    <a:p>
                      <a:pPr>
                        <a:defRPr sz="1400">
                          <a:solidFill>
                            <a:srgbClr val="333333"/>
                          </a:solidFill>
                        </a:defRPr>
                      </a:pPr>
                      <a:r>
                        <a:t>Catalog registers index location metadata</a:t>
                      </a:r>
                    </a:p>
                  </a:txBody>
                  <a:tcPr/>
                </a:tc>
                <a:extLst>
                  <a:ext uri="{0D108BD9-81ED-4DB2-BD59-A6C34878D82A}">
                    <a16:rowId xmlns:a16="http://schemas.microsoft.com/office/drawing/2014/main" val="10002"/>
                  </a:ext>
                </a:extLst>
              </a:tr>
              <a:tr h="548640">
                <a:tc>
                  <a:txBody>
                    <a:bodyPr/>
                    <a:lstStyle/>
                    <a:p>
                      <a:pPr>
                        <a:defRPr sz="1400">
                          <a:solidFill>
                            <a:srgbClr val="333333"/>
                          </a:solidFill>
                        </a:defRPr>
                      </a:pPr>
                      <a:r>
                        <a:t>Model weights region-pinned</a:t>
                      </a:r>
                    </a:p>
                  </a:txBody>
                  <a:tcPr/>
                </a:tc>
                <a:tc>
                  <a:txBody>
                    <a:bodyPr/>
                    <a:lstStyle/>
                    <a:p>
                      <a:pPr>
                        <a:defRPr sz="1400">
                          <a:solidFill>
                            <a:srgbClr val="333333"/>
                          </a:solidFill>
                        </a:defRPr>
                      </a:pPr>
                      <a:r>
                        <a:rPr lang="en-US"/>
                        <a:t>Foundry region deployment</a:t>
                      </a:r>
                    </a:p>
                  </a:txBody>
                  <a:tcPr/>
                </a:tc>
                <a:tc>
                  <a:txBody>
                    <a:bodyPr/>
                    <a:lstStyle/>
                    <a:p>
                      <a:pPr>
                        <a:defRPr sz="1400">
                          <a:solidFill>
                            <a:srgbClr val="333333"/>
                          </a:solidFill>
                        </a:defRPr>
                      </a:pPr>
                      <a:r>
                        <a:t>Model card records deployment region</a:t>
                      </a:r>
                    </a:p>
                  </a:txBody>
                  <a:tcPr/>
                </a:tc>
                <a:extLst>
                  <a:ext uri="{0D108BD9-81ED-4DB2-BD59-A6C34878D82A}">
                    <a16:rowId xmlns:a16="http://schemas.microsoft.com/office/drawing/2014/main" val="10003"/>
                  </a:ext>
                </a:extLst>
              </a:tr>
              <a:tr h="548640">
                <a:tc>
                  <a:txBody>
                    <a:bodyPr/>
                    <a:lstStyle/>
                    <a:p>
                      <a:pPr>
                        <a:defRPr sz="1400">
                          <a:solidFill>
                            <a:srgbClr val="333333"/>
                          </a:solidFill>
                        </a:defRPr>
                      </a:pPr>
                      <a:r>
                        <a:t>Inference stays in-region</a:t>
                      </a:r>
                    </a:p>
                  </a:txBody>
                  <a:tcPr/>
                </a:tc>
                <a:tc>
                  <a:txBody>
                    <a:bodyPr/>
                    <a:lstStyle/>
                    <a:p>
                      <a:pPr>
                        <a:defRPr sz="1400">
                          <a:solidFill>
                            <a:srgbClr val="333333"/>
                          </a:solidFill>
                        </a:defRPr>
                      </a:pPr>
                      <a:r>
                        <a:t>Endpoint region + Private Link</a:t>
                      </a:r>
                    </a:p>
                  </a:txBody>
                  <a:tcPr/>
                </a:tc>
                <a:tc>
                  <a:txBody>
                    <a:bodyPr/>
                    <a:lstStyle/>
                    <a:p>
                      <a:pPr>
                        <a:defRPr sz="1400">
                          <a:solidFill>
                            <a:srgbClr val="333333"/>
                          </a:solidFill>
                        </a:defRPr>
                      </a:pPr>
                      <a:r>
                        <a:t>AI Hub tracks which regions serve AI apps</a:t>
                      </a:r>
                    </a:p>
                  </a:txBody>
                  <a:tcPr/>
                </a:tc>
                <a:extLst>
                  <a:ext uri="{0D108BD9-81ED-4DB2-BD59-A6C34878D82A}">
                    <a16:rowId xmlns:a16="http://schemas.microsoft.com/office/drawing/2014/main" val="10004"/>
                  </a:ext>
                </a:extLst>
              </a:tr>
              <a:tr h="548640">
                <a:tc>
                  <a:txBody>
                    <a:bodyPr/>
                    <a:lstStyle/>
                    <a:p>
                      <a:pPr>
                        <a:defRPr sz="1400">
                          <a:solidFill>
                            <a:srgbClr val="333333"/>
                          </a:solidFill>
                        </a:defRPr>
                      </a:pPr>
                      <a:r>
                        <a:t>Logs retained in-region</a:t>
                      </a:r>
                    </a:p>
                  </a:txBody>
                  <a:tcPr/>
                </a:tc>
                <a:tc>
                  <a:txBody>
                    <a:bodyPr/>
                    <a:lstStyle/>
                    <a:p>
                      <a:pPr>
                        <a:defRPr sz="1400">
                          <a:solidFill>
                            <a:srgbClr val="333333"/>
                          </a:solidFill>
                        </a:defRPr>
                      </a:pPr>
                      <a:r>
                        <a:t>Log Analytics workspace region</a:t>
                      </a:r>
                    </a:p>
                  </a:txBody>
                  <a:tcPr/>
                </a:tc>
                <a:tc>
                  <a:txBody>
                    <a:bodyPr/>
                    <a:lstStyle/>
                    <a:p>
                      <a:pPr>
                        <a:defRPr sz="1400">
                          <a:solidFill>
                            <a:srgbClr val="333333"/>
                          </a:solidFill>
                        </a:defRPr>
                      </a:pPr>
                      <a:r>
                        <a:t>Audit log + retention policies scoped by geography</a:t>
                      </a:r>
                    </a:p>
                  </a:txBody>
                  <a:tcPr/>
                </a:tc>
                <a:extLst>
                  <a:ext uri="{0D108BD9-81ED-4DB2-BD59-A6C34878D82A}">
                    <a16:rowId xmlns:a16="http://schemas.microsoft.com/office/drawing/2014/main" val="10005"/>
                  </a:ext>
                </a:extLst>
              </a:tr>
              <a:tr h="548640">
                <a:tc>
                  <a:txBody>
                    <a:bodyPr/>
                    <a:lstStyle/>
                    <a:p>
                      <a:pPr>
                        <a:defRPr sz="1400">
                          <a:solidFill>
                            <a:srgbClr val="333333"/>
                          </a:solidFill>
                        </a:defRPr>
                      </a:pPr>
                      <a:r>
                        <a:t>Cross-border transfer blocked</a:t>
                      </a:r>
                    </a:p>
                  </a:txBody>
                  <a:tcPr/>
                </a:tc>
                <a:tc>
                  <a:txBody>
                    <a:bodyPr/>
                    <a:lstStyle/>
                    <a:p>
                      <a:pPr>
                        <a:defRPr sz="1400">
                          <a:solidFill>
                            <a:srgbClr val="333333"/>
                          </a:solidFill>
                        </a:defRPr>
                      </a:pPr>
                      <a:r>
                        <a:t>Azure Policy + network controls</a:t>
                      </a:r>
                    </a:p>
                  </a:txBody>
                  <a:tcPr/>
                </a:tc>
                <a:tc>
                  <a:txBody>
                    <a:bodyPr/>
                    <a:lstStyle/>
                    <a:p>
                      <a:pPr>
                        <a:defRPr sz="1400">
                          <a:solidFill>
                            <a:srgbClr val="333333"/>
                          </a:solidFill>
                        </a:defRPr>
                      </a:pPr>
                      <a:r>
                        <a:t>DLP policies flag cross-boundary data movement</a:t>
                      </a: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Residency &amp; Sovereignty  |  Compliance &amp; Lifecycle Governance</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5 / 6</a:t>
            </a:r>
          </a:p>
        </p:txBody>
      </p:sp>
      <p:sp>
        <p:nvSpPr>
          <p:cNvPr id="7" name="Hidden Title 7" descr="Slide title: Residency Governance Control Mapping"/>
          <p:cNvSpPr>
            <a:spLocks noGrp="1"/>
          </p:cNvSpPr>
          <p:nvPr>
            <p:ph type="title"/>
          </p:nvPr>
        </p:nvSpPr>
        <p:spPr>
          <a:xfrm>
            <a:off x="0" y="-457200"/>
            <a:ext cx="9144000" cy="457200"/>
          </a:xfrm>
        </p:spPr>
        <p:txBody>
          <a:bodyPr/>
          <a:lstStyle/>
          <a:p>
            <a:r>
              <a:rPr lang="en-US" sz="100" dirty="0"/>
              <a:t>Residency Governance Control Mapping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Residency Checklist — Before You Deploy</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Ten-point verification to confirm residency compliance for your AI workload.</a:t>
            </a:r>
          </a:p>
        </p:txBody>
      </p:sp>
      <p:sp>
        <p:nvSpPr>
          <p:cNvPr id="4" name="TextBox 3"/>
          <p:cNvSpPr txBox="1"/>
          <p:nvPr/>
        </p:nvSpPr>
        <p:spPr>
          <a:xfrm>
            <a:off x="457200" y="1410086"/>
            <a:ext cx="5445889" cy="4975721"/>
          </a:xfrm>
          <a:prstGeom prst="rect">
            <a:avLst/>
          </a:prstGeom>
          <a:noFill/>
        </p:spPr>
        <p:txBody>
          <a:bodyPr wrap="square">
            <a:spAutoFit/>
          </a:bodyPr>
          <a:lstStyle/>
          <a:p>
            <a:r>
              <a:rPr sz="1500" b="1" dirty="0">
                <a:solidFill>
                  <a:srgbClr val="243A5E"/>
                </a:solidFill>
              </a:rPr>
              <a:t>1. Identify Applicable Regulations
</a:t>
            </a:r>
            <a:r>
              <a:rPr sz="1400" dirty="0">
                <a:solidFill>
                  <a:srgbClr val="505050"/>
                </a:solidFill>
              </a:rPr>
              <a:t>Map your data to GDPR, HIPAA, PIPL, LGPD, or sector-specific residency rules.</a:t>
            </a:r>
          </a:p>
          <a:p>
            <a:pPr>
              <a:spcBef>
                <a:spcPts val="800"/>
              </a:spcBef>
            </a:pPr>
            <a:r>
              <a:rPr sz="1500" b="1" dirty="0">
                <a:solidFill>
                  <a:srgbClr val="243A5E"/>
                </a:solidFill>
              </a:rPr>
              <a:t>2. Inventory All Data Surfaces
</a:t>
            </a:r>
            <a:r>
              <a:rPr sz="1400" dirty="0">
                <a:solidFill>
                  <a:srgbClr val="505050"/>
                </a:solidFill>
              </a:rPr>
              <a:t>Training data, indexes, model weights, endpoints, logs, and backups.</a:t>
            </a:r>
          </a:p>
          <a:p>
            <a:pPr>
              <a:spcBef>
                <a:spcPts val="800"/>
              </a:spcBef>
            </a:pPr>
            <a:r>
              <a:rPr sz="1500" b="1" dirty="0">
                <a:solidFill>
                  <a:srgbClr val="243A5E"/>
                </a:solidFill>
              </a:rPr>
              <a:t>3. Set Azure Policy — Allowed Locations
</a:t>
            </a:r>
            <a:r>
              <a:rPr sz="1400" dirty="0">
                <a:solidFill>
                  <a:srgbClr val="505050"/>
                </a:solidFill>
              </a:rPr>
              <a:t>Enforce at the subscription level before any resources are created.</a:t>
            </a:r>
          </a:p>
          <a:p>
            <a:pPr>
              <a:spcBef>
                <a:spcPts val="800"/>
              </a:spcBef>
            </a:pPr>
            <a:r>
              <a:rPr sz="1500" b="1" dirty="0">
                <a:solidFill>
                  <a:srgbClr val="243A5E"/>
                </a:solidFill>
              </a:rPr>
              <a:t>4. Pin Foundry to Approved Region
</a:t>
            </a:r>
            <a:r>
              <a:rPr sz="1400" dirty="0">
                <a:solidFill>
                  <a:srgbClr val="505050"/>
                </a:solidFill>
              </a:rPr>
              <a:t>Model deployments, fine-tuning jobs, and endpoints all in-region.</a:t>
            </a:r>
          </a:p>
          <a:p>
            <a:pPr>
              <a:spcBef>
                <a:spcPts val="800"/>
              </a:spcBef>
            </a:pPr>
            <a:r>
              <a:rPr sz="1500" b="1" dirty="0">
                <a:solidFill>
                  <a:srgbClr val="243A5E"/>
                </a:solidFill>
              </a:rPr>
              <a:t>5. Configure AI Search Region + CMK
</a:t>
            </a:r>
            <a:r>
              <a:rPr sz="1400" dirty="0">
                <a:solidFill>
                  <a:srgbClr val="505050"/>
                </a:solidFill>
              </a:rPr>
              <a:t>Index creation in compliant region with customer-managed encryption keys.</a:t>
            </a:r>
          </a:p>
          <a:p>
            <a:pPr>
              <a:spcBef>
                <a:spcPts val="800"/>
              </a:spcBef>
            </a:pPr>
            <a:r>
              <a:rPr sz="1500" b="1" dirty="0">
                <a:solidFill>
                  <a:srgbClr val="243A5E"/>
                </a:solidFill>
              </a:rPr>
              <a:t>6. Disable Non-Compliant Replication
</a:t>
            </a:r>
            <a:r>
              <a:rPr sz="1400" dirty="0">
                <a:solidFill>
                  <a:srgbClr val="505050"/>
                </a:solidFill>
              </a:rPr>
              <a:t>Turn off GRS or cross-region replication where sovereignty requires it.</a:t>
            </a:r>
          </a:p>
          <a:p>
            <a:pPr>
              <a:spcBef>
                <a:spcPts val="800"/>
              </a:spcBef>
            </a:pPr>
            <a:r>
              <a:rPr sz="1400" dirty="0">
                <a:solidFill>
                  <a:srgbClr val="505050"/>
                </a:solidFill>
              </a:rPr>
              <a:t>.</a:t>
            </a:r>
          </a:p>
        </p:txBody>
      </p:sp>
      <p:sp>
        <p:nvSpPr>
          <p:cNvPr id="5" name="TextBox 4"/>
          <p:cNvSpPr txBox="1"/>
          <p:nvPr/>
        </p:nvSpPr>
        <p:spPr>
          <a:xfrm>
            <a:off x="5398432" y="6492240"/>
            <a:ext cx="5486400" cy="320040"/>
          </a:xfrm>
          <a:prstGeom prst="rect">
            <a:avLst/>
          </a:prstGeom>
          <a:noFill/>
        </p:spPr>
        <p:txBody>
          <a:bodyPr wrap="none">
            <a:spAutoFit/>
          </a:bodyPr>
          <a:lstStyle/>
          <a:p>
            <a:r>
              <a:rPr sz="1400">
                <a:solidFill>
                  <a:srgbClr val="737373"/>
                </a:solidFill>
              </a:rPr>
              <a:t>Residency &amp; Sovereignty  |  Compliance &amp; Lifecycle Governance</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6 / 6</a:t>
            </a:r>
          </a:p>
        </p:txBody>
      </p:sp>
      <p:sp>
        <p:nvSpPr>
          <p:cNvPr id="7" name="Hidden Title 7" descr="Slide title: Residency Checklist — Before You Deploy"/>
          <p:cNvSpPr>
            <a:spLocks noGrp="1"/>
          </p:cNvSpPr>
          <p:nvPr>
            <p:ph type="title"/>
          </p:nvPr>
        </p:nvSpPr>
        <p:spPr>
          <a:xfrm>
            <a:off x="0" y="-457200"/>
            <a:ext cx="9144000" cy="457200"/>
          </a:xfrm>
        </p:spPr>
        <p:txBody>
          <a:bodyPr/>
          <a:lstStyle/>
          <a:p>
            <a:r>
              <a:rPr lang="en-US" sz="100" dirty="0"/>
              <a:t>Residency Checklist — Before You Deploy</a:t>
            </a:r>
          </a:p>
        </p:txBody>
      </p:sp>
      <p:sp>
        <p:nvSpPr>
          <p:cNvPr id="9" name="TextBox 8">
            <a:extLst>
              <a:ext uri="{FF2B5EF4-FFF2-40B4-BE49-F238E27FC236}">
                <a16:creationId xmlns:a16="http://schemas.microsoft.com/office/drawing/2014/main" id="{C26088C2-B7A6-2CCD-5155-427BC80BA204}"/>
              </a:ext>
            </a:extLst>
          </p:cNvPr>
          <p:cNvSpPr txBox="1"/>
          <p:nvPr/>
        </p:nvSpPr>
        <p:spPr>
          <a:xfrm>
            <a:off x="6746111" y="1410086"/>
            <a:ext cx="5445889" cy="3026470"/>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1500" b="1" i="0" u="none" strike="noStrike" kern="1200" cap="none" spc="0" normalizeH="0" baseline="0" noProof="0" dirty="0">
                <a:ln>
                  <a:noFill/>
                </a:ln>
                <a:solidFill>
                  <a:srgbClr val="243A5E"/>
                </a:solidFill>
                <a:effectLst/>
                <a:uLnTx/>
                <a:uFillTx/>
                <a:latin typeface="Segoe UI"/>
                <a:ea typeface="+mn-ea"/>
                <a:cs typeface="+mn-cs"/>
              </a:rPr>
              <a:t>7. Enable Private Endpoints
</a:t>
            </a:r>
            <a:r>
              <a:rPr kumimoji="0" lang="en-US" sz="1400" b="0" i="0" u="none" strike="noStrike" kern="1200" cap="none" spc="0" normalizeH="0" baseline="0" noProof="0" dirty="0">
                <a:ln>
                  <a:noFill/>
                </a:ln>
                <a:solidFill>
                  <a:srgbClr val="505050"/>
                </a:solidFill>
                <a:effectLst/>
                <a:uLnTx/>
                <a:uFillTx/>
                <a:latin typeface="Segoe UI"/>
                <a:ea typeface="+mn-ea"/>
                <a:cs typeface="+mn-cs"/>
              </a:rPr>
              <a:t>Ensure all AI service traffic stays on the Microsoft backbone.</a:t>
            </a:r>
          </a:p>
          <a:p>
            <a:pPr>
              <a:spcBef>
                <a:spcPts val="800"/>
              </a:spcBef>
            </a:pPr>
            <a:r>
              <a:rPr sz="1500" b="1" dirty="0">
                <a:solidFill>
                  <a:srgbClr val="243A5E"/>
                </a:solidFill>
              </a:rPr>
              <a:t>8. Verify Purview Data Map Locations
</a:t>
            </a:r>
            <a:r>
              <a:rPr sz="1400" dirty="0">
                <a:solidFill>
                  <a:srgbClr val="505050"/>
                </a:solidFill>
              </a:rPr>
              <a:t>Confirm all registered assets show compliant region metadata.</a:t>
            </a:r>
          </a:p>
          <a:p>
            <a:pPr>
              <a:spcBef>
                <a:spcPts val="800"/>
              </a:spcBef>
            </a:pPr>
            <a:r>
              <a:rPr sz="1500" b="1" dirty="0">
                <a:solidFill>
                  <a:srgbClr val="243A5E"/>
                </a:solidFill>
              </a:rPr>
              <a:t>9. Set Retention Policies by Geography
</a:t>
            </a:r>
            <a:r>
              <a:rPr sz="1400" dirty="0">
                <a:solidFill>
                  <a:srgbClr val="505050"/>
                </a:solidFill>
              </a:rPr>
              <a:t>Prompt/response logs retained in approved regions with defined lifecycle.</a:t>
            </a:r>
          </a:p>
          <a:p>
            <a:pPr>
              <a:spcBef>
                <a:spcPts val="800"/>
              </a:spcBef>
            </a:pPr>
            <a:r>
              <a:rPr sz="1500" b="1" dirty="0">
                <a:solidFill>
                  <a:srgbClr val="243A5E"/>
                </a:solidFill>
              </a:rPr>
              <a:t>10. Document &amp; Audit
</a:t>
            </a:r>
            <a:r>
              <a:rPr sz="1400" dirty="0">
                <a:solidFill>
                  <a:srgbClr val="505050"/>
                </a:solidFill>
              </a:rPr>
              <a:t>Record residency decisions in your governance framework; schedule recurring audits.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Key Takeaways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Four pillars of Data Governance for AI — powered by Microsoft Purview Unified Catalog.</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1. Discover &amp; Trace
</a:t>
            </a:r>
            <a:r>
              <a:rPr sz="1400">
                <a:solidFill>
                  <a:srgbClr val="505050"/>
                </a:solidFill>
              </a:rPr>
              <a:t>Inventory every data source feeding your AI agents. Maintain end-to-end lineage from source to AI response using Purview Data Map and Unified Catalog.</a:t>
            </a:r>
          </a:p>
          <a:p>
            <a:pPr>
              <a:spcBef>
                <a:spcPts val="800"/>
              </a:spcBef>
            </a:pPr>
            <a:r>
              <a:rPr sz="1500" b="1">
                <a:solidFill>
                  <a:srgbClr val="243A5E"/>
                </a:solidFill>
              </a:rPr>
              <a:t>2. Classify &amp; Protect
</a:t>
            </a:r>
            <a:r>
              <a:rPr sz="1400">
                <a:solidFill>
                  <a:srgbClr val="505050"/>
                </a:solidFill>
              </a:rPr>
              <a:t>Auto-classify PII and PHI at column level. Apply sensitivity labels that follow data into training, grounding, and inference pipelines.</a:t>
            </a:r>
          </a:p>
          <a:p>
            <a:pPr>
              <a:spcBef>
                <a:spcPts val="800"/>
              </a:spcBef>
            </a:pPr>
            <a:r>
              <a:rPr sz="1500" b="1">
                <a:solidFill>
                  <a:srgbClr val="243A5E"/>
                </a:solidFill>
              </a:rPr>
              <a:t>3. Control Access &amp; Residency
</a:t>
            </a:r>
            <a:r>
              <a:rPr sz="1400">
                <a:solidFill>
                  <a:srgbClr val="505050"/>
                </a:solidFill>
              </a:rPr>
              <a:t>Enforce RBAC, Conditional Access, and Purview Access Policies at every stage. Pin data to approved regions with Azure Policy and sovereign controls.</a:t>
            </a:r>
          </a:p>
          <a:p>
            <a:pPr>
              <a:spcBef>
                <a:spcPts val="800"/>
              </a:spcBef>
            </a:pPr>
            <a:r>
              <a:rPr sz="1500" b="1">
                <a:solidFill>
                  <a:srgbClr val="243A5E"/>
                </a:solidFill>
              </a:rPr>
              <a:t>4. Govern Compliance &amp; Lifecycle
</a:t>
            </a:r>
            <a:r>
              <a:rPr sz="1400">
                <a:solidFill>
                  <a:srgbClr val="505050"/>
                </a:solidFill>
              </a:rPr>
              <a:t>Align to GDPR, HIPAA, NIST AI RMF, and ISO 42001. Set retention policies, enable audit trails, and monitor AI interactions continuously.</a:t>
            </a:r>
          </a:p>
          <a:p>
            <a:pPr>
              <a:spcBef>
                <a:spcPts val="800"/>
              </a:spcBef>
            </a:pPr>
            <a:r>
              <a:rPr sz="1500" b="1">
                <a:solidFill>
                  <a:srgbClr val="243A5E"/>
                </a:solidFill>
              </a:rPr>
              <a:t>Next Step
</a:t>
            </a:r>
            <a:r>
              <a:rPr sz="1400">
                <a:solidFill>
                  <a:srgbClr val="505050"/>
                </a:solidFill>
              </a:rPr>
              <a:t>Identify your highest-risk AI workload, map its data flows, and register its sources in Purview Unified Catalog this week.</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Workshop – Azure AI Governance  |  Data Governance for AI</a:t>
            </a:r>
          </a:p>
        </p:txBody>
      </p:sp>
      <p:sp>
        <p:nvSpPr>
          <p:cNvPr id="6" name="TextBox 5"/>
          <p:cNvSpPr txBox="1"/>
          <p:nvPr/>
        </p:nvSpPr>
        <p:spPr>
          <a:xfrm>
            <a:off x="11094720" y="6446520"/>
            <a:ext cx="640080" cy="320040"/>
          </a:xfrm>
          <a:prstGeom prst="rect">
            <a:avLst/>
          </a:prstGeom>
          <a:noFill/>
        </p:spPr>
        <p:txBody>
          <a:bodyPr wrap="none">
            <a:spAutoFit/>
          </a:bodyPr>
          <a:lstStyle/>
          <a:p>
            <a:pPr algn="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74</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Purview Unified Catalog Demo</a:t>
            </a:r>
          </a:p>
        </p:txBody>
      </p:sp>
      <p:sp>
        <p:nvSpPr>
          <p:cNvPr id="3" name="Text Placeholder 2"/>
          <p:cNvSpPr>
            <a:spLocks noGrp="1"/>
          </p:cNvSpPr>
          <p:nvPr>
            <p:ph type="body" sz="quarter" idx="12"/>
          </p:nvPr>
        </p:nvSpPr>
        <p:spPr/>
        <p:txBody>
          <a:bodyPr/>
          <a:lstStyle/>
          <a:p>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1 — Data Discovery &amp; Registration</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Register data sources and run your first scan to populate the Unified Catalog.</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Purview Portal
</a:t>
            </a:r>
            <a:r>
              <a:rPr sz="1400">
                <a:solidFill>
                  <a:srgbClr val="505050"/>
                </a:solidFill>
              </a:rPr>
              <a:t>Navigate to purview.microsoft.com → Unified Catalog → Data Map → Sources.</a:t>
            </a:r>
          </a:p>
          <a:p>
            <a:pPr>
              <a:spcBef>
                <a:spcPts val="800"/>
              </a:spcBef>
            </a:pPr>
            <a:r>
              <a:rPr sz="1500" b="1">
                <a:solidFill>
                  <a:srgbClr val="243A5E"/>
                </a:solidFill>
              </a:rPr>
              <a:t>Step 2: Register a Data Source
</a:t>
            </a:r>
            <a:r>
              <a:rPr sz="1400">
                <a:solidFill>
                  <a:srgbClr val="505050"/>
                </a:solidFill>
              </a:rPr>
              <a:t>Click + Register → select Azure SQL Database → provide server name, database, and managed identity credentials.</a:t>
            </a:r>
          </a:p>
          <a:p>
            <a:pPr>
              <a:spcBef>
                <a:spcPts val="800"/>
              </a:spcBef>
            </a:pPr>
            <a:r>
              <a:rPr sz="1500" b="1">
                <a:solidFill>
                  <a:srgbClr val="243A5E"/>
                </a:solidFill>
              </a:rPr>
              <a:t>Step 3: Create a Collection
</a:t>
            </a:r>
            <a:r>
              <a:rPr sz="1400">
                <a:solidFill>
                  <a:srgbClr val="505050"/>
                </a:solidFill>
              </a:rPr>
              <a:t>Organize sources into a Collection (e.g., 'Healthcare AI Data'). Collections define access boundaries.</a:t>
            </a:r>
          </a:p>
          <a:p>
            <a:pPr>
              <a:spcBef>
                <a:spcPts val="800"/>
              </a:spcBef>
            </a:pPr>
            <a:r>
              <a:rPr sz="1500" b="1">
                <a:solidFill>
                  <a:srgbClr val="243A5E"/>
                </a:solidFill>
              </a:rPr>
              <a:t>Step 4: Configure Scan
</a:t>
            </a:r>
            <a:r>
              <a:rPr sz="1400">
                <a:solidFill>
                  <a:srgbClr val="505050"/>
                </a:solidFill>
              </a:rPr>
              <a:t>Select the registered source → New Scan → choose the collection scope, scan rule set (System Default + PII/PHI), and schedule.</a:t>
            </a:r>
          </a:p>
          <a:p>
            <a:pPr>
              <a:spcBef>
                <a:spcPts val="800"/>
              </a:spcBef>
            </a:pPr>
            <a:r>
              <a:rPr sz="1500" b="1">
                <a:solidFill>
                  <a:srgbClr val="243A5E"/>
                </a:solidFill>
              </a:rPr>
              <a:t>Step 5: Run &amp; Monitor Scan
</a:t>
            </a:r>
            <a:r>
              <a:rPr sz="1400">
                <a:solidFill>
                  <a:srgbClr val="505050"/>
                </a:solidFill>
              </a:rPr>
              <a:t>Trigger the scan manually. Monitor progress in the Scan History tab. First scan typically takes 2–5 minutes for a small database.</a:t>
            </a:r>
          </a:p>
          <a:p>
            <a:pPr>
              <a:spcBef>
                <a:spcPts val="800"/>
              </a:spcBef>
            </a:pPr>
            <a:r>
              <a:rPr sz="1500" b="1">
                <a:solidFill>
                  <a:srgbClr val="243A5E"/>
                </a:solidFill>
              </a:rPr>
              <a:t>Step 6: Verify Discovery
</a:t>
            </a:r>
            <a:r>
              <a:rPr sz="1400">
                <a:solidFill>
                  <a:srgbClr val="505050"/>
                </a:solidFill>
              </a:rPr>
              <a:t>Navigate to Unified Catalog → search for your table names. Confirm assets appear with column-level metadata and schema details.</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demo_1.mp4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2 — Auto-Classification of PII &amp; PHI</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See how Purview automatically detects sensitive data at column level.</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Classified Asset
</a:t>
            </a:r>
            <a:r>
              <a:rPr sz="1400">
                <a:solidFill>
                  <a:srgbClr val="505050"/>
                </a:solidFill>
              </a:rPr>
              <a:t>In the Unified Catalog, search for 'dbo.Patients' → open the asset detail page.</a:t>
            </a:r>
          </a:p>
          <a:p>
            <a:pPr>
              <a:spcBef>
                <a:spcPts val="800"/>
              </a:spcBef>
            </a:pPr>
            <a:r>
              <a:rPr sz="1500" b="1">
                <a:solidFill>
                  <a:srgbClr val="243A5E"/>
                </a:solidFill>
              </a:rPr>
              <a:t>Step 2: View Schema Tab
</a:t>
            </a:r>
            <a:r>
              <a:rPr sz="1400">
                <a:solidFill>
                  <a:srgbClr val="505050"/>
                </a:solidFill>
              </a:rPr>
              <a:t>Click the Schema tab. Each column shows its detected classification badge (e.g., 'U.S. Social Security Number', 'Person Name').</a:t>
            </a:r>
          </a:p>
          <a:p>
            <a:pPr>
              <a:spcBef>
                <a:spcPts val="800"/>
              </a:spcBef>
            </a:pPr>
            <a:r>
              <a:rPr sz="1500" b="1">
                <a:solidFill>
                  <a:srgbClr val="243A5E"/>
                </a:solidFill>
              </a:rPr>
              <a:t>Step 3: Inspect Classification Details
</a:t>
            </a:r>
            <a:r>
              <a:rPr sz="1400">
                <a:solidFill>
                  <a:srgbClr val="505050"/>
                </a:solidFill>
              </a:rPr>
              <a:t>Click a classification badge → see the Sensitive Information Type (SIT) name, confidence score, and sample matched pattern.</a:t>
            </a:r>
          </a:p>
          <a:p>
            <a:pPr>
              <a:spcBef>
                <a:spcPts val="800"/>
              </a:spcBef>
            </a:pPr>
            <a:r>
              <a:rPr sz="1500" b="1">
                <a:solidFill>
                  <a:srgbClr val="243A5E"/>
                </a:solidFill>
              </a:rPr>
              <a:t>Step 4: Check PHI Columns
</a:t>
            </a:r>
            <a:r>
              <a:rPr sz="1400">
                <a:solidFill>
                  <a:srgbClr val="505050"/>
                </a:solidFill>
              </a:rPr>
              <a:t>Open 'dbo.Claims' → verify DiagnosisCode shows 'ICD-10 Code', PrescriberDEA shows 'DEA Number', and MRN shows 'Medical Record Number'.</a:t>
            </a:r>
          </a:p>
          <a:p>
            <a:pPr>
              <a:spcBef>
                <a:spcPts val="800"/>
              </a:spcBef>
            </a:pPr>
            <a:r>
              <a:rPr sz="1500" b="1">
                <a:solidFill>
                  <a:srgbClr val="243A5E"/>
                </a:solidFill>
              </a:rPr>
              <a:t>Step 5: Review Unclassified Columns
</a:t>
            </a:r>
            <a:r>
              <a:rPr sz="1400">
                <a:solidFill>
                  <a:srgbClr val="505050"/>
                </a:solidFill>
              </a:rPr>
              <a:t>Confirm ClaimAmount has no classification — it's a numeric field with no PII/PHI significance. This validates precision.</a:t>
            </a:r>
          </a:p>
          <a:p>
            <a:pPr>
              <a:spcBef>
                <a:spcPts val="800"/>
              </a:spcBef>
            </a:pPr>
            <a:r>
              <a:rPr sz="1500" b="1">
                <a:solidFill>
                  <a:srgbClr val="243A5E"/>
                </a:solidFill>
              </a:rPr>
              <a:t>Step 6: Add Custom Classification
</a:t>
            </a:r>
            <a:r>
              <a:rPr sz="1400">
                <a:solidFill>
                  <a:srgbClr val="505050"/>
                </a:solidFill>
              </a:rPr>
              <a:t>If a column is missed, click + Add Classification → search for or create a custom SIT → apply manually.</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2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demo_2.mp4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3 — Applying Sensitivity Labels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Apply the 'Confidential — PHI' label and see it propagate across the estate.</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Asset in Catalog
</a:t>
            </a:r>
            <a:r>
              <a:rPr sz="1400">
                <a:solidFill>
                  <a:srgbClr val="505050"/>
                </a:solidFill>
              </a:rPr>
              <a:t>Navigate to dbo.Patients in the Unified Catalog → click the Overview tab.</a:t>
            </a:r>
          </a:p>
          <a:p>
            <a:pPr>
              <a:spcBef>
                <a:spcPts val="800"/>
              </a:spcBef>
            </a:pPr>
            <a:r>
              <a:rPr sz="1500" b="1">
                <a:solidFill>
                  <a:srgbClr val="243A5E"/>
                </a:solidFill>
              </a:rPr>
              <a:t>Step 2: Apply Sensitivity Label
</a:t>
            </a:r>
            <a:r>
              <a:rPr sz="1400">
                <a:solidFill>
                  <a:srgbClr val="505050"/>
                </a:solidFill>
              </a:rPr>
              <a:t>Click the label dropdown → select 'Confidential — PHI'. The label is inherited from your M365 label taxonomy.</a:t>
            </a:r>
          </a:p>
          <a:p>
            <a:pPr>
              <a:spcBef>
                <a:spcPts val="800"/>
              </a:spcBef>
            </a:pPr>
            <a:r>
              <a:rPr sz="1500" b="1">
                <a:solidFill>
                  <a:srgbClr val="243A5E"/>
                </a:solidFill>
              </a:rPr>
              <a:t>Step 3: Confirm Inheritance
</a:t>
            </a:r>
            <a:r>
              <a:rPr sz="1400">
                <a:solidFill>
                  <a:srgbClr val="505050"/>
                </a:solidFill>
              </a:rPr>
              <a:t>Switch to Schema tab → verify the label appears on all columns within the table. Labels propagate from table to column level.</a:t>
            </a:r>
          </a:p>
          <a:p>
            <a:pPr>
              <a:spcBef>
                <a:spcPts val="800"/>
              </a:spcBef>
            </a:pPr>
            <a:r>
              <a:rPr sz="1500" b="1">
                <a:solidFill>
                  <a:srgbClr val="243A5E"/>
                </a:solidFill>
              </a:rPr>
              <a:t>Step 4: Apply to Second Table
</a:t>
            </a:r>
            <a:r>
              <a:rPr sz="1400">
                <a:solidFill>
                  <a:srgbClr val="505050"/>
                </a:solidFill>
              </a:rPr>
              <a:t>Repeat for dbo.Claims. Both tables now carry 'Confidential — PHI' at table scope.</a:t>
            </a:r>
          </a:p>
          <a:p>
            <a:pPr>
              <a:spcBef>
                <a:spcPts val="800"/>
              </a:spcBef>
            </a:pPr>
            <a:r>
              <a:rPr sz="1500" b="1">
                <a:solidFill>
                  <a:srgbClr val="243A5E"/>
                </a:solidFill>
              </a:rPr>
              <a:t>Step 5: Search by Label
</a:t>
            </a:r>
            <a:r>
              <a:rPr sz="1400">
                <a:solidFill>
                  <a:srgbClr val="505050"/>
                </a:solidFill>
              </a:rPr>
              <a:t>Go to Catalog search → filter by Sensitivity Label = 'Confidential — PHI'. Both tables appear in results, along with any Fabric or Snowflake assets carrying the same label.</a:t>
            </a:r>
          </a:p>
          <a:p>
            <a:pPr>
              <a:spcBef>
                <a:spcPts val="800"/>
              </a:spcBef>
            </a:pPr>
            <a:r>
              <a:rPr sz="1500" b="1">
                <a:solidFill>
                  <a:srgbClr val="243A5E"/>
                </a:solidFill>
              </a:rPr>
              <a:t>Step 6: View Label in Lineage
</a:t>
            </a:r>
            <a:r>
              <a:rPr sz="1400">
                <a:solidFill>
                  <a:srgbClr val="505050"/>
                </a:solidFill>
              </a:rPr>
              <a:t>Open the Lineage tab for dbo.Patients → see the label icon on the asset and all downstream consumers (Power BI reports, Fabric pipelines).</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3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demo_3.mp4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4 — Data Quality Rules &amp; Scoring</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Configure quality rules and see quality scores on governed data products.</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Navigate to Data Quality
</a:t>
            </a:r>
            <a:r>
              <a:rPr sz="1400">
                <a:solidFill>
                  <a:srgbClr val="505050"/>
                </a:solidFill>
              </a:rPr>
              <a:t>In Purview Unified Catalog → Data Quality → select the governance domain for your data.</a:t>
            </a:r>
          </a:p>
          <a:p>
            <a:pPr>
              <a:spcBef>
                <a:spcPts val="800"/>
              </a:spcBef>
            </a:pPr>
            <a:r>
              <a:rPr sz="1500" b="1">
                <a:solidFill>
                  <a:srgbClr val="243A5E"/>
                </a:solidFill>
              </a:rPr>
              <a:t>Step 2: Create Quality Rules
</a:t>
            </a:r>
            <a:r>
              <a:rPr sz="1400">
                <a:solidFill>
                  <a:srgbClr val="505050"/>
                </a:solidFill>
              </a:rPr>
              <a:t>Click + New Rule → configure: Completeness (no NULL in MRN column), Uniqueness (SSN must be unique), Freshness (data updated within 7 days).</a:t>
            </a:r>
          </a:p>
          <a:p>
            <a:pPr>
              <a:spcBef>
                <a:spcPts val="800"/>
              </a:spcBef>
            </a:pPr>
            <a:r>
              <a:rPr sz="1500" b="1">
                <a:solidFill>
                  <a:srgbClr val="243A5E"/>
                </a:solidFill>
              </a:rPr>
              <a:t>Step 3: Assign Rules to Assets
</a:t>
            </a:r>
            <a:r>
              <a:rPr sz="1400">
                <a:solidFill>
                  <a:srgbClr val="505050"/>
                </a:solidFill>
              </a:rPr>
              <a:t>Attach the rules to dbo.Patients and dbo.Claims. Rules can also be attached to Data Products.</a:t>
            </a:r>
          </a:p>
          <a:p>
            <a:pPr>
              <a:spcBef>
                <a:spcPts val="800"/>
              </a:spcBef>
            </a:pPr>
            <a:r>
              <a:rPr sz="1500" b="1">
                <a:solidFill>
                  <a:srgbClr val="243A5E"/>
                </a:solidFill>
              </a:rPr>
              <a:t>Step 4: Run Quality Scan
</a:t>
            </a:r>
            <a:r>
              <a:rPr sz="1400">
                <a:solidFill>
                  <a:srgbClr val="505050"/>
                </a:solidFill>
              </a:rPr>
              <a:t>Trigger a quality evaluation run. Purview calculates a score per rule and an aggregate quality score per asset.</a:t>
            </a:r>
          </a:p>
          <a:p>
            <a:pPr>
              <a:spcBef>
                <a:spcPts val="800"/>
              </a:spcBef>
            </a:pPr>
            <a:r>
              <a:rPr sz="1500" b="1">
                <a:solidFill>
                  <a:srgbClr val="243A5E"/>
                </a:solidFill>
              </a:rPr>
              <a:t>Step 5: Review Results
</a:t>
            </a:r>
            <a:r>
              <a:rPr sz="1400">
                <a:solidFill>
                  <a:srgbClr val="505050"/>
                </a:solidFill>
              </a:rPr>
              <a:t>Open the quality dashboard → see pass/fail per rule, overall score, and trend over time. Drill into failing rows.</a:t>
            </a:r>
          </a:p>
          <a:p>
            <a:pPr>
              <a:spcBef>
                <a:spcPts val="800"/>
              </a:spcBef>
            </a:pPr>
            <a:r>
              <a:rPr sz="1500" b="1">
                <a:solidFill>
                  <a:srgbClr val="243A5E"/>
                </a:solidFill>
              </a:rPr>
              <a:t>Step 6: Publish Quality Score
</a:t>
            </a:r>
            <a:r>
              <a:rPr sz="1400">
                <a:solidFill>
                  <a:srgbClr val="505050"/>
                </a:solidFill>
              </a:rPr>
              <a:t>The quality score is visible on the Data Product card — data consumers see quality at a glance before using the data.</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4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demo_4.mp4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5 — Creating &amp; Publishing Data Products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Package governed assets into a searchable, access-controlled Data Product.</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Navigate to Data Products
</a:t>
            </a:r>
            <a:r>
              <a:rPr sz="1400">
                <a:solidFill>
                  <a:srgbClr val="505050"/>
                </a:solidFill>
              </a:rPr>
              <a:t>In the Unified Catalog → Data Products → click + New Data Product.</a:t>
            </a:r>
          </a:p>
          <a:p>
            <a:pPr>
              <a:spcBef>
                <a:spcPts val="800"/>
              </a:spcBef>
            </a:pPr>
            <a:r>
              <a:rPr sz="1500" b="1">
                <a:solidFill>
                  <a:srgbClr val="243A5E"/>
                </a:solidFill>
              </a:rPr>
              <a:t>Step 2: Define the Product
</a:t>
            </a:r>
            <a:r>
              <a:rPr sz="1400">
                <a:solidFill>
                  <a:srgbClr val="505050"/>
                </a:solidFill>
              </a:rPr>
              <a:t>Name: 'Healthcare Claims — AI Training Set'. Add description, owner, domain, and terms of use.</a:t>
            </a:r>
          </a:p>
          <a:p>
            <a:pPr>
              <a:spcBef>
                <a:spcPts val="800"/>
              </a:spcBef>
            </a:pPr>
            <a:r>
              <a:rPr sz="1500" b="1">
                <a:solidFill>
                  <a:srgbClr val="243A5E"/>
                </a:solidFill>
              </a:rPr>
              <a:t>Step 3: Add Assets
</a:t>
            </a:r>
            <a:r>
              <a:rPr sz="1400">
                <a:solidFill>
                  <a:srgbClr val="505050"/>
                </a:solidFill>
              </a:rPr>
              <a:t>Associate dbo.Patients and dbo.Claims as the underlying assets. The Data Product inherits their classifications and labels.</a:t>
            </a:r>
          </a:p>
          <a:p>
            <a:pPr>
              <a:spcBef>
                <a:spcPts val="800"/>
              </a:spcBef>
            </a:pPr>
            <a:r>
              <a:rPr sz="1500" b="1">
                <a:solidFill>
                  <a:srgbClr val="243A5E"/>
                </a:solidFill>
              </a:rPr>
              <a:t>Step 4: Set Access Policies
</a:t>
            </a:r>
            <a:r>
              <a:rPr sz="1400">
                <a:solidFill>
                  <a:srgbClr val="505050"/>
                </a:solidFill>
              </a:rPr>
              <a:t>Configure who can discover the product (all authenticated users) and who can request access (Data Reader role required).</a:t>
            </a:r>
          </a:p>
          <a:p>
            <a:pPr>
              <a:spcBef>
                <a:spcPts val="800"/>
              </a:spcBef>
            </a:pPr>
            <a:r>
              <a:rPr sz="1500" b="1">
                <a:solidFill>
                  <a:srgbClr val="243A5E"/>
                </a:solidFill>
              </a:rPr>
              <a:t>Step 5: Add Terms of Use
</a:t>
            </a:r>
            <a:r>
              <a:rPr sz="1400">
                <a:solidFill>
                  <a:srgbClr val="505050"/>
                </a:solidFill>
              </a:rPr>
              <a:t>Attach an AI usage policy: 'Approved for AI model training. PHI must be de-identified before fine-tuning. Consent log required.'</a:t>
            </a:r>
          </a:p>
          <a:p>
            <a:pPr>
              <a:spcBef>
                <a:spcPts val="800"/>
              </a:spcBef>
            </a:pPr>
            <a:r>
              <a:rPr sz="1500" b="1">
                <a:solidFill>
                  <a:srgbClr val="243A5E"/>
                </a:solidFill>
              </a:rPr>
              <a:t>Step 6: Publish &amp; Verify
</a:t>
            </a:r>
            <a:r>
              <a:rPr sz="1400">
                <a:solidFill>
                  <a:srgbClr val="505050"/>
                </a:solidFill>
              </a:rPr>
              <a:t>Publish the Data Product. Search the catalog for 'Healthcare Claims' → verify it appears with quality score, label, and terms of use.</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5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demo_5.mp4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6 — Access Policies &amp; Request Workflows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Govern who can access data products and how access requests are handled.</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Data Product Settings
</a:t>
            </a:r>
            <a:r>
              <a:rPr sz="1400">
                <a:solidFill>
                  <a:srgbClr val="505050"/>
                </a:solidFill>
              </a:rPr>
              <a:t>Navigate to the Healthcare Claims Data Product → Settings → Access Policies.</a:t>
            </a:r>
          </a:p>
          <a:p>
            <a:pPr>
              <a:spcBef>
                <a:spcPts val="800"/>
              </a:spcBef>
            </a:pPr>
            <a:r>
              <a:rPr sz="1500" b="1">
                <a:solidFill>
                  <a:srgbClr val="243A5E"/>
                </a:solidFill>
              </a:rPr>
              <a:t>Step 2: Define Access Policy
</a:t>
            </a:r>
            <a:r>
              <a:rPr sz="1400">
                <a:solidFill>
                  <a:srgbClr val="505050"/>
                </a:solidFill>
              </a:rPr>
              <a:t>Create a policy: Data Reader scope — grants read access to the underlying SQL tables. Requires owner approval.</a:t>
            </a:r>
          </a:p>
          <a:p>
            <a:pPr>
              <a:spcBef>
                <a:spcPts val="800"/>
              </a:spcBef>
            </a:pPr>
            <a:r>
              <a:rPr sz="1500" b="1">
                <a:solidFill>
                  <a:srgbClr val="243A5E"/>
                </a:solidFill>
              </a:rPr>
              <a:t>Step 3: Simulate Access Request
</a:t>
            </a:r>
            <a:r>
              <a:rPr sz="1400">
                <a:solidFill>
                  <a:srgbClr val="505050"/>
                </a:solidFill>
              </a:rPr>
              <a:t>Switch to a data consumer persona. Search the catalog → find the Data Product → click 'Request Access'. Fill in justification.</a:t>
            </a:r>
          </a:p>
          <a:p>
            <a:pPr>
              <a:spcBef>
                <a:spcPts val="800"/>
              </a:spcBef>
            </a:pPr>
            <a:r>
              <a:rPr sz="1500" b="1">
                <a:solidFill>
                  <a:srgbClr val="243A5E"/>
                </a:solidFill>
              </a:rPr>
              <a:t>Step 4: Approve Request
</a:t>
            </a:r>
            <a:r>
              <a:rPr sz="1400">
                <a:solidFill>
                  <a:srgbClr val="505050"/>
                </a:solidFill>
              </a:rPr>
              <a:t>Switch to the data owner persona. Open the approval queue → review the request, justification, and requester details → Approve.</a:t>
            </a:r>
          </a:p>
          <a:p>
            <a:pPr>
              <a:spcBef>
                <a:spcPts val="800"/>
              </a:spcBef>
            </a:pPr>
            <a:r>
              <a:rPr sz="1500" b="1">
                <a:solidFill>
                  <a:srgbClr val="243A5E"/>
                </a:solidFill>
              </a:rPr>
              <a:t>Step 5: Verify Access
</a:t>
            </a:r>
            <a:r>
              <a:rPr sz="1400">
                <a:solidFill>
                  <a:srgbClr val="505050"/>
                </a:solidFill>
              </a:rPr>
              <a:t>Back as the consumer — confirm read access to dbo.Patients and dbo.Claims is now granted through the policy.</a:t>
            </a:r>
          </a:p>
          <a:p>
            <a:pPr>
              <a:spcBef>
                <a:spcPts val="800"/>
              </a:spcBef>
            </a:pPr>
            <a:r>
              <a:rPr sz="1500" b="1">
                <a:solidFill>
                  <a:srgbClr val="243A5E"/>
                </a:solidFill>
              </a:rPr>
              <a:t>Step 6: Audit Trail
</a:t>
            </a:r>
            <a:r>
              <a:rPr sz="1400">
                <a:solidFill>
                  <a:srgbClr val="505050"/>
                </a:solidFill>
              </a:rPr>
              <a:t>Navigate to Purview Audit → search for access policy events. Show the full trail: request → approval → access grant → data read.</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6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demo_6.mp4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7 — Data Lineage &amp; Observability</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Trace data from source through transformation to AI consumption.</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Asset Lineage
</a:t>
            </a:r>
            <a:r>
              <a:rPr sz="1400">
                <a:solidFill>
                  <a:srgbClr val="505050"/>
                </a:solidFill>
              </a:rPr>
              <a:t>In the Catalog → search for dbo.Patients → click the Lineage tab.</a:t>
            </a:r>
          </a:p>
          <a:p>
            <a:pPr>
              <a:spcBef>
                <a:spcPts val="800"/>
              </a:spcBef>
            </a:pPr>
            <a:r>
              <a:rPr sz="1500" b="1">
                <a:solidFill>
                  <a:srgbClr val="243A5E"/>
                </a:solidFill>
              </a:rPr>
              <a:t>Step 2: View Upstream Sources
</a:t>
            </a:r>
            <a:r>
              <a:rPr sz="1400">
                <a:solidFill>
                  <a:srgbClr val="505050"/>
                </a:solidFill>
              </a:rPr>
              <a:t>See the source systems that feed into dbo.Patients — e.g., an ETL pipeline from an on-premises EHR system via Azure Data Factory.</a:t>
            </a:r>
          </a:p>
          <a:p>
            <a:pPr>
              <a:spcBef>
                <a:spcPts val="800"/>
              </a:spcBef>
            </a:pPr>
            <a:r>
              <a:rPr sz="1500" b="1">
                <a:solidFill>
                  <a:srgbClr val="243A5E"/>
                </a:solidFill>
              </a:rPr>
              <a:t>Step 3: View Downstream Consumers
</a:t>
            </a:r>
            <a:r>
              <a:rPr sz="1400">
                <a:solidFill>
                  <a:srgbClr val="505050"/>
                </a:solidFill>
              </a:rPr>
              <a:t>See where dbo.Patients is consumed: Power BI reports, Fabric lakehouse tables, and Foundry training datasets.</a:t>
            </a:r>
          </a:p>
          <a:p>
            <a:pPr>
              <a:spcBef>
                <a:spcPts val="800"/>
              </a:spcBef>
            </a:pPr>
            <a:r>
              <a:rPr sz="1500" b="1">
                <a:solidFill>
                  <a:srgbClr val="243A5E"/>
                </a:solidFill>
              </a:rPr>
              <a:t>Step 4: Trace to AI Model
</a:t>
            </a:r>
            <a:r>
              <a:rPr sz="1400">
                <a:solidFill>
                  <a:srgbClr val="505050"/>
                </a:solidFill>
              </a:rPr>
              <a:t>Follow the lineage path: dbo.Patients → Fabric Silver Layer → Foundry Training Dataset → Fine-tuned Model. Full provenance chain.</a:t>
            </a:r>
          </a:p>
          <a:p>
            <a:pPr>
              <a:spcBef>
                <a:spcPts val="800"/>
              </a:spcBef>
            </a:pPr>
            <a:r>
              <a:rPr sz="1500" b="1">
                <a:solidFill>
                  <a:srgbClr val="243A5E"/>
                </a:solidFill>
              </a:rPr>
              <a:t>Step 5: Data Observability
</a:t>
            </a:r>
            <a:r>
              <a:rPr sz="1400">
                <a:solidFill>
                  <a:srgbClr val="505050"/>
                </a:solidFill>
              </a:rPr>
              <a:t>Open Data Observability view → see the relationship between governance concepts (domains, data products, quality rules) and assets in lineage form.</a:t>
            </a:r>
          </a:p>
          <a:p>
            <a:pPr>
              <a:spcBef>
                <a:spcPts val="800"/>
              </a:spcBef>
            </a:pPr>
            <a:r>
              <a:rPr sz="1500" b="1">
                <a:solidFill>
                  <a:srgbClr val="243A5E"/>
                </a:solidFill>
              </a:rPr>
              <a:t>Step 6: Impact Analysis
</a:t>
            </a:r>
            <a:r>
              <a:rPr sz="1400">
                <a:solidFill>
                  <a:srgbClr val="505050"/>
                </a:solidFill>
              </a:rPr>
              <a:t>Click 'Impact Analysis' on dbo.Patients → see all downstream assets that would be affected if this source changes or is retired.</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7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demo_7.mp4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8 — Governance Domains &amp; Stewardship</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Organize your data estate by business domains with assigned stewards.</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Create a Governance Domain
</a:t>
            </a:r>
            <a:r>
              <a:rPr sz="1400">
                <a:solidFill>
                  <a:srgbClr val="505050"/>
                </a:solidFill>
              </a:rPr>
              <a:t>Navigate to Unified Catalog → Governance Domains → + New Domain. Name: 'Healthcare AI'. Assign a domain owner.</a:t>
            </a:r>
          </a:p>
          <a:p>
            <a:pPr>
              <a:spcBef>
                <a:spcPts val="800"/>
              </a:spcBef>
            </a:pPr>
            <a:r>
              <a:rPr sz="1500" b="1">
                <a:solidFill>
                  <a:srgbClr val="243A5E"/>
                </a:solidFill>
              </a:rPr>
              <a:t>Step 2: Assign Data Stewards
</a:t>
            </a:r>
            <a:r>
              <a:rPr sz="1400">
                <a:solidFill>
                  <a:srgbClr val="505050"/>
                </a:solidFill>
              </a:rPr>
              <a:t>Add stewards responsible for data quality, glossary terms, and classification within the domain.</a:t>
            </a:r>
          </a:p>
          <a:p>
            <a:pPr>
              <a:spcBef>
                <a:spcPts val="800"/>
              </a:spcBef>
            </a:pPr>
            <a:r>
              <a:rPr sz="1500" b="1">
                <a:solidFill>
                  <a:srgbClr val="243A5E"/>
                </a:solidFill>
              </a:rPr>
              <a:t>Step 3: Associate Assets &amp; Products
</a:t>
            </a:r>
            <a:r>
              <a:rPr sz="1400">
                <a:solidFill>
                  <a:srgbClr val="505050"/>
                </a:solidFill>
              </a:rPr>
              <a:t>Link the Healthcare Claims Data Product and its underlying assets to this domain.</a:t>
            </a:r>
          </a:p>
          <a:p>
            <a:pPr>
              <a:spcBef>
                <a:spcPts val="800"/>
              </a:spcBef>
            </a:pPr>
            <a:r>
              <a:rPr sz="1500" b="1">
                <a:solidFill>
                  <a:srgbClr val="243A5E"/>
                </a:solidFill>
              </a:rPr>
              <a:t>Step 4: Define Glossary Terms
</a:t>
            </a:r>
            <a:r>
              <a:rPr sz="1400">
                <a:solidFill>
                  <a:srgbClr val="505050"/>
                </a:solidFill>
              </a:rPr>
              <a:t>Create business glossary terms: 'MRN' = Medical Record Number, 'ICD-10' = International Classification of Diseases. Link to assets.</a:t>
            </a:r>
          </a:p>
          <a:p>
            <a:pPr>
              <a:spcBef>
                <a:spcPts val="800"/>
              </a:spcBef>
            </a:pPr>
            <a:r>
              <a:rPr sz="1500" b="1">
                <a:solidFill>
                  <a:srgbClr val="243A5E"/>
                </a:solidFill>
              </a:rPr>
              <a:t>Step 5: Set Domain OKRs
</a:t>
            </a:r>
            <a:r>
              <a:rPr sz="1400">
                <a:solidFill>
                  <a:srgbClr val="505050"/>
                </a:solidFill>
              </a:rPr>
              <a:t>Configure domain-level objectives: 95% quality score, 100% classification coverage, all PHI assets labeled within 30 days.</a:t>
            </a:r>
          </a:p>
          <a:p>
            <a:pPr>
              <a:spcBef>
                <a:spcPts val="800"/>
              </a:spcBef>
            </a:pPr>
            <a:r>
              <a:rPr sz="1500" b="1">
                <a:solidFill>
                  <a:srgbClr val="243A5E"/>
                </a:solidFill>
              </a:rPr>
              <a:t>Step 6: Review Domain Health
</a:t>
            </a:r>
            <a:r>
              <a:rPr sz="1400">
                <a:solidFill>
                  <a:srgbClr val="505050"/>
                </a:solidFill>
              </a:rPr>
              <a:t>Open the domain dashboard → see overall health score, quality trends, classification coverage, and steward activity.</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8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demo_8.mp4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9 — AI-Ready Data Discovery</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How data scientists and AI engineers find governed, quality-scored data for AI workloads.</a:t>
            </a:r>
          </a:p>
        </p:txBody>
      </p:sp>
      <p:sp>
        <p:nvSpPr>
          <p:cNvPr id="4" name="TextBox 3"/>
          <p:cNvSpPr txBox="1"/>
          <p:nvPr/>
        </p:nvSpPr>
        <p:spPr>
          <a:xfrm>
            <a:off x="548640" y="1417320"/>
            <a:ext cx="11094720" cy="3795911"/>
          </a:xfrm>
          <a:prstGeom prst="rect">
            <a:avLst/>
          </a:prstGeom>
          <a:noFill/>
        </p:spPr>
        <p:txBody>
          <a:bodyPr wrap="square">
            <a:spAutoFit/>
          </a:bodyPr>
          <a:lstStyle/>
          <a:p>
            <a:r>
              <a:rPr sz="1500" b="1">
                <a:solidFill>
                  <a:srgbClr val="243A5E"/>
                </a:solidFill>
              </a:rPr>
              <a:t>Step 1: Natural Language Search
</a:t>
            </a:r>
            <a:r>
              <a:rPr sz="1400">
                <a:solidFill>
                  <a:srgbClr val="505050"/>
                </a:solidFill>
              </a:rPr>
              <a:t>In the Catalog search bar, type 'patient claims data for AI training'. Purview uses semantic search to return relevant Data Products.</a:t>
            </a:r>
          </a:p>
          <a:p>
            <a:pPr>
              <a:spcBef>
                <a:spcPts val="800"/>
              </a:spcBef>
            </a:pPr>
            <a:r>
              <a:rPr sz="1500" b="1">
                <a:solidFill>
                  <a:srgbClr val="243A5E"/>
                </a:solidFill>
              </a:rPr>
              <a:t>Step 2: Filter by AI Readiness
</a:t>
            </a:r>
            <a:r>
              <a:rPr sz="1400">
                <a:solidFill>
                  <a:srgbClr val="505050"/>
                </a:solidFill>
              </a:rPr>
              <a:t>Apply filters: Quality Score &gt; 90%, Sensitivity Label = 'Confidential — PHI', Terms of Use includes 'AI Training Approved'.</a:t>
            </a:r>
          </a:p>
          <a:p>
            <a:pPr>
              <a:spcBef>
                <a:spcPts val="800"/>
              </a:spcBef>
            </a:pPr>
            <a:r>
              <a:rPr sz="1500" b="1">
                <a:solidFill>
                  <a:srgbClr val="243A5E"/>
                </a:solidFill>
              </a:rPr>
              <a:t>Step 3: Review Data Product Card
</a:t>
            </a:r>
            <a:r>
              <a:rPr sz="1400">
                <a:solidFill>
                  <a:srgbClr val="505050"/>
                </a:solidFill>
              </a:rPr>
              <a:t>Open the Healthcare Claims Data Product → see quality score, owner, description, sensitivity label, terms of use, and underlying assets.</a:t>
            </a:r>
          </a:p>
          <a:p>
            <a:pPr>
              <a:spcBef>
                <a:spcPts val="800"/>
              </a:spcBef>
            </a:pPr>
            <a:r>
              <a:rPr sz="1500" b="1">
                <a:solidFill>
                  <a:srgbClr val="243A5E"/>
                </a:solidFill>
              </a:rPr>
              <a:t>Step 4: Preview Schema &amp; Samples
</a:t>
            </a:r>
            <a:r>
              <a:rPr sz="1400">
                <a:solidFill>
                  <a:srgbClr val="505050"/>
                </a:solidFill>
              </a:rPr>
              <a:t>Click on individual assets → view schema, classifications, and sample data (if permitted by access policy).</a:t>
            </a:r>
          </a:p>
          <a:p>
            <a:pPr>
              <a:spcBef>
                <a:spcPts val="800"/>
              </a:spcBef>
            </a:pPr>
            <a:r>
              <a:rPr sz="1500" b="1">
                <a:solidFill>
                  <a:srgbClr val="243A5E"/>
                </a:solidFill>
              </a:rPr>
              <a:t>Step 5: Request Access
</a:t>
            </a:r>
            <a:r>
              <a:rPr sz="1400">
                <a:solidFill>
                  <a:srgbClr val="505050"/>
                </a:solidFill>
              </a:rPr>
              <a:t>Click 'Request Access' → fill in use case ('Fine-tuning claims summarization model') → submit for owner approval.</a:t>
            </a:r>
          </a:p>
          <a:p>
            <a:pPr>
              <a:spcBef>
                <a:spcPts val="800"/>
              </a:spcBef>
            </a:pPr>
            <a:r>
              <a:rPr sz="1500" b="1">
                <a:solidFill>
                  <a:srgbClr val="243A5E"/>
                </a:solidFill>
              </a:rPr>
              <a:t>Step 6: Export for Training
</a:t>
            </a:r>
            <a:r>
              <a:rPr sz="1400">
                <a:solidFill>
                  <a:srgbClr val="505050"/>
                </a:solidFill>
              </a:rPr>
              <a:t>Once approved, export the dataset reference to Foundry. Lineage, labels, and quality metadata carry over automatically.</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9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demo_9.mp4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10 — Data Protection &amp; DLP Policies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Attach protection policies to labeled assets to prevent unauthorized use.</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Navigate to Policies
</a:t>
            </a:r>
            <a:r>
              <a:rPr sz="1400">
                <a:solidFill>
                  <a:srgbClr val="505050"/>
                </a:solidFill>
              </a:rPr>
              <a:t>In the Purview portal → Data Policy → Protection Policies → + New Policy.</a:t>
            </a:r>
          </a:p>
          <a:p>
            <a:pPr>
              <a:spcBef>
                <a:spcPts val="800"/>
              </a:spcBef>
            </a:pPr>
            <a:r>
              <a:rPr sz="1500" b="1">
                <a:solidFill>
                  <a:srgbClr val="243A5E"/>
                </a:solidFill>
              </a:rPr>
              <a:t>Step 2: Define Policy Scope
</a:t>
            </a:r>
            <a:r>
              <a:rPr sz="1400">
                <a:solidFill>
                  <a:srgbClr val="505050"/>
                </a:solidFill>
              </a:rPr>
              <a:t>Scope: All assets labeled 'Confidential — PHI'. This catches SQL, Fabric, and any future sources with the same label.</a:t>
            </a:r>
          </a:p>
          <a:p>
            <a:pPr>
              <a:spcBef>
                <a:spcPts val="800"/>
              </a:spcBef>
            </a:pPr>
            <a:r>
              <a:rPr sz="1500" b="1">
                <a:solidFill>
                  <a:srgbClr val="243A5E"/>
                </a:solidFill>
              </a:rPr>
              <a:t>Step 3: Configure Actions
</a:t>
            </a:r>
            <a:r>
              <a:rPr sz="1400">
                <a:solidFill>
                  <a:srgbClr val="505050"/>
                </a:solidFill>
              </a:rPr>
              <a:t>Block: Export to non-HIPAA storage accounts. Mask: Column-level masking on SSN and MRN for Data Reader role. Alert: Notify on bulk download &gt; 1000 rows.</a:t>
            </a:r>
          </a:p>
          <a:p>
            <a:pPr>
              <a:spcBef>
                <a:spcPts val="800"/>
              </a:spcBef>
            </a:pPr>
            <a:r>
              <a:rPr sz="1500" b="1">
                <a:solidFill>
                  <a:srgbClr val="243A5E"/>
                </a:solidFill>
              </a:rPr>
              <a:t>Step 4: Assign to Label
</a:t>
            </a:r>
            <a:r>
              <a:rPr sz="1400">
                <a:solidFill>
                  <a:srgbClr val="505050"/>
                </a:solidFill>
              </a:rPr>
              <a:t>Bind the policy to the 'Confidential — PHI' sensitivity label. Any asset receiving this label automatically inherits the policy.</a:t>
            </a:r>
          </a:p>
          <a:p>
            <a:pPr>
              <a:spcBef>
                <a:spcPts val="800"/>
              </a:spcBef>
            </a:pPr>
            <a:r>
              <a:rPr sz="1500" b="1">
                <a:solidFill>
                  <a:srgbClr val="243A5E"/>
                </a:solidFill>
              </a:rPr>
              <a:t>Step 5: Test the Policy
</a:t>
            </a:r>
            <a:r>
              <a:rPr sz="1400">
                <a:solidFill>
                  <a:srgbClr val="505050"/>
                </a:solidFill>
              </a:rPr>
              <a:t>As a Data Reader, attempt to export dbo.Patients to a non-approved storage account → verify the action is blocked with an audit event.</a:t>
            </a:r>
          </a:p>
          <a:p>
            <a:pPr>
              <a:spcBef>
                <a:spcPts val="800"/>
              </a:spcBef>
            </a:pPr>
            <a:r>
              <a:rPr sz="1500" b="1">
                <a:solidFill>
                  <a:srgbClr val="243A5E"/>
                </a:solidFill>
              </a:rPr>
              <a:t>Step 6: Review DLP Incidents
</a:t>
            </a:r>
            <a:r>
              <a:rPr sz="1400">
                <a:solidFill>
                  <a:srgbClr val="505050"/>
                </a:solidFill>
              </a:rPr>
              <a:t>Navigate to Purview Compliance → DLP Incidents → see the blocked export with full context: who, what, when, where.</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10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demo_10.mp4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11 — Purview AI Hub</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Discover all AI apps in use, assess risk, and monitor AI interactions.</a:t>
            </a:r>
          </a:p>
        </p:txBody>
      </p:sp>
      <p:sp>
        <p:nvSpPr>
          <p:cNvPr id="4" name="TextBox 3"/>
          <p:cNvSpPr txBox="1"/>
          <p:nvPr/>
        </p:nvSpPr>
        <p:spPr>
          <a:xfrm>
            <a:off x="548640" y="1417320"/>
            <a:ext cx="11094720" cy="3795911"/>
          </a:xfrm>
          <a:prstGeom prst="rect">
            <a:avLst/>
          </a:prstGeom>
          <a:noFill/>
        </p:spPr>
        <p:txBody>
          <a:bodyPr wrap="square">
            <a:spAutoFit/>
          </a:bodyPr>
          <a:lstStyle/>
          <a:p>
            <a:r>
              <a:rPr sz="1500" b="1">
                <a:solidFill>
                  <a:srgbClr val="243A5E"/>
                </a:solidFill>
              </a:rPr>
              <a:t>Step 1: Open AI Hub
</a:t>
            </a:r>
            <a:r>
              <a:rPr sz="1400">
                <a:solidFill>
                  <a:srgbClr val="505050"/>
                </a:solidFill>
              </a:rPr>
              <a:t>Navigate to Purview portal → AI Hub. This shows all AI applications detected across your tenant.</a:t>
            </a:r>
          </a:p>
          <a:p>
            <a:pPr>
              <a:spcBef>
                <a:spcPts val="800"/>
              </a:spcBef>
            </a:pPr>
            <a:r>
              <a:rPr sz="1500" b="1">
                <a:solidFill>
                  <a:srgbClr val="243A5E"/>
                </a:solidFill>
              </a:rPr>
              <a:t>Step 2: Review Discovered AI Apps
</a:t>
            </a:r>
            <a:r>
              <a:rPr sz="1400">
                <a:solidFill>
                  <a:srgbClr val="505050"/>
                </a:solidFill>
              </a:rPr>
              <a:t>See sanctioned apps (Copilot, Foundry), third-party apps (ChatGPT, Gemini), and shadow AI usage with risk scores.</a:t>
            </a:r>
          </a:p>
          <a:p>
            <a:pPr>
              <a:spcBef>
                <a:spcPts val="800"/>
              </a:spcBef>
            </a:pPr>
            <a:r>
              <a:rPr sz="1500" b="1">
                <a:solidFill>
                  <a:srgbClr val="243A5E"/>
                </a:solidFill>
              </a:rPr>
              <a:t>Step 3: View Sensitive Data in AI
</a:t>
            </a:r>
            <a:r>
              <a:rPr sz="1400">
                <a:solidFill>
                  <a:srgbClr val="505050"/>
                </a:solidFill>
              </a:rPr>
              <a:t>Click 'Sensitive data in AI prompts' → see which sensitivity labels and SITs have been detected in prompts across AI apps.</a:t>
            </a:r>
          </a:p>
          <a:p>
            <a:pPr>
              <a:spcBef>
                <a:spcPts val="800"/>
              </a:spcBef>
            </a:pPr>
            <a:r>
              <a:rPr sz="1500" b="1">
                <a:solidFill>
                  <a:srgbClr val="243A5E"/>
                </a:solidFill>
              </a:rPr>
              <a:t>Step 4: Drill into Interactions
</a:t>
            </a:r>
            <a:r>
              <a:rPr sz="1400">
                <a:solidFill>
                  <a:srgbClr val="505050"/>
                </a:solidFill>
              </a:rPr>
              <a:t>Select an AI app → view interaction volume, users, sensitive data types shared, and policy violations over time.</a:t>
            </a:r>
          </a:p>
          <a:p>
            <a:pPr>
              <a:spcBef>
                <a:spcPts val="800"/>
              </a:spcBef>
            </a:pPr>
            <a:r>
              <a:rPr sz="1500" b="1">
                <a:solidFill>
                  <a:srgbClr val="243A5E"/>
                </a:solidFill>
              </a:rPr>
              <a:t>Step 5: Configure Policies
</a:t>
            </a:r>
            <a:r>
              <a:rPr sz="1400">
                <a:solidFill>
                  <a:srgbClr val="505050"/>
                </a:solidFill>
              </a:rPr>
              <a:t>Set DLP policies for AI apps: block paste of 'Confidential — PHI' content into non-sanctioned AI tools.</a:t>
            </a:r>
          </a:p>
          <a:p>
            <a:pPr>
              <a:spcBef>
                <a:spcPts val="800"/>
              </a:spcBef>
            </a:pPr>
            <a:r>
              <a:rPr sz="1500" b="1">
                <a:solidFill>
                  <a:srgbClr val="243A5E"/>
                </a:solidFill>
              </a:rPr>
              <a:t>Step 6: Export Reports
</a:t>
            </a:r>
            <a:r>
              <a:rPr sz="1400">
                <a:solidFill>
                  <a:srgbClr val="505050"/>
                </a:solidFill>
              </a:rPr>
              <a:t>Generate compliance reports showing AI app usage, sensitive data exposure, and policy enforcement metrics for leadership.</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11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demo_11.mp4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12 — Audit Trail &amp; eDiscovery for AI</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Search, hold, and review AI interactions for compliance and legal requirements.</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Purview Audit
</a:t>
            </a:r>
            <a:r>
              <a:rPr sz="1400">
                <a:solidFill>
                  <a:srgbClr val="505050"/>
                </a:solidFill>
              </a:rPr>
              <a:t>Navigate to Purview Compliance → Audit → search for AI-related activities.</a:t>
            </a:r>
          </a:p>
          <a:p>
            <a:pPr>
              <a:spcBef>
                <a:spcPts val="800"/>
              </a:spcBef>
            </a:pPr>
            <a:r>
              <a:rPr sz="1500" b="1">
                <a:solidFill>
                  <a:srgbClr val="243A5E"/>
                </a:solidFill>
              </a:rPr>
              <a:t>Step 2: Search AI Interactions
</a:t>
            </a:r>
            <a:r>
              <a:rPr sz="1400">
                <a:solidFill>
                  <a:srgbClr val="505050"/>
                </a:solidFill>
              </a:rPr>
              <a:t>Filter by: Activity = 'AI Prompt', 'AI Response', 'Model Inference'. Set date range and user scope.</a:t>
            </a:r>
          </a:p>
          <a:p>
            <a:pPr>
              <a:spcBef>
                <a:spcPts val="800"/>
              </a:spcBef>
            </a:pPr>
            <a:r>
              <a:rPr sz="1500" b="1">
                <a:solidFill>
                  <a:srgbClr val="243A5E"/>
                </a:solidFill>
              </a:rPr>
              <a:t>Step 3: View Interaction Details
</a:t>
            </a:r>
            <a:r>
              <a:rPr sz="1400">
                <a:solidFill>
                  <a:srgbClr val="505050"/>
                </a:solidFill>
              </a:rPr>
              <a:t>Open an audit record → see the full prompt text, response text, model used, grounding sources cited, and timestamp.</a:t>
            </a:r>
          </a:p>
          <a:p>
            <a:pPr>
              <a:spcBef>
                <a:spcPts val="800"/>
              </a:spcBef>
            </a:pPr>
            <a:r>
              <a:rPr sz="1500" b="1">
                <a:solidFill>
                  <a:srgbClr val="243A5E"/>
                </a:solidFill>
              </a:rPr>
              <a:t>Step 4: eDiscovery Case
</a:t>
            </a:r>
            <a:r>
              <a:rPr sz="1400">
                <a:solidFill>
                  <a:srgbClr val="505050"/>
                </a:solidFill>
              </a:rPr>
              <a:t>Create a new eDiscovery case → add AI interaction data as a data source → run a search for specific terms (e.g., patient names, claim numbers).</a:t>
            </a:r>
          </a:p>
          <a:p>
            <a:pPr>
              <a:spcBef>
                <a:spcPts val="800"/>
              </a:spcBef>
            </a:pPr>
            <a:r>
              <a:rPr sz="1500" b="1">
                <a:solidFill>
                  <a:srgbClr val="243A5E"/>
                </a:solidFill>
              </a:rPr>
              <a:t>Step 5: Legal Hold
</a:t>
            </a:r>
            <a:r>
              <a:rPr sz="1400">
                <a:solidFill>
                  <a:srgbClr val="505050"/>
                </a:solidFill>
              </a:rPr>
              <a:t>Place a legal hold on all AI interactions from a specific user or time period to prevent deletion during an investigation.</a:t>
            </a:r>
          </a:p>
          <a:p>
            <a:pPr>
              <a:spcBef>
                <a:spcPts val="800"/>
              </a:spcBef>
            </a:pPr>
            <a:r>
              <a:rPr sz="1500" b="1">
                <a:solidFill>
                  <a:srgbClr val="243A5E"/>
                </a:solidFill>
              </a:rPr>
              <a:t>Step 6: Export for Review
</a:t>
            </a:r>
            <a:r>
              <a:rPr sz="1400">
                <a:solidFill>
                  <a:srgbClr val="505050"/>
                </a:solidFill>
              </a:rPr>
              <a:t>Export the search results to a review set. Legal and compliance teams can review AI conversations with full context and annotations.</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12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a:solidFill>
                  <a:srgbClr val="243A5E"/>
                </a:solidFill>
              </a:rPr>
              <a:t>▶</a:t>
            </a:r>
          </a:p>
          <a:p>
            <a:pPr algn="ctr">
              <a:spcBef>
                <a:spcPts val="1200"/>
              </a:spcBef>
            </a:pPr>
            <a:r>
              <a:rPr sz="1800" b="1">
                <a:solidFill>
                  <a:srgbClr val="243A5E"/>
                </a:solidFill>
              </a:rPr>
              <a:t>INSERT VIDEO HERE</a:t>
            </a:r>
          </a:p>
          <a:p>
            <a:pPr algn="ctr">
              <a:spcBef>
                <a:spcPts val="800"/>
              </a:spcBef>
            </a:pPr>
            <a:r>
              <a:rPr sz="1400">
                <a:solidFill>
                  <a:srgbClr val="737373"/>
                </a:solidFill>
              </a:rPr>
              <a:t>File: demo_12.mp4</a:t>
            </a:r>
          </a:p>
          <a:p>
            <a:pPr algn="ctr">
              <a:spcBef>
                <a:spcPts val="400"/>
              </a:spcBef>
            </a:pPr>
            <a:r>
              <a:rPr sz="1400" i="1">
                <a:solidFill>
                  <a:srgbClr val="737373"/>
                </a:solidFill>
              </a:rPr>
              <a:t>Insert → Video → This Device → select MP4 file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461665"/>
          </a:xfrm>
          <a:prstGeom prst="rect">
            <a:avLst/>
          </a:prstGeom>
          <a:noFill/>
        </p:spPr>
        <p:txBody>
          <a:bodyPr wrap="square">
            <a:spAutoFit/>
          </a:bodyPr>
          <a:lstStyle/>
          <a:p>
            <a:r>
              <a:rPr sz="2400" b="1">
                <a:solidFill>
                  <a:srgbClr val="243A5E"/>
                </a:solidFill>
              </a:rPr>
              <a:t>Demo 13 — Purview + Foundry Integration</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End-to-end flow: approved Data Product to governed fine-tuned model.</a:t>
            </a:r>
          </a:p>
        </p:txBody>
      </p:sp>
      <p:sp>
        <p:nvSpPr>
          <p:cNvPr id="4" name="TextBox 3"/>
          <p:cNvSpPr txBox="1"/>
          <p:nvPr/>
        </p:nvSpPr>
        <p:spPr>
          <a:xfrm>
            <a:off x="548640" y="1417320"/>
            <a:ext cx="11094720" cy="4114800"/>
          </a:xfrm>
          <a:prstGeom prst="rect">
            <a:avLst/>
          </a:prstGeom>
          <a:noFill/>
        </p:spPr>
        <p:txBody>
          <a:bodyPr wrap="square">
            <a:spAutoFit/>
          </a:bodyPr>
          <a:lstStyle/>
          <a:p>
            <a:r>
              <a:rPr sz="1500" b="1">
                <a:solidFill>
                  <a:srgbClr val="243A5E"/>
                </a:solidFill>
              </a:rPr>
              <a:t>Step 1: Open Foundry
</a:t>
            </a:r>
            <a:r>
              <a:rPr sz="1400">
                <a:solidFill>
                  <a:srgbClr val="505050"/>
                </a:solidFill>
              </a:rPr>
              <a:t>Navigate to Foundry portal → select your project → Datasets.</a:t>
            </a:r>
          </a:p>
          <a:p>
            <a:pPr>
              <a:spcBef>
                <a:spcPts val="800"/>
              </a:spcBef>
            </a:pPr>
            <a:r>
              <a:rPr sz="1500" b="1">
                <a:solidFill>
                  <a:srgbClr val="243A5E"/>
                </a:solidFill>
              </a:rPr>
              <a:t>Step 2: Import from Purview
</a:t>
            </a:r>
            <a:r>
              <a:rPr sz="1400">
                <a:solidFill>
                  <a:srgbClr val="505050"/>
                </a:solidFill>
              </a:rPr>
              <a:t>Click + Add Dataset → select 'From Purview Unified Catalog' → search for the Healthcare Claims Data Product.</a:t>
            </a:r>
          </a:p>
          <a:p>
            <a:pPr>
              <a:spcBef>
                <a:spcPts val="800"/>
              </a:spcBef>
            </a:pPr>
            <a:r>
              <a:rPr sz="1500" b="1">
                <a:solidFill>
                  <a:srgbClr val="243A5E"/>
                </a:solidFill>
              </a:rPr>
              <a:t>Step 3: Verify Metadata Carries Over
</a:t>
            </a:r>
            <a:r>
              <a:rPr sz="1400">
                <a:solidFill>
                  <a:srgbClr val="505050"/>
                </a:solidFill>
              </a:rPr>
              <a:t>Confirm sensitivity labels, quality score, lineage, and terms of use appear on the imported dataset in Foundry.</a:t>
            </a:r>
          </a:p>
          <a:p>
            <a:pPr>
              <a:spcBef>
                <a:spcPts val="800"/>
              </a:spcBef>
            </a:pPr>
            <a:r>
              <a:rPr sz="1500" b="1">
                <a:solidFill>
                  <a:srgbClr val="243A5E"/>
                </a:solidFill>
              </a:rPr>
              <a:t>Step 4: Start Fine-Tuning
</a:t>
            </a:r>
            <a:r>
              <a:rPr sz="1400">
                <a:solidFill>
                  <a:srgbClr val="505050"/>
                </a:solidFill>
              </a:rPr>
              <a:t>Create a fine-tuning job using the imported dataset. Foundry applies safety pre-filters based on the Purview sensitivity label.</a:t>
            </a:r>
          </a:p>
          <a:p>
            <a:pPr>
              <a:spcBef>
                <a:spcPts val="800"/>
              </a:spcBef>
            </a:pPr>
            <a:r>
              <a:rPr sz="1500" b="1">
                <a:solidFill>
                  <a:srgbClr val="243A5E"/>
                </a:solidFill>
              </a:rPr>
              <a:t>Step 5: Run Evaluations
</a:t>
            </a:r>
            <a:r>
              <a:rPr sz="1400">
                <a:solidFill>
                  <a:srgbClr val="505050"/>
                </a:solidFill>
              </a:rPr>
              <a:t>After training, run safety, bias, groundedness, and quality evaluations. Results are logged with the model card.</a:t>
            </a:r>
          </a:p>
          <a:p>
            <a:pPr>
              <a:spcBef>
                <a:spcPts val="800"/>
              </a:spcBef>
            </a:pPr>
            <a:r>
              <a:rPr sz="1500" b="1">
                <a:solidFill>
                  <a:srgbClr val="243A5E"/>
                </a:solidFill>
              </a:rPr>
              <a:t>Step 6: Publish Model Card
</a:t>
            </a:r>
            <a:r>
              <a:rPr sz="1400">
                <a:solidFill>
                  <a:srgbClr val="505050"/>
                </a:solidFill>
              </a:rPr>
              <a:t>Publish the model card with full dataset lineage back to Purview. Compliance reviewers can trace: source → Data Product → training run → model.</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13 / 14</a:t>
            </a:r>
          </a:p>
        </p:txBody>
      </p:sp>
      <p:sp>
        <p:nvSpPr>
          <p:cNvPr id="7" name="Rounded Rectangle 6"/>
          <p:cNvSpPr/>
          <p:nvPr/>
        </p:nvSpPr>
        <p:spPr>
          <a:xfrm>
            <a:off x="2667000" y="5669280"/>
            <a:ext cx="6858000" cy="3858768"/>
          </a:xfrm>
          <a:prstGeom prst="roundRect">
            <a:avLst/>
          </a:prstGeom>
          <a:solidFill>
            <a:srgbClr val="F0F0F0"/>
          </a:solidFill>
          <a:ln w="25400">
            <a:solidFill>
              <a:srgbClr val="243A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0"/>
              </a:spcBef>
            </a:pPr>
            <a:r>
              <a:rPr sz="4800" dirty="0">
                <a:solidFill>
                  <a:srgbClr val="243A5E"/>
                </a:solidFill>
              </a:rPr>
              <a:t>▶</a:t>
            </a:r>
          </a:p>
          <a:p>
            <a:pPr algn="ctr">
              <a:spcBef>
                <a:spcPts val="1200"/>
              </a:spcBef>
            </a:pPr>
            <a:r>
              <a:rPr sz="1800" b="1" dirty="0">
                <a:solidFill>
                  <a:srgbClr val="243A5E"/>
                </a:solidFill>
              </a:rPr>
              <a:t>INSERT VIDEO HERE</a:t>
            </a:r>
          </a:p>
          <a:p>
            <a:pPr algn="ctr">
              <a:spcBef>
                <a:spcPts val="800"/>
              </a:spcBef>
            </a:pPr>
            <a:r>
              <a:rPr sz="1400" dirty="0">
                <a:solidFill>
                  <a:srgbClr val="737373"/>
                </a:solidFill>
              </a:rPr>
              <a:t>File: demo_13.mp4</a:t>
            </a:r>
          </a:p>
          <a:p>
            <a:pPr algn="ctr">
              <a:spcBef>
                <a:spcPts val="400"/>
              </a:spcBef>
            </a:pPr>
            <a:r>
              <a:rPr sz="1400" i="1" dirty="0">
                <a:solidFill>
                  <a:srgbClr val="737373"/>
                </a:solidFill>
              </a:rPr>
              <a:t>Insert → Video → This Device → select MP4 file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94720" cy="548640"/>
          </a:xfrm>
          <a:prstGeom prst="rect">
            <a:avLst/>
          </a:prstGeom>
          <a:noFill/>
        </p:spPr>
        <p:txBody>
          <a:bodyPr wrap="square">
            <a:spAutoFit/>
          </a:bodyPr>
          <a:lstStyle/>
          <a:p>
            <a:r>
              <a:rPr sz="2400" b="1">
                <a:solidFill>
                  <a:srgbClr val="243A5E"/>
                </a:solidFill>
              </a:rPr>
              <a:t>Demo Summary &amp; Resources</a:t>
            </a:r>
          </a:p>
        </p:txBody>
      </p:sp>
      <p:sp>
        <p:nvSpPr>
          <p:cNvPr id="3" name="TextBox 2"/>
          <p:cNvSpPr txBox="1"/>
          <p:nvPr/>
        </p:nvSpPr>
        <p:spPr>
          <a:xfrm>
            <a:off x="548640" y="868680"/>
            <a:ext cx="11094720" cy="411480"/>
          </a:xfrm>
          <a:prstGeom prst="rect">
            <a:avLst/>
          </a:prstGeom>
          <a:noFill/>
        </p:spPr>
        <p:txBody>
          <a:bodyPr wrap="square">
            <a:spAutoFit/>
          </a:bodyPr>
          <a:lstStyle/>
          <a:p>
            <a:r>
              <a:rPr sz="1600" i="1">
                <a:solidFill>
                  <a:srgbClr val="505050"/>
                </a:solidFill>
              </a:rPr>
              <a:t>Quick reference for all demo scenarios and links to learn more.</a:t>
            </a:r>
          </a:p>
        </p:txBody>
      </p:sp>
      <p:sp>
        <p:nvSpPr>
          <p:cNvPr id="4" name="TextBox 3"/>
          <p:cNvSpPr txBox="1"/>
          <p:nvPr/>
        </p:nvSpPr>
        <p:spPr>
          <a:xfrm>
            <a:off x="548640" y="1417320"/>
            <a:ext cx="11094720" cy="4442242"/>
          </a:xfrm>
          <a:prstGeom prst="rect">
            <a:avLst/>
          </a:prstGeom>
          <a:noFill/>
        </p:spPr>
        <p:txBody>
          <a:bodyPr wrap="square">
            <a:spAutoFit/>
          </a:bodyPr>
          <a:lstStyle/>
          <a:p>
            <a:r>
              <a:rPr sz="1500" b="1">
                <a:solidFill>
                  <a:srgbClr val="243A5E"/>
                </a:solidFill>
              </a:rPr>
              <a:t>Demos Covered
</a:t>
            </a:r>
            <a:r>
              <a:rPr sz="1400">
                <a:solidFill>
                  <a:srgbClr val="505050"/>
                </a:solidFill>
              </a:rPr>
              <a:t>13 hands-on walkthroughs spanning discovery, classification, labeling, quality, data products, access, lineage, domains, AI discovery, DLP, AI Hub, audit, and Foundry integration.</a:t>
            </a:r>
          </a:p>
          <a:p>
            <a:pPr>
              <a:spcBef>
                <a:spcPts val="800"/>
              </a:spcBef>
            </a:pPr>
            <a:r>
              <a:rPr sz="1500" b="1">
                <a:solidFill>
                  <a:srgbClr val="243A5E"/>
                </a:solidFill>
              </a:rPr>
              <a:t>Purview Portal
</a:t>
            </a:r>
            <a:r>
              <a:rPr sz="1400">
                <a:solidFill>
                  <a:srgbClr val="505050"/>
                </a:solidFill>
              </a:rPr>
              <a:t>https://purview.microsoft.com — Unified Catalog, Data Map, Data Quality, Compliance, AI Hub.</a:t>
            </a:r>
          </a:p>
          <a:p>
            <a:pPr>
              <a:spcBef>
                <a:spcPts val="800"/>
              </a:spcBef>
            </a:pPr>
            <a:r>
              <a:rPr sz="1500" b="1">
                <a:solidFill>
                  <a:srgbClr val="243A5E"/>
                </a:solidFill>
              </a:rPr>
              <a:t>Foundry Portal
</a:t>
            </a:r>
            <a:r>
              <a:rPr sz="1400">
                <a:solidFill>
                  <a:srgbClr val="505050"/>
                </a:solidFill>
              </a:rPr>
              <a:t>https://ai.azure.com — Model Catalog, Fine-Tuning, Evaluations, Content Safety, Monitoring.</a:t>
            </a:r>
          </a:p>
          <a:p>
            <a:pPr>
              <a:spcBef>
                <a:spcPts val="800"/>
              </a:spcBef>
            </a:pPr>
            <a:r>
              <a:rPr sz="1500" b="1">
                <a:solidFill>
                  <a:srgbClr val="243A5E"/>
                </a:solidFill>
              </a:rPr>
              <a:t>Documentation
</a:t>
            </a:r>
            <a:r>
              <a:rPr sz="1400">
                <a:solidFill>
                  <a:srgbClr val="505050"/>
                </a:solidFill>
              </a:rPr>
              <a:t>https://learn.microsoft.com/purview — Complete Purview documentation including Unified Catalog, Data Governance, and AI governance guides.</a:t>
            </a:r>
          </a:p>
          <a:p>
            <a:pPr>
              <a:spcBef>
                <a:spcPts val="800"/>
              </a:spcBef>
            </a:pPr>
            <a:r>
              <a:rPr sz="1500" b="1">
                <a:solidFill>
                  <a:srgbClr val="243A5E"/>
                </a:solidFill>
              </a:rPr>
              <a:t>Hands-On Labs
</a:t>
            </a:r>
            <a:r>
              <a:rPr sz="1400">
                <a:solidFill>
                  <a:srgbClr val="505050"/>
                </a:solidFill>
              </a:rPr>
              <a:t>Ask your facilitator for access to the lab environment, or visit https://learn.microsoft.com/training for self-paced modules.</a:t>
            </a:r>
          </a:p>
          <a:p>
            <a:pPr>
              <a:spcBef>
                <a:spcPts val="800"/>
              </a:spcBef>
            </a:pPr>
            <a:r>
              <a:rPr sz="1500" b="1">
                <a:solidFill>
                  <a:srgbClr val="243A5E"/>
                </a:solidFill>
              </a:rPr>
              <a:t>Community &amp; Support
</a:t>
            </a:r>
            <a:r>
              <a:rPr sz="1400">
                <a:solidFill>
                  <a:srgbClr val="505050"/>
                </a:solidFill>
              </a:rPr>
              <a:t>Microsoft Tech Community: https://techcommunity.microsoft.com/purview — Ask questions, share experiences, and stay updated on new features.</a:t>
            </a:r>
          </a:p>
        </p:txBody>
      </p:sp>
      <p:sp>
        <p:nvSpPr>
          <p:cNvPr id="5" name="TextBox 4"/>
          <p:cNvSpPr txBox="1"/>
          <p:nvPr/>
        </p:nvSpPr>
        <p:spPr>
          <a:xfrm>
            <a:off x="548640" y="6446520"/>
            <a:ext cx="5486400" cy="320040"/>
          </a:xfrm>
          <a:prstGeom prst="rect">
            <a:avLst/>
          </a:prstGeom>
          <a:noFill/>
        </p:spPr>
        <p:txBody>
          <a:bodyPr wrap="none">
            <a:spAutoFit/>
          </a:bodyPr>
          <a:lstStyle/>
          <a:p>
            <a:r>
              <a:rPr sz="1400">
                <a:solidFill>
                  <a:srgbClr val="737373"/>
                </a:solidFill>
              </a:rPr>
              <a:t>Appendix  |  Microsoft Purview Unified Catalog Demo</a:t>
            </a:r>
          </a:p>
        </p:txBody>
      </p:sp>
      <p:sp>
        <p:nvSpPr>
          <p:cNvPr id="6" name="TextBox 5"/>
          <p:cNvSpPr txBox="1"/>
          <p:nvPr/>
        </p:nvSpPr>
        <p:spPr>
          <a:xfrm>
            <a:off x="11094720" y="6446520"/>
            <a:ext cx="640080" cy="320040"/>
          </a:xfrm>
          <a:prstGeom prst="rect">
            <a:avLst/>
          </a:prstGeom>
          <a:noFill/>
        </p:spPr>
        <p:txBody>
          <a:bodyPr wrap="none">
            <a:spAutoFit/>
          </a:bodyPr>
          <a:lstStyle/>
          <a:p>
            <a:pPr algn="r"/>
            <a:r>
              <a:rPr sz="1400">
                <a:solidFill>
                  <a:srgbClr val="737373"/>
                </a:solidFill>
              </a:rPr>
              <a:t>14 / 14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item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9.xml><?xml version="1.0" encoding="utf-8"?>
<?mso-contentType ?>
<FormTemplates xmlns="http://schemas.microsoft.com/sharepoint/v3/contenttype/forms">
  <Display>DocumentLibraryForm</Display>
  <Edit>DocumentLibraryForm</Edit>
  <New>DocumentLibraryForm</New>
</FormTemplates>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5.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4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7.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82C716E8-B770-4139-99B0-F35B9C64B90F}">
  <ds:schemaRefs>
    <ds:schemaRef ds:uri="Strauss.PersonalizationDefinition"/>
  </ds:schemaRefs>
</ds:datastoreItem>
</file>

<file path=customXml/itemProps2.xml><?xml version="1.0" encoding="utf-8"?>
<ds:datastoreItem xmlns:ds="http://schemas.openxmlformats.org/officeDocument/2006/customXml" ds:itemID="{712108F3-86F2-4B95-AF2D-FE4E45965FCC}">
  <ds:schemaRefs>
    <ds:schemaRef ds:uri="Strauss.PersonalizationDefinition"/>
  </ds:schemaRefs>
</ds:datastoreItem>
</file>

<file path=customXml/itemProps3.xml><?xml version="1.0" encoding="utf-8"?>
<ds:datastoreItem xmlns:ds="http://schemas.openxmlformats.org/officeDocument/2006/customXml" ds:itemID="{5C919DC8-E31E-42F0-9621-B916C2E029BA}">
  <ds:schemaRefs>
    <ds:schemaRef ds:uri="Strauss.PersonalizationDefinition"/>
  </ds:schemaRefs>
</ds:datastoreItem>
</file>

<file path=customXml/itemProps4.xml><?xml version="1.0" encoding="utf-8"?>
<ds:datastoreItem xmlns:ds="http://schemas.openxmlformats.org/officeDocument/2006/customXml" ds:itemID="{734F6CED-B619-41E0-BEDE-58B64D5F5EB2}">
  <ds:schemaRefs>
    <ds:schemaRef ds:uri="Strauss.PersonalizationDefinition"/>
  </ds:schemaRefs>
</ds:datastoreItem>
</file>

<file path=customXml/itemProps5.xml><?xml version="1.0" encoding="utf-8"?>
<ds:datastoreItem xmlns:ds="http://schemas.openxmlformats.org/officeDocument/2006/customXml" ds:itemID="{B09E3EAE-66CA-4A91-A5FE-A34A70B099ED}">
  <ds:schemaRefs>
    <ds:schemaRef ds:uri="Strauss.PersonalizationDefinition"/>
  </ds:schemaRefs>
</ds:datastoreItem>
</file>

<file path=customXml/itemProps6.xml><?xml version="1.0" encoding="utf-8"?>
<ds:datastoreItem xmlns:ds="http://schemas.openxmlformats.org/officeDocument/2006/customXml" ds:itemID="{406127A5-B8F7-4F8A-95A9-8E20F72EA129}">
  <ds:schemaRefs>
    <ds:schemaRef ds:uri="Strauss.PersonalizationDefinition"/>
  </ds:schemaRefs>
</ds:datastoreItem>
</file>

<file path=customXml/itemProps7.xml><?xml version="1.0" encoding="utf-8"?>
<ds:datastoreItem xmlns:ds="http://schemas.openxmlformats.org/officeDocument/2006/customXml" ds:itemID="{DF333A1B-0A9C-4DA8-ADAB-4378B69FDC48}">
  <ds:schemaRefs>
    <ds:schemaRef ds:uri="Strauss.PersonalizationDefinition"/>
  </ds:schemaRefs>
</ds:datastoreItem>
</file>

<file path=customXml/itemProps8.xml><?xml version="1.0" encoding="utf-8"?>
<ds:datastoreItem xmlns:ds="http://schemas.openxmlformats.org/officeDocument/2006/customXml" ds:itemID="{6552B3D2-5F72-49FB-8B35-AFE12BF36804}">
  <ds:schemaRefs>
    <ds:schemaRef ds:uri="Strauss.PersonalizationDefinition"/>
  </ds:schemaRefs>
</ds:datastoreItem>
</file>

<file path=customXml/itemProps9.xml><?xml version="1.0" encoding="utf-8"?>
<ds:datastoreItem xmlns:ds="http://schemas.openxmlformats.org/officeDocument/2006/customXml" ds:itemID="{54684875-2B1E-4EB3-A73F-ABF6F08A09F6}">
  <ds:schemaRefs>
    <ds:schemaRef ds:uri="Strauss.PersonalizationDefinition"/>
  </ds:schemaRefs>
</ds:datastoreItem>
</file>

<file path=customXml/itemProps10.xml><?xml version="1.0" encoding="utf-8"?>
<ds:datastoreItem xmlns:ds="http://schemas.openxmlformats.org/officeDocument/2006/customXml" ds:itemID="{103AB8E4-C30A-4895-9606-8D77F2E70F19}">
  <ds:schemaRefs>
    <ds:schemaRef ds:uri="Strauss.PersonalizationDefinition"/>
  </ds:schemaRefs>
</ds:datastoreItem>
</file>

<file path=customXml/itemProps11.xml><?xml version="1.0" encoding="utf-8"?>
<ds:datastoreItem xmlns:ds="http://schemas.openxmlformats.org/officeDocument/2006/customXml" ds:itemID="{11767EAE-0FC6-472D-9D35-EB3533243F22}">
  <ds:schemaRefs>
    <ds:schemaRef ds:uri="Strauss.PersonalizationDefinition"/>
  </ds:schemaRefs>
</ds:datastoreItem>
</file>

<file path=customXml/itemProps12.xml><?xml version="1.0" encoding="utf-8"?>
<ds:datastoreItem xmlns:ds="http://schemas.openxmlformats.org/officeDocument/2006/customXml" ds:itemID="{2BCFCE7B-4A43-491B-887D-365E2A1C50B2}">
  <ds:schemaRefs>
    <ds:schemaRef ds:uri="Strauss.PersonalizationDefinition"/>
  </ds:schemaRefs>
</ds:datastoreItem>
</file>

<file path=customXml/itemProps13.xml><?xml version="1.0" encoding="utf-8"?>
<ds:datastoreItem xmlns:ds="http://schemas.openxmlformats.org/officeDocument/2006/customXml" ds:itemID="{32920470-F086-4197-B6FE-12027DE25DCC}">
  <ds:schemaRefs>
    <ds:schemaRef ds:uri="Strauss.PersonalizationDefinition"/>
  </ds:schemaRefs>
</ds:datastoreItem>
</file>

<file path=customXml/itemProps14.xml><?xml version="1.0" encoding="utf-8"?>
<ds:datastoreItem xmlns:ds="http://schemas.openxmlformats.org/officeDocument/2006/customXml" ds:itemID="{EF4AA5EB-A638-4D3A-B852-E71E18ED4953}">
  <ds:schemaRefs>
    <ds:schemaRef ds:uri="Strauss.PersonalizationDefinition"/>
  </ds:schemaRefs>
</ds:datastoreItem>
</file>

<file path=customXml/itemProps15.xml><?xml version="1.0" encoding="utf-8"?>
<ds:datastoreItem xmlns:ds="http://schemas.openxmlformats.org/officeDocument/2006/customXml" ds:itemID="{541D4602-AC17-4CBD-B95E-D5B3D757BC54}">
  <ds:schemaRefs>
    <ds:schemaRef ds:uri="Strauss.PersonalizationDefinition"/>
  </ds:schemaRefs>
</ds:datastoreItem>
</file>

<file path=customXml/itemProps16.xml><?xml version="1.0" encoding="utf-8"?>
<ds:datastoreItem xmlns:ds="http://schemas.openxmlformats.org/officeDocument/2006/customXml" ds:itemID="{A09B3D8F-A36C-4B6D-871D-C53F61DFD219}">
  <ds:schemaRefs>
    <ds:schemaRef ds:uri="Strauss.PersonalizationDefinition"/>
  </ds:schemaRefs>
</ds:datastoreItem>
</file>

<file path=customXml/itemProps17.xml><?xml version="1.0" encoding="utf-8"?>
<ds:datastoreItem xmlns:ds="http://schemas.openxmlformats.org/officeDocument/2006/customXml" ds:itemID="{D55AC15F-0A03-4D96-AA43-65FC3DCE2717}">
  <ds:schemaRefs>
    <ds:schemaRef ds:uri="Strauss.PersonalizationDefinition"/>
  </ds:schemaRefs>
</ds:datastoreItem>
</file>

<file path=customXml/itemProps18.xml><?xml version="1.0" encoding="utf-8"?>
<ds:datastoreItem xmlns:ds="http://schemas.openxmlformats.org/officeDocument/2006/customXml" ds:itemID="{B228D3F7-8445-4CE7-92DC-AC7FE2D5A2AF}">
  <ds:schemaRefs>
    <ds:schemaRef ds:uri="Strauss.PersonalizationDefinition"/>
  </ds:schemaRefs>
</ds:datastoreItem>
</file>

<file path=customXml/itemProps19.xml><?xml version="1.0" encoding="utf-8"?>
<ds:datastoreItem xmlns:ds="http://schemas.openxmlformats.org/officeDocument/2006/customXml" ds:itemID="{BC268A45-186B-46A3-937F-0E016CEA70C1}">
  <ds:schemaRefs>
    <ds:schemaRef ds:uri="Strauss.PersonalizationDefinition"/>
  </ds:schemaRefs>
</ds:datastoreItem>
</file>

<file path=customXml/itemProps20.xml><?xml version="1.0" encoding="utf-8"?>
<ds:datastoreItem xmlns:ds="http://schemas.openxmlformats.org/officeDocument/2006/customXml" ds:itemID="{F56EB5D8-3CD5-48EE-9536-13CF2B9AC25D}">
  <ds:schemaRefs>
    <ds:schemaRef ds:uri="Strauss.PersonalizationDefinition"/>
  </ds:schemaRefs>
</ds:datastoreItem>
</file>

<file path=customXml/itemProps21.xml><?xml version="1.0" encoding="utf-8"?>
<ds:datastoreItem xmlns:ds="http://schemas.openxmlformats.org/officeDocument/2006/customXml" ds:itemID="{D76C1D54-C31A-41C7-8796-37E3A885C9B9}">
  <ds:schemaRefs>
    <ds:schemaRef ds:uri="Strauss.PersonalizationDefinition"/>
  </ds:schemaRefs>
</ds:datastoreItem>
</file>

<file path=customXml/itemProps22.xml><?xml version="1.0" encoding="utf-8"?>
<ds:datastoreItem xmlns:ds="http://schemas.openxmlformats.org/officeDocument/2006/customXml" ds:itemID="{4A3F169F-E27D-4A25-888C-4C5D83BAC082}">
  <ds:schemaRefs>
    <ds:schemaRef ds:uri="Strauss.PersonalizationDefinition"/>
  </ds:schemaRefs>
</ds:datastoreItem>
</file>

<file path=customXml/itemProps23.xml><?xml version="1.0" encoding="utf-8"?>
<ds:datastoreItem xmlns:ds="http://schemas.openxmlformats.org/officeDocument/2006/customXml" ds:itemID="{46522A59-B026-4350-BB1A-BEB05240770F}">
  <ds:schemaRefs>
    <ds:schemaRef ds:uri="Strauss.PersonalizationDefinition"/>
  </ds:schemaRefs>
</ds:datastoreItem>
</file>

<file path=customXml/itemProps24.xml><?xml version="1.0" encoding="utf-8"?>
<ds:datastoreItem xmlns:ds="http://schemas.openxmlformats.org/officeDocument/2006/customXml" ds:itemID="{AC7687D8-5695-4F99-A8BA-1D247B418C22}">
  <ds:schemaRefs>
    <ds:schemaRef ds:uri="fb9ea31f-0ab8-44ff-80d1-5777f6d9d945"/>
    <ds:schemaRef ds:uri="http://www.w3.org/XML/1998/namespace"/>
    <ds:schemaRef ds:uri="http://schemas.microsoft.com/office/2006/metadata/properties"/>
    <ds:schemaRef ds:uri="http://purl.org/dc/elements/1.1/"/>
    <ds:schemaRef ds:uri="http://schemas.microsoft.com/office/2006/documentManagement/types"/>
    <ds:schemaRef ds:uri="http://purl.org/dc/dcmitype/"/>
    <ds:schemaRef ds:uri="http://schemas.microsoft.com/sharepoint/v3"/>
    <ds:schemaRef ds:uri="http://purl.org/dc/terms/"/>
    <ds:schemaRef ds:uri="cea7764e-6bf9-427d-be15-e74097e0a61c"/>
    <ds:schemaRef ds:uri="http://schemas.microsoft.com/office/infopath/2007/PartnerControls"/>
    <ds:schemaRef ds:uri="http://schemas.openxmlformats.org/package/2006/metadata/core-properties"/>
    <ds:schemaRef ds:uri="230e9df3-be65-4c73-a93b-d1236ebd677e"/>
    <ds:schemaRef ds:uri="19614695-0c98-4ea4-9244-f5047452aafb"/>
    <ds:schemaRef ds:uri="fcb28fc0-2e3b-4764-9e63-46b62073c0cd"/>
  </ds:schemaRefs>
</ds:datastoreItem>
</file>

<file path=customXml/itemProps25.xml><?xml version="1.0" encoding="utf-8"?>
<ds:datastoreItem xmlns:ds="http://schemas.openxmlformats.org/officeDocument/2006/customXml" ds:itemID="{D7FDC28F-4CBD-40ED-9D33-0A1360D5DEC4}">
  <ds:schemaRefs>
    <ds:schemaRef ds:uri="Strauss.PersonalizationDefinition"/>
  </ds:schemaRefs>
</ds:datastoreItem>
</file>

<file path=customXml/itemProps26.xml><?xml version="1.0" encoding="utf-8"?>
<ds:datastoreItem xmlns:ds="http://schemas.openxmlformats.org/officeDocument/2006/customXml" ds:itemID="{1A389665-C7D0-4D2D-A553-2FE4C0CBB9F2}">
  <ds:schemaRefs>
    <ds:schemaRef ds:uri="Strauss.PersonalizationDefinition"/>
  </ds:schemaRefs>
</ds:datastoreItem>
</file>

<file path=customXml/itemProps27.xml><?xml version="1.0" encoding="utf-8"?>
<ds:datastoreItem xmlns:ds="http://schemas.openxmlformats.org/officeDocument/2006/customXml" ds:itemID="{FBC13881-F2DC-4AA3-88C8-97C40CA1EBC7}">
  <ds:schemaRefs>
    <ds:schemaRef ds:uri="Strauss.PersonalizationDefinition"/>
  </ds:schemaRefs>
</ds:datastoreItem>
</file>

<file path=customXml/itemProps28.xml><?xml version="1.0" encoding="utf-8"?>
<ds:datastoreItem xmlns:ds="http://schemas.openxmlformats.org/officeDocument/2006/customXml" ds:itemID="{09BE5BB2-6DDF-4084-AF07-D79163D3E022}">
  <ds:schemaRefs>
    <ds:schemaRef ds:uri="Strauss.PersonalizationDefinition"/>
  </ds:schemaRefs>
</ds:datastoreItem>
</file>

<file path=customXml/itemProps29.xml><?xml version="1.0" encoding="utf-8"?>
<ds:datastoreItem xmlns:ds="http://schemas.openxmlformats.org/officeDocument/2006/customXml" ds:itemID="{7239F7EE-9585-4B22-9A45-E4C8CEE7525C}">
  <ds:schemaRefs>
    <ds:schemaRef ds:uri="Strauss.PersonalizationDefinition"/>
  </ds:schemaRefs>
</ds:datastoreItem>
</file>

<file path=customXml/itemProps30.xml><?xml version="1.0" encoding="utf-8"?>
<ds:datastoreItem xmlns:ds="http://schemas.openxmlformats.org/officeDocument/2006/customXml" ds:itemID="{6F485757-9F3C-4A1E-9E86-E1C1551910BA}">
  <ds:schemaRefs>
    <ds:schemaRef ds:uri="Strauss.PersonalizationDefinition"/>
  </ds:schemaRefs>
</ds:datastoreItem>
</file>

<file path=customXml/itemProps31.xml><?xml version="1.0" encoding="utf-8"?>
<ds:datastoreItem xmlns:ds="http://schemas.openxmlformats.org/officeDocument/2006/customXml" ds:itemID="{4EA01338-72BB-48B6-B6A4-05B31FE21105}">
  <ds:schemaRefs>
    <ds:schemaRef ds:uri="Strauss.PersonalizationDefinition"/>
  </ds:schemaRefs>
</ds:datastoreItem>
</file>

<file path=customXml/itemProps32.xml><?xml version="1.0" encoding="utf-8"?>
<ds:datastoreItem xmlns:ds="http://schemas.openxmlformats.org/officeDocument/2006/customXml" ds:itemID="{7BE5F28F-50CA-40F1-A02E-E794FE33362D}">
  <ds:schemaRefs>
    <ds:schemaRef ds:uri="Strauss.PersonalizationDefinition"/>
  </ds:schemaRefs>
</ds:datastoreItem>
</file>

<file path=customXml/itemProps33.xml><?xml version="1.0" encoding="utf-8"?>
<ds:datastoreItem xmlns:ds="http://schemas.openxmlformats.org/officeDocument/2006/customXml" ds:itemID="{A77AB5B1-E0E4-4904-BA27-CDA17A4D7B5F}">
  <ds:schemaRefs>
    <ds:schemaRef ds:uri="Strauss.PersonalizationDefinition"/>
  </ds:schemaRefs>
</ds:datastoreItem>
</file>

<file path=customXml/itemProps34.xml><?xml version="1.0" encoding="utf-8"?>
<ds:datastoreItem xmlns:ds="http://schemas.openxmlformats.org/officeDocument/2006/customXml" ds:itemID="{13A5538B-5199-4900-941A-B01E377F2065}">
  <ds:schemaRefs>
    <ds:schemaRef ds:uri="Strauss.PersonalizationDefinition"/>
  </ds:schemaRefs>
</ds:datastoreItem>
</file>

<file path=customXml/itemProps35.xml><?xml version="1.0" encoding="utf-8"?>
<ds:datastoreItem xmlns:ds="http://schemas.openxmlformats.org/officeDocument/2006/customXml" ds:itemID="{ECCE7DC3-F525-4E76-8812-56FCA2D21E50}">
  <ds:schemaRefs>
    <ds:schemaRef ds:uri="Strauss.PersonalizationDefinition"/>
  </ds:schemaRefs>
</ds:datastoreItem>
</file>

<file path=customXml/itemProps36.xml><?xml version="1.0" encoding="utf-8"?>
<ds:datastoreItem xmlns:ds="http://schemas.openxmlformats.org/officeDocument/2006/customXml" ds:itemID="{628127A0-F2C3-45C3-BB9F-5B29A6B848BE}">
  <ds:schemaRefs>
    <ds:schemaRef ds:uri="Strauss.PersonalizationDefinition"/>
  </ds:schemaRefs>
</ds:datastoreItem>
</file>

<file path=customXml/itemProps37.xml><?xml version="1.0" encoding="utf-8"?>
<ds:datastoreItem xmlns:ds="http://schemas.openxmlformats.org/officeDocument/2006/customXml" ds:itemID="{FC25CD5D-A9DA-407F-9106-47BDA14BCED9}">
  <ds:schemaRefs>
    <ds:schemaRef ds:uri="Strauss.PersonalizationDefinition"/>
  </ds:schemaRefs>
</ds:datastoreItem>
</file>

<file path=customXml/itemProps38.xml><?xml version="1.0" encoding="utf-8"?>
<ds:datastoreItem xmlns:ds="http://schemas.openxmlformats.org/officeDocument/2006/customXml" ds:itemID="{C1060A51-5976-4775-97EE-ABE1B1E4972A}">
  <ds:schemaRefs>
    <ds:schemaRef ds:uri="Strauss.PersonalizationDefinition"/>
  </ds:schemaRefs>
</ds:datastoreItem>
</file>

<file path=customXml/itemProps39.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40.xml><?xml version="1.0" encoding="utf-8"?>
<ds:datastoreItem xmlns:ds="http://schemas.openxmlformats.org/officeDocument/2006/customXml" ds:itemID="{DE0DC7DC-A960-4E6E-BF1B-D3D906B081A2}">
  <ds:schemaRefs>
    <ds:schemaRef ds:uri="Strauss.PersonalizationDefinition"/>
  </ds:schemaRefs>
</ds:datastoreItem>
</file>

<file path=customXml/itemProps41.xml><?xml version="1.0" encoding="utf-8"?>
<ds:datastoreItem xmlns:ds="http://schemas.openxmlformats.org/officeDocument/2006/customXml" ds:itemID="{08068EAD-DA6C-4DC8-843E-9CB0982D15F3}">
  <ds:schemaRefs>
    <ds:schemaRef ds:uri="Strauss.PersonalizationDefinition"/>
  </ds:schemaRefs>
</ds:datastoreItem>
</file>

<file path=customXml/itemProps42.xml><?xml version="1.0" encoding="utf-8"?>
<ds:datastoreItem xmlns:ds="http://schemas.openxmlformats.org/officeDocument/2006/customXml" ds:itemID="{4C485A9E-99A8-4277-BE90-E837A967DB2E}">
  <ds:schemaRefs>
    <ds:schemaRef ds:uri="Strauss.PersonalizationDefinition"/>
  </ds:schemaRefs>
</ds:datastoreItem>
</file>

<file path=customXml/itemProps43.xml><?xml version="1.0" encoding="utf-8"?>
<ds:datastoreItem xmlns:ds="http://schemas.openxmlformats.org/officeDocument/2006/customXml" ds:itemID="{EDFBA6C8-3A38-44F0-B645-B6B0034983DA}">
  <ds:schemaRefs>
    <ds:schemaRef ds:uri="Strauss.PersonalizationDefinition"/>
  </ds:schemaRefs>
</ds:datastoreItem>
</file>

<file path=customXml/itemProps44.xml><?xml version="1.0" encoding="utf-8"?>
<ds:datastoreItem xmlns:ds="http://schemas.openxmlformats.org/officeDocument/2006/customXml" ds:itemID="{F4F27B16-6F50-4AB1-83D1-72E80949D775}">
  <ds:schemaRefs>
    <ds:schemaRef ds:uri="Strauss.PersonalizationDefinition"/>
  </ds:schemaRefs>
</ds:datastoreItem>
</file>

<file path=customXml/itemProps45.xml><?xml version="1.0" encoding="utf-8"?>
<ds:datastoreItem xmlns:ds="http://schemas.openxmlformats.org/officeDocument/2006/customXml" ds:itemID="{E7EBEF02-C69B-46E0-B38A-E51611CE5254}">
  <ds:schemaRefs>
    <ds:schemaRef ds:uri="Strauss.PersonalizationDefinition"/>
  </ds:schemaRefs>
</ds:datastoreItem>
</file>

<file path=customXml/itemProps46.xml><?xml version="1.0" encoding="utf-8"?>
<ds:datastoreItem xmlns:ds="http://schemas.openxmlformats.org/officeDocument/2006/customXml" ds:itemID="{0CBA8580-D525-4A86-B7CE-82AF6A95D594}">
  <ds:schemaRefs>
    <ds:schemaRef ds:uri="Strauss.PersonalizationDefinition"/>
  </ds:schemaRefs>
</ds:datastoreItem>
</file>

<file path=customXml/itemProps47.xml><?xml version="1.0" encoding="utf-8"?>
<ds:datastoreItem xmlns:ds="http://schemas.openxmlformats.org/officeDocument/2006/customXml" ds:itemID="{082D62B4-8B85-419C-8F08-AD4F4C362DF4}"/>
</file>

<file path=customXml/itemProps48.xml><?xml version="1.0" encoding="utf-8"?>
<ds:datastoreItem xmlns:ds="http://schemas.openxmlformats.org/officeDocument/2006/customXml" ds:itemID="{68BE9F8F-073F-46B7-B2D0-86DC8E2E9DCE}">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5115</TotalTime>
  <Words>16183</Words>
  <Application>Microsoft Office PowerPoint</Application>
  <PresentationFormat>Widescreen</PresentationFormat>
  <Paragraphs>1283</Paragraphs>
  <Slides>89</Slides>
  <Notes>89</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89</vt:i4>
      </vt:variant>
    </vt:vector>
  </HeadingPairs>
  <TitlesOfParts>
    <vt:vector size="106" baseType="lpstr">
      <vt:lpstr>Aptos</vt:lpstr>
      <vt:lpstr>Arial</vt:lpstr>
      <vt:lpstr>Calibri</vt:lpstr>
      <vt:lpstr>Courier New</vt:lpstr>
      <vt:lpstr>Georgia</vt:lpstr>
      <vt:lpstr>Segoe Sans Display</vt:lpstr>
      <vt:lpstr>Segoe Sans Display Semibold</vt:lpstr>
      <vt:lpstr>Segoe Sans Small Semilight</vt:lpstr>
      <vt:lpstr>Segoe Sans Text</vt:lpstr>
      <vt:lpstr>Segoe Sans Text Semibold</vt:lpstr>
      <vt:lpstr>Segoe Sans Text Semilight</vt:lpstr>
      <vt:lpstr>Segoe UI</vt:lpstr>
      <vt:lpstr>Segoe UI Semibold</vt:lpstr>
      <vt:lpstr>Segoe UI Variable Display Semibold</vt:lpstr>
      <vt:lpstr>Segoe UI Web (West European)</vt:lpstr>
      <vt:lpstr>Wingdings</vt:lpstr>
      <vt:lpstr>White Template</vt:lpstr>
      <vt:lpstr>Module 3 – Core Governance Pillars</vt:lpstr>
      <vt:lpstr>Conditions and terms of use</vt:lpstr>
      <vt:lpstr>PowerPoint Presentation</vt:lpstr>
      <vt:lpstr>Learning Units covered in this Module</vt:lpstr>
      <vt:lpstr>Data Lineage &amp; Discovery</vt:lpstr>
      <vt:lpstr>Objectives — Data Lineage &amp; Discovery</vt:lpstr>
      <vt:lpstr>Data Discovery</vt:lpstr>
      <vt:lpstr>Lineage &amp; Provenance</vt:lpstr>
      <vt:lpstr>Microsoft Purview Solution</vt:lpstr>
      <vt:lpstr>Shared platform capabilities</vt:lpstr>
      <vt:lpstr>A federated practice paired with user-friendly tools</vt:lpstr>
      <vt:lpstr>Microsoft Purview Unified Catalog </vt:lpstr>
      <vt:lpstr>Comprehensive visibility</vt:lpstr>
      <vt:lpstr>Ingest metadata from 70+ sources into Data Map to build out your Unified Catalog </vt:lpstr>
      <vt:lpstr>Users see high-level information about each data product as well as individual assets that make up the data product across the data estate</vt:lpstr>
      <vt:lpstr>Access Policies streamline the access request process for the business user while ensuring oversight</vt:lpstr>
      <vt:lpstr>Custom metadata applied to a business concept (data product) that enhances discoverability of assets.</vt:lpstr>
      <vt:lpstr>Data confidence</vt:lpstr>
      <vt:lpstr>Set up your governance domains to reflect how your organization is structured</vt:lpstr>
      <vt:lpstr>Curated Data products within the catalog drive trust for use by your data consumers</vt:lpstr>
      <vt:lpstr>Leverage Data quality to ensure the assets (available for a subset of sources) and associated governance concepts are trustworthy to use</vt:lpstr>
      <vt:lpstr> Know where your data goes with Data lineage (available for a subset of sources) and how it is consumed </vt:lpstr>
      <vt:lpstr>Use Data observability to see the relationship between assets and business concepts and how it flows throughout your estate</vt:lpstr>
      <vt:lpstr>As a data steward, export your metadata with Self-serve analytics into Fabric and use for analytics use cases.</vt:lpstr>
      <vt:lpstr>Reports enable Central Data Office to monitor key areas of your data governance practice. </vt:lpstr>
      <vt:lpstr>Responsible innovation</vt:lpstr>
      <vt:lpstr>Users can easily search for the data they need to unlock business value </vt:lpstr>
      <vt:lpstr>Requesting access is simple and standardized for data users</vt:lpstr>
      <vt:lpstr>Microsoft Purview Unified Catalog for AI </vt:lpstr>
      <vt:lpstr>Data consumers can discover AI ready data in the form of data products.</vt:lpstr>
      <vt:lpstr>Data owners can apply rules to ensure data quality Is high. </vt:lpstr>
      <vt:lpstr>Data owners can apply terms of use AI policies to encourage proper use.</vt:lpstr>
      <vt:lpstr>Training Data Governance</vt:lpstr>
      <vt:lpstr>Why Training Data Governance Matters</vt:lpstr>
      <vt:lpstr>The Training Data Lifecycle</vt:lpstr>
      <vt:lpstr>Purview Unified Catalog — Training Data</vt:lpstr>
      <vt:lpstr>Microsoft Foundry — Training &amp; Model Gov</vt:lpstr>
      <vt:lpstr>How Purview and Foundry Integrate</vt:lpstr>
      <vt:lpstr>Demo — Governed Fine-Tune in 6 Steps</vt:lpstr>
      <vt:lpstr>Governance Control Mapping</vt:lpstr>
      <vt:lpstr>Grounding &amp; Inference Governance</vt:lpstr>
      <vt:lpstr>Why AI Data Governance Is Different</vt:lpstr>
      <vt:lpstr>The AI Data Lifecycle</vt:lpstr>
      <vt:lpstr>Grounding &amp; RAG Governance</vt:lpstr>
      <vt:lpstr>Inference Data Governance — Controls</vt:lpstr>
      <vt:lpstr>Microsoft Foundry — Runtime Governance</vt:lpstr>
      <vt:lpstr>Microsoft Purview — Data &amp; Compliance</vt:lpstr>
      <vt:lpstr>Control Mapping — Governance Concern to Feature</vt:lpstr>
      <vt:lpstr>Data Classification &amp; Protection</vt:lpstr>
      <vt:lpstr>Objectives — Data Classification &amp; Protection</vt:lpstr>
      <vt:lpstr>Purview Unified Catalog at a Glance</vt:lpstr>
      <vt:lpstr>PII vs PHI — Know the Difference</vt:lpstr>
      <vt:lpstr>How Purview Classifies Data</vt:lpstr>
      <vt:lpstr>Built-in Sensitive Information Types</vt:lpstr>
      <vt:lpstr>Demo Architecture</vt:lpstr>
      <vt:lpstr>Prerequisites &amp; Setup</vt:lpstr>
      <vt:lpstr>Demo Dataset — Claims &amp; Patients</vt:lpstr>
      <vt:lpstr>Demo Flow — Six Steps in the Catalog</vt:lpstr>
      <vt:lpstr>Sensitivity Label — 'Confidential — PHI'</vt:lpstr>
      <vt:lpstr>What the Audience Will See</vt:lpstr>
      <vt:lpstr>Access &amp; Residency Controls</vt:lpstr>
      <vt:lpstr>Objectives — Access &amp; Residency Controls</vt:lpstr>
      <vt:lpstr>PowerPoint Presentation</vt:lpstr>
      <vt:lpstr>PowerPoint Presentation</vt:lpstr>
      <vt:lpstr>Compliance &amp; Lifecycle Governance</vt:lpstr>
      <vt:lpstr>Objectives — Compliance &amp; Lifecycle Governance</vt:lpstr>
      <vt:lpstr>Why Residency &amp; Sovereignty Matter for AI</vt:lpstr>
      <vt:lpstr>Key Residency Concepts for AI Workloads</vt:lpstr>
      <vt:lpstr>Azure Region Controls for AI</vt:lpstr>
      <vt:lpstr>EU Data Boundary &amp; Sovereign Clouds</vt:lpstr>
      <vt:lpstr>Residency Governance Control Mapping</vt:lpstr>
      <vt:lpstr>Residency Checklist — Before You Deploy</vt:lpstr>
      <vt:lpstr>PowerPoint Presentation</vt:lpstr>
      <vt:lpstr>Questions?</vt:lpstr>
      <vt:lpstr>Appendix: Purview Unified Catalog Demo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20</cp:revision>
  <dcterms:created xsi:type="dcterms:W3CDTF">2019-02-08T20:09:46Z</dcterms:created>
  <dcterms:modified xsi:type="dcterms:W3CDTF">2026-06-19T06:25:49Z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lpwstr>10536200.0000000</vt:lpwstr>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